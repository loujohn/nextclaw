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3"/>
  </p:handoutMasterIdLst>
  <p:sldIdLst>
    <p:sldId id="369" r:id="rId3"/>
    <p:sldId id="397" r:id="rId5"/>
    <p:sldId id="409" r:id="rId6"/>
    <p:sldId id="394" r:id="rId7"/>
    <p:sldId id="396" r:id="rId8"/>
    <p:sldId id="419" r:id="rId9"/>
    <p:sldId id="443" r:id="rId10"/>
    <p:sldId id="448" r:id="rId11"/>
    <p:sldId id="420" r:id="rId12"/>
    <p:sldId id="400" r:id="rId13"/>
    <p:sldId id="429" r:id="rId14"/>
    <p:sldId id="418" r:id="rId15"/>
    <p:sldId id="451" r:id="rId16"/>
    <p:sldId id="438" r:id="rId17"/>
    <p:sldId id="456" r:id="rId18"/>
    <p:sldId id="457" r:id="rId19"/>
    <p:sldId id="454" r:id="rId20"/>
    <p:sldId id="453" r:id="rId21"/>
    <p:sldId id="302" r:id="rId22"/>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60132358" name="qiao" initials="q" lastIdx="1" clrIdx="0"/>
  <p:cmAuthor id="314184342" name="501" initials="5" lastIdx="1" clrIdx="0"/>
  <p:cmAuthor id="1" name="品 王" initials="品王" lastIdx="1" clrIdx="0"/>
  <p:cmAuthor id="2" name="zi" initials="z" lastIdx="1" clrIdx="1"/>
  <p:cmAuthor id="3" name="Benhu10" initials="B" lastIdx="1" clrIdx="2"/>
  <p:cmAuthor id="4" name="YITONG" initials="Y" lastIdx="1" clrIdx="3"/>
  <p:cmAuthor id="5" name="作者" initials="作" lastIdx="0" clrIdx="2"/>
  <p:cmAuthor id="6" name="雯婷" initials="雯" lastIdx="1" clrIdx="5"/>
  <p:cmAuthor id="0" name="wanyuan" initials="w" lastIdx="12" clrIdx="0"/>
  <p:cmAuthor id="7" name="梁凌艳" initials="梁" lastIdx="1" clrIdx="0"/>
  <p:cmAuthor id="8" name="陈家琪" initials="陈" lastIdx="1" clrIdx="0"/>
  <p:cmAuthor id="9" name="zimowang" initials="z" lastIdx="4" clrIdx="8"/>
  <p:cmAuthor id="10" name="未知用户2" initials="未知用户2" lastIdx="4" clrIdx="0"/>
  <p:cmAuthor id="11" name="未知用户3" initials="未知用户3" lastIdx="1" clrIdx="1"/>
  <p:cmAuthor id="12" name="tim_w" initials="t" lastIdx="1" clrIdx="11"/>
  <p:cmAuthor id="13" name="Louis" initials="L" lastIdx="1" clrIdx="12"/>
  <p:cmAuthor id="14" name="z14515" initials="z" lastIdx="1" clrIdx="111"/>
  <p:cmAuthor id="15" name="hujinping@supos.com" initials="h" lastIdx="1" clrIdx="112"/>
  <p:cmAuthor id="16" name="hxx" initials="h" lastIdx="1" clrIdx="15"/>
  <p:cmAuthor id="17" name="winson Wong" initials="wW" lastIdx="1" clrIdx="16"/>
  <p:cmAuthor id="18" name="许士锦" initials="许" lastIdx="1" clrIdx="17"/>
  <p:cmAuthor id="19" name="林建熙" initials="林" lastIdx="10" clrIdx="0"/>
  <p:cmAuthor id="309" name="LY" initials="L" lastIdx="2" clrIdx="308"/>
  <p:cmAuthor id="311" name="tanhongyuan" initials="t" lastIdx="1" clrIdx="310"/>
  <p:cmAuthor id="312" name="Chun Chung YEH" initials="C" lastIdx="2" clrIdx="0"/>
  <p:cmAuthor id="314" name="Vicky" initials="V" lastIdx="1" clrIdx="1"/>
  <p:cmAuthor id="315" name="刘云轩" initials="刘" lastIdx="1" clrIdx="0"/>
  <p:cmAuthor id="316" name="sharon" initials="s" lastIdx="5" clrIdx="84"/>
  <p:cmAuthor id="317" name="未知的使用者81" initials="未" lastIdx="1" clrIdx="0"/>
  <p:cmAuthor id="318" name="仝德志" initials="仝" lastIdx="1" clrIdx="0"/>
  <p:cmAuthor id="320" name="lj" initials="l" lastIdx="1" clrIdx="319"/>
  <p:cmAuthor id="321" name="未知用户111" initials="未" lastIdx="1" clrIdx="1"/>
  <p:cmAuthor id="322" name="alpha" initials="a" lastIdx="1" clrIdx="0"/>
  <p:cmAuthor id="326" name="未知的使用者75" initials="未" lastIdx="1" clrIdx="0"/>
  <p:cmAuthor id="20" name="未知用户13" initials="" lastIdx="2" clrIdx="0"/>
  <p:cmAuthor id="327" name="未知的使用者77" initials="未" lastIdx="1" clrIdx="0"/>
  <p:cmAuthor id="21" name="陈元" initials="" lastIdx="0" clrIdx="1"/>
  <p:cmAuthor id="328" name="未知的使用者78" initials="未" lastIdx="5" clrIdx="1"/>
  <p:cmAuthor id="22" name="topway" initials="" lastIdx="1" clrIdx="0"/>
  <p:cmAuthor id="329" name="未知的使用者79" initials="未" lastIdx="0" clrIdx="1"/>
  <p:cmAuthor id="23" name="史婷婷" initials="" lastIdx="786497536" clrIdx="0"/>
  <p:cmAuthor id="330" name="未知的使用者80" initials="未" lastIdx="0" clrIdx="0"/>
  <p:cmAuthor id="24" name="未知用户21" initials="" lastIdx="3" clrIdx="0"/>
  <p:cmAuthor id="331" name="未知的使用者82" initials="未" lastIdx="1" clrIdx="0"/>
  <p:cmAuthor id="25" name="User" initials="" lastIdx="8" clrIdx="0"/>
  <p:cmAuthor id="6871913" name="红旗的理想" initials="红" lastIdx="273105" clrIdx="0"/>
  <p:cmAuthor id="332" name="未知的使用者83" initials="未" lastIdx="1" clrIdx="0"/>
  <p:cmAuthor id="26" name="微软用户" initials="" lastIdx="27" clrIdx="0"/>
  <p:cmAuthor id="6871914" name="shq316" initials="s" lastIdx="2" clrIdx="2"/>
  <p:cmAuthor id="333" name="未知的使用者84" initials="未" lastIdx="1" clrIdx="1"/>
  <p:cmAuthor id="27" name="熊 帅" initials="" lastIdx="1" clrIdx="0"/>
  <p:cmAuthor id="6871915" name="shq316@vod365.com" initials="s" lastIdx="3" clrIdx="3"/>
  <p:cmAuthor id="334" name="未知的使用者85" initials="未" lastIdx="1" clrIdx="0"/>
  <p:cmAuthor id="28" name="Happy" initials="" lastIdx="2" clrIdx="0"/>
  <p:cmAuthor id="6871916" name="yang fengyu" initials="yf" lastIdx="1" clrIdx="4"/>
  <p:cmAuthor id="335" name="未知的使用者87" initials="未" lastIdx="1" clrIdx="0"/>
  <p:cmAuthor id="29" name="未知用户11" initials="" lastIdx="2" clrIdx="0"/>
  <p:cmAuthor id="6871917" name="李 鑫" initials="李" lastIdx="1" clrIdx="8"/>
  <p:cmAuthor id="336" name="未知的使用者90" initials="未" lastIdx="8" clrIdx="0"/>
  <p:cmAuthor id="30" name="徐圣语" initials="" lastIdx="1" clrIdx="1"/>
  <p:cmAuthor id="337" name="未知的使用者91" initials="未" lastIdx="1" clrIdx="0"/>
  <p:cmAuthor id="31" name="吕昕" initials="" lastIdx="3" clrIdx="0"/>
  <p:cmAuthor id="338" name="CHRISYU" initials="C" lastIdx="1" clrIdx="0"/>
  <p:cmAuthor id="32" name="刘新国" initials="" lastIdx="1" clrIdx="6"/>
  <p:cmAuthor id="339" name="liucunri" initials="l" lastIdx="1" clrIdx="0"/>
  <p:cmAuthor id="33" name="NTKO" initials="" lastIdx="1" clrIdx="8"/>
  <p:cmAuthor id="340" name="Unknown User48" initials="U" lastIdx="8" clrIdx="0"/>
  <p:cmAuthor id="34" name="qian tang" initials="" lastIdx="1" clrIdx="7"/>
  <p:cmAuthor id="341" name="Unknown User52" initials="U" lastIdx="1" clrIdx="0"/>
  <p:cmAuthor id="35" name="王梓" initials="" lastIdx="1" clrIdx="0"/>
  <p:cmAuthor id="342" name="Unknown User50" initials="U" lastIdx="1" clrIdx="0"/>
  <p:cmAuthor id="36" name="yuhao" initials="y" lastIdx="1" clrIdx="15"/>
  <p:cmAuthor id="37" name="曹 媛" initials="曹" lastIdx="1" clrIdx="37"/>
  <p:cmAuthor id="38" name="liume" initials="l" lastIdx="1" clrIdx="37"/>
  <p:cmAuthor id="39" name="xsbai" initials="x" lastIdx="1" clrIdx="37"/>
  <p:cmAuthor id="40" name="chao" initials="c" lastIdx="1" clrIdx="39"/>
  <p:cmAuthor id="41" name="殷格非" initials="殷" lastIdx="2" clrIdx="0"/>
  <p:cmAuthor id="42" name="z r" initials="z" lastIdx="5" clrIdx="12"/>
  <p:cmAuthor id="43" name="沈霄雷" initials="沈" lastIdx="833089" clrIdx="0"/>
  <p:cmAuthor id="44" name="李哲(ZheLi)-顺丰科技" initials="李" lastIdx="1" clrIdx="11"/>
  <p:cmAuthor id="45" name="Echo" initials="E" lastIdx="1" clrIdx="191251536"/>
  <p:cmAuthor id="352" name="未知的使用者161" initials="未" lastIdx="1" clrIdx="0"/>
  <p:cmAuthor id="46" name="剑碧 颜" initials="剑" lastIdx="2" clrIdx="191251537"/>
  <p:cmAuthor id="47" name="未知的使用者14" initials="未" lastIdx="0" clrIdx="1"/>
  <p:cmAuthor id="48" name="Microsoft Office 用户" initials="M" lastIdx="1" clrIdx="3"/>
  <p:cmAuthor id="355" name="未知的使用者152" initials="未" lastIdx="1" clrIdx="0"/>
  <p:cmAuthor id="49" name="cui yun" initials="cy" lastIdx="1" clrIdx="22"/>
  <p:cmAuthor id="50" name="肖建宏" initials="肖建宏" lastIdx="6" clrIdx="49"/>
  <p:cmAuthor id="51" name="未知的使用者11" initials="未" lastIdx="0" clrIdx="1"/>
  <p:cmAuthor id="52" name="未知的使用者27" initials="未" lastIdx="1" clrIdx="0"/>
  <p:cmAuthor id="53" name="未知的使用者28" initials="未" lastIdx="3" clrIdx="1"/>
  <p:cmAuthor id="360" name="未知的使用者176" initials="未" lastIdx="1" clrIdx="0"/>
  <p:cmAuthor id="54" name="未知的使用者29" initials="未" lastIdx="1" clrIdx="1"/>
  <p:cmAuthor id="55" name="未知的使用者21" initials="未" lastIdx="1" clrIdx="0"/>
  <p:cmAuthor id="362" name="未知的使用者178" initials="未" lastIdx="1" clrIdx="0"/>
  <p:cmAuthor id="56" name="未知的使用者22" initials="未" lastIdx="3" clrIdx="1"/>
  <p:cmAuthor id="47245821" name="宋玉坤" initials="W用" lastIdx="1" clrIdx="24"/>
  <p:cmAuthor id="363" name="未知的使用者179" initials="未" lastIdx="1" clrIdx="0"/>
  <p:cmAuthor id="57" name="贾少凡" initials="贾少凡" lastIdx="11" clrIdx="56"/>
  <p:cmAuthor id="210492765" name="施普希（菜菜）" initials="施" lastIdx="0" clrIdx="0"/>
  <p:cmAuthor id="364" name="未知的使用者180" initials="未" lastIdx="2" clrIdx="0"/>
  <p:cmAuthor id="58" name="79588" initials="7" lastIdx="4" clrIdx="57"/>
  <p:cmAuthor id="210492766" name="yu 1" initials="y1" lastIdx="1" clrIdx="19"/>
  <p:cmAuthor id="59" name="未知的使用者25" initials="未" lastIdx="3" clrIdx="1"/>
  <p:cmAuthor id="60" name="未知的使用者26" initials="未" lastIdx="1" clrIdx="1"/>
  <p:cmAuthor id="61" name="August" initials="A" lastIdx="1" clrIdx="0"/>
  <p:cmAuthor id="62" name="qihua-DCMS" initials="q" lastIdx="0" clrIdx="0"/>
  <p:cmAuthor id="63" name="未知用户5" initials="未" lastIdx="1" clrIdx="0"/>
  <p:cmAuthor id="64" name="YUMINGNJ" initials="Y" lastIdx="3" clrIdx="0"/>
  <p:cmAuthor id="65" name="daphne" initials="d" lastIdx="1" clrIdx="0"/>
  <p:cmAuthor id="66" name="未知用户8" initials="未" lastIdx="1" clrIdx="0"/>
  <p:cmAuthor id="67" name="Unknown User7" initials="U" lastIdx="1" clrIdx="0"/>
  <p:cmAuthor id="68" name="Unknown User8" initials="U" lastIdx="1" clrIdx="0"/>
  <p:cmAuthor id="69" name="未知用户15" initials="未" lastIdx="1" clrIdx="0"/>
  <p:cmAuthor id="71" name="未知用户14" initials="未" lastIdx="1" clrIdx="0"/>
  <p:cmAuthor id="72" name="Jason Wang" initials="J" lastIdx="1" clrIdx="0"/>
  <p:cmAuthor id="73" name="未知的使用者3" initials="未" lastIdx="0" clrIdx="1"/>
  <p:cmAuthor id="74" name="qiantong" initials="q" lastIdx="3" clrIdx="1"/>
  <p:cmAuthor id="76" name="刘 先生" initials="刘" lastIdx="1" clrIdx="25"/>
  <p:cmAuthor id="77" name="lixingyu112233@outlook.com" initials="l" lastIdx="1" clrIdx="37"/>
  <p:cmAuthor id="78" name="James" initials="J" lastIdx="1" clrIdx="38"/>
  <p:cmAuthor id="79" name="章鱼" initials="章" lastIdx="1" clrIdx="39"/>
  <p:cmAuthor id="80" name="未知的使用者51" initials="未" lastIdx="10" clrIdx="0"/>
  <p:cmAuthor id="81" name="未知的使用者53" initials="未" lastIdx="1" clrIdx="0"/>
  <p:cmAuthor id="82" name="未知的使用者46" initials="未" lastIdx="1" clrIdx="1"/>
  <p:cmAuthor id="83" name="yuanzh" initials="y" lastIdx="1" clrIdx="1"/>
  <p:cmAuthor id="84" name="曾红" initials="曾" lastIdx="0" clrIdx="0"/>
  <p:cmAuthor id="85" name="未知用户16" initials="未" lastIdx="1" clrIdx="0"/>
  <p:cmAuthor id="86" name="未知用户17" initials="未" lastIdx="0" clrIdx="1"/>
  <p:cmAuthor id="87" name="mm" initials="m" lastIdx="1" clrIdx="0"/>
  <p:cmAuthor id="88" name="liupeng" initials="l" lastIdx="1" clrIdx="1"/>
  <p:cmAuthor id="89" name="周宏達JerryChou" initials="周" lastIdx="6" clrIdx="2"/>
  <p:cmAuthor id="90" name="luxu" initials="l" lastIdx="22" clrIdx="0"/>
  <p:cmAuthor id="91" name="hl sun" initials="h" lastIdx="1" clrIdx="0"/>
  <p:cmAuthor id="92" name="未知的使用者50" initials="未" lastIdx="1" clrIdx="0"/>
  <p:cmAuthor id="93" name="未知的使用者48" initials="未" lastIdx="1" clrIdx="0"/>
  <p:cmAuthor id="94" name="未知的使用者49" initials="未" lastIdx="1" clrIdx="0"/>
  <p:cmAuthor id="95" name="未知用户22" initials="未" lastIdx="1" clrIdx="0"/>
  <p:cmAuthor id="96" name="未知用户24" initials="未" lastIdx="1" clrIdx="0"/>
  <p:cmAuthor id="97" name="Mary Feil-Jacobs" initials="M" lastIdx="43" clrIdx="1"/>
  <p:cmAuthor id="98" name="朱晓瑜" initials="朱" lastIdx="54" clrIdx="0"/>
  <p:cmAuthor id="100" name="djj" initials="d" lastIdx="2" clrIdx="0"/>
  <p:cmAuthor id="101" name="張秀娟" initials="張" lastIdx="1" clrIdx="2"/>
  <p:cmAuthor id="102" name="lianghb" initials="l" lastIdx="19" clrIdx="0"/>
  <p:cmAuthor id="103" name="Shawna Strickland" initials="S" lastIdx="2" clrIdx="0"/>
  <p:cmAuthor id="104" name="linyd" initials="l" lastIdx="3" clrIdx="1"/>
  <p:cmAuthor id="105" name="Ashley Eberenz" initials="A" lastIdx="7" clrIdx="1"/>
  <p:cmAuthor id="106" name="muzi wei" initials="m" lastIdx="1" clrIdx="0"/>
  <p:cmAuthor id="108" name="未知用户56" initials="未" lastIdx="1" clrIdx="0"/>
  <p:cmAuthor id="109" name="未知用户55" initials="未" lastIdx="1" clrIdx="0"/>
  <p:cmAuthor id="110" name="未知用户51" initials="未" lastIdx="1" clrIdx="1"/>
  <p:cmAuthor id="111" name="LeeElva" initials="L" lastIdx="1" clrIdx="0"/>
  <p:cmAuthor id="112" name="唐可欣" initials="唐" lastIdx="1" clrIdx="0"/>
  <p:cmAuthor id="113" name="未知的使用者36" initials="未" lastIdx="10" clrIdx="0"/>
  <p:cmAuthor id="114" name="未知的使用者35" initials="未" lastIdx="1" clrIdx="0"/>
  <p:cmAuthor id="115" name="未知的使用者33" initials="未" lastIdx="1" clrIdx="0"/>
  <p:cmAuthor id="116" name="王鹏凯" initials="王" lastIdx="1" clrIdx="0"/>
  <p:cmAuthor id="117" name="未知的使用者34" initials="未" lastIdx="1" clrIdx="0"/>
  <p:cmAuthor id="122" name="未知的使用者37" initials="未" lastIdx="8" clrIdx="0"/>
  <p:cmAuthor id="123" name="Harry xu" initials="H" lastIdx="1" clrIdx="0"/>
  <p:cmAuthor id="124" name="未知的使用者59" initials="未" lastIdx="8" clrIdx="0"/>
  <p:cmAuthor id="125" name="未知的使用者60" initials="未" lastIdx="1" clrIdx="0"/>
  <p:cmAuthor id="126" name="未知的使用者54" initials="未" lastIdx="1" clrIdx="0"/>
  <p:cmAuthor id="127" name="未知用户47" initials="未" lastIdx="6" clrIdx="0"/>
  <p:cmAuthor id="128" name="未知用户53" initials="未" lastIdx="10" clrIdx="0"/>
  <p:cmAuthor id="129" name="未知用户48" initials="未" lastIdx="1" clrIdx="0"/>
  <p:cmAuthor id="130" name="未知用户49" initials="未" lastIdx="1" clrIdx="0"/>
  <p:cmAuthor id="131" name="未知的使用者56" initials="未" lastIdx="6" clrIdx="0"/>
  <p:cmAuthor id="132" name="未知的使用者61" initials="未" lastIdx="1" clrIdx="0"/>
  <p:cmAuthor id="133" name="未知的使用者62" initials="未" lastIdx="1" clrIdx="1"/>
  <p:cmAuthor id="134" name="未知的使用者58" initials="未" lastIdx="1" clrIdx="0"/>
  <p:cmAuthor id="135" name="未知用户50" initials="未" lastIdx="1" clrIdx="0"/>
  <p:cmAuthor id="136" name="未知用户52" initials="未" lastIdx="1" clrIdx="0"/>
  <p:cmAuthor id="137" name="未知的使用者120" initials="未" lastIdx="1" clrIdx="0"/>
  <p:cmAuthor id="138" name="未知的使用者109" initials="未" lastIdx="5" clrIdx="1"/>
  <p:cmAuthor id="139" name="未知的使用者110" initials="未" lastIdx="1" clrIdx="1"/>
  <p:cmAuthor id="140" name="未知的使用者111" initials="未" lastIdx="1" clrIdx="0"/>
  <p:cmAuthor id="141" name="未知的使用者121" initials="未" lastIdx="1" clrIdx="0"/>
  <p:cmAuthor id="142" name="thomas" initials="t" lastIdx="1" clrIdx="49"/>
  <p:cmAuthor id="143" name="未知的使用者113" initials="未" lastIdx="1" clrIdx="0"/>
  <p:cmAuthor id="144" name="未知的使用者122" initials="未" lastIdx="1" clrIdx="0"/>
  <p:cmAuthor id="145" name="未知的使用者123" initials="未" lastIdx="8" clrIdx="0"/>
  <p:cmAuthor id="146" name="未知的使用者124" initials="未" lastIdx="8" clrIdx="0"/>
  <p:cmAuthor id="147" name="未知的使用者125" initials="未" lastIdx="1" clrIdx="0"/>
  <p:cmAuthor id="148" name="未知的使用者118" initials="未" lastIdx="1" clrIdx="0"/>
  <p:cmAuthor id="149" name="未知的使用者126" initials="未" lastIdx="1" clrIdx="0"/>
  <p:cmAuthor id="150" name="未知用户57" initials="未" lastIdx="1" clrIdx="0"/>
  <p:cmAuthor id="151" name="未知用户58" initials="未" lastIdx="5" clrIdx="1"/>
  <p:cmAuthor id="152" name="未知用户59" initials="未" lastIdx="0" clrIdx="1"/>
  <p:cmAuthor id="153" name="yuexuejun" initials="y" lastIdx="3" clrIdx="0"/>
  <p:cmAuthor id="154" name="未知的使用者74" initials="未" lastIdx="8" clrIdx="0"/>
  <p:cmAuthor id="155" name="未知的使用者76" initials="未" lastIdx="1" clrIdx="0"/>
  <p:cmAuthor id="156" name="未知的使用者70" initials="未" lastIdx="1" clrIdx="0"/>
  <p:cmAuthor id="157" name="未知的使用者73" initials="未" lastIdx="1" clrIdx="0"/>
  <p:cmAuthor id="158" name="未知的使用者67" initials="未" lastIdx="8" clrIdx="0"/>
  <p:cmAuthor id="2000" name="郑楚枭_7VZnbARj" initials="authorId_2739829337" lastIdx="1122672763" clrIdx="0"/>
  <p:cmAuthor id="159" name="未知的使用者68" initials="未" lastIdx="1" clrIdx="0"/>
  <p:cmAuthor id="2001" name="ZC" initials="6" lastIdx="1" clrIdx="191251537"/>
  <p:cmAuthor id="160" name="未知的使用者69" initials="未" lastIdx="1" clrIdx="0"/>
  <p:cmAuthor id="2002" name="贾少凡_BvIbFFfA" initials="authorId_133472" lastIdx="0" clrIdx="0"/>
  <p:cmAuthor id="161" name="未知的使用者43" initials="未" lastIdx="1" clrIdx="0"/>
  <p:cmAuthor id="162" name="未知的使用者40" initials="未" lastIdx="1" clrIdx="0"/>
  <p:cmAuthor id="163" name="未知的使用者55" initials="未" lastIdx="1" clrIdx="0"/>
  <p:cmAuthor id="164" name="未知的使用者52" initials="未" lastIdx="1" clrIdx="1"/>
  <p:cmAuthor id="165" name="未知的使用者72" initials="未" lastIdx="1" clrIdx="0"/>
  <p:cmAuthor id="166" name="未知的使用者71" initials="未" lastIdx="1" clrIdx="1"/>
  <p:cmAuthor id="691587970" name="小延魔法师" initials="小" lastIdx="1126286" clrIdx="0"/>
  <p:cmAuthor id="167" name="不明使用者20" initials="不" lastIdx="1" clrIdx="0"/>
  <p:cmAuthor id="168" name="不明使用者21" initials="不" lastIdx="1" clrIdx="0"/>
  <p:cmAuthor id="169" name="不明使用者18" initials="不" lastIdx="0" clrIdx="1"/>
  <p:cmAuthor id="170" name="不明使用者19" initials="不" lastIdx="1" clrIdx="0"/>
  <p:cmAuthor id="172" name="未知用户93" initials="未" lastIdx="1" clrIdx="0"/>
  <p:cmAuthor id="173" name="未知用户90" initials="未" lastIdx="5" clrIdx="1"/>
  <p:cmAuthor id="174" name="未知用户91" initials="未" lastIdx="0" clrIdx="1"/>
  <p:cmAuthor id="175" name="未知用户92" initials="未" lastIdx="1" clrIdx="0"/>
  <p:cmAuthor id="176" name="未知用户74" initials="未" lastIdx="5" clrIdx="1"/>
  <p:cmAuthor id="177" name="未知用户75" initials="未" lastIdx="8" clrIdx="0"/>
  <p:cmAuthor id="178" name="未知用户76" initials="未" lastIdx="1" clrIdx="0"/>
  <p:cmAuthor id="179" name="未知用户77" initials="未" lastIdx="8" clrIdx="0"/>
  <p:cmAuthor id="180" name="未知用户78" initials="未" lastIdx="8" clrIdx="0"/>
  <p:cmAuthor id="8535702" name="曾蓓/贝贝" initials="曾" lastIdx="0" clrIdx="0"/>
  <p:cmAuthor id="181" name="未知用户79" initials="未" lastIdx="1" clrIdx="0"/>
  <p:cmAuthor id="182" name="未知用户80" initials="未" lastIdx="1" clrIdx="0"/>
  <p:cmAuthor id="183" name="未知用户81" initials="未" lastIdx="1" clrIdx="0"/>
  <p:cmAuthor id="184" name="未知的使用者95" initials="未" lastIdx="1" clrIdx="0"/>
  <p:cmAuthor id="185" name="未知的使用者92" initials="未" lastIdx="1" clrIdx="0"/>
  <p:cmAuthor id="186" name="未知的使用者93" initials="未" lastIdx="1" clrIdx="1"/>
  <p:cmAuthor id="187" name="未知的使用者94" initials="未" lastIdx="1" clrIdx="2"/>
  <p:cmAuthor id="188" name="Christina" initials="C" lastIdx="0" clrIdx="0"/>
  <p:cmAuthor id="189" name="jet" initials="j" lastIdx="1" clrIdx="0"/>
  <p:cmAuthor id="190" name="未知用户61" initials="未" lastIdx="8" clrIdx="0"/>
  <p:cmAuthor id="191" name="未知用户60" initials="未" lastIdx="1" clrIdx="0"/>
  <p:cmAuthor id="192" name="Unknown User24" initials="U" lastIdx="1" clrIdx="0"/>
  <p:cmAuthor id="193" name="Unknown User25" initials="U" lastIdx="1" clrIdx="0"/>
  <p:cmAuthor id="194" name="Unknown User26" initials="U" lastIdx="1" clrIdx="1"/>
  <p:cmAuthor id="195" name="Unknown User27" initials="U" lastIdx="1" clrIdx="0"/>
  <p:cmAuthor id="196" name="Unknown User28" initials="U" lastIdx="3" clrIdx="1"/>
  <p:cmAuthor id="197" name="Unknown User11" initials="U" lastIdx="0" clrIdx="1"/>
  <p:cmAuthor id="198" name="Unknown User22" initials="U" lastIdx="1" clrIdx="0"/>
  <p:cmAuthor id="199" name="Unknown User23" initials="U" lastIdx="1" clrIdx="0"/>
  <p:cmAuthor id="200" name="未知的使用者112" initials="未" lastIdx="1" clrIdx="1"/>
  <p:cmAuthor id="201" name="未知的使用者107" initials="未" lastIdx="1" clrIdx="0"/>
  <p:cmAuthor id="202" name="未知的使用者108" initials="未" lastIdx="1" clrIdx="1"/>
  <p:cmAuthor id="203" name="未知的使用者98" initials="未" lastIdx="1" clrIdx="2"/>
  <p:cmAuthor id="204" name="未知的使用者145" initials="未" lastIdx="1" clrIdx="0"/>
  <p:cmAuthor id="205" name="未知的使用者146" initials="未" lastIdx="1" clrIdx="0"/>
  <p:cmAuthor id="206" name="未知的使用者147" initials="未" lastIdx="1" clrIdx="1"/>
  <p:cmAuthor id="207" name="未知的使用者144" initials="未" lastIdx="1" clrIdx="2"/>
  <p:cmAuthor id="208" name="未知的使用者133" initials="未" lastIdx="1" clrIdx="0"/>
  <p:cmAuthor id="209" name="未知的使用者134" initials="未" lastIdx="1" clrIdx="0"/>
  <p:cmAuthor id="210" name="未知的使用者135" initials="未" lastIdx="2" clrIdx="0"/>
  <p:cmAuthor id="211" name="未知的使用者136" initials="未" lastIdx="1" clrIdx="0"/>
  <p:cmAuthor id="212" name="未知的使用者137" initials="未" lastIdx="5" clrIdx="0"/>
  <p:cmAuthor id="213" name="未知的使用者138" initials="未" lastIdx="10" clrIdx="0"/>
  <p:cmAuthor id="214" name="未知的使用者139" initials="未" lastIdx="1" clrIdx="0"/>
  <p:cmAuthor id="215" name="未知的使用者140" initials="未" lastIdx="1" clrIdx="1"/>
  <p:cmAuthor id="216" name="未知的使用者197" initials="未" lastIdx="8" clrIdx="0"/>
  <p:cmAuthor id="217" name="未知的使用者162" initials="未" lastIdx="8" clrIdx="0"/>
  <p:cmAuthor id="218" name="未知的使用者163" initials="未" lastIdx="1" clrIdx="0"/>
  <p:cmAuthor id="219" name="未知的使用者170" initials="未" lastIdx="0" clrIdx="1"/>
  <p:cmAuthor id="220" name="未知的使用者165" initials="未" lastIdx="1" clrIdx="0"/>
  <p:cmAuthor id="221" name="未知的使用者158" initials="未" lastIdx="1" clrIdx="0"/>
  <p:cmAuthor id="222" name="未知的使用者148" initials="未" lastIdx="5" clrIdx="0"/>
  <p:cmAuthor id="223" name="未知的使用者149" initials="未" lastIdx="10" clrIdx="0"/>
  <p:cmAuthor id="224" name="未知的使用者150" initials="未" lastIdx="1" clrIdx="0"/>
  <p:cmAuthor id="225" name="未知的使用者166" initials="未" lastIdx="8" clrIdx="0"/>
  <p:cmAuthor id="226" name="未知的使用者167" initials="未" lastIdx="0" clrIdx="1"/>
  <p:cmAuthor id="227" name="未知的使用者159" initials="未" lastIdx="1" clrIdx="1"/>
  <p:cmAuthor id="228" name="未知的使用者160" initials="未" lastIdx="1" clrIdx="0"/>
  <p:cmAuthor id="229" name="未知的使用者168" initials="未" lastIdx="1" clrIdx="0"/>
  <p:cmAuthor id="230" name="未知的使用者169" initials="未" lastIdx="1" clrIdx="0"/>
  <p:cmAuthor id="231" name="未知的使用者117" initials="未" lastIdx="1" clrIdx="0"/>
  <p:cmAuthor id="232" name="未知的使用者115" initials="未" lastIdx="1" clrIdx="1"/>
  <p:cmAuthor id="233" name="未知的使用者119" initials="未" lastIdx="1" clrIdx="2"/>
  <p:cmAuthor id="234" name="clinchen" initials="c" lastIdx="0" clrIdx="1"/>
  <p:cmAuthor id="235" name="未知用户6" initials="未" lastIdx="1" clrIdx="0"/>
  <p:cmAuthor id="236" name="未知用户7" initials="未" lastIdx="1" clrIdx="0"/>
  <p:cmAuthor id="237" name="未知的使用者198" initials="未" lastIdx="1" clrIdx="0"/>
  <p:cmAuthor id="238" name="未知的使用者205" initials="未" lastIdx="0" clrIdx="1"/>
  <p:cmAuthor id="239" name="未知的使用者200" initials="未" lastIdx="1" clrIdx="0"/>
  <p:cmAuthor id="240" name="未知的使用者181" initials="未" lastIdx="1" clrIdx="0"/>
  <p:cmAuthor id="1411827" name="黄晓平" initials="黄" lastIdx="0" clrIdx="0"/>
  <p:cmAuthor id="241" name="未知的使用者194" initials="未" lastIdx="1" clrIdx="0"/>
  <p:cmAuthor id="242" name="未知的使用者182" initials="未" lastIdx="1" clrIdx="0"/>
  <p:cmAuthor id="243" name="未知的使用者183" initials="未" lastIdx="2" clrIdx="0"/>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4" name="未知用户39" initials="未" lastIdx="1" clrIdx="0"/>
  <p:cmAuthor id="265" name="Admin" initials="A" lastIdx="1" clrIdx="2"/>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0" name="未知用户35" initials="未" lastIdx="1" clrIdx="0"/>
  <p:cmAuthor id="271" name="未知用户36" initials="未" lastIdx="1" clrIdx="0"/>
  <p:cmAuthor id="273" name="未知用户23" initials="未" lastIdx="1" clrIdx="0"/>
  <p:cmAuthor id="278" name="未知用户33" initials="未" lastIdx="1" clrIdx="0"/>
  <p:cmAuthor id="279" name="未知用户34" initials="未" lastIdx="2" clrIdx="0"/>
  <p:cmAuthor id="280" name="huang gerrard" initials="h" lastIdx="2" clrIdx="0"/>
  <p:cmAuthor id="281" name="未知用户98" initials="未" lastIdx="8" clrIdx="0"/>
  <p:cmAuthor id="282" name="未知用户100" initials="未" lastIdx="1" clrIdx="0"/>
  <p:cmAuthor id="283" name="未知用户101" initials="未" lastIdx="1" clrIdx="0"/>
  <p:cmAuthor id="289" name="未知用户42" initials="未" lastIdx="1" clrIdx="0"/>
  <p:cmAuthor id="1483810881" name="WPS_1679281038" initials="W" lastIdx="1" clrIdx="2"/>
  <p:cmAuthor id="10703389" name="吴志川" initials="吴" lastIdx="1" clrIdx="321"/>
  <p:cmAuthor id="435427251" name="W.Yihan" initials="W" lastIdx="1" clrIdx="322"/>
  <p:cmAuthor id="698272473" name="AHA"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7ADCB"/>
    <a:srgbClr val="00A6C7"/>
    <a:srgbClr val="38C177"/>
    <a:srgbClr val="92D050"/>
    <a:srgbClr val="B3DE8C"/>
    <a:srgbClr val="7DDFD7"/>
    <a:srgbClr val="30C0B4"/>
    <a:srgbClr val="249087"/>
    <a:srgbClr val="1860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145C2D4-26EA-4D46-9094-34C4210D4325}" styleName="表样式 1 12">
    <a:wholeTbl>
      <a:tcTxStyle>
        <a:fontRef idx="none">
          <a:srgbClr val="000000"/>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w="9525" cmpd="sng">
              <a:solidFill>
                <a:schemeClr val="accent5">
                  <a:lumMod val="40000"/>
                  <a:lumOff val="60000"/>
                </a:schemeClr>
              </a:solidFill>
              <a:prstDash val="solid"/>
            </a:ln>
          </a:insideH>
          <a:insideV>
            <a:ln>
              <a:noFill/>
            </a:ln>
          </a:insideV>
        </a:tcBdr>
        <a:fill>
          <a:solidFill>
            <a:srgbClr val="FFFFFF"/>
          </a:solidFill>
        </a:fill>
      </a:tcStyle>
    </a:wholeTbl>
    <a:band2H>
      <a:tcStyle>
        <a:tcBdr/>
        <a:fill>
          <a:solidFill>
            <a:schemeClr val="accent5">
              <a:lumMod val="10000"/>
              <a:lumOff val="90000"/>
            </a:schemeClr>
          </a:solidFill>
        </a:fill>
      </a:tcStyle>
    </a:band2H>
    <a:band1V>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w="9525" cmpd="sng">
              <a:solidFill>
                <a:schemeClr val="accent5">
                  <a:lumMod val="40000"/>
                  <a:lumOff val="60000"/>
                </a:schemeClr>
              </a:solidFill>
              <a:prstDash val="solid"/>
            </a:ln>
          </a:insideH>
          <a:insideV>
            <a:ln>
              <a:noFill/>
            </a:ln>
          </a:insideV>
        </a:tcBdr>
        <a:fill>
          <a:solidFill>
            <a:schemeClr val="accent5">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w="9525" cmpd="sng">
              <a:solidFill>
                <a:schemeClr val="accent5">
                  <a:lumMod val="40000"/>
                  <a:lumOff val="60000"/>
                </a:schemeClr>
              </a:solidFill>
              <a:prstDash val="solid"/>
            </a:ln>
          </a:insideH>
          <a:insideV>
            <a:ln>
              <a:noFill/>
            </a:ln>
          </a:insideV>
        </a:tcBdr>
        <a:fill>
          <a:solidFill>
            <a:schemeClr val="accent5">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w="9525" cmpd="sng">
              <a:solidFill>
                <a:schemeClr val="accent5">
                  <a:lumMod val="40000"/>
                  <a:lumOff val="60000"/>
                </a:schemeClr>
              </a:solidFill>
              <a:prstDash val="solid"/>
            </a:ln>
          </a:insideH>
          <a:insideV>
            <a:ln>
              <a:noFill/>
            </a:ln>
          </a:insideV>
        </a:tcBdr>
        <a:fill>
          <a:solidFill>
            <a:schemeClr val="accent5">
              <a:lumMod val="20000"/>
              <a:lumOff val="80000"/>
            </a:schemeClr>
          </a:solidFill>
        </a:fill>
      </a:tcStyle>
    </a:firstCol>
    <a:lastRow>
      <a:tcTxStyle b="on">
        <a:fontRef idx="none">
          <a:schemeClr val="accent5"/>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rgbClr val="FFFFFF"/>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firstRow>
  </a:tblStyle>
  <a:tblStyle styleId="{A828BEB5-E7EA-4C6A-9300-9049D458AF17}"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267.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评测数据集结构</c:v>
                </c:pt>
              </c:strCache>
            </c:strRef>
          </c:tx>
          <c:spPr/>
          <c:explosion val="0"/>
          <c:dPt>
            <c:idx val="0"/>
            <c:bubble3D val="0"/>
            <c:spPr>
              <a:solidFill>
                <a:schemeClr val="accent1"/>
              </a:solidFill>
              <a:ln>
                <a:solidFill>
                  <a:schemeClr val="bg1"/>
                </a:solidFill>
              </a:ln>
              <a:effectLst/>
            </c:spPr>
          </c:dPt>
          <c:dPt>
            <c:idx val="1"/>
            <c:bubble3D val="0"/>
            <c:spPr>
              <a:solidFill>
                <a:schemeClr val="accent3"/>
              </a:solidFill>
              <a:ln>
                <a:solidFill>
                  <a:schemeClr val="bg1"/>
                </a:solidFill>
              </a:ln>
              <a:effectLst/>
            </c:spPr>
          </c:dPt>
          <c:dPt>
            <c:idx val="2"/>
            <c:bubble3D val="0"/>
            <c:spPr>
              <a:solidFill>
                <a:schemeClr val="accent5"/>
              </a:solidFill>
              <a:ln>
                <a:solidFill>
                  <a:schemeClr val="bg1"/>
                </a:solidFill>
              </a:ln>
              <a:effectLst/>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选择题</c:v>
                </c:pt>
                <c:pt idx="1">
                  <c:v>填空题</c:v>
                </c:pt>
                <c:pt idx="2">
                  <c:v>论述题</c:v>
                </c:pt>
              </c:strCache>
            </c:strRef>
          </c:cat>
          <c:val>
            <c:numRef>
              <c:f>Sheet1!$B$2:$B$4</c:f>
              <c:numCache>
                <c:formatCode>General</c:formatCode>
                <c:ptCount val="3"/>
                <c:pt idx="0">
                  <c:v>0.25</c:v>
                </c:pt>
                <c:pt idx="1">
                  <c:v>0.25</c:v>
                </c:pt>
                <c:pt idx="2">
                  <c:v>0.5</c:v>
                </c:pt>
              </c:numCache>
            </c:numRef>
          </c:val>
        </c:ser>
        <c:dLbls>
          <c:showLegendKey val="0"/>
          <c:showVal val="0"/>
          <c:showCatName val="1"/>
          <c:showSerName val="0"/>
          <c:showPercent val="1"/>
          <c:showBubbleSize val="0"/>
          <c:showLeaderLines val="1"/>
        </c:dLbls>
        <c:firstSliceAng val="0"/>
        <c:holeSize val="50"/>
      </c:doughnutChart>
      <c:spPr>
        <a:noFill/>
        <a:ln>
          <a:noFill/>
        </a:ln>
        <a:effectLst/>
      </c:spPr>
    </c:plotArea>
    <c:plotVisOnly val="1"/>
    <c:dispBlanksAs val="gap"/>
    <c:showDLblsOverMax val="0"/>
    <c:extLst>
      <c:ext uri="{0b15fc19-7d7d-44ad-8c2d-2c3a37ce22c3}">
        <chartProps xmlns="https://web.wps.cn/et/2018/main" chartId="{fd92cba9-7876-4e3e-be72-822bdf48e918}"/>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10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78A5E4A-65BD-794C-A3D1-2B07C3699BB5}"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78A5E4A-65BD-794C-A3D1-2B07C3699BB5}"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人工智能发展经历了三次浪潮，目前正处于由大模型引发的</a:t>
            </a:r>
            <a:r>
              <a:rPr b="1" noProof="0" dirty="0">
                <a:gradFill>
                  <a:gsLst>
                    <a:gs pos="50410">
                      <a:srgbClr val="FB9B36"/>
                    </a:gs>
                    <a:gs pos="0">
                      <a:srgbClr val="FE564D"/>
                    </a:gs>
                    <a:gs pos="100000">
                      <a:srgbClr val="F9CA26"/>
                    </a:gs>
                  </a:gsLst>
                  <a:lin ang="5400000" scaled="1"/>
                </a:gradFill>
                <a:sym typeface="+mn-ea"/>
              </a:rPr>
              <a:t>新一轮科技革命</a:t>
            </a:r>
            <a:r>
              <a:rPr lang="zh-CN" b="1" noProof="0" dirty="0">
                <a:gradFill>
                  <a:gsLst>
                    <a:gs pos="50410">
                      <a:srgbClr val="FB9B36"/>
                    </a:gs>
                    <a:gs pos="0">
                      <a:srgbClr val="FE564D"/>
                    </a:gs>
                    <a:gs pos="100000">
                      <a:srgbClr val="F9CA26"/>
                    </a:gs>
                  </a:gsLst>
                  <a:lin ang="5400000" scaled="1"/>
                </a:gradFill>
                <a:sym typeface="+mn-ea"/>
              </a:rPr>
              <a:t>和</a:t>
            </a:r>
            <a:r>
              <a:rPr b="1" noProof="0" dirty="0">
                <a:gradFill>
                  <a:gsLst>
                    <a:gs pos="50410">
                      <a:srgbClr val="FB9B36"/>
                    </a:gs>
                    <a:gs pos="0">
                      <a:srgbClr val="FE564D"/>
                    </a:gs>
                    <a:gs pos="100000">
                      <a:srgbClr val="F9CA26"/>
                    </a:gs>
                  </a:gsLst>
                  <a:lin ang="5400000" scaled="1"/>
                </a:gradFill>
                <a:sym typeface="+mn-ea"/>
              </a:rPr>
              <a:t>产业变革</a:t>
            </a:r>
            <a:r>
              <a:rPr lang="zh-CN" altLang="en-US">
                <a:sym typeface="+mn-ea"/>
              </a:rPr>
              <a:t>。在国家层面，</a:t>
            </a:r>
            <a:r>
              <a:rPr lang="zh-CN" altLang="en-US" b="1">
                <a:solidFill>
                  <a:srgbClr val="333333"/>
                </a:solidFill>
                <a:sym typeface="+mn-ea"/>
              </a:rPr>
              <a:t>总书记页提出抢抓人工智能发展的</a:t>
            </a:r>
            <a:r>
              <a:rPr lang="zh-CN" altLang="en-US" b="1">
                <a:solidFill>
                  <a:srgbClr val="00A6C7"/>
                </a:solidFill>
                <a:sym typeface="+mn-ea"/>
              </a:rPr>
              <a:t>历史性机遇，</a:t>
            </a:r>
            <a:r>
              <a:rPr lang="zh-CN" altLang="en-US" dirty="0">
                <a:sym typeface="+mn-ea"/>
              </a:rPr>
              <a:t>科技创新</a:t>
            </a:r>
            <a:r>
              <a:rPr lang="zh-CN" altLang="en-US" b="1" dirty="0">
                <a:sym typeface="+mn-ea"/>
              </a:rPr>
              <a:t>引</a:t>
            </a:r>
            <a:r>
              <a:rPr b="1" noProof="0" dirty="0">
                <a:gradFill>
                  <a:gsLst>
                    <a:gs pos="50410">
                      <a:srgbClr val="FB9B36"/>
                    </a:gs>
                    <a:gs pos="0">
                      <a:srgbClr val="FE564D"/>
                    </a:gs>
                    <a:gs pos="100000">
                      <a:srgbClr val="F9CA26"/>
                    </a:gs>
                  </a:gsLst>
                  <a:lin ang="5400000" scaled="1"/>
                </a:gradFill>
                <a:sym typeface="+mn-ea"/>
              </a:rPr>
              <a:t>领新质生产力发展</a:t>
            </a:r>
            <a:r>
              <a:rPr lang="zh-CN" b="1" noProof="0" dirty="0">
                <a:gradFill>
                  <a:gsLst>
                    <a:gs pos="50410">
                      <a:srgbClr val="FB9B36"/>
                    </a:gs>
                    <a:gs pos="0">
                      <a:srgbClr val="FE564D"/>
                    </a:gs>
                    <a:gs pos="100000">
                      <a:srgbClr val="F9CA26"/>
                    </a:gs>
                  </a:gsLst>
                  <a:lin ang="5400000" scaled="1"/>
                </a:gradFill>
                <a:sym typeface="+mn-ea"/>
              </a:rPr>
              <a:t>，</a:t>
            </a:r>
            <a:r>
              <a:rPr lang="zh-CN" altLang="en-US" b="1" noProof="0" dirty="0">
                <a:gradFill>
                  <a:gsLst>
                    <a:gs pos="50410">
                      <a:srgbClr val="FB9B36"/>
                    </a:gs>
                    <a:gs pos="0">
                      <a:srgbClr val="FE564D"/>
                    </a:gs>
                    <a:gs pos="100000">
                      <a:srgbClr val="F9CA26"/>
                    </a:gs>
                  </a:gsLst>
                  <a:lin ang="5400000" scaled="1"/>
                </a:gradFill>
                <a:sym typeface="+mn-ea"/>
              </a:rPr>
              <a:t>开展</a:t>
            </a:r>
            <a:r>
              <a:rPr lang="en-US" altLang="zh-CN" b="1" noProof="0" dirty="0">
                <a:gradFill>
                  <a:gsLst>
                    <a:gs pos="50410">
                      <a:srgbClr val="FB9B36"/>
                    </a:gs>
                    <a:gs pos="0">
                      <a:srgbClr val="FE564D"/>
                    </a:gs>
                    <a:gs pos="100000">
                      <a:srgbClr val="F9CA26"/>
                    </a:gs>
                  </a:gsLst>
                  <a:lin ang="5400000" scaled="1"/>
                </a:gradFill>
                <a:sym typeface="+mn-ea"/>
              </a:rPr>
              <a:t>“</a:t>
            </a:r>
            <a:r>
              <a:rPr lang="zh-CN" altLang="en-US" b="1" noProof="0" dirty="0">
                <a:gradFill>
                  <a:gsLst>
                    <a:gs pos="50410">
                      <a:srgbClr val="FB9B36"/>
                    </a:gs>
                    <a:gs pos="0">
                      <a:srgbClr val="FE564D"/>
                    </a:gs>
                    <a:gs pos="100000">
                      <a:srgbClr val="F9CA26"/>
                    </a:gs>
                  </a:gsLst>
                  <a:lin ang="5400000" scaled="1"/>
                </a:gradFill>
                <a:sym typeface="+mn-ea"/>
              </a:rPr>
              <a:t>人工智能</a:t>
            </a:r>
            <a:r>
              <a:rPr lang="en-US" altLang="zh-CN" b="1" noProof="0" dirty="0">
                <a:gradFill>
                  <a:gsLst>
                    <a:gs pos="50410">
                      <a:srgbClr val="FB9B36"/>
                    </a:gs>
                    <a:gs pos="0">
                      <a:srgbClr val="FE564D"/>
                    </a:gs>
                    <a:gs pos="100000">
                      <a:srgbClr val="F9CA26"/>
                    </a:gs>
                  </a:gsLst>
                  <a:lin ang="5400000" scaled="1"/>
                </a:gradFill>
                <a:sym typeface="+mn-ea"/>
              </a:rPr>
              <a:t>+”</a:t>
            </a:r>
            <a:r>
              <a:rPr lang="zh-CN" altLang="en-US" b="1" noProof="0" dirty="0">
                <a:gradFill>
                  <a:gsLst>
                    <a:gs pos="50410">
                      <a:srgbClr val="FB9B36"/>
                    </a:gs>
                    <a:gs pos="0">
                      <a:srgbClr val="FE564D"/>
                    </a:gs>
                    <a:gs pos="100000">
                      <a:srgbClr val="F9CA26"/>
                    </a:gs>
                  </a:gsLst>
                  <a:lin ang="5400000" scaled="1"/>
                </a:gradFill>
                <a:sym typeface="+mn-ea"/>
              </a:rPr>
              <a:t>行动</a:t>
            </a:r>
            <a:r>
              <a:rPr lang="zh-CN" b="1" noProof="0" dirty="0">
                <a:gradFill>
                  <a:gsLst>
                    <a:gs pos="50410">
                      <a:srgbClr val="FB9B36"/>
                    </a:gs>
                    <a:gs pos="0">
                      <a:srgbClr val="FE564D"/>
                    </a:gs>
                    <a:gs pos="100000">
                      <a:srgbClr val="F9CA26"/>
                    </a:gs>
                  </a:gsLst>
                  <a:lin ang="5400000" scaled="1"/>
                </a:gradFill>
                <a:sym typeface="+mn-ea"/>
              </a:rPr>
              <a:t>。在地方重庆，更将这一</a:t>
            </a:r>
            <a:r>
              <a:rPr lang="zh-CN" altLang="en-US" b="1" noProof="0" dirty="0">
                <a:gradFill>
                  <a:gsLst>
                    <a:gs pos="50410">
                      <a:srgbClr val="FB9B36"/>
                    </a:gs>
                    <a:gs pos="0">
                      <a:srgbClr val="FE564D"/>
                    </a:gs>
                    <a:gs pos="100000">
                      <a:srgbClr val="F9CA26"/>
                    </a:gs>
                  </a:gsLst>
                  <a:lin ang="5400000" scaled="1"/>
                </a:gradFill>
                <a:sym typeface="+mn-ea"/>
              </a:rPr>
              <a:t>战略落到了实处</a:t>
            </a:r>
            <a:r>
              <a:rPr lang="zh-CN" b="1" noProof="0" dirty="0">
                <a:gradFill>
                  <a:gsLst>
                    <a:gs pos="50410">
                      <a:srgbClr val="FB9B36"/>
                    </a:gs>
                    <a:gs pos="0">
                      <a:srgbClr val="FE564D"/>
                    </a:gs>
                    <a:gs pos="100000">
                      <a:srgbClr val="F9CA26"/>
                    </a:gs>
                  </a:gsLst>
                  <a:lin ang="5400000" scaled="1"/>
                </a:gradFill>
                <a:sym typeface="+mn-ea"/>
              </a:rPr>
              <a:t>，提出</a:t>
            </a:r>
            <a:r>
              <a:rPr lang="zh-CN" altLang="en-US" b="1" noProof="0" dirty="0">
                <a:cs typeface="+mn-lt"/>
                <a:sym typeface="+mn-ea"/>
              </a:rPr>
              <a:t>推动</a:t>
            </a:r>
            <a:r>
              <a:rPr lang="zh-CN" altLang="en-US" b="1">
                <a:solidFill>
                  <a:srgbClr val="00A6C7"/>
                </a:solidFill>
                <a:sym typeface="+mn-ea"/>
              </a:rPr>
              <a:t>人工智能与数字重庆</a:t>
            </a:r>
            <a:r>
              <a:rPr lang="zh-CN" altLang="en-US" b="1" noProof="0" dirty="0">
                <a:cs typeface="+mn-lt"/>
                <a:sym typeface="+mn-ea"/>
              </a:rPr>
              <a:t>双向赋能加快形成现代化人民城市发展服务治理基本能力。如</a:t>
            </a:r>
            <a:r>
              <a:rPr lang="en-US" altLang="zh-CN" b="1" noProof="0" dirty="0">
                <a:gradFill>
                  <a:gsLst>
                    <a:gs pos="50410">
                      <a:srgbClr val="FB9B36"/>
                    </a:gs>
                    <a:gs pos="0">
                      <a:srgbClr val="FE564D"/>
                    </a:gs>
                    <a:gs pos="100000">
                      <a:srgbClr val="F9CA26"/>
                    </a:gs>
                  </a:gsLst>
                  <a:lin ang="5400000" scaled="1"/>
                </a:gradFill>
                <a:sym typeface="+mn-ea"/>
              </a:rPr>
              <a:t>24</a:t>
            </a:r>
            <a:r>
              <a:rPr lang="zh-CN" altLang="en-US" b="1" noProof="0" dirty="0">
                <a:gradFill>
                  <a:gsLst>
                    <a:gs pos="50410">
                      <a:srgbClr val="FB9B36"/>
                    </a:gs>
                    <a:gs pos="0">
                      <a:srgbClr val="FE564D"/>
                    </a:gs>
                    <a:gs pos="100000">
                      <a:srgbClr val="F9CA26"/>
                    </a:gs>
                  </a:gsLst>
                  <a:lin ang="5400000" scaled="1"/>
                </a:gradFill>
                <a:sym typeface="+mn-ea"/>
              </a:rPr>
              <a:t>年</a:t>
            </a:r>
            <a:r>
              <a:rPr lang="en-US" altLang="zh-CN" b="1" noProof="0" dirty="0">
                <a:gradFill>
                  <a:gsLst>
                    <a:gs pos="50410">
                      <a:srgbClr val="FB9B36"/>
                    </a:gs>
                    <a:gs pos="0">
                      <a:srgbClr val="FE564D"/>
                    </a:gs>
                    <a:gs pos="100000">
                      <a:srgbClr val="F9CA26"/>
                    </a:gs>
                  </a:gsLst>
                  <a:lin ang="5400000" scaled="1"/>
                </a:gradFill>
                <a:sym typeface="+mn-ea"/>
              </a:rPr>
              <a:t>7</a:t>
            </a:r>
            <a:r>
              <a:rPr lang="zh-CN" altLang="en-US" b="1" noProof="0" dirty="0">
                <a:gradFill>
                  <a:gsLst>
                    <a:gs pos="50410">
                      <a:srgbClr val="FB9B36"/>
                    </a:gs>
                    <a:gs pos="0">
                      <a:srgbClr val="FE564D"/>
                    </a:gs>
                    <a:gs pos="100000">
                      <a:srgbClr val="F9CA26"/>
                    </a:gs>
                  </a:gsLst>
                  <a:lin ang="5400000" scaled="1"/>
                </a:gradFill>
                <a:sym typeface="+mn-ea"/>
              </a:rPr>
              <a:t>月数重大会上提出</a:t>
            </a:r>
            <a:r>
              <a:rPr lang="zh-CN" altLang="en-US" b="1" noProof="0" dirty="0">
                <a:solidFill>
                  <a:srgbClr val="00A6C7"/>
                </a:solidFill>
                <a:cs typeface="+mn-lt"/>
                <a:sym typeface="+mn-ea"/>
              </a:rPr>
              <a:t>形成一批</a:t>
            </a:r>
            <a:r>
              <a:rPr b="1" noProof="0" dirty="0">
                <a:gradFill>
                  <a:gsLst>
                    <a:gs pos="50410">
                      <a:srgbClr val="FB9B36"/>
                    </a:gs>
                    <a:gs pos="0">
                      <a:srgbClr val="FE564D"/>
                    </a:gs>
                    <a:gs pos="100000">
                      <a:srgbClr val="F9CA26"/>
                    </a:gs>
                  </a:gsLst>
                  <a:lin ang="5400000" scaled="1"/>
                </a:gradFill>
                <a:sym typeface="+mn-ea"/>
              </a:rPr>
              <a:t>大模型、智能算法成果，</a:t>
            </a:r>
            <a:r>
              <a:rPr lang="zh-CN" altLang="en-US" b="1" noProof="0" dirty="0">
                <a:solidFill>
                  <a:srgbClr val="00A6C7"/>
                </a:solidFill>
                <a:cs typeface="+mn-lt"/>
                <a:sym typeface="+mn-ea"/>
              </a:rPr>
              <a:t>增强大模型能力；</a:t>
            </a:r>
            <a:r>
              <a:rPr lang="en-US" altLang="zh-CN" b="1" noProof="0" dirty="0">
                <a:solidFill>
                  <a:srgbClr val="00A6C7"/>
                </a:solidFill>
                <a:cs typeface="+mn-lt"/>
                <a:sym typeface="+mn-ea"/>
              </a:rPr>
              <a:t>25</a:t>
            </a:r>
            <a:r>
              <a:rPr lang="zh-CN" altLang="en-US" b="1" noProof="0" dirty="0">
                <a:solidFill>
                  <a:srgbClr val="00A6C7"/>
                </a:solidFill>
                <a:cs typeface="+mn-lt"/>
                <a:sym typeface="+mn-ea"/>
              </a:rPr>
              <a:t>年</a:t>
            </a:r>
            <a:r>
              <a:rPr lang="en-US" altLang="zh-CN" b="1" noProof="0" dirty="0">
                <a:solidFill>
                  <a:srgbClr val="00A6C7"/>
                </a:solidFill>
                <a:cs typeface="+mn-lt"/>
                <a:sym typeface="+mn-ea"/>
              </a:rPr>
              <a:t>1</a:t>
            </a:r>
            <a:r>
              <a:rPr lang="zh-CN" altLang="en-US" b="1" noProof="0" dirty="0">
                <a:solidFill>
                  <a:srgbClr val="00A6C7"/>
                </a:solidFill>
                <a:cs typeface="+mn-lt"/>
                <a:sym typeface="+mn-ea"/>
              </a:rPr>
              <a:t>月初步建成</a:t>
            </a:r>
            <a:r>
              <a:rPr b="1" noProof="0" dirty="0">
                <a:gradFill>
                  <a:gsLst>
                    <a:gs pos="50410">
                      <a:srgbClr val="FB9B36"/>
                    </a:gs>
                    <a:gs pos="0">
                      <a:srgbClr val="FE564D"/>
                    </a:gs>
                    <a:gs pos="100000">
                      <a:srgbClr val="F9CA26"/>
                    </a:gs>
                  </a:gsLst>
                  <a:lin ang="5400000" scaled="1"/>
                </a:gradFill>
                <a:sym typeface="+mn-ea"/>
              </a:rPr>
              <a:t>数字重庆AI底座，</a:t>
            </a:r>
            <a:r>
              <a:rPr lang="en-US" b="1" noProof="0" dirty="0">
                <a:gradFill>
                  <a:gsLst>
                    <a:gs pos="50410">
                      <a:srgbClr val="FB9B36"/>
                    </a:gs>
                    <a:gs pos="0">
                      <a:srgbClr val="FE564D"/>
                    </a:gs>
                    <a:gs pos="100000">
                      <a:srgbClr val="F9CA26"/>
                    </a:gs>
                  </a:gsLst>
                  <a:lin ang="5400000" scaled="1"/>
                </a:gradFill>
                <a:sym typeface="+mn-ea"/>
              </a:rPr>
              <a:t>25</a:t>
            </a:r>
            <a:r>
              <a:rPr lang="zh-CN" altLang="en-US" b="1" noProof="0" dirty="0">
                <a:gradFill>
                  <a:gsLst>
                    <a:gs pos="50410">
                      <a:srgbClr val="FB9B36"/>
                    </a:gs>
                    <a:gs pos="0">
                      <a:srgbClr val="FE564D"/>
                    </a:gs>
                    <a:gs pos="100000">
                      <a:srgbClr val="F9CA26"/>
                    </a:gs>
                  </a:gsLst>
                  <a:lin ang="5400000" scaled="1"/>
                </a:gradFill>
                <a:sym typeface="+mn-ea"/>
              </a:rPr>
              <a:t>年</a:t>
            </a:r>
            <a:r>
              <a:rPr lang="en-US" altLang="zh-CN" b="1" noProof="0" dirty="0">
                <a:gradFill>
                  <a:gsLst>
                    <a:gs pos="50410">
                      <a:srgbClr val="FB9B36"/>
                    </a:gs>
                    <a:gs pos="0">
                      <a:srgbClr val="FE564D"/>
                    </a:gs>
                    <a:gs pos="100000">
                      <a:srgbClr val="F9CA26"/>
                    </a:gs>
                  </a:gsLst>
                  <a:lin ang="5400000" scaled="1"/>
                </a:gradFill>
                <a:sym typeface="+mn-ea"/>
              </a:rPr>
              <a:t>4</a:t>
            </a:r>
            <a:r>
              <a:rPr lang="zh-CN" altLang="en-US" b="1" noProof="0" dirty="0">
                <a:gradFill>
                  <a:gsLst>
                    <a:gs pos="50410">
                      <a:srgbClr val="FB9B36"/>
                    </a:gs>
                    <a:gs pos="0">
                      <a:srgbClr val="FE564D"/>
                    </a:gs>
                    <a:gs pos="100000">
                      <a:srgbClr val="F9CA26"/>
                    </a:gs>
                  </a:gsLst>
                  <a:lin ang="5400000" scaled="1"/>
                </a:gradFill>
                <a:sym typeface="+mn-ea"/>
              </a:rPr>
              <a:t>月</a:t>
            </a:r>
            <a:r>
              <a:rPr lang="zh-CN" altLang="en-US" b="1" noProof="0" dirty="0">
                <a:solidFill>
                  <a:srgbClr val="00A6C7"/>
                </a:solidFill>
                <a:cs typeface="+mn-lt"/>
                <a:sym typeface="+mn-ea"/>
              </a:rPr>
              <a:t>初步构建</a:t>
            </a:r>
            <a:r>
              <a:rPr b="1" noProof="0" dirty="0">
                <a:gradFill>
                  <a:gsLst>
                    <a:gs pos="50410">
                      <a:srgbClr val="FB9B36"/>
                    </a:gs>
                    <a:gs pos="0">
                      <a:srgbClr val="FE564D"/>
                    </a:gs>
                    <a:gs pos="100000">
                      <a:srgbClr val="F9CA26"/>
                    </a:gs>
                  </a:gsLst>
                  <a:lin ang="5400000" scaled="1"/>
                </a:gradFill>
                <a:sym typeface="+mn-ea"/>
              </a:rPr>
              <a:t>数字重庆人工智能体系</a:t>
            </a:r>
            <a:r>
              <a:rPr lang="zh-CN" b="1" noProof="0" dirty="0">
                <a:gradFill>
                  <a:gsLst>
                    <a:gs pos="50410">
                      <a:srgbClr val="FB9B36"/>
                    </a:gs>
                    <a:gs pos="0">
                      <a:srgbClr val="FE564D"/>
                    </a:gs>
                    <a:gs pos="100000">
                      <a:srgbClr val="F9CA26"/>
                    </a:gs>
                  </a:gsLst>
                  <a:lin ang="5400000" scaled="1"/>
                </a:gradFill>
                <a:sym typeface="+mn-ea"/>
              </a:rPr>
              <a:t>。</a:t>
            </a:r>
            <a:r>
              <a:rPr lang="en-US" altLang="zh-CN" b="1" noProof="0" dirty="0">
                <a:gradFill>
                  <a:gsLst>
                    <a:gs pos="50410">
                      <a:srgbClr val="FB9B36"/>
                    </a:gs>
                    <a:gs pos="0">
                      <a:srgbClr val="FE564D"/>
                    </a:gs>
                    <a:gs pos="100000">
                      <a:srgbClr val="F9CA26"/>
                    </a:gs>
                  </a:gsLst>
                  <a:lin ang="5400000" scaled="1"/>
                </a:gradFill>
                <a:sym typeface="+mn-ea"/>
              </a:rPr>
              <a:t>7</a:t>
            </a:r>
            <a:r>
              <a:rPr lang="zh-CN" altLang="en-US" b="1" noProof="0" dirty="0">
                <a:gradFill>
                  <a:gsLst>
                    <a:gs pos="50410">
                      <a:srgbClr val="FB9B36"/>
                    </a:gs>
                    <a:gs pos="0">
                      <a:srgbClr val="FE564D"/>
                    </a:gs>
                    <a:gs pos="100000">
                      <a:srgbClr val="F9CA26"/>
                    </a:gs>
                  </a:gsLst>
                  <a:lin ang="5400000" scaled="1"/>
                </a:gradFill>
                <a:sym typeface="+mn-ea"/>
              </a:rPr>
              <a:t>月时，也重点提出了关于</a:t>
            </a:r>
            <a:r>
              <a:rPr lang="en-US" altLang="zh-CN" b="1" noProof="0" dirty="0">
                <a:gradFill>
                  <a:gsLst>
                    <a:gs pos="50410">
                      <a:srgbClr val="FB9B36"/>
                    </a:gs>
                    <a:gs pos="0">
                      <a:srgbClr val="FE564D"/>
                    </a:gs>
                    <a:gs pos="100000">
                      <a:srgbClr val="F9CA26"/>
                    </a:gs>
                  </a:gsLst>
                  <a:lin ang="5400000" scaled="1"/>
                </a:gradFill>
                <a:sym typeface="+mn-ea"/>
              </a:rPr>
              <a:t>AI+</a:t>
            </a:r>
            <a:r>
              <a:rPr lang="zh-CN" altLang="en-US" b="1" noProof="0" dirty="0">
                <a:gradFill>
                  <a:gsLst>
                    <a:gs pos="50410">
                      <a:srgbClr val="FB9B36"/>
                    </a:gs>
                    <a:gs pos="0">
                      <a:srgbClr val="FE564D"/>
                    </a:gs>
                    <a:gs pos="100000">
                      <a:srgbClr val="F9CA26"/>
                    </a:gs>
                  </a:gsLst>
                  <a:lin ang="5400000" scaled="1"/>
                </a:gradFill>
                <a:sym typeface="+mn-ea"/>
              </a:rPr>
              <a:t>综合场景、高质量数据集、</a:t>
            </a:r>
            <a:r>
              <a:rPr b="1" noProof="0" dirty="0">
                <a:gradFill>
                  <a:gsLst>
                    <a:gs pos="50410">
                      <a:srgbClr val="FB9B36"/>
                    </a:gs>
                    <a:gs pos="0">
                      <a:srgbClr val="FE564D"/>
                    </a:gs>
                    <a:gs pos="100000">
                      <a:srgbClr val="F9CA26"/>
                    </a:gs>
                  </a:gsLst>
                  <a:lin ang="5400000" scaled="1"/>
                </a:gradFill>
                <a:sym typeface="+mn-ea"/>
              </a:rPr>
              <a:t>可信数据空间</a:t>
            </a:r>
            <a:r>
              <a:rPr lang="zh-CN" b="1" noProof="0" dirty="0">
                <a:gradFill>
                  <a:gsLst>
                    <a:gs pos="50410">
                      <a:srgbClr val="FB9B36"/>
                    </a:gs>
                    <a:gs pos="0">
                      <a:srgbClr val="FE564D"/>
                    </a:gs>
                    <a:gs pos="100000">
                      <a:srgbClr val="F9CA26"/>
                    </a:gs>
                  </a:gsLst>
                  <a:lin ang="5400000" scaled="1"/>
                </a:gradFill>
                <a:sym typeface="+mn-ea"/>
              </a:rPr>
              <a:t>等建设要求。</a:t>
            </a:r>
            <a:endParaRPr lang="zh-CN" altLang="en-US" b="1" noProof="0" dirty="0">
              <a:gradFill>
                <a:gsLst>
                  <a:gs pos="50410">
                    <a:srgbClr val="FB9B36"/>
                  </a:gs>
                  <a:gs pos="0">
                    <a:srgbClr val="FE564D"/>
                  </a:gs>
                  <a:gs pos="100000">
                    <a:srgbClr val="F9CA26"/>
                  </a:gs>
                </a:gsLst>
                <a:lin ang="5400000" scaled="1"/>
              </a:gradFill>
              <a:sym typeface="+mn-ea"/>
            </a:endParaRPr>
          </a:p>
          <a:p>
            <a:endParaRPr lang="zh-CN" altLang="en-US" b="1" i="0" noProof="0" dirty="0">
              <a:solidFill>
                <a:srgbClr val="00A6C7"/>
              </a:solidFill>
              <a:latin typeface="微软雅黑" panose="020B0503020204020204" charset="-122"/>
              <a:ea typeface="微软雅黑" panose="020B0503020204020204" charset="-122"/>
              <a:cs typeface="+mn-lt"/>
            </a:endParaRPr>
          </a:p>
          <a:p>
            <a:endParaRPr lang="zh-CN" b="1" noProof="0" dirty="0">
              <a:gradFill>
                <a:gsLst>
                  <a:gs pos="50410">
                    <a:srgbClr val="FB9B36"/>
                  </a:gs>
                  <a:gs pos="0">
                    <a:srgbClr val="FE564D"/>
                  </a:gs>
                  <a:gs pos="100000">
                    <a:srgbClr val="F9CA26"/>
                  </a:gs>
                </a:gsLst>
                <a:lin ang="5400000" scaled="1"/>
              </a:gradFill>
              <a:sym typeface="+mn-ea"/>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怎么参与</a:t>
            </a:r>
            <a:br>
              <a:rPr lang="zh-CN" altLang="en-US"/>
            </a:br>
            <a:r>
              <a:rPr lang="zh-CN" altLang="en-US"/>
              <a:t>知识中心</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我们公司作为数字重庆建设支撑的主力军</a:t>
            </a:r>
            <a:r>
              <a:rPr lang="zh-CN">
                <a:sym typeface="+mn-ea"/>
              </a:rPr>
              <a:t>，积极参与数字重庆</a:t>
            </a:r>
            <a:r>
              <a:rPr lang="en-US" altLang="zh-CN">
                <a:sym typeface="+mn-ea"/>
              </a:rPr>
              <a:t>AI</a:t>
            </a:r>
            <a:r>
              <a:rPr lang="zh-CN" altLang="en-US">
                <a:sym typeface="+mn-ea"/>
              </a:rPr>
              <a:t>底座建设，当前</a:t>
            </a:r>
            <a:r>
              <a:rPr lang="en-US" altLang="zh-CN">
                <a:sym typeface="+mn-ea"/>
              </a:rPr>
              <a:t>AI</a:t>
            </a:r>
            <a:r>
              <a:rPr lang="zh-CN" altLang="en-US">
                <a:sym typeface="+mn-ea"/>
              </a:rPr>
              <a:t>底座</a:t>
            </a:r>
            <a:r>
              <a:rPr lang="zh-CN" altLang="en-US">
                <a:sym typeface="+mn-ea"/>
              </a:rPr>
              <a:t>已基本建成</a:t>
            </a:r>
            <a:r>
              <a:rPr lang="zh-CN" altLang="en-US">
                <a:sym typeface="+mn-ea"/>
              </a:rPr>
              <a:t>，统一为各委办局赋能</a:t>
            </a:r>
            <a:r>
              <a:rPr lang="en-US" altLang="zh-CN">
                <a:sym typeface="+mn-ea"/>
              </a:rPr>
              <a:t>AI</a:t>
            </a:r>
            <a:r>
              <a:rPr lang="zh-CN" altLang="en-US">
                <a:sym typeface="+mn-ea"/>
              </a:rPr>
              <a:t>能力。其中主要涉及四个系统：算力调度系统：实现多源异构算力纳管、编排调度，统一运营计量，精准计费，疆算入渝接入</a:t>
            </a:r>
            <a:r>
              <a:rPr lang="en-US" altLang="zh-CN">
                <a:sym typeface="+mn-ea"/>
              </a:rPr>
              <a:t>2828p</a:t>
            </a:r>
            <a:r>
              <a:rPr lang="zh-CN" altLang="en-US">
                <a:sym typeface="+mn-ea"/>
              </a:rPr>
              <a:t>。知识语料管理系统：提供数据归集清洗、标注、转换等处理功能，形成模型训练使用的语料，是完成高质量数据集建设的重要系统。模型服务平台：提供模型训练、推理、部署的全链路功能服务，支持模型共享与发布，是</a:t>
            </a:r>
            <a:r>
              <a:rPr lang="en-US" altLang="zh-CN">
                <a:sym typeface="+mn-ea"/>
              </a:rPr>
              <a:t>AI</a:t>
            </a:r>
            <a:r>
              <a:rPr lang="zh-CN" altLang="en-US">
                <a:sym typeface="+mn-ea"/>
              </a:rPr>
              <a:t>能力的核心。智能体开发系统：提供易用的智能体开发、管理、配置等工具，实现智能体的开发部署，是业务实现</a:t>
            </a:r>
            <a:r>
              <a:rPr lang="en-US" altLang="zh-CN">
                <a:sym typeface="+mn-ea"/>
              </a:rPr>
              <a:t>AI</a:t>
            </a:r>
            <a:r>
              <a:rPr lang="zh-CN" altLang="en-US">
                <a:sym typeface="+mn-ea"/>
              </a:rPr>
              <a:t>能力重要载体。</a:t>
            </a:r>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78A5E4A-65BD-794C-A3D1-2B07C3699BB5}"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fontAlgn="auto">
              <a:lnSpc>
                <a:spcPct val="160000"/>
              </a:lnSpc>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7FC73A86-E65C-4B4B-BF87-EBC29A6F21A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大多数的业务场景都是本来就存在的，不是因为有了</a:t>
            </a:r>
            <a:r>
              <a:rPr lang="en-US" altLang="zh-CN"/>
              <a:t>AI</a:t>
            </a:r>
            <a:r>
              <a:rPr lang="zh-CN" altLang="en-US"/>
              <a:t>智能体而被创造的。所以，业务的本质和规则，并没有发生变化。只是我们多了一种新的技术实现手段，可以由点到线到面的来解决一些之前解决的不大好的问题，在原本已经遇到了效果天花板的地方找寻一些新的突破契机。</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 </a:t>
            </a:r>
            <a:r>
              <a:rPr lang="zh-CN" altLang="en-US"/>
              <a:t>全参数微调</a:t>
            </a:r>
            <a:endParaRPr lang="zh-CN" altLang="en-US"/>
          </a:p>
          <a:p>
            <a:r>
              <a:rPr lang="zh-CN" altLang="en-US"/>
              <a:t>适合场景：目标任务与预训练差异大，且具备充足标注数据与算力资源</a:t>
            </a:r>
            <a:endParaRPr lang="zh-CN" altLang="en-US"/>
          </a:p>
          <a:p>
            <a:endParaRPr lang="en-US" altLang="zh-CN"/>
          </a:p>
          <a:p>
            <a:r>
              <a:rPr lang="zh-CN" altLang="en-US"/>
              <a:t>当模型需从通用语言理解转向高度专业领域（如金融研报生成、司法判决预测）时，全参数微调可彻底重塑模型能力。适用于有大规模高质量数据、追求最高精度的项目，如构建行业专属大模型底座。</a:t>
            </a:r>
            <a:endParaRPr lang="zh-CN" altLang="en-US"/>
          </a:p>
          <a:p>
            <a:endParaRPr lang="en-US" altLang="zh-CN"/>
          </a:p>
          <a:p>
            <a:r>
              <a:rPr lang="en-US" altLang="zh-CN"/>
              <a:t>2. </a:t>
            </a:r>
            <a:r>
              <a:rPr lang="zh-CN" altLang="en-US"/>
              <a:t>低秩适配（</a:t>
            </a:r>
            <a:r>
              <a:rPr lang="en-US" altLang="zh-CN"/>
              <a:t>LoRA</a:t>
            </a:r>
            <a:r>
              <a:rPr lang="zh-CN" altLang="en-US"/>
              <a:t>）</a:t>
            </a:r>
            <a:endParaRPr lang="zh-CN" altLang="en-US"/>
          </a:p>
          <a:p>
            <a:r>
              <a:rPr lang="zh-CN" altLang="en-US"/>
              <a:t>适合场景：多任务并行部署，要求高效更新与轻量存储</a:t>
            </a:r>
            <a:endParaRPr lang="zh-CN" altLang="en-US"/>
          </a:p>
          <a:p>
            <a:endParaRPr lang="en-US" altLang="zh-CN"/>
          </a:p>
          <a:p>
            <a:r>
              <a:rPr lang="zh-CN" altLang="en-US"/>
              <a:t>在需要为同一基座模型快速适配多个下游任务（如客服、推荐、摘要）的系统中，低秩适配仅训练少量低秩矩阵，显著降低显存占用与部署成本。适合</a:t>
            </a:r>
            <a:r>
              <a:rPr lang="en-US" altLang="zh-CN"/>
              <a:t>SaaS</a:t>
            </a:r>
            <a:r>
              <a:rPr lang="zh-CN" altLang="en-US"/>
              <a:t>平台、</a:t>
            </a:r>
            <a:r>
              <a:rPr lang="en-US" altLang="zh-CN"/>
              <a:t>A/B</a:t>
            </a:r>
            <a:r>
              <a:rPr lang="zh-CN" altLang="en-US"/>
              <a:t>测试频繁切换的生产环境。</a:t>
            </a:r>
            <a:endParaRPr lang="zh-CN" altLang="en-US"/>
          </a:p>
          <a:p>
            <a:endParaRPr lang="en-US" altLang="zh-CN"/>
          </a:p>
          <a:p>
            <a:r>
              <a:rPr lang="en-US" altLang="zh-CN"/>
              <a:t>3. </a:t>
            </a:r>
            <a:r>
              <a:rPr lang="zh-CN" altLang="en-US"/>
              <a:t>量化低秩适配（</a:t>
            </a:r>
            <a:r>
              <a:rPr lang="en-US" altLang="zh-CN"/>
              <a:t>QLoRA</a:t>
            </a:r>
            <a:r>
              <a:rPr lang="zh-CN" altLang="en-US"/>
              <a:t>）</a:t>
            </a:r>
            <a:endParaRPr lang="zh-CN" altLang="en-US"/>
          </a:p>
          <a:p>
            <a:r>
              <a:rPr lang="zh-CN" altLang="en-US"/>
              <a:t>适合场景：在消费级显卡上微调大模型，资源极度受限</a:t>
            </a:r>
            <a:endParaRPr lang="zh-CN" altLang="en-US"/>
          </a:p>
          <a:p>
            <a:endParaRPr lang="en-US" altLang="zh-CN"/>
          </a:p>
          <a:p>
            <a:r>
              <a:rPr lang="zh-CN" altLang="en-US"/>
              <a:t>当仅有单张消费级</a:t>
            </a:r>
            <a:r>
              <a:rPr lang="en-US" altLang="zh-CN"/>
              <a:t>GPU</a:t>
            </a:r>
            <a:r>
              <a:rPr lang="zh-CN" altLang="en-US"/>
              <a:t>（如</a:t>
            </a:r>
            <a:r>
              <a:rPr lang="en-US" altLang="zh-CN"/>
              <a:t>RTX 3090/4090</a:t>
            </a:r>
            <a:r>
              <a:rPr lang="zh-CN" altLang="en-US"/>
              <a:t>，显存</a:t>
            </a:r>
            <a:r>
              <a:rPr lang="en-US" altLang="zh-CN"/>
              <a:t>≤24GB</a:t>
            </a:r>
            <a:r>
              <a:rPr lang="zh-CN" altLang="en-US"/>
              <a:t>）时，</a:t>
            </a:r>
            <a:r>
              <a:rPr lang="en-US" altLang="zh-CN"/>
              <a:t>QLoRA</a:t>
            </a:r>
            <a:r>
              <a:rPr lang="zh-CN" altLang="en-US"/>
              <a:t>通过</a:t>
            </a:r>
            <a:r>
              <a:rPr lang="en-US" altLang="zh-CN"/>
              <a:t>4-bit</a:t>
            </a:r>
            <a:r>
              <a:rPr lang="zh-CN" altLang="en-US"/>
              <a:t>量化</a:t>
            </a:r>
            <a:r>
              <a:rPr lang="en-US" altLang="zh-CN"/>
              <a:t>+</a:t>
            </a:r>
            <a:r>
              <a:rPr lang="zh-CN" altLang="en-US"/>
              <a:t>低秩重构，使</a:t>
            </a:r>
            <a:r>
              <a:rPr lang="en-US" altLang="zh-CN"/>
              <a:t>10B</a:t>
            </a:r>
            <a:r>
              <a:rPr lang="zh-CN" altLang="en-US"/>
              <a:t>级以上模型也能本地微调。适用于科研实验、个人开发者或边缘设备部署场景。</a:t>
            </a:r>
            <a:endParaRPr lang="zh-CN" altLang="en-US"/>
          </a:p>
          <a:p>
            <a:endParaRPr lang="en-US" altLang="zh-CN"/>
          </a:p>
          <a:p>
            <a:r>
              <a:rPr lang="en-US" altLang="zh-CN"/>
              <a:t>4. </a:t>
            </a:r>
            <a:r>
              <a:rPr lang="zh-CN" altLang="en-US"/>
              <a:t>适配器插入（</a:t>
            </a:r>
            <a:r>
              <a:rPr lang="en-US" altLang="zh-CN"/>
              <a:t>Adapter Tuning</a:t>
            </a:r>
            <a:r>
              <a:rPr lang="zh-CN" altLang="en-US"/>
              <a:t>）</a:t>
            </a:r>
            <a:endParaRPr lang="zh-CN" altLang="en-US"/>
          </a:p>
          <a:p>
            <a:r>
              <a:rPr lang="zh-CN" altLang="en-US"/>
              <a:t>适合场景：系统需长期演进，支持模块化升级与任务隔离</a:t>
            </a:r>
            <a:endParaRPr lang="zh-CN" altLang="en-US"/>
          </a:p>
          <a:p>
            <a:endParaRPr lang="en-US" altLang="zh-CN"/>
          </a:p>
          <a:p>
            <a:r>
              <a:rPr lang="zh-CN" altLang="en-US"/>
              <a:t>在企业级</a:t>
            </a:r>
            <a:r>
              <a:rPr lang="en-US" altLang="zh-CN"/>
              <a:t>AI</a:t>
            </a:r>
            <a:r>
              <a:rPr lang="zh-CN" altLang="en-US"/>
              <a:t>平台中，需持续接入新功能（如新增语种、新业务线），适配器插入通过</a:t>
            </a:r>
            <a:r>
              <a:rPr lang="en-US" altLang="zh-CN"/>
              <a:t>“</a:t>
            </a:r>
            <a:r>
              <a:rPr lang="zh-CN" altLang="en-US"/>
              <a:t>即插即用</a:t>
            </a:r>
            <a:r>
              <a:rPr lang="en-US" altLang="zh-CN"/>
              <a:t>”</a:t>
            </a:r>
            <a:r>
              <a:rPr lang="zh-CN" altLang="en-US"/>
              <a:t>模块实现模型扩展，便于版本管理与知识隔离。适合构建可维护、可扩展的</a:t>
            </a:r>
            <a:r>
              <a:rPr lang="en-US" altLang="zh-CN"/>
              <a:t>AI</a:t>
            </a:r>
            <a:r>
              <a:rPr lang="zh-CN" altLang="en-US"/>
              <a:t>服务体系。</a:t>
            </a:r>
            <a:endParaRPr lang="zh-CN" altLang="en-US"/>
          </a:p>
          <a:p>
            <a:endParaRPr lang="en-US" altLang="zh-CN"/>
          </a:p>
          <a:p>
            <a:r>
              <a:rPr lang="en-US" altLang="zh-CN"/>
              <a:t>5. </a:t>
            </a:r>
            <a:r>
              <a:rPr lang="zh-CN" altLang="en-US"/>
              <a:t>前缀微调（</a:t>
            </a:r>
            <a:r>
              <a:rPr lang="en-US" altLang="zh-CN"/>
              <a:t>Prefix Tuning</a:t>
            </a:r>
            <a:r>
              <a:rPr lang="zh-CN" altLang="en-US"/>
              <a:t>）</a:t>
            </a:r>
            <a:endParaRPr lang="zh-CN" altLang="en-US"/>
          </a:p>
          <a:p>
            <a:r>
              <a:rPr lang="zh-CN" altLang="en-US"/>
              <a:t>适合场景：生成任务中需隐式控制输出风格或逻辑结构</a:t>
            </a:r>
            <a:endParaRPr lang="zh-CN" altLang="en-US"/>
          </a:p>
          <a:p>
            <a:endParaRPr lang="en-US" altLang="zh-CN"/>
          </a:p>
          <a:p>
            <a:r>
              <a:rPr lang="zh-CN" altLang="en-US"/>
              <a:t>在文本生成中需控制语气、格式或推理路径（如写诗、生成代码注释、对话策略引导）时，前缀微调通过可学习的</a:t>
            </a:r>
            <a:r>
              <a:rPr lang="en-US" altLang="zh-CN"/>
              <a:t>“</a:t>
            </a:r>
            <a:r>
              <a:rPr lang="zh-CN" altLang="en-US"/>
              <a:t>软提示</a:t>
            </a:r>
            <a:r>
              <a:rPr lang="en-US" altLang="zh-CN"/>
              <a:t>”</a:t>
            </a:r>
            <a:r>
              <a:rPr lang="zh-CN" altLang="en-US"/>
              <a:t>注入控制信号，比手工提示更稳定灵活。适合创意生成与可控输出场景。</a:t>
            </a:r>
            <a:endParaRPr lang="zh-CN" altLang="en-US"/>
          </a:p>
          <a:p>
            <a:endParaRPr lang="en-US" altLang="zh-CN"/>
          </a:p>
          <a:p>
            <a:r>
              <a:rPr lang="en-US" altLang="zh-CN"/>
              <a:t>6. </a:t>
            </a:r>
            <a:r>
              <a:rPr lang="zh-CN" altLang="en-US"/>
              <a:t>提示微调（</a:t>
            </a:r>
            <a:r>
              <a:rPr lang="en-US" altLang="zh-CN"/>
              <a:t>Prompt Tuning</a:t>
            </a:r>
            <a:r>
              <a:rPr lang="zh-CN" altLang="en-US"/>
              <a:t>）</a:t>
            </a:r>
            <a:endParaRPr lang="zh-CN" altLang="en-US"/>
          </a:p>
          <a:p>
            <a:r>
              <a:rPr lang="zh-CN" altLang="en-US"/>
              <a:t>适合场景：极小样本冷启动，无法支撑传统微调</a:t>
            </a:r>
            <a:endParaRPr lang="zh-CN" altLang="en-US"/>
          </a:p>
          <a:p>
            <a:endParaRPr lang="en-US" altLang="zh-CN"/>
          </a:p>
          <a:p>
            <a:r>
              <a:rPr lang="zh-CN" altLang="en-US"/>
              <a:t>当仅有几十条标注样本（如罕见病诊断、小众产品推荐）时，提示微调通过学习连续提示向量激活模型能力，避免过拟合。适合快速验证想法、低资源探索性项目。</a:t>
            </a:r>
            <a:endParaRPr lang="zh-CN" altLang="en-US"/>
          </a:p>
          <a:p>
            <a:endParaRPr lang="en-US" altLang="zh-CN"/>
          </a:p>
          <a:p>
            <a:r>
              <a:rPr lang="en-US" altLang="zh-CN"/>
              <a:t>7. </a:t>
            </a:r>
            <a:r>
              <a:rPr lang="zh-CN" altLang="en-US"/>
              <a:t>连续提示调优（</a:t>
            </a:r>
            <a:r>
              <a:rPr lang="en-US" altLang="zh-CN"/>
              <a:t>P-Tuning / P-Tuning v2</a:t>
            </a:r>
            <a:r>
              <a:rPr lang="zh-CN" altLang="en-US"/>
              <a:t>）</a:t>
            </a:r>
            <a:endParaRPr lang="zh-CN" altLang="en-US"/>
          </a:p>
          <a:p>
            <a:r>
              <a:rPr lang="zh-CN" altLang="en-US"/>
              <a:t>适合场景：复杂语义理解任务，需深层结构化先验引导</a:t>
            </a:r>
            <a:endParaRPr lang="zh-CN" altLang="en-US"/>
          </a:p>
          <a:p>
            <a:endParaRPr lang="en-US" altLang="zh-CN"/>
          </a:p>
          <a:p>
            <a:r>
              <a:rPr lang="zh-CN" altLang="en-US"/>
              <a:t>在关系抽取、逻辑推理、知识问答等需深度语义对齐的任务中，</a:t>
            </a:r>
            <a:r>
              <a:rPr lang="en-US" altLang="zh-CN"/>
              <a:t>P-Tuning</a:t>
            </a:r>
            <a:r>
              <a:rPr lang="zh-CN" altLang="en-US"/>
              <a:t>通过多层可学习提示增强模型对输入结构的感知能力。</a:t>
            </a:r>
            <a:r>
              <a:rPr lang="en-US" altLang="zh-CN"/>
              <a:t>v2</a:t>
            </a:r>
            <a:r>
              <a:rPr lang="zh-CN" altLang="en-US"/>
              <a:t>版本在</a:t>
            </a:r>
            <a:r>
              <a:rPr lang="en-US" altLang="zh-CN"/>
              <a:t>BERT</a:t>
            </a:r>
            <a:r>
              <a:rPr lang="zh-CN" altLang="en-US"/>
              <a:t>类模型上表现突出，适合高精度信息抽取系统。</a:t>
            </a:r>
            <a:endParaRPr lang="zh-CN" altLang="en-US"/>
          </a:p>
          <a:p>
            <a:endParaRPr lang="en-US" altLang="zh-CN"/>
          </a:p>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image" Target="../media/image2.png"/><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image" Target="../media/image2.png"/><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image" Target="../media/image1.png"/><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1.png"/><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61.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7" name="矩形 6"/>
          <p:cNvSpPr/>
          <p:nvPr>
            <p:custDataLst>
              <p:tags r:id="rId2"/>
            </p:custDataLst>
          </p:nvPr>
        </p:nvSpPr>
        <p:spPr>
          <a:xfrm>
            <a:off x="0" y="1270"/>
            <a:ext cx="12192636" cy="6856730"/>
          </a:xfrm>
          <a:prstGeom prst="rect">
            <a:avLst/>
          </a:prstGeom>
          <a:gradFill>
            <a:gsLst>
              <a:gs pos="54000">
                <a:schemeClr val="bg1"/>
              </a:gs>
              <a:gs pos="0">
                <a:schemeClr val="accent2">
                  <a:lumMod val="90476"/>
                  <a:lumOff val="9524"/>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微软雅黑" panose="020B0503020204020204" charset="-122"/>
            </a:endParaRPr>
          </a:p>
        </p:txBody>
      </p:sp>
      <p:pic>
        <p:nvPicPr>
          <p:cNvPr id="8" name="图片 1" descr="手机屏幕的截图&#10;&#10;低可信度描述已自动生成"/>
          <p:cNvPicPr/>
          <p:nvPr>
            <p:custDataLst>
              <p:tags r:id="rId3"/>
            </p:custDataLst>
          </p:nvPr>
        </p:nvPicPr>
        <p:blipFill>
          <a:blip r:embed="rId4"/>
          <a:stretch>
            <a:fillRect/>
          </a:stretch>
        </p:blipFill>
        <p:spPr>
          <a:xfrm>
            <a:off x="0" y="4980186"/>
            <a:ext cx="12192000" cy="1877814"/>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showMasterSp="0">
  <p:cSld name="2_标题幻灯片">
    <p:bg>
      <p:bgPr>
        <a:solidFill>
          <a:schemeClr val="bg1"/>
        </a:solidFill>
        <a:effectLst/>
      </p:bgPr>
    </p:bg>
    <p:spTree>
      <p:nvGrpSpPr>
        <p:cNvPr id="1" name=""/>
        <p:cNvGrpSpPr/>
        <p:nvPr/>
      </p:nvGrpSpPr>
      <p:grpSpPr>
        <a:xfrm>
          <a:off x="0" y="0"/>
          <a:ext cx="0" cy="0"/>
          <a:chOff x="0" y="0"/>
          <a:chExt cx="0" cy="0"/>
        </a:xfrm>
      </p:grpSpPr>
      <p:sp>
        <p:nvSpPr>
          <p:cNvPr id="7" name="矩形 6"/>
          <p:cNvSpPr/>
          <p:nvPr>
            <p:custDataLst>
              <p:tags r:id="rId2"/>
            </p:custDataLst>
          </p:nvPr>
        </p:nvSpPr>
        <p:spPr>
          <a:xfrm>
            <a:off x="0" y="1270"/>
            <a:ext cx="12192636" cy="6856730"/>
          </a:xfrm>
          <a:prstGeom prst="rect">
            <a:avLst/>
          </a:prstGeom>
          <a:gradFill>
            <a:gsLst>
              <a:gs pos="54000">
                <a:schemeClr val="bg1"/>
              </a:gs>
              <a:gs pos="0">
                <a:schemeClr val="accent2">
                  <a:lumMod val="90476"/>
                  <a:lumOff val="9524"/>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1301749"/>
            <a:ext cx="10800001" cy="487362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a:xfrm>
            <a:off x="695960" y="6356349"/>
            <a:ext cx="2743200" cy="365125"/>
          </a:xfrm>
          <a:prstGeom prst="rect">
            <a:avLst/>
          </a:prstGeo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a:xfrm>
            <a:off x="4038600" y="6356349"/>
            <a:ext cx="4114800" cy="365125"/>
          </a:xfrm>
          <a:prstGeom prst="rect">
            <a:avLst/>
          </a:prstGeom>
        </p:spPr>
        <p:txBody>
          <a:bodyPr/>
          <a:lstStyle/>
          <a:p>
            <a:endParaRPr lang="zh-CN" altLang="en-US"/>
          </a:p>
        </p:txBody>
      </p:sp>
      <p:sp>
        <p:nvSpPr>
          <p:cNvPr id="6" name="灯片编号占位符 5"/>
          <p:cNvSpPr>
            <a:spLocks noGrp="1"/>
          </p:cNvSpPr>
          <p:nvPr>
            <p:ph type="sldNum" sz="quarter" idx="12"/>
            <p:custDataLst>
              <p:tags r:id="rId5"/>
            </p:custDataLst>
          </p:nvPr>
        </p:nvSpPr>
        <p:spPr>
          <a:xfrm>
            <a:off x="8753984" y="6356349"/>
            <a:ext cx="2743200" cy="365125"/>
          </a:xfrm>
          <a:prstGeom prst="rect">
            <a:avLst/>
          </a:prstGeom>
        </p:spPr>
        <p:txBody>
          <a:bodyPr/>
          <a:lstStyle/>
          <a:p>
            <a:fld id="{49AE70B2-8BF9-45C0-BB95-33D1B9D3A854}" type="slidenum">
              <a:rPr lang="zh-CN" altLang="en-US" smtClean="0"/>
            </a:fld>
            <a:endParaRPr lang="zh-CN" altLang="en-US"/>
          </a:p>
        </p:txBody>
      </p:sp>
      <p:sp>
        <p:nvSpPr>
          <p:cNvPr id="7" name="标题 1"/>
          <p:cNvSpPr>
            <a:spLocks noGrp="1"/>
          </p:cNvSpPr>
          <p:nvPr>
            <p:ph type="title"/>
            <p:custDataLst>
              <p:tags r:id="rId6"/>
            </p:custDataLst>
          </p:nvPr>
        </p:nvSpPr>
        <p:spPr>
          <a:xfrm>
            <a:off x="695960" y="360000"/>
            <a:ext cx="10800001" cy="720000"/>
          </a:xfrm>
          <a:prstGeom prst="rect">
            <a:avLst/>
          </a:prstGeom>
        </p:spPr>
        <p:txBody>
          <a:bodyPr/>
          <a:p>
            <a:r>
              <a:rPr lang="zh-CN" altLang="en-US" smtClean="0"/>
              <a:t>单击此处编辑母版标题样式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showMasterSp="0">
  <p:cSld name="目录">
    <p:bg>
      <p:bgPr>
        <a:solidFill>
          <a:schemeClr val="bg1"/>
        </a:solidFill>
        <a:effectLst/>
      </p:bgPr>
    </p:bg>
    <p:spTree>
      <p:nvGrpSpPr>
        <p:cNvPr id="1" name=""/>
        <p:cNvGrpSpPr/>
        <p:nvPr/>
      </p:nvGrpSpPr>
      <p:grpSpPr>
        <a:xfrm>
          <a:off x="0" y="0"/>
          <a:ext cx="0" cy="0"/>
          <a:chOff x="0" y="0"/>
          <a:chExt cx="0" cy="0"/>
        </a:xfrm>
      </p:grpSpPr>
      <p:sp>
        <p:nvSpPr>
          <p:cNvPr id="5" name="矩形 3"/>
          <p:cNvSpPr/>
          <p:nvPr>
            <p:custDataLst>
              <p:tags r:id="rId2"/>
            </p:custDataLst>
          </p:nvPr>
        </p:nvSpPr>
        <p:spPr>
          <a:xfrm>
            <a:off x="0" y="231775"/>
            <a:ext cx="191770" cy="385445"/>
          </a:xfrm>
          <a:prstGeom prst="rect">
            <a:avLst/>
          </a:prstGeom>
          <a:solidFill>
            <a:schemeClr val="accent5">
              <a:lumMod val="667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b="1" i="0" u="none" strike="noStrike" kern="1200" cap="none" spc="0" normalizeH="0" baseline="0" noProof="0" dirty="0">
              <a:ln>
                <a:noFill/>
              </a:ln>
              <a:solidFill>
                <a:srgbClr val="1A7BB8"/>
              </a:solidFill>
              <a:effectLst/>
              <a:highlight>
                <a:srgbClr val="0070C0"/>
              </a:highlight>
              <a:uLnTx/>
              <a:uFillTx/>
              <a:cs typeface="微软雅黑" panose="020B0503020204020204" charset="-122"/>
            </a:endParaRPr>
          </a:p>
        </p:txBody>
      </p:sp>
      <p:cxnSp>
        <p:nvCxnSpPr>
          <p:cNvPr id="6" name="直接连接符 5"/>
          <p:cNvCxnSpPr/>
          <p:nvPr>
            <p:custDataLst>
              <p:tags r:id="rId3"/>
            </p:custDataLst>
          </p:nvPr>
        </p:nvCxnSpPr>
        <p:spPr>
          <a:xfrm>
            <a:off x="424815" y="617220"/>
            <a:ext cx="11508105" cy="0"/>
          </a:xfrm>
          <a:prstGeom prst="line">
            <a:avLst/>
          </a:prstGeom>
          <a:ln w="15875">
            <a:solidFill>
              <a:schemeClr val="accent5">
                <a:lumMod val="66780"/>
              </a:schemeClr>
            </a:solidFill>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custDataLst>
              <p:tags r:id="rId4"/>
            </p:custDataLst>
          </p:nvPr>
        </p:nvPicPr>
        <p:blipFill>
          <a:blip r:embed="rId5" cstate="print">
            <a:extLst>
              <a:ext uri="{28A0092B-C50C-407E-A947-70E740481C1C}">
                <a14:useLocalDpi xmlns:a14="http://schemas.microsoft.com/office/drawing/2010/main" val="0"/>
              </a:ext>
            </a:extLst>
          </a:blip>
          <a:stretch>
            <a:fillRect/>
          </a:stretch>
        </p:blipFill>
        <p:spPr>
          <a:xfrm>
            <a:off x="9058275" y="231775"/>
            <a:ext cx="2874644" cy="362502"/>
          </a:xfrm>
          <a:prstGeom prst="rect">
            <a:avLst/>
          </a:prstGeom>
        </p:spPr>
      </p:pic>
      <p:sp>
        <p:nvSpPr>
          <p:cNvPr id="11" name="标题 1"/>
          <p:cNvSpPr>
            <a:spLocks noGrp="1"/>
          </p:cNvSpPr>
          <p:nvPr>
            <p:ph type="title" hasCustomPrompt="1"/>
            <p:custDataLst>
              <p:tags r:id="rId6"/>
            </p:custDataLst>
          </p:nvPr>
        </p:nvSpPr>
        <p:spPr>
          <a:xfrm>
            <a:off x="5132387" y="1001762"/>
            <a:ext cx="1977755" cy="1081088"/>
          </a:xfrm>
          <a:prstGeom prst="rect">
            <a:avLst/>
          </a:prstGeom>
        </p:spPr>
        <p:txBody>
          <a:bodyPr wrap="square" anchor="b">
            <a:normAutofit/>
          </a:bodyPr>
          <a:lstStyle>
            <a:lvl1pPr algn="ctr">
              <a:defRPr kumimoji="0" lang="zh-CN" altLang="en-US" sz="5995" b="1" i="0" u="none" strike="noStrike" kern="1200" cap="none" spc="0" normalizeH="0" baseline="0" noProof="1" dirty="0">
                <a:solidFill>
                  <a:schemeClr val="accent5">
                    <a:lumMod val="66780"/>
                  </a:schemeClr>
                </a:solidFill>
                <a:latin typeface="+mn-ea"/>
                <a:ea typeface="+mn-ea"/>
                <a:cs typeface="微软雅黑" panose="020B0503020204020204" charset="-122"/>
                <a:sym typeface="+mn-ea"/>
              </a:defRPr>
            </a:lvl1pPr>
          </a:lstStyle>
          <a:p>
            <a:r>
              <a:rPr lang="zh-CN" altLang="en-US" dirty="0"/>
              <a:t>标题</a:t>
            </a:r>
            <a:endParaRPr lang="zh-CN" altLang="en-US" dirty="0"/>
          </a:p>
        </p:txBody>
      </p:sp>
      <p:sp>
        <p:nvSpPr>
          <p:cNvPr id="10" name="灯片编号占位符 5"/>
          <p:cNvSpPr>
            <a:spLocks noGrp="1"/>
          </p:cNvSpPr>
          <p:nvPr>
            <p:ph type="sldNum" sz="quarter" idx="12"/>
            <p:custDataLst>
              <p:tags r:id="rId7"/>
            </p:custDataLst>
          </p:nvPr>
        </p:nvSpPr>
        <p:spPr>
          <a:xfrm>
            <a:off x="8753984" y="6356349"/>
            <a:ext cx="2743200" cy="365125"/>
          </a:xfrm>
          <a:prstGeom prst="rect">
            <a:avLst/>
          </a:prstGeom>
        </p:spPr>
        <p:txBody>
          <a:bodyPr wrap="square">
            <a:normAutofit/>
          </a:bodyPr>
          <a:lstStyle/>
          <a:p>
            <a:fld id="{BE5F26B5-172A-4DC2-B0B7-181CFC56B87C}" type="slidenum">
              <a:rPr lang="zh-CN" altLang="en-US" smtClean="0"/>
            </a:fld>
            <a:endParaRPr lang="zh-CN" altLang="en-US"/>
          </a:p>
        </p:txBody>
      </p:sp>
      <p:sp>
        <p:nvSpPr>
          <p:cNvPr id="9" name="页脚占位符 4"/>
          <p:cNvSpPr>
            <a:spLocks noGrp="1"/>
          </p:cNvSpPr>
          <p:nvPr>
            <p:ph type="ftr" sz="quarter" idx="11"/>
            <p:custDataLst>
              <p:tags r:id="rId8"/>
            </p:custDataLst>
          </p:nvPr>
        </p:nvSpPr>
        <p:spPr>
          <a:xfrm>
            <a:off x="4038600" y="6356349"/>
            <a:ext cx="4114800" cy="365125"/>
          </a:xfrm>
          <a:prstGeom prst="rect">
            <a:avLst/>
          </a:prstGeom>
        </p:spPr>
        <p:txBody>
          <a:bodyPr/>
          <a:lstStyle/>
          <a:p>
            <a:endParaRPr lang="zh-CN" altLang="en-US"/>
          </a:p>
        </p:txBody>
      </p:sp>
      <p:sp>
        <p:nvSpPr>
          <p:cNvPr id="8" name="日期占位符 3"/>
          <p:cNvSpPr>
            <a:spLocks noGrp="1"/>
          </p:cNvSpPr>
          <p:nvPr>
            <p:ph type="dt" sz="half" idx="10"/>
            <p:custDataLst>
              <p:tags r:id="rId9"/>
            </p:custDataLst>
          </p:nvPr>
        </p:nvSpPr>
        <p:spPr>
          <a:xfrm>
            <a:off x="695960" y="6356349"/>
            <a:ext cx="2743200" cy="365125"/>
          </a:xfrm>
          <a:prstGeom prst="rect">
            <a:avLst/>
          </a:prstGeom>
        </p:spPr>
        <p:txBody>
          <a:bodyPr wrap="square">
            <a:normAutofit/>
          </a:bodyPr>
          <a:lstStyle/>
          <a:p>
            <a:fld id="{5592522B-0F24-4480-B9DD-A9474A6880D6}" type="datetimeFigureOut">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7" name="矩形 3"/>
          <p:cNvSpPr/>
          <p:nvPr>
            <p:custDataLst>
              <p:tags r:id="rId2"/>
            </p:custDataLst>
          </p:nvPr>
        </p:nvSpPr>
        <p:spPr>
          <a:xfrm>
            <a:off x="0" y="231775"/>
            <a:ext cx="191770" cy="385445"/>
          </a:xfrm>
          <a:prstGeom prst="rect">
            <a:avLst/>
          </a:prstGeom>
          <a:solidFill>
            <a:schemeClr val="accent5">
              <a:lumMod val="667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b="1" i="0" u="none" strike="noStrike" kern="1200" cap="none" spc="0" normalizeH="0" baseline="0" noProof="0" dirty="0">
              <a:ln>
                <a:noFill/>
              </a:ln>
              <a:solidFill>
                <a:srgbClr val="1A7BB8"/>
              </a:solidFill>
              <a:effectLst/>
              <a:highlight>
                <a:srgbClr val="0070C0"/>
              </a:highlight>
              <a:uLnTx/>
              <a:uFillTx/>
              <a:cs typeface="微软雅黑" panose="020B0503020204020204" charset="-122"/>
            </a:endParaRPr>
          </a:p>
        </p:txBody>
      </p:sp>
      <p:cxnSp>
        <p:nvCxnSpPr>
          <p:cNvPr id="8" name="直接连接符 5"/>
          <p:cNvCxnSpPr/>
          <p:nvPr>
            <p:custDataLst>
              <p:tags r:id="rId3"/>
            </p:custDataLst>
          </p:nvPr>
        </p:nvCxnSpPr>
        <p:spPr>
          <a:xfrm>
            <a:off x="424815" y="617220"/>
            <a:ext cx="11508105" cy="0"/>
          </a:xfrm>
          <a:prstGeom prst="line">
            <a:avLst/>
          </a:prstGeom>
          <a:ln w="15875">
            <a:solidFill>
              <a:schemeClr val="accent5">
                <a:lumMod val="66780"/>
              </a:schemeClr>
            </a:solidFill>
          </a:ln>
        </p:spPr>
        <p:style>
          <a:lnRef idx="1">
            <a:schemeClr val="accent1"/>
          </a:lnRef>
          <a:fillRef idx="0">
            <a:schemeClr val="accent1"/>
          </a:fillRef>
          <a:effectRef idx="0">
            <a:schemeClr val="accent1"/>
          </a:effectRef>
          <a:fontRef idx="minor">
            <a:schemeClr val="tx1"/>
          </a:fontRef>
        </p:style>
      </p:cxnSp>
      <p:pic>
        <p:nvPicPr>
          <p:cNvPr id="9" name="图片 6"/>
          <p:cNvPicPr>
            <a:picLocks noChangeAspect="1"/>
          </p:cNvPicPr>
          <p:nvPr>
            <p:custDataLst>
              <p:tags r:id="rId4"/>
            </p:custDataLst>
          </p:nvPr>
        </p:nvPicPr>
        <p:blipFill>
          <a:blip r:embed="rId5" cstate="print">
            <a:extLst>
              <a:ext uri="{28A0092B-C50C-407E-A947-70E740481C1C}">
                <a14:useLocalDpi xmlns:a14="http://schemas.microsoft.com/office/drawing/2010/main" val="0"/>
              </a:ext>
            </a:extLst>
          </a:blip>
          <a:stretch>
            <a:fillRect/>
          </a:stretch>
        </p:blipFill>
        <p:spPr>
          <a:xfrm>
            <a:off x="9058275" y="231775"/>
            <a:ext cx="2874644" cy="362502"/>
          </a:xfrm>
          <a:prstGeom prst="rect">
            <a:avLst/>
          </a:prstGeom>
        </p:spPr>
      </p:pic>
      <p:sp>
        <p:nvSpPr>
          <p:cNvPr id="15" name="灯片编号占位符 6"/>
          <p:cNvSpPr>
            <a:spLocks noGrp="1"/>
          </p:cNvSpPr>
          <p:nvPr>
            <p:ph type="sldNum" sz="quarter" idx="12"/>
            <p:custDataLst>
              <p:tags r:id="rId6"/>
            </p:custDataLst>
          </p:nvPr>
        </p:nvSpPr>
        <p:spPr>
          <a:xfrm>
            <a:off x="8753984" y="6356349"/>
            <a:ext cx="2743200" cy="365125"/>
          </a:xfrm>
          <a:prstGeom prst="rect">
            <a:avLst/>
          </a:prstGeom>
        </p:spPr>
        <p:txBody>
          <a:bodyPr wrap="square">
            <a:normAutofit/>
          </a:bodyPr>
          <a:lstStyle/>
          <a:p>
            <a:fld id="{BE5F26B5-172A-4DC2-B0B7-181CFC56B87C}" type="slidenum">
              <a:rPr lang="zh-CN" altLang="en-US" smtClean="0"/>
            </a:fld>
            <a:endParaRPr lang="zh-CN" altLang="en-US"/>
          </a:p>
        </p:txBody>
      </p:sp>
      <p:sp>
        <p:nvSpPr>
          <p:cNvPr id="14" name="页脚占位符 5"/>
          <p:cNvSpPr>
            <a:spLocks noGrp="1"/>
          </p:cNvSpPr>
          <p:nvPr>
            <p:ph type="ftr" sz="quarter" idx="11"/>
            <p:custDataLst>
              <p:tags r:id="rId7"/>
            </p:custDataLst>
          </p:nvPr>
        </p:nvSpPr>
        <p:spPr>
          <a:xfrm>
            <a:off x="4038600" y="6356349"/>
            <a:ext cx="4114800" cy="365125"/>
          </a:xfrm>
          <a:prstGeom prst="rect">
            <a:avLst/>
          </a:prstGeom>
        </p:spPr>
        <p:txBody>
          <a:bodyPr/>
          <a:lstStyle/>
          <a:p>
            <a:endParaRPr lang="zh-CN" altLang="en-US"/>
          </a:p>
        </p:txBody>
      </p:sp>
      <p:sp>
        <p:nvSpPr>
          <p:cNvPr id="13" name="日期占位符 4"/>
          <p:cNvSpPr>
            <a:spLocks noGrp="1"/>
          </p:cNvSpPr>
          <p:nvPr>
            <p:ph type="dt" sz="half" idx="10"/>
            <p:custDataLst>
              <p:tags r:id="rId8"/>
            </p:custDataLst>
          </p:nvPr>
        </p:nvSpPr>
        <p:spPr>
          <a:xfrm>
            <a:off x="695960" y="6356349"/>
            <a:ext cx="2743200" cy="365125"/>
          </a:xfrm>
          <a:prstGeom prst="rect">
            <a:avLst/>
          </a:prstGeom>
        </p:spPr>
        <p:txBody>
          <a:bodyPr wrap="square">
            <a:normAutofit/>
          </a:bodyPr>
          <a:lstStyle/>
          <a:p>
            <a:fld id="{5592522B-0F24-4480-B9DD-A9474A6880D6}" type="datetimeFigureOut">
              <a:rPr lang="zh-CN" altLang="en-US" smtClean="0"/>
            </a:fld>
            <a:endParaRPr lang="zh-CN" altLang="en-US"/>
          </a:p>
        </p:txBody>
      </p:sp>
      <p:sp>
        <p:nvSpPr>
          <p:cNvPr id="12" name="节编号 3"/>
          <p:cNvSpPr>
            <a:spLocks noGrp="1" noChangeAspect="1"/>
          </p:cNvSpPr>
          <p:nvPr>
            <p:ph type="body" sz="quarter" idx="13" hasCustomPrompt="1"/>
            <p:custDataLst>
              <p:tags r:id="rId9"/>
            </p:custDataLst>
          </p:nvPr>
        </p:nvSpPr>
        <p:spPr>
          <a:xfrm>
            <a:off x="5646000" y="2267902"/>
            <a:ext cx="900000" cy="899772"/>
          </a:xfrm>
          <a:prstGeom prst="ellipse">
            <a:avLst/>
          </a:prstGeom>
          <a:solidFill>
            <a:schemeClr val="accent1"/>
          </a:solidFill>
          <a:ln w="12700">
            <a:solidFill>
              <a:srgbClr val="FFFFFF"/>
            </a:solidFill>
          </a:ln>
        </p:spPr>
        <p:txBody>
          <a:bodyPr wrap="none" lIns="0" tIns="0" rIns="0" bIns="0" anchor="ctr" anchorCtr="0">
            <a:noAutofit/>
          </a:bodyPr>
          <a:lstStyle>
            <a:lvl1pPr marL="0" indent="0" algn="ctr">
              <a:lnSpc>
                <a:spcPct val="100000"/>
              </a:lnSpc>
              <a:buNone/>
              <a:defRPr sz="3400" b="1">
                <a:ln>
                  <a:noFill/>
                </a:ln>
                <a:solidFill>
                  <a:srgbClr val="FFFFFF"/>
                </a:solidFill>
              </a:defRPr>
            </a:lvl1pPr>
          </a:lstStyle>
          <a:p>
            <a:pPr lvl="0"/>
            <a:r>
              <a:rPr lang="zh-CN" altLang="en-US" dirty="0"/>
              <a:t>节编号</a:t>
            </a:r>
            <a:endParaRPr lang="zh-CN" altLang="en-US" dirty="0"/>
          </a:p>
        </p:txBody>
      </p:sp>
      <p:sp>
        <p:nvSpPr>
          <p:cNvPr id="11" name="文本占位符 2"/>
          <p:cNvSpPr>
            <a:spLocks noGrp="1"/>
          </p:cNvSpPr>
          <p:nvPr>
            <p:ph type="body" idx="1" hasCustomPrompt="1"/>
            <p:custDataLst>
              <p:tags r:id="rId10"/>
            </p:custDataLst>
          </p:nvPr>
        </p:nvSpPr>
        <p:spPr>
          <a:xfrm>
            <a:off x="2903855" y="4408487"/>
            <a:ext cx="6384290" cy="563245"/>
          </a:xfrm>
          <a:prstGeom prst="rect">
            <a:avLst/>
          </a:prstGeom>
        </p:spPr>
        <p:txBody>
          <a:bodyPr wrap="square">
            <a:normAutofit/>
          </a:bodyPr>
          <a:lstStyle>
            <a:lvl1pPr marL="0" indent="0" algn="ctr">
              <a:buNone/>
              <a:defRPr sz="2400" b="1" u="none" strike="noStrike" kern="1200" cap="none" spc="0" normalizeH="0">
                <a:solidFill>
                  <a:schemeClr val="tx1">
                    <a:lumMod val="75000"/>
                    <a:lumOff val="25000"/>
                  </a:schemeClr>
                </a:solidFill>
                <a:uFillTx/>
              </a:defRPr>
            </a:lvl1pPr>
            <a:lvl2pPr marL="457200" indent="0">
              <a:buNone/>
              <a:defRPr sz="2000">
                <a:solidFill>
                  <a:schemeClr val="tx1">
                    <a:tint val="75000"/>
                  </a:schemeClr>
                </a:solidFill>
              </a:defRPr>
            </a:lvl2pPr>
            <a:lvl3pPr marL="913765" indent="0">
              <a:buNone/>
              <a:defRPr sz="1800">
                <a:solidFill>
                  <a:schemeClr val="tx1">
                    <a:tint val="75000"/>
                  </a:schemeClr>
                </a:solidFill>
              </a:defRPr>
            </a:lvl3pPr>
            <a:lvl4pPr marL="1370330" indent="0">
              <a:buNone/>
              <a:defRPr sz="1600">
                <a:solidFill>
                  <a:schemeClr val="tx1">
                    <a:tint val="75000"/>
                  </a:schemeClr>
                </a:solidFill>
              </a:defRPr>
            </a:lvl4pPr>
            <a:lvl5pPr marL="1826895" indent="0">
              <a:buNone/>
              <a:defRPr sz="1600">
                <a:solidFill>
                  <a:schemeClr val="tx1">
                    <a:tint val="75000"/>
                  </a:schemeClr>
                </a:solidFill>
              </a:defRPr>
            </a:lvl5pPr>
            <a:lvl6pPr marL="2284095" indent="0">
              <a:buNone/>
              <a:defRPr sz="1600">
                <a:solidFill>
                  <a:schemeClr val="tx1">
                    <a:tint val="75000"/>
                  </a:schemeClr>
                </a:solidFill>
              </a:defRPr>
            </a:lvl6pPr>
            <a:lvl7pPr marL="2741295" indent="0">
              <a:buNone/>
              <a:defRPr sz="1600">
                <a:solidFill>
                  <a:schemeClr val="tx1">
                    <a:tint val="75000"/>
                  </a:schemeClr>
                </a:solidFill>
              </a:defRPr>
            </a:lvl7pPr>
            <a:lvl8pPr marL="3197225" indent="0">
              <a:buNone/>
              <a:defRPr sz="1600">
                <a:solidFill>
                  <a:schemeClr val="tx1">
                    <a:tint val="75000"/>
                  </a:schemeClr>
                </a:solidFill>
              </a:defRPr>
            </a:lvl8pPr>
            <a:lvl9pPr marL="3654425" indent="0">
              <a:buNone/>
              <a:defRPr sz="1600">
                <a:solidFill>
                  <a:schemeClr val="tx1">
                    <a:tint val="75000"/>
                  </a:schemeClr>
                </a:solidFill>
              </a:defRPr>
            </a:lvl9pPr>
          </a:lstStyle>
          <a:p>
            <a:pPr lvl="0"/>
            <a:r>
              <a:rPr lang="zh-CN" altLang="en-US" dirty="0"/>
              <a:t>单击此处编辑副标题</a:t>
            </a:r>
            <a:endParaRPr lang="zh-CN" altLang="en-US" dirty="0"/>
          </a:p>
        </p:txBody>
      </p:sp>
      <p:sp>
        <p:nvSpPr>
          <p:cNvPr id="10" name="标题 1"/>
          <p:cNvSpPr>
            <a:spLocks noGrp="1"/>
          </p:cNvSpPr>
          <p:nvPr>
            <p:ph type="title" hasCustomPrompt="1"/>
            <p:custDataLst>
              <p:tags r:id="rId11"/>
            </p:custDataLst>
          </p:nvPr>
        </p:nvSpPr>
        <p:spPr>
          <a:xfrm>
            <a:off x="2903855" y="3318827"/>
            <a:ext cx="6384290" cy="1051560"/>
          </a:xfrm>
          <a:prstGeom prst="rect">
            <a:avLst/>
          </a:prstGeom>
        </p:spPr>
        <p:txBody>
          <a:bodyPr wrap="square" anchor="b">
            <a:normAutofit/>
          </a:bodyPr>
          <a:lstStyle>
            <a:lvl1pPr algn="ctr">
              <a:defRPr kumimoji="0" lang="zh-CN" altLang="en-US" sz="5395" b="1" i="0" u="none" strike="noStrike" kern="1200" cap="none" spc="0" normalizeH="0" baseline="0" noProof="1" dirty="0">
                <a:solidFill>
                  <a:schemeClr val="accent5">
                    <a:lumMod val="66780"/>
                  </a:schemeClr>
                </a:solidFill>
                <a:latin typeface="+mn-ea"/>
                <a:ea typeface="+mn-ea"/>
                <a:cs typeface="微软雅黑" panose="020B0503020204020204" charset="-122"/>
                <a:sym typeface="+mn-ea"/>
              </a:defRPr>
            </a:lvl1pPr>
          </a:lstStyle>
          <a:p>
            <a:r>
              <a:rPr lang="zh-CN" altLang="en-US" dirty="0"/>
              <a:t>单击编辑母版标题</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172200" y="1301750"/>
            <a:ext cx="5323840" cy="487585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custDataLst>
              <p:tags r:id="rId4"/>
            </p:custDataLst>
          </p:nvPr>
        </p:nvSpPr>
        <p:spPr>
          <a:xfrm>
            <a:off x="695960" y="6356349"/>
            <a:ext cx="2743200" cy="365125"/>
          </a:xfrm>
          <a:prstGeom prst="rect">
            <a:avLst/>
          </a:prstGeo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a:xfrm>
            <a:off x="4038600" y="6356349"/>
            <a:ext cx="4114800" cy="365125"/>
          </a:xfrm>
          <a:prstGeom prst="rect">
            <a:avLst/>
          </a:prstGeom>
        </p:spPr>
        <p:txBody>
          <a:bodyPr/>
          <a:lstStyle/>
          <a:p>
            <a:endParaRPr lang="zh-CN" altLang="en-US"/>
          </a:p>
        </p:txBody>
      </p:sp>
      <p:sp>
        <p:nvSpPr>
          <p:cNvPr id="7" name="灯片编号占位符 6"/>
          <p:cNvSpPr>
            <a:spLocks noGrp="1"/>
          </p:cNvSpPr>
          <p:nvPr>
            <p:ph type="sldNum" sz="quarter" idx="12"/>
            <p:custDataLst>
              <p:tags r:id="rId6"/>
            </p:custDataLst>
          </p:nvPr>
        </p:nvSpPr>
        <p:spPr>
          <a:xfrm>
            <a:off x="8753984" y="6356349"/>
            <a:ext cx="2743200" cy="365125"/>
          </a:xfrm>
          <a:prstGeom prst="rect">
            <a:avLst/>
          </a:prstGeom>
        </p:spPr>
        <p:txBody>
          <a:bodyPr/>
          <a:lstStyle/>
          <a:p>
            <a:fld id="{49AE70B2-8BF9-45C0-BB95-33D1B9D3A854}" type="slidenum">
              <a:rPr lang="zh-CN" altLang="en-US" smtClean="0"/>
            </a:fld>
            <a:endParaRPr lang="zh-CN" altLang="en-US"/>
          </a:p>
        </p:txBody>
      </p:sp>
      <p:sp>
        <p:nvSpPr>
          <p:cNvPr id="8" name="标题 1"/>
          <p:cNvSpPr>
            <a:spLocks noGrp="1"/>
          </p:cNvSpPr>
          <p:nvPr>
            <p:ph type="title"/>
            <p:custDataLst>
              <p:tags r:id="rId7"/>
            </p:custDataLst>
          </p:nvPr>
        </p:nvSpPr>
        <p:spPr>
          <a:xfrm>
            <a:off x="695960" y="360000"/>
            <a:ext cx="10800001" cy="720000"/>
          </a:xfrm>
          <a:prstGeom prst="rect">
            <a:avLst/>
          </a:prstGeom>
        </p:spPr>
        <p:txBody>
          <a:bodyPr/>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a:prstGeom prst="rect">
            <a:avLst/>
          </a:prstGeom>
        </p:spPr>
        <p:txBody>
          <a:bodyPr anchor="ctr" anchorCtr="0"/>
          <a:lstStyle>
            <a:lvl1pPr marL="0" indent="0">
              <a:buNone/>
              <a:defRPr sz="2795"/>
            </a:lvl1pPr>
            <a:lvl2pPr marL="457200" indent="0">
              <a:buNone/>
              <a:defRPr sz="2400"/>
            </a:lvl2pPr>
            <a:lvl3pPr marL="913765" indent="0">
              <a:buNone/>
              <a:defRPr sz="2000"/>
            </a:lvl3pPr>
            <a:lvl4pPr marL="1370330" indent="0">
              <a:buNone/>
              <a:defRPr sz="1800"/>
            </a:lvl4pPr>
            <a:lvl5pPr marL="1826895" indent="0">
              <a:buNone/>
              <a:defRPr sz="1800"/>
            </a:lvl5pPr>
            <a:lvl6pPr marL="2284095" indent="0">
              <a:buNone/>
              <a:defRPr sz="1800"/>
            </a:lvl6pPr>
            <a:lvl7pPr marL="2741295" indent="0">
              <a:buNone/>
              <a:defRPr sz="1800"/>
            </a:lvl7pPr>
            <a:lvl8pPr marL="3197225" indent="0">
              <a:buNone/>
              <a:defRPr sz="1800"/>
            </a:lvl8pPr>
            <a:lvl9pPr marL="3654425"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custDataLst>
              <p:tags r:id="rId3"/>
            </p:custDataLst>
          </p:nvPr>
        </p:nvSpPr>
        <p:spPr>
          <a:xfrm>
            <a:off x="695960" y="1875100"/>
            <a:ext cx="5323840" cy="4300276"/>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custDataLst>
              <p:tags r:id="rId4"/>
            </p:custDataLst>
          </p:nvPr>
        </p:nvSpPr>
        <p:spPr>
          <a:xfrm>
            <a:off x="6172200" y="1301750"/>
            <a:ext cx="5323840" cy="411303"/>
          </a:xfrm>
          <a:prstGeom prst="rect">
            <a:avLst/>
          </a:prstGeom>
        </p:spPr>
        <p:txBody>
          <a:bodyPr anchor="ctr" anchorCtr="0"/>
          <a:lstStyle>
            <a:lvl1pPr marL="0" indent="0">
              <a:buNone/>
              <a:defRPr sz="2795"/>
            </a:lvl1pPr>
            <a:lvl2pPr marL="457200" indent="0">
              <a:buNone/>
              <a:defRPr sz="2400"/>
            </a:lvl2pPr>
            <a:lvl3pPr marL="913765" indent="0">
              <a:buNone/>
              <a:defRPr sz="2000"/>
            </a:lvl3pPr>
            <a:lvl4pPr marL="1370330" indent="0">
              <a:buNone/>
              <a:defRPr sz="1800"/>
            </a:lvl4pPr>
            <a:lvl5pPr marL="1826895" indent="0">
              <a:buNone/>
              <a:defRPr sz="1800"/>
            </a:lvl5pPr>
            <a:lvl6pPr marL="2284095" indent="0">
              <a:buNone/>
              <a:defRPr sz="1800"/>
            </a:lvl6pPr>
            <a:lvl7pPr marL="2741295" indent="0">
              <a:buNone/>
              <a:defRPr sz="1800"/>
            </a:lvl7pPr>
            <a:lvl8pPr marL="3197225" indent="0">
              <a:buNone/>
              <a:defRPr sz="1800"/>
            </a:lvl8pPr>
            <a:lvl9pPr marL="3654425"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custDataLst>
              <p:tags r:id="rId5"/>
            </p:custDataLst>
          </p:nvPr>
        </p:nvSpPr>
        <p:spPr>
          <a:xfrm>
            <a:off x="6172200" y="1875100"/>
            <a:ext cx="5323840" cy="4300276"/>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a:xfrm>
            <a:off x="695960" y="6356349"/>
            <a:ext cx="2743200" cy="365125"/>
          </a:xfrm>
          <a:prstGeom prst="rect">
            <a:avLst/>
          </a:prstGeo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a:xfrm>
            <a:off x="4038600" y="6356349"/>
            <a:ext cx="4114800" cy="365125"/>
          </a:xfrm>
          <a:prstGeom prst="rect">
            <a:avLst/>
          </a:prstGeom>
        </p:spPr>
        <p:txBody>
          <a:bodyPr/>
          <a:lstStyle/>
          <a:p>
            <a:endParaRPr lang="zh-CN" altLang="en-US"/>
          </a:p>
        </p:txBody>
      </p:sp>
      <p:sp>
        <p:nvSpPr>
          <p:cNvPr id="9" name="灯片编号占位符 8"/>
          <p:cNvSpPr>
            <a:spLocks noGrp="1"/>
          </p:cNvSpPr>
          <p:nvPr>
            <p:ph type="sldNum" sz="quarter" idx="12"/>
            <p:custDataLst>
              <p:tags r:id="rId8"/>
            </p:custDataLst>
          </p:nvPr>
        </p:nvSpPr>
        <p:spPr>
          <a:xfrm>
            <a:off x="8753984" y="6356349"/>
            <a:ext cx="2743200" cy="365125"/>
          </a:xfrm>
          <a:prstGeom prst="rect">
            <a:avLst/>
          </a:prstGeom>
        </p:spPr>
        <p:txBody>
          <a:bodyPr/>
          <a:lstStyle/>
          <a:p>
            <a:fld id="{49AE70B2-8BF9-45C0-BB95-33D1B9D3A854}" type="slidenum">
              <a:rPr lang="zh-CN" altLang="en-US" smtClean="0"/>
            </a:fld>
            <a:endParaRPr lang="zh-CN" altLang="en-US"/>
          </a:p>
        </p:txBody>
      </p:sp>
      <p:sp>
        <p:nvSpPr>
          <p:cNvPr id="10" name="标题 1"/>
          <p:cNvSpPr>
            <a:spLocks noGrp="1"/>
          </p:cNvSpPr>
          <p:nvPr>
            <p:ph type="title"/>
            <p:custDataLst>
              <p:tags r:id="rId9"/>
            </p:custDataLst>
          </p:nvPr>
        </p:nvSpPr>
        <p:spPr>
          <a:xfrm>
            <a:off x="695960" y="360000"/>
            <a:ext cx="10800001" cy="720000"/>
          </a:xfrm>
          <a:prstGeom prst="rect">
            <a:avLst/>
          </a:prstGeom>
        </p:spPr>
        <p:txBody>
          <a:bodyPr/>
          <a:p>
            <a:r>
              <a:rPr lang="zh-CN" altLang="en-US" smtClean="0"/>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95960" y="6356349"/>
            <a:ext cx="2743200" cy="365125"/>
          </a:xfrm>
          <a:prstGeom prst="rect">
            <a:avLst/>
          </a:prstGeo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038600" y="6356349"/>
            <a:ext cx="4114800" cy="365125"/>
          </a:xfrm>
          <a:prstGeom prst="rect">
            <a:avLst/>
          </a:prstGeo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753984" y="6356349"/>
            <a:ext cx="2743200" cy="365125"/>
          </a:xfrm>
          <a:prstGeom prst="rect">
            <a:avLst/>
          </a:prstGeom>
        </p:spPr>
        <p:txBody>
          <a:bodyPr/>
          <a:lstStyle/>
          <a:p>
            <a:fld id="{49AE70B2-8BF9-45C0-BB95-33D1B9D3A854}" type="slidenum">
              <a:rPr lang="zh-CN" altLang="en-US" smtClean="0"/>
            </a:fld>
            <a:endParaRPr lang="zh-CN" altLang="en-US"/>
          </a:p>
        </p:txBody>
      </p:sp>
      <p:sp>
        <p:nvSpPr>
          <p:cNvPr id="6" name="标题 1"/>
          <p:cNvSpPr>
            <a:spLocks noGrp="1"/>
          </p:cNvSpPr>
          <p:nvPr>
            <p:ph type="title"/>
            <p:custDataLst>
              <p:tags r:id="rId5"/>
            </p:custDataLst>
          </p:nvPr>
        </p:nvSpPr>
        <p:spPr>
          <a:xfrm>
            <a:off x="695960" y="360000"/>
            <a:ext cx="10800001" cy="720000"/>
          </a:xfrm>
          <a:prstGeom prst="rect">
            <a:avLst/>
          </a:prstGeom>
        </p:spPr>
        <p:txBody>
          <a:bodyPr/>
          <a:p>
            <a:r>
              <a:rPr lang="zh-CN" altLang="en-US" smtClean="0"/>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95960" y="6356349"/>
            <a:ext cx="2743200" cy="365125"/>
          </a:xfrm>
          <a:prstGeom prst="rect">
            <a:avLst/>
          </a:prstGeo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038600" y="6356349"/>
            <a:ext cx="4114800" cy="365125"/>
          </a:xfrm>
          <a:prstGeom prst="rect">
            <a:avLst/>
          </a:prstGeo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753984" y="6356349"/>
            <a:ext cx="2743200" cy="365125"/>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4"/>
            <a:ext cx="10801985" cy="581787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a:xfrm>
            <a:off x="695960" y="6356349"/>
            <a:ext cx="2743200" cy="365125"/>
          </a:xfrm>
          <a:prstGeom prst="rect">
            <a:avLst/>
          </a:prstGeo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a:xfrm>
            <a:off x="4038600" y="6356349"/>
            <a:ext cx="4114800" cy="365125"/>
          </a:xfrm>
          <a:prstGeom prst="rect">
            <a:avLst/>
          </a:prstGeom>
        </p:spPr>
        <p:txBody>
          <a:bodyPr/>
          <a:lstStyle/>
          <a:p>
            <a:endParaRPr lang="zh-CN" altLang="en-US"/>
          </a:p>
        </p:txBody>
      </p:sp>
      <p:sp>
        <p:nvSpPr>
          <p:cNvPr id="6" name="灯片编号占位符 5"/>
          <p:cNvSpPr>
            <a:spLocks noGrp="1"/>
          </p:cNvSpPr>
          <p:nvPr>
            <p:ph type="sldNum" sz="quarter" idx="12"/>
            <p:custDataLst>
              <p:tags r:id="rId5"/>
            </p:custDataLst>
          </p:nvPr>
        </p:nvSpPr>
        <p:spPr>
          <a:xfrm>
            <a:off x="8753984" y="6356349"/>
            <a:ext cx="2743200" cy="365125"/>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95960" y="6356349"/>
            <a:ext cx="2743200" cy="365125"/>
          </a:xfrm>
          <a:prstGeom prst="rect">
            <a:avLst/>
          </a:prstGeo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038600" y="6356349"/>
            <a:ext cx="4114800" cy="365125"/>
          </a:xfrm>
          <a:prstGeom prst="rect">
            <a:avLst/>
          </a:prstGeo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753984" y="6356349"/>
            <a:ext cx="2743200" cy="365125"/>
          </a:xfrm>
          <a:prstGeom prst="rect">
            <a:avLst/>
          </a:prstGeom>
        </p:spPr>
        <p:txBody>
          <a:bodyPr/>
          <a:lstStyle/>
          <a:p>
            <a:fld id="{49AE70B2-8BF9-45C0-BB95-33D1B9D3A854}" type="slidenum">
              <a:rPr lang="zh-CN" altLang="en-US" smtClean="0"/>
            </a:fld>
            <a:endParaRPr lang="zh-CN" altLang="en-US"/>
          </a:p>
        </p:txBody>
      </p:sp>
      <p:sp>
        <p:nvSpPr>
          <p:cNvPr id="6" name="Text Placeholder 5"/>
          <p:cNvSpPr>
            <a:spLocks noGrp="1"/>
          </p:cNvSpPr>
          <p:nvPr>
            <p:ph type="body" idx="13" hasCustomPrompt="1"/>
            <p:custDataLst>
              <p:tags r:id="rId5"/>
            </p:custDataLst>
          </p:nvPr>
        </p:nvSpPr>
        <p:spPr>
          <a:xfrm>
            <a:off x="695960" y="1301750"/>
            <a:ext cx="10799088" cy="405553"/>
          </a:xfrm>
          <a:prstGeom prst="rect">
            <a:avLst/>
          </a:prstGeom>
        </p:spPr>
        <p:txBody>
          <a:bodyPr/>
          <a:lstStyle>
            <a:lvl5pPr>
              <a:buNone/>
              <a:defRPr/>
            </a:lvl5pPr>
          </a:lstStyle>
          <a:p>
            <a:pPr lvl="0"/>
            <a:r>
              <a:rPr lang="zh-CN" altLang="en-US" smtClean="0"/>
              <a:t>单击此处编辑副标题</a:t>
            </a:r>
            <a:endParaRPr lang="zh-CN" altLang="en-US" smtClean="0"/>
          </a:p>
        </p:txBody>
      </p:sp>
      <p:sp>
        <p:nvSpPr>
          <p:cNvPr id="7" name="标题 1"/>
          <p:cNvSpPr>
            <a:spLocks noGrp="1"/>
          </p:cNvSpPr>
          <p:nvPr>
            <p:ph type="title"/>
            <p:custDataLst>
              <p:tags r:id="rId6"/>
            </p:custDataLst>
          </p:nvPr>
        </p:nvSpPr>
        <p:spPr>
          <a:xfrm>
            <a:off x="695960" y="360000"/>
            <a:ext cx="10800001" cy="720000"/>
          </a:xfrm>
          <a:prstGeom prst="rect">
            <a:avLst/>
          </a:prstGeom>
        </p:spPr>
        <p:txBody>
          <a:bodyPr/>
          <a:p>
            <a:r>
              <a:rPr lang="zh-CN" altLang="en-US" smtClean="0"/>
              <a:t>单击此处编辑母版标题样式</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bg1"/>
        </a:solidFill>
        <a:effectLst/>
      </p:bgPr>
    </p:bg>
    <p:spTree>
      <p:nvGrpSpPr>
        <p:cNvPr id="1" name=""/>
        <p:cNvGrpSpPr/>
        <p:nvPr/>
      </p:nvGrpSpPr>
      <p:grpSpPr>
        <a:xfrm>
          <a:off x="0" y="0"/>
          <a:ext cx="0" cy="0"/>
          <a:chOff x="0" y="0"/>
          <a:chExt cx="0" cy="0"/>
        </a:xfrm>
      </p:grpSpPr>
      <p:sp>
        <p:nvSpPr>
          <p:cNvPr id="7" name="矩形 6"/>
          <p:cNvSpPr/>
          <p:nvPr>
            <p:custDataLst>
              <p:tags r:id="rId2"/>
            </p:custDataLst>
          </p:nvPr>
        </p:nvSpPr>
        <p:spPr>
          <a:xfrm>
            <a:off x="0" y="1270"/>
            <a:ext cx="12192636" cy="6856730"/>
          </a:xfrm>
          <a:prstGeom prst="rect">
            <a:avLst/>
          </a:prstGeom>
          <a:gradFill>
            <a:gsLst>
              <a:gs pos="54000">
                <a:schemeClr val="bg1"/>
              </a:gs>
              <a:gs pos="0">
                <a:schemeClr val="accent2">
                  <a:lumMod val="90476"/>
                  <a:lumOff val="9524"/>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微软雅黑" panose="020B0503020204020204" charset="-122"/>
            </a:endParaRPr>
          </a:p>
        </p:txBody>
      </p:sp>
      <p:pic>
        <p:nvPicPr>
          <p:cNvPr id="8" name="图片 1" descr="手机屏幕的截图&#10;&#10;低可信度描述已自动生成"/>
          <p:cNvPicPr/>
          <p:nvPr>
            <p:custDataLst>
              <p:tags r:id="rId3"/>
            </p:custDataLst>
          </p:nvPr>
        </p:nvPicPr>
        <p:blipFill>
          <a:blip r:embed="rId4"/>
          <a:stretch>
            <a:fillRect/>
          </a:stretch>
        </p:blipFill>
        <p:spPr>
          <a:xfrm>
            <a:off x="0" y="4980186"/>
            <a:ext cx="12192000" cy="1877814"/>
          </a:xfrm>
          <a:prstGeom prst="rect">
            <a:avLst/>
          </a:prstGeom>
        </p:spPr>
      </p:pic>
      <p:sp>
        <p:nvSpPr>
          <p:cNvPr id="9" name="署名占位符 10"/>
          <p:cNvSpPr>
            <a:spLocks noGrp="1"/>
          </p:cNvSpPr>
          <p:nvPr>
            <p:ph type="body" sz="quarter" idx="17" hasCustomPrompt="1"/>
            <p:custDataLst>
              <p:tags r:id="rId5"/>
            </p:custDataLst>
          </p:nvPr>
        </p:nvSpPr>
        <p:spPr>
          <a:xfrm>
            <a:off x="4925588" y="3767385"/>
            <a:ext cx="2340000" cy="468000"/>
          </a:xfrm>
          <a:prstGeom prst="roundRect">
            <a:avLst>
              <a:gd name="adj" fmla="val 50000"/>
            </a:avLst>
          </a:prstGeom>
          <a:ln w="12700">
            <a:solidFill>
              <a:schemeClr val="lt1">
                <a:lumMod val="10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18000" rIns="71755" bIns="18000" numCol="1" spcCol="0" rtlCol="0" fromWordArt="0" anchor="ctr" anchorCtr="0" forceAA="0" compatLnSpc="1">
            <a:normAutofit/>
          </a:bodyPr>
          <a:lstStyle>
            <a:defPPr>
              <a:defRPr lang="zh-CN"/>
            </a:defPPr>
            <a:lvl1pPr marL="0" marR="0" algn="ctr" defTabSz="914400" rtl="0" eaLnBrk="1" fontAlgn="auto" latinLnBrk="0" hangingPunct="1">
              <a:lnSpc>
                <a:spcPct val="100000"/>
              </a:lnSpc>
              <a:buClrTx/>
              <a:buSzTx/>
              <a:buFontTx/>
              <a:buNone/>
              <a:defRPr kumimoji="0" lang="zh-CN" altLang="en-US" sz="1800" b="1" i="0" u="none" strike="noStrike" kern="1200" cap="none" spc="0" normalizeH="0" baseline="0" noProof="1" dirty="0">
                <a:solidFill>
                  <a:schemeClr val="lt1"/>
                </a:solidFill>
                <a:latin typeface="+mn-ea"/>
                <a:ea typeface="+mn-ea"/>
                <a:cs typeface="微软雅黑" panose="020B0503020204020204" charset="-122"/>
              </a:defRPr>
            </a:lvl1pPr>
            <a:lvl2pPr marL="457200" algn="l" defTabSz="914400" rtl="0" eaLnBrk="1" latinLnBrk="0" hangingPunct="1">
              <a:defRPr sz="1800" kern="1200">
                <a:solidFill>
                  <a:schemeClr val="lt1"/>
                </a:solidFill>
                <a:latin typeface="+mn-lt"/>
                <a:ea typeface="+mn-ea"/>
                <a:cs typeface="+mn-cs"/>
              </a:defRPr>
            </a:lvl2pPr>
            <a:lvl3pPr marL="913765" algn="l" defTabSz="914400" rtl="0" eaLnBrk="1" latinLnBrk="0" hangingPunct="1">
              <a:defRPr sz="1800" kern="1200">
                <a:solidFill>
                  <a:schemeClr val="lt1"/>
                </a:solidFill>
                <a:latin typeface="+mn-lt"/>
                <a:ea typeface="+mn-ea"/>
                <a:cs typeface="+mn-cs"/>
              </a:defRPr>
            </a:lvl3pPr>
            <a:lvl4pPr marL="1370330" algn="l" defTabSz="914400" rtl="0" eaLnBrk="1" latinLnBrk="0" hangingPunct="1">
              <a:defRPr sz="1800" kern="1200">
                <a:solidFill>
                  <a:schemeClr val="lt1"/>
                </a:solidFill>
                <a:latin typeface="+mn-lt"/>
                <a:ea typeface="+mn-ea"/>
                <a:cs typeface="+mn-cs"/>
              </a:defRPr>
            </a:lvl4pPr>
            <a:lvl5pPr marL="1826895" algn="l" defTabSz="914400" rtl="0" eaLnBrk="1" latinLnBrk="0" hangingPunct="1">
              <a:defRPr sz="1800" kern="1200">
                <a:solidFill>
                  <a:schemeClr val="lt1"/>
                </a:solidFill>
                <a:latin typeface="+mn-lt"/>
                <a:ea typeface="+mn-ea"/>
                <a:cs typeface="+mn-cs"/>
              </a:defRPr>
            </a:lvl5pPr>
            <a:lvl6pPr marL="2284095" algn="l" defTabSz="914400" rtl="0" eaLnBrk="1" latinLnBrk="0" hangingPunct="1">
              <a:defRPr sz="1800" kern="1200">
                <a:solidFill>
                  <a:schemeClr val="lt1"/>
                </a:solidFill>
                <a:latin typeface="+mn-lt"/>
                <a:ea typeface="+mn-ea"/>
                <a:cs typeface="+mn-cs"/>
              </a:defRPr>
            </a:lvl6pPr>
            <a:lvl7pPr marL="2741295" algn="l" defTabSz="914400" rtl="0" eaLnBrk="1" latinLnBrk="0" hangingPunct="1">
              <a:defRPr sz="1800" kern="1200">
                <a:solidFill>
                  <a:schemeClr val="lt1"/>
                </a:solidFill>
                <a:latin typeface="+mn-lt"/>
                <a:ea typeface="+mn-ea"/>
                <a:cs typeface="+mn-cs"/>
              </a:defRPr>
            </a:lvl7pPr>
            <a:lvl8pPr marL="3197225" algn="l" defTabSz="914400" rtl="0" eaLnBrk="1" latinLnBrk="0" hangingPunct="1">
              <a:defRPr sz="1800" kern="1200">
                <a:solidFill>
                  <a:schemeClr val="lt1"/>
                </a:solidFill>
                <a:latin typeface="+mn-lt"/>
                <a:ea typeface="+mn-ea"/>
                <a:cs typeface="+mn-cs"/>
              </a:defRPr>
            </a:lvl8pPr>
            <a:lvl9pPr marL="3654425" algn="l" defTabSz="914400" rtl="0" eaLnBrk="1" latinLnBrk="0" hangingPunct="1">
              <a:defRPr sz="1800" kern="1200">
                <a:solidFill>
                  <a:schemeClr val="lt1"/>
                </a:solidFill>
                <a:latin typeface="+mn-lt"/>
                <a:ea typeface="+mn-ea"/>
                <a:cs typeface="+mn-cs"/>
              </a:defRPr>
            </a:lvl9pPr>
          </a:lstStyle>
          <a:p>
            <a:pPr lvl="0"/>
            <a:r>
              <a:rPr>
                <a:sym typeface="+mn-ea"/>
              </a:rPr>
              <a:t>署名</a:t>
            </a:r>
            <a:endParaRPr>
              <a:sym typeface="+mn-ea"/>
            </a:endParaRPr>
          </a:p>
        </p:txBody>
      </p:sp>
      <p:sp>
        <p:nvSpPr>
          <p:cNvPr id="6" name="标题 6"/>
          <p:cNvSpPr txBox="1">
            <a:spLocks noGrp="1"/>
          </p:cNvSpPr>
          <p:nvPr>
            <p:ph type="ctrTitle" hasCustomPrompt="1"/>
            <p:custDataLst>
              <p:tags r:id="rId6"/>
            </p:custDataLst>
          </p:nvPr>
        </p:nvSpPr>
        <p:spPr>
          <a:xfrm>
            <a:off x="3112135" y="2051685"/>
            <a:ext cx="5968365" cy="1524635"/>
          </a:xfrm>
          <a:prstGeom prst="rect">
            <a:avLst/>
          </a:prstGeom>
          <a:noFill/>
        </p:spPr>
        <p:txBody>
          <a:bodyPr wrap="square" rtlCol="0" anchor="ctr" anchorCtr="0">
            <a:normAutofit/>
          </a:bodyPr>
          <a:lstStyle>
            <a:defPPr>
              <a:defRPr lang="zh-CN"/>
            </a:defPPr>
            <a:lvl1pPr marL="0" marR="0" algn="ctr" defTabSz="914400" rtl="0" eaLnBrk="1" fontAlgn="auto" latinLnBrk="0" hangingPunct="1">
              <a:lnSpc>
                <a:spcPct val="100000"/>
              </a:lnSpc>
              <a:buClrTx/>
              <a:buSzTx/>
              <a:buFontTx/>
              <a:buNone/>
              <a:defRPr kumimoji="0" lang="zh-CN" altLang="en-US" sz="8795" b="1" i="0" u="none" strike="noStrike" kern="1200" cap="none" spc="0" normalizeH="0" baseline="0" noProof="1" dirty="0">
                <a:solidFill>
                  <a:schemeClr val="bg1">
                    <a:lumMod val="22550"/>
                  </a:schemeClr>
                </a:solidFill>
                <a:uFillTx/>
                <a:latin typeface="+mj-lt"/>
                <a:ea typeface="+mj-ea"/>
                <a:cs typeface="微软雅黑" panose="020B0503020204020204" charset="-122"/>
                <a:sym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3765" algn="l" defTabSz="914400" rtl="0" eaLnBrk="1" latinLnBrk="0" hangingPunct="1">
              <a:defRPr sz="1800" kern="1200">
                <a:solidFill>
                  <a:schemeClr val="tx1"/>
                </a:solidFill>
                <a:latin typeface="+mn-lt"/>
                <a:ea typeface="+mn-ea"/>
                <a:cs typeface="+mn-cs"/>
              </a:defRPr>
            </a:lvl3pPr>
            <a:lvl4pPr marL="1370330" algn="l" defTabSz="914400" rtl="0" eaLnBrk="1" latinLnBrk="0" hangingPunct="1">
              <a:defRPr sz="1800" kern="1200">
                <a:solidFill>
                  <a:schemeClr val="tx1"/>
                </a:solidFill>
                <a:latin typeface="+mn-lt"/>
                <a:ea typeface="+mn-ea"/>
                <a:cs typeface="+mn-cs"/>
              </a:defRPr>
            </a:lvl4pPr>
            <a:lvl5pPr marL="1826895" algn="l" defTabSz="914400" rtl="0" eaLnBrk="1" latinLnBrk="0" hangingPunct="1">
              <a:defRPr sz="1800" kern="1200">
                <a:solidFill>
                  <a:schemeClr val="tx1"/>
                </a:solidFill>
                <a:latin typeface="+mn-lt"/>
                <a:ea typeface="+mn-ea"/>
                <a:cs typeface="+mn-cs"/>
              </a:defRPr>
            </a:lvl5pPr>
            <a:lvl6pPr marL="2284095" algn="l" defTabSz="914400" rtl="0" eaLnBrk="1" latinLnBrk="0" hangingPunct="1">
              <a:defRPr sz="1800" kern="1200">
                <a:solidFill>
                  <a:schemeClr val="tx1"/>
                </a:solidFill>
                <a:latin typeface="+mn-lt"/>
                <a:ea typeface="+mn-ea"/>
                <a:cs typeface="+mn-cs"/>
              </a:defRPr>
            </a:lvl6pPr>
            <a:lvl7pPr marL="2741295" algn="l" defTabSz="914400" rtl="0" eaLnBrk="1" latinLnBrk="0" hangingPunct="1">
              <a:defRPr sz="1800" kern="1200">
                <a:solidFill>
                  <a:schemeClr val="tx1"/>
                </a:solidFill>
                <a:latin typeface="+mn-lt"/>
                <a:ea typeface="+mn-ea"/>
                <a:cs typeface="+mn-cs"/>
              </a:defRPr>
            </a:lvl7pPr>
            <a:lvl8pPr marL="3197225" algn="l" defTabSz="914400" rtl="0" eaLnBrk="1" latinLnBrk="0" hangingPunct="1">
              <a:defRPr sz="1800" kern="1200">
                <a:solidFill>
                  <a:schemeClr val="tx1"/>
                </a:solidFill>
                <a:latin typeface="+mn-lt"/>
                <a:ea typeface="+mn-ea"/>
                <a:cs typeface="+mn-cs"/>
              </a:defRPr>
            </a:lvl8pPr>
            <a:lvl9pPr marL="3654425" algn="l" defTabSz="914400" rtl="0" eaLnBrk="1" latinLnBrk="0" hangingPunct="1">
              <a:defRPr sz="1800" kern="1200">
                <a:solidFill>
                  <a:schemeClr val="tx1"/>
                </a:solidFill>
                <a:latin typeface="+mn-lt"/>
                <a:ea typeface="+mn-ea"/>
                <a:cs typeface="+mn-cs"/>
              </a:defRPr>
            </a:lvl9pPr>
          </a:lstStyle>
          <a:p>
            <a:pPr lvl="0"/>
            <a:r>
              <a:rPr dirty="0">
                <a:sym typeface="+mn-ea"/>
              </a:rPr>
              <a:t>编辑标题</a:t>
            </a:r>
            <a:endParaRPr dirty="0">
              <a:sym typeface="+mn-ea"/>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1270"/>
            <a:ext cx="12192636" cy="6856730"/>
          </a:xfrm>
          <a:prstGeom prst="rect">
            <a:avLst/>
          </a:prstGeom>
          <a:gradFill>
            <a:gsLst>
              <a:gs pos="54000">
                <a:schemeClr val="bg1"/>
              </a:gs>
              <a:gs pos="0">
                <a:srgbClr val="CAE7E8"/>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1" descr="手机屏幕的截图&#10;&#10;低可信度描述已自动生成"/>
          <p:cNvPicPr/>
          <p:nvPr userDrawn="1">
            <p:custDataLst>
              <p:tags r:id="rId3"/>
            </p:custDataLst>
          </p:nvPr>
        </p:nvPicPr>
        <p:blipFill>
          <a:blip r:embed="rId4" cstate="print"/>
          <a:stretch>
            <a:fillRect/>
          </a:stretch>
        </p:blipFill>
        <p:spPr>
          <a:xfrm>
            <a:off x="0" y="4980186"/>
            <a:ext cx="12192000" cy="187781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标题幻灯片">
    <p:spTree>
      <p:nvGrpSpPr>
        <p:cNvPr id="1" name=""/>
        <p:cNvGrpSpPr/>
        <p:nvPr/>
      </p:nvGrpSpPr>
      <p:grpSpPr>
        <a:xfrm>
          <a:off x="0" y="0"/>
          <a:ext cx="0" cy="0"/>
          <a:chOff x="0" y="0"/>
          <a:chExt cx="0" cy="0"/>
        </a:xfrm>
      </p:grpSpPr>
      <p:grpSp>
        <p:nvGrpSpPr>
          <p:cNvPr id="3" name="组合 2"/>
          <p:cNvGrpSpPr/>
          <p:nvPr userDrawn="1"/>
        </p:nvGrpSpPr>
        <p:grpSpPr>
          <a:xfrm>
            <a:off x="-180" y="231775"/>
            <a:ext cx="11933100" cy="385148"/>
            <a:chOff x="-180" y="231775"/>
            <a:chExt cx="11933100" cy="385148"/>
          </a:xfrm>
        </p:grpSpPr>
        <p:sp>
          <p:nvSpPr>
            <p:cNvPr id="4" name="矩形 3"/>
            <p:cNvSpPr/>
            <p:nvPr>
              <p:custDataLst>
                <p:tags r:id="rId2"/>
              </p:custDataLst>
            </p:nvPr>
          </p:nvSpPr>
          <p:spPr>
            <a:xfrm>
              <a:off x="-180" y="231775"/>
              <a:ext cx="191770" cy="385148"/>
            </a:xfrm>
            <a:prstGeom prst="rect">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b="1" i="0" u="none" strike="noStrike" kern="1200" cap="none" spc="0" normalizeH="0" baseline="0" noProof="0" dirty="0">
                <a:ln>
                  <a:noFill/>
                </a:ln>
                <a:solidFill>
                  <a:srgbClr val="1A7BB8"/>
                </a:solidFill>
                <a:effectLst/>
                <a:highlight>
                  <a:srgbClr val="0070C0"/>
                </a:highligh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6" name="直接连接符 5"/>
            <p:cNvCxnSpPr/>
            <p:nvPr/>
          </p:nvCxnSpPr>
          <p:spPr>
            <a:xfrm>
              <a:off x="424815" y="616923"/>
              <a:ext cx="11508105" cy="0"/>
            </a:xfrm>
            <a:prstGeom prst="line">
              <a:avLst/>
            </a:prstGeom>
            <a:ln w="15875">
              <a:solidFill>
                <a:srgbClr val="00A6C7"/>
              </a:solidFill>
            </a:ln>
          </p:spPr>
          <p:style>
            <a:lnRef idx="1">
              <a:schemeClr val="accent1"/>
            </a:lnRef>
            <a:fillRef idx="0">
              <a:schemeClr val="accent1"/>
            </a:fillRef>
            <a:effectRef idx="0">
              <a:schemeClr val="accent1"/>
            </a:effectRef>
            <a:fontRef idx="minor">
              <a:schemeClr val="tx1"/>
            </a:fontRef>
          </p:style>
        </p:cxnSp>
      </p:grpSp>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058275" y="231775"/>
            <a:ext cx="2874645" cy="36250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首页、标题页、尾页">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6591300"/>
            <a:ext cx="12192000" cy="266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4" name="图片 133"/>
          <p:cNvPicPr>
            <a:picLocks noChangeAspect="1"/>
          </p:cNvPicPr>
          <p:nvPr userDrawn="1">
            <p:custDataLst>
              <p:tags r:id="rId3"/>
            </p:custDataLst>
          </p:nvPr>
        </p:nvPicPr>
        <p:blipFill>
          <a:blip r:embed="rId4"/>
          <a:srcRect l="37874" t="8708" r="35531" b="50767"/>
          <a:stretch>
            <a:fillRect/>
          </a:stretch>
        </p:blipFill>
        <p:spPr>
          <a:xfrm>
            <a:off x="11185525" y="132715"/>
            <a:ext cx="791845" cy="782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一段文本_1项">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2"/>
            </p:custDataLst>
          </p:nvPr>
        </p:nvSpPr>
        <p:spPr>
          <a:xfrm>
            <a:off x="1219200" y="2590800"/>
            <a:ext cx="9753600" cy="609600"/>
          </a:xfrm>
          <a:prstGeom prst="rect">
            <a:avLst/>
          </a:prstGeom>
          <a:noFill/>
        </p:spPr>
        <p:txBody>
          <a:bodyPr lIns="0" tIns="0" rIns="0" bIns="0" anchor="t">
            <a:normAutofit/>
          </a:bodyPr>
          <a:lstStyle>
            <a:lvl1pPr marL="0" indent="0" algn="ctr">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文本占位符 6"/>
          <p:cNvSpPr>
            <a:spLocks noGrp="1"/>
          </p:cNvSpPr>
          <p:nvPr>
            <p:ph type="body" idx="16386" hasCustomPrompt="1"/>
            <p:custDataLst>
              <p:tags r:id="rId3"/>
            </p:custDataLst>
          </p:nvPr>
        </p:nvSpPr>
        <p:spPr>
          <a:xfrm>
            <a:off x="1219200" y="3352800"/>
            <a:ext cx="9753600" cy="914400"/>
          </a:xfrm>
          <a:prstGeom prst="rect">
            <a:avLst/>
          </a:prstGeo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单击此处添加正文</a:t>
            </a:r>
            <a:endParaRPr lang="zh-CN" altLang="en-US" smtClean="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3765" rtl="0" eaLnBrk="1" latinLnBrk="0" hangingPunct="1">
        <a:lnSpc>
          <a:spcPct val="90000"/>
        </a:lnSpc>
        <a:spcBef>
          <a:spcPct val="0"/>
        </a:spcBef>
        <a:buNone/>
        <a:defRPr sz="3195" b="1" i="0" u="none" kern="1200" spc="0">
          <a:solidFill>
            <a:schemeClr val="accent5">
              <a:lumMod val="66780"/>
            </a:schemeClr>
          </a:solidFill>
          <a:effectLst>
            <a:outerShdw>
              <a:srgbClr val="FFFFFF"/>
            </a:outerShdw>
          </a:effectLst>
          <a:uFill>
            <a:solidFill>
              <a:srgbClr val="00A6C7"/>
            </a:solidFill>
          </a:uFill>
          <a:latin typeface="+mj-lt"/>
          <a:ea typeface="+mj-ea"/>
          <a:cs typeface="微软雅黑" panose="020B0503020204020204" charset="-122"/>
        </a:defRPr>
      </a:lvl1pPr>
    </p:titleStyle>
    <p:bodyStyle>
      <a:lvl1pPr marL="228600" indent="0" algn="l" defTabSz="913765" rtl="0" eaLnBrk="1" latinLnBrk="0" hangingPunct="1">
        <a:lnSpc>
          <a:spcPct val="130000"/>
        </a:lnSpc>
        <a:spcBef>
          <a:spcPts val="1000"/>
        </a:spcBef>
        <a:buFont typeface="Arial" panose="020B0604020202020204" pitchFamily="34" charset="0"/>
        <a:buChar char="•"/>
        <a:defRPr sz="2400" kern="1200" spc="0">
          <a:solidFill>
            <a:schemeClr val="tx1"/>
          </a:solidFill>
          <a:latin typeface="+mn-lt"/>
          <a:ea typeface="+mn-ea"/>
          <a:cs typeface="微软雅黑" panose="020B0503020204020204" charset="-122"/>
        </a:defRPr>
      </a:lvl1pPr>
      <a:lvl2pPr marL="685165" indent="0" algn="l" defTabSz="913765" rtl="0" eaLnBrk="1" latinLnBrk="0" hangingPunct="1">
        <a:lnSpc>
          <a:spcPct val="130000"/>
        </a:lnSpc>
        <a:spcBef>
          <a:spcPct val="100000"/>
        </a:spcBef>
        <a:buFont typeface="Arial" panose="020B0604020202020204" pitchFamily="34" charset="0"/>
        <a:buChar char="•"/>
        <a:defRPr sz="2000" kern="1200" spc="0">
          <a:solidFill>
            <a:schemeClr val="tx1"/>
          </a:solidFill>
          <a:latin typeface="+mn-lt"/>
          <a:ea typeface="+mn-ea"/>
          <a:cs typeface="微软雅黑" panose="020B0503020204020204" charset="-122"/>
        </a:defRPr>
      </a:lvl2pPr>
      <a:lvl3pPr marL="1141730" indent="0" algn="l" defTabSz="913765" rtl="0" eaLnBrk="1" latinLnBrk="0" hangingPunct="1">
        <a:lnSpc>
          <a:spcPct val="130000"/>
        </a:lnSpc>
        <a:spcBef>
          <a:spcPct val="100000"/>
        </a:spcBef>
        <a:buFont typeface="Arial" panose="020B0604020202020204" pitchFamily="34" charset="0"/>
        <a:buChar char="•"/>
        <a:defRPr sz="1800" kern="1200" spc="0">
          <a:solidFill>
            <a:schemeClr val="tx1"/>
          </a:solidFill>
          <a:latin typeface="+mn-lt"/>
          <a:ea typeface="+mn-ea"/>
          <a:cs typeface="微软雅黑" panose="020B0503020204020204" charset="-122"/>
        </a:defRPr>
      </a:lvl3pPr>
      <a:lvl4pPr marL="1598930" indent="0" algn="l" defTabSz="913765" rtl="0" eaLnBrk="1" latinLnBrk="0" hangingPunct="1">
        <a:lnSpc>
          <a:spcPct val="130000"/>
        </a:lnSpc>
        <a:spcBef>
          <a:spcPct val="100000"/>
        </a:spcBef>
        <a:buFont typeface="Arial" panose="020B0604020202020204" pitchFamily="34" charset="0"/>
        <a:buChar char="•"/>
        <a:defRPr sz="1800" kern="1200" spc="0">
          <a:solidFill>
            <a:schemeClr val="tx1"/>
          </a:solidFill>
          <a:latin typeface="+mn-lt"/>
          <a:ea typeface="+mn-ea"/>
          <a:cs typeface="微软雅黑" panose="020B0503020204020204" charset="-122"/>
        </a:defRPr>
      </a:lvl4pPr>
      <a:lvl5pPr marL="2055495" indent="0" algn="l" defTabSz="913765" rtl="0" eaLnBrk="1" latinLnBrk="0" hangingPunct="1">
        <a:lnSpc>
          <a:spcPct val="130000"/>
        </a:lnSpc>
        <a:spcBef>
          <a:spcPct val="100000"/>
        </a:spcBef>
        <a:buFont typeface="Arial" panose="020B0604020202020204" pitchFamily="34" charset="0"/>
        <a:buChar char="•"/>
        <a:defRPr sz="1800" kern="1200" spc="0">
          <a:solidFill>
            <a:schemeClr val="tx1"/>
          </a:solidFill>
          <a:latin typeface="+mn-lt"/>
          <a:ea typeface="+mn-ea"/>
          <a:cs typeface="微软雅黑" panose="020B0503020204020204" charset="-122"/>
        </a:defRPr>
      </a:lvl5pPr>
      <a:lvl6pPr marL="2512695" indent="-228600" algn="l" defTabSz="913765"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6pPr>
      <a:lvl7pPr marL="2969260" indent="-228600" algn="l" defTabSz="913765"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7pPr>
      <a:lvl8pPr marL="3425825" indent="-228600" algn="l" defTabSz="913765"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8pPr>
      <a:lvl9pPr marL="3883025" indent="-228600" algn="l" defTabSz="913765" rtl="0" eaLnBrk="1" latinLnBrk="0" hangingPunct="1">
        <a:lnSpc>
          <a:spcPct val="90000"/>
        </a:lnSpc>
        <a:spcBef>
          <a:spcPct val="1000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330" algn="l" defTabSz="913765" rtl="0" eaLnBrk="1" latinLnBrk="0" hangingPunct="1">
        <a:defRPr sz="1800" kern="1200">
          <a:solidFill>
            <a:schemeClr val="tx1"/>
          </a:solidFill>
          <a:latin typeface="+mn-lt"/>
          <a:ea typeface="+mn-ea"/>
          <a:cs typeface="+mn-cs"/>
        </a:defRPr>
      </a:lvl4pPr>
      <a:lvl5pPr marL="1826895" algn="l" defTabSz="913765" rtl="0" eaLnBrk="1" latinLnBrk="0" hangingPunct="1">
        <a:defRPr sz="1800" kern="1200">
          <a:solidFill>
            <a:schemeClr val="tx1"/>
          </a:solidFill>
          <a:latin typeface="+mn-lt"/>
          <a:ea typeface="+mn-ea"/>
          <a:cs typeface="+mn-cs"/>
        </a:defRPr>
      </a:lvl5pPr>
      <a:lvl6pPr marL="2284095" algn="l" defTabSz="913765" rtl="0" eaLnBrk="1" latinLnBrk="0" hangingPunct="1">
        <a:defRPr sz="1800" kern="1200">
          <a:solidFill>
            <a:schemeClr val="tx1"/>
          </a:solidFill>
          <a:latin typeface="+mn-lt"/>
          <a:ea typeface="+mn-ea"/>
          <a:cs typeface="+mn-cs"/>
        </a:defRPr>
      </a:lvl6pPr>
      <a:lvl7pPr marL="2741295" algn="l" defTabSz="913765" rtl="0" eaLnBrk="1" latinLnBrk="0" hangingPunct="1">
        <a:defRPr sz="1800" kern="1200">
          <a:solidFill>
            <a:schemeClr val="tx1"/>
          </a:solidFill>
          <a:latin typeface="+mn-lt"/>
          <a:ea typeface="+mn-ea"/>
          <a:cs typeface="+mn-cs"/>
        </a:defRPr>
      </a:lvl7pPr>
      <a:lvl8pPr marL="3197225" algn="l" defTabSz="913765" rtl="0" eaLnBrk="1" latinLnBrk="0" hangingPunct="1">
        <a:defRPr sz="1800" kern="1200">
          <a:solidFill>
            <a:schemeClr val="tx1"/>
          </a:solidFill>
          <a:latin typeface="+mn-lt"/>
          <a:ea typeface="+mn-ea"/>
          <a:cs typeface="+mn-cs"/>
        </a:defRPr>
      </a:lvl8pPr>
      <a:lvl9pPr marL="3654425"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4.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9" Type="http://schemas.openxmlformats.org/officeDocument/2006/relationships/notesSlide" Target="../notesSlides/notesSlide4.xml"/><Relationship Id="rId48" Type="http://schemas.openxmlformats.org/officeDocument/2006/relationships/slideLayout" Target="../slideLayouts/slideLayout16.xml"/><Relationship Id="rId47" Type="http://schemas.openxmlformats.org/officeDocument/2006/relationships/tags" Target="../tags/tag117.xml"/><Relationship Id="rId46" Type="http://schemas.openxmlformats.org/officeDocument/2006/relationships/tags" Target="../tags/tag116.xml"/><Relationship Id="rId45" Type="http://schemas.openxmlformats.org/officeDocument/2006/relationships/tags" Target="../tags/tag115.xml"/><Relationship Id="rId44" Type="http://schemas.openxmlformats.org/officeDocument/2006/relationships/tags" Target="../tags/tag114.xml"/><Relationship Id="rId43" Type="http://schemas.openxmlformats.org/officeDocument/2006/relationships/tags" Target="../tags/tag113.xml"/><Relationship Id="rId42" Type="http://schemas.openxmlformats.org/officeDocument/2006/relationships/tags" Target="../tags/tag112.xml"/><Relationship Id="rId41" Type="http://schemas.openxmlformats.org/officeDocument/2006/relationships/tags" Target="../tags/tag111.xml"/><Relationship Id="rId40" Type="http://schemas.openxmlformats.org/officeDocument/2006/relationships/tags" Target="../tags/tag110.xml"/><Relationship Id="rId4" Type="http://schemas.openxmlformats.org/officeDocument/2006/relationships/tags" Target="../tags/tag74.xml"/><Relationship Id="rId39" Type="http://schemas.openxmlformats.org/officeDocument/2006/relationships/tags" Target="../tags/tag109.xml"/><Relationship Id="rId38" Type="http://schemas.openxmlformats.org/officeDocument/2006/relationships/tags" Target="../tags/tag108.xml"/><Relationship Id="rId37" Type="http://schemas.openxmlformats.org/officeDocument/2006/relationships/tags" Target="../tags/tag107.xml"/><Relationship Id="rId36" Type="http://schemas.openxmlformats.org/officeDocument/2006/relationships/tags" Target="../tags/tag106.xml"/><Relationship Id="rId35" Type="http://schemas.openxmlformats.org/officeDocument/2006/relationships/tags" Target="../tags/tag105.xml"/><Relationship Id="rId34" Type="http://schemas.openxmlformats.org/officeDocument/2006/relationships/tags" Target="../tags/tag104.xml"/><Relationship Id="rId33" Type="http://schemas.openxmlformats.org/officeDocument/2006/relationships/tags" Target="../tags/tag103.xml"/><Relationship Id="rId32" Type="http://schemas.openxmlformats.org/officeDocument/2006/relationships/tags" Target="../tags/tag102.xml"/><Relationship Id="rId31" Type="http://schemas.openxmlformats.org/officeDocument/2006/relationships/tags" Target="../tags/tag101.xml"/><Relationship Id="rId30" Type="http://schemas.openxmlformats.org/officeDocument/2006/relationships/tags" Target="../tags/tag100.xml"/><Relationship Id="rId3" Type="http://schemas.openxmlformats.org/officeDocument/2006/relationships/tags" Target="../tags/tag73.xml"/><Relationship Id="rId29" Type="http://schemas.openxmlformats.org/officeDocument/2006/relationships/tags" Target="../tags/tag99.xml"/><Relationship Id="rId28" Type="http://schemas.openxmlformats.org/officeDocument/2006/relationships/tags" Target="../tags/tag98.xml"/><Relationship Id="rId27" Type="http://schemas.openxmlformats.org/officeDocument/2006/relationships/tags" Target="../tags/tag97.xml"/><Relationship Id="rId26" Type="http://schemas.openxmlformats.org/officeDocument/2006/relationships/tags" Target="../tags/tag96.xml"/><Relationship Id="rId25" Type="http://schemas.openxmlformats.org/officeDocument/2006/relationships/tags" Target="../tags/tag95.xml"/><Relationship Id="rId24" Type="http://schemas.openxmlformats.org/officeDocument/2006/relationships/tags" Target="../tags/tag94.xml"/><Relationship Id="rId23" Type="http://schemas.openxmlformats.org/officeDocument/2006/relationships/tags" Target="../tags/tag93.xml"/><Relationship Id="rId22" Type="http://schemas.openxmlformats.org/officeDocument/2006/relationships/tags" Target="../tags/tag92.xml"/><Relationship Id="rId21" Type="http://schemas.openxmlformats.org/officeDocument/2006/relationships/tags" Target="../tags/tag91.xml"/><Relationship Id="rId20" Type="http://schemas.openxmlformats.org/officeDocument/2006/relationships/tags" Target="../tags/tag90.xml"/><Relationship Id="rId2" Type="http://schemas.openxmlformats.org/officeDocument/2006/relationships/tags" Target="../tags/tag72.xml"/><Relationship Id="rId19" Type="http://schemas.openxmlformats.org/officeDocument/2006/relationships/tags" Target="../tags/tag89.xml"/><Relationship Id="rId18" Type="http://schemas.openxmlformats.org/officeDocument/2006/relationships/tags" Target="../tags/tag88.xml"/><Relationship Id="rId17" Type="http://schemas.openxmlformats.org/officeDocument/2006/relationships/tags" Target="../tags/tag87.xml"/><Relationship Id="rId16" Type="http://schemas.openxmlformats.org/officeDocument/2006/relationships/tags" Target="../tags/tag86.xml"/><Relationship Id="rId15" Type="http://schemas.openxmlformats.org/officeDocument/2006/relationships/tags" Target="../tags/tag85.xml"/><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tags" Target="../tags/tag71.xml"/></Relationships>
</file>

<file path=ppt/slides/_rels/slide5.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7" Type="http://schemas.openxmlformats.org/officeDocument/2006/relationships/notesSlide" Target="../notesSlides/notesSlide5.xml"/><Relationship Id="rId36" Type="http://schemas.openxmlformats.org/officeDocument/2006/relationships/slideLayout" Target="../slideLayouts/slideLayout14.xml"/><Relationship Id="rId35" Type="http://schemas.openxmlformats.org/officeDocument/2006/relationships/tags" Target="../tags/tag144.xml"/><Relationship Id="rId34" Type="http://schemas.openxmlformats.org/officeDocument/2006/relationships/tags" Target="../tags/tag143.xml"/><Relationship Id="rId33" Type="http://schemas.openxmlformats.org/officeDocument/2006/relationships/tags" Target="../tags/tag142.xml"/><Relationship Id="rId32" Type="http://schemas.openxmlformats.org/officeDocument/2006/relationships/tags" Target="../tags/tag141.xml"/><Relationship Id="rId31" Type="http://schemas.openxmlformats.org/officeDocument/2006/relationships/tags" Target="../tags/tag140.xml"/><Relationship Id="rId30" Type="http://schemas.openxmlformats.org/officeDocument/2006/relationships/tags" Target="../tags/tag139.xml"/><Relationship Id="rId3" Type="http://schemas.openxmlformats.org/officeDocument/2006/relationships/tags" Target="../tags/tag120.xml"/><Relationship Id="rId29" Type="http://schemas.openxmlformats.org/officeDocument/2006/relationships/tags" Target="../tags/tag138.xml"/><Relationship Id="rId28" Type="http://schemas.openxmlformats.org/officeDocument/2006/relationships/tags" Target="../tags/tag137.xml"/><Relationship Id="rId27" Type="http://schemas.openxmlformats.org/officeDocument/2006/relationships/tags" Target="../tags/tag136.xml"/><Relationship Id="rId26" Type="http://schemas.openxmlformats.org/officeDocument/2006/relationships/tags" Target="../tags/tag135.xml"/><Relationship Id="rId25" Type="http://schemas.openxmlformats.org/officeDocument/2006/relationships/tags" Target="../tags/tag134.xml"/><Relationship Id="rId24" Type="http://schemas.openxmlformats.org/officeDocument/2006/relationships/tags" Target="../tags/tag133.xml"/><Relationship Id="rId23" Type="http://schemas.openxmlformats.org/officeDocument/2006/relationships/tags" Target="../tags/tag132.xml"/><Relationship Id="rId22" Type="http://schemas.openxmlformats.org/officeDocument/2006/relationships/image" Target="../media/image12.svg"/><Relationship Id="rId21" Type="http://schemas.openxmlformats.org/officeDocument/2006/relationships/image" Target="../media/image11.png"/><Relationship Id="rId20" Type="http://schemas.openxmlformats.org/officeDocument/2006/relationships/tags" Target="../tags/tag131.xml"/><Relationship Id="rId2" Type="http://schemas.openxmlformats.org/officeDocument/2006/relationships/tags" Target="../tags/tag119.xml"/><Relationship Id="rId19" Type="http://schemas.openxmlformats.org/officeDocument/2006/relationships/image" Target="../media/image10.svg"/><Relationship Id="rId18" Type="http://schemas.openxmlformats.org/officeDocument/2006/relationships/image" Target="../media/image9.png"/><Relationship Id="rId17" Type="http://schemas.openxmlformats.org/officeDocument/2006/relationships/tags" Target="../tags/tag130.xml"/><Relationship Id="rId16" Type="http://schemas.openxmlformats.org/officeDocument/2006/relationships/image" Target="../media/image8.svg"/><Relationship Id="rId15" Type="http://schemas.openxmlformats.org/officeDocument/2006/relationships/image" Target="../media/image7.png"/><Relationship Id="rId14" Type="http://schemas.openxmlformats.org/officeDocument/2006/relationships/tags" Target="../tags/tag129.xml"/><Relationship Id="rId13" Type="http://schemas.openxmlformats.org/officeDocument/2006/relationships/image" Target="../media/image6.svg"/><Relationship Id="rId12" Type="http://schemas.openxmlformats.org/officeDocument/2006/relationships/image" Target="../media/image5.png"/><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tags" Target="../tags/tag11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4.xml"/><Relationship Id="rId4" Type="http://schemas.openxmlformats.org/officeDocument/2006/relationships/image" Target="../media/image15.svg"/><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tags" Target="../tags/tag145.xml"/></Relationships>
</file>

<file path=ppt/slides/_rels/slide8.xml.rels><?xml version="1.0" encoding="UTF-8" standalone="yes"?>
<Relationships xmlns="http://schemas.openxmlformats.org/package/2006/relationships"><Relationship Id="rId9" Type="http://schemas.openxmlformats.org/officeDocument/2006/relationships/image" Target="../media/image23.svg"/><Relationship Id="rId8" Type="http://schemas.openxmlformats.org/officeDocument/2006/relationships/image" Target="../media/image22.png"/><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image" Target="../media/image17.svg"/><Relationship Id="rId2" Type="http://schemas.openxmlformats.org/officeDocument/2006/relationships/image" Target="../media/image16.png"/><Relationship Id="rId13" Type="http://schemas.openxmlformats.org/officeDocument/2006/relationships/notesSlide" Target="../notesSlides/notesSlide8.xml"/><Relationship Id="rId12" Type="http://schemas.openxmlformats.org/officeDocument/2006/relationships/slideLayout" Target="../slideLayouts/slideLayout14.xml"/><Relationship Id="rId11" Type="http://schemas.openxmlformats.org/officeDocument/2006/relationships/image" Target="../media/image25.svg"/><Relationship Id="rId10" Type="http://schemas.openxmlformats.org/officeDocument/2006/relationships/image" Target="../media/image24.png"/><Relationship Id="rId1" Type="http://schemas.openxmlformats.org/officeDocument/2006/relationships/tags" Target="../tags/tag146.xml"/></Relationships>
</file>

<file path=ppt/slides/_rels/slide9.xml.rels><?xml version="1.0" encoding="UTF-8" standalone="yes"?>
<Relationships xmlns="http://schemas.openxmlformats.org/package/2006/relationships"><Relationship Id="rId9" Type="http://schemas.openxmlformats.org/officeDocument/2006/relationships/tags" Target="../tags/tag155.xml"/><Relationship Id="rId8" Type="http://schemas.openxmlformats.org/officeDocument/2006/relationships/tags" Target="../tags/tag154.xml"/><Relationship Id="rId7" Type="http://schemas.openxmlformats.org/officeDocument/2006/relationships/tags" Target="../tags/tag153.xml"/><Relationship Id="rId62" Type="http://schemas.openxmlformats.org/officeDocument/2006/relationships/notesSlide" Target="../notesSlides/notesSlide9.xml"/><Relationship Id="rId61" Type="http://schemas.openxmlformats.org/officeDocument/2006/relationships/slideLayout" Target="../slideLayouts/slideLayout14.xml"/><Relationship Id="rId60" Type="http://schemas.openxmlformats.org/officeDocument/2006/relationships/tags" Target="../tags/tag206.xml"/><Relationship Id="rId6" Type="http://schemas.openxmlformats.org/officeDocument/2006/relationships/tags" Target="../tags/tag152.xml"/><Relationship Id="rId59" Type="http://schemas.openxmlformats.org/officeDocument/2006/relationships/tags" Target="../tags/tag205.xml"/><Relationship Id="rId58" Type="http://schemas.openxmlformats.org/officeDocument/2006/relationships/tags" Target="../tags/tag204.xml"/><Relationship Id="rId57" Type="http://schemas.openxmlformats.org/officeDocument/2006/relationships/tags" Target="../tags/tag203.xml"/><Relationship Id="rId56" Type="http://schemas.openxmlformats.org/officeDocument/2006/relationships/tags" Target="../tags/tag202.xml"/><Relationship Id="rId55" Type="http://schemas.openxmlformats.org/officeDocument/2006/relationships/tags" Target="../tags/tag201.xml"/><Relationship Id="rId54" Type="http://schemas.openxmlformats.org/officeDocument/2006/relationships/tags" Target="../tags/tag200.xml"/><Relationship Id="rId53" Type="http://schemas.openxmlformats.org/officeDocument/2006/relationships/tags" Target="../tags/tag199.xml"/><Relationship Id="rId52" Type="http://schemas.openxmlformats.org/officeDocument/2006/relationships/tags" Target="../tags/tag198.xml"/><Relationship Id="rId51" Type="http://schemas.openxmlformats.org/officeDocument/2006/relationships/tags" Target="../tags/tag197.xml"/><Relationship Id="rId50" Type="http://schemas.openxmlformats.org/officeDocument/2006/relationships/tags" Target="../tags/tag196.xml"/><Relationship Id="rId5" Type="http://schemas.openxmlformats.org/officeDocument/2006/relationships/tags" Target="../tags/tag151.xml"/><Relationship Id="rId49" Type="http://schemas.openxmlformats.org/officeDocument/2006/relationships/tags" Target="../tags/tag195.xml"/><Relationship Id="rId48" Type="http://schemas.openxmlformats.org/officeDocument/2006/relationships/tags" Target="../tags/tag194.xml"/><Relationship Id="rId47" Type="http://schemas.openxmlformats.org/officeDocument/2006/relationships/tags" Target="../tags/tag193.xml"/><Relationship Id="rId46" Type="http://schemas.openxmlformats.org/officeDocument/2006/relationships/tags" Target="../tags/tag192.xml"/><Relationship Id="rId45" Type="http://schemas.openxmlformats.org/officeDocument/2006/relationships/tags" Target="../tags/tag191.xml"/><Relationship Id="rId44" Type="http://schemas.openxmlformats.org/officeDocument/2006/relationships/tags" Target="../tags/tag190.xml"/><Relationship Id="rId43" Type="http://schemas.openxmlformats.org/officeDocument/2006/relationships/tags" Target="../tags/tag189.xml"/><Relationship Id="rId42" Type="http://schemas.openxmlformats.org/officeDocument/2006/relationships/tags" Target="../tags/tag188.xml"/><Relationship Id="rId41" Type="http://schemas.openxmlformats.org/officeDocument/2006/relationships/tags" Target="../tags/tag187.xml"/><Relationship Id="rId40" Type="http://schemas.openxmlformats.org/officeDocument/2006/relationships/tags" Target="../tags/tag186.xml"/><Relationship Id="rId4" Type="http://schemas.openxmlformats.org/officeDocument/2006/relationships/tags" Target="../tags/tag150.xml"/><Relationship Id="rId39" Type="http://schemas.openxmlformats.org/officeDocument/2006/relationships/tags" Target="../tags/tag185.xml"/><Relationship Id="rId38" Type="http://schemas.openxmlformats.org/officeDocument/2006/relationships/tags" Target="../tags/tag184.xml"/><Relationship Id="rId37" Type="http://schemas.openxmlformats.org/officeDocument/2006/relationships/tags" Target="../tags/tag183.xml"/><Relationship Id="rId36" Type="http://schemas.openxmlformats.org/officeDocument/2006/relationships/tags" Target="../tags/tag182.xml"/><Relationship Id="rId35" Type="http://schemas.openxmlformats.org/officeDocument/2006/relationships/tags" Target="../tags/tag181.xml"/><Relationship Id="rId34" Type="http://schemas.openxmlformats.org/officeDocument/2006/relationships/tags" Target="../tags/tag180.xml"/><Relationship Id="rId33" Type="http://schemas.openxmlformats.org/officeDocument/2006/relationships/tags" Target="../tags/tag179.xml"/><Relationship Id="rId32" Type="http://schemas.openxmlformats.org/officeDocument/2006/relationships/tags" Target="../tags/tag178.xml"/><Relationship Id="rId31" Type="http://schemas.openxmlformats.org/officeDocument/2006/relationships/tags" Target="../tags/tag177.xml"/><Relationship Id="rId30" Type="http://schemas.openxmlformats.org/officeDocument/2006/relationships/tags" Target="../tags/tag176.xml"/><Relationship Id="rId3" Type="http://schemas.openxmlformats.org/officeDocument/2006/relationships/tags" Target="../tags/tag149.xml"/><Relationship Id="rId29" Type="http://schemas.openxmlformats.org/officeDocument/2006/relationships/tags" Target="../tags/tag175.xml"/><Relationship Id="rId28" Type="http://schemas.openxmlformats.org/officeDocument/2006/relationships/tags" Target="../tags/tag174.xml"/><Relationship Id="rId27" Type="http://schemas.openxmlformats.org/officeDocument/2006/relationships/tags" Target="../tags/tag173.xml"/><Relationship Id="rId26" Type="http://schemas.openxmlformats.org/officeDocument/2006/relationships/tags" Target="../tags/tag172.xml"/><Relationship Id="rId25" Type="http://schemas.openxmlformats.org/officeDocument/2006/relationships/tags" Target="../tags/tag171.xml"/><Relationship Id="rId24" Type="http://schemas.openxmlformats.org/officeDocument/2006/relationships/tags" Target="../tags/tag170.xml"/><Relationship Id="rId23" Type="http://schemas.openxmlformats.org/officeDocument/2006/relationships/tags" Target="../tags/tag169.xml"/><Relationship Id="rId22" Type="http://schemas.openxmlformats.org/officeDocument/2006/relationships/tags" Target="../tags/tag168.xml"/><Relationship Id="rId21" Type="http://schemas.openxmlformats.org/officeDocument/2006/relationships/tags" Target="../tags/tag167.xml"/><Relationship Id="rId20" Type="http://schemas.openxmlformats.org/officeDocument/2006/relationships/tags" Target="../tags/tag166.xml"/><Relationship Id="rId2" Type="http://schemas.openxmlformats.org/officeDocument/2006/relationships/tags" Target="../tags/tag148.xml"/><Relationship Id="rId19" Type="http://schemas.openxmlformats.org/officeDocument/2006/relationships/tags" Target="../tags/tag165.xml"/><Relationship Id="rId18" Type="http://schemas.openxmlformats.org/officeDocument/2006/relationships/tags" Target="../tags/tag164.xml"/><Relationship Id="rId17" Type="http://schemas.openxmlformats.org/officeDocument/2006/relationships/tags" Target="../tags/tag163.xml"/><Relationship Id="rId16" Type="http://schemas.openxmlformats.org/officeDocument/2006/relationships/tags" Target="../tags/tag162.xml"/><Relationship Id="rId15" Type="http://schemas.openxmlformats.org/officeDocument/2006/relationships/tags" Target="../tags/tag161.xml"/><Relationship Id="rId14" Type="http://schemas.openxmlformats.org/officeDocument/2006/relationships/tags" Target="../tags/tag160.xml"/><Relationship Id="rId13" Type="http://schemas.openxmlformats.org/officeDocument/2006/relationships/tags" Target="../tags/tag159.xml"/><Relationship Id="rId12" Type="http://schemas.openxmlformats.org/officeDocument/2006/relationships/tags" Target="../tags/tag158.xml"/><Relationship Id="rId11" Type="http://schemas.openxmlformats.org/officeDocument/2006/relationships/tags" Target="../tags/tag157.xml"/><Relationship Id="rId10" Type="http://schemas.openxmlformats.org/officeDocument/2006/relationships/tags" Target="../tags/tag156.xml"/><Relationship Id="rId1" Type="http://schemas.openxmlformats.org/officeDocument/2006/relationships/tags" Target="../tags/tag147.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4.xml"/><Relationship Id="rId6" Type="http://schemas.openxmlformats.org/officeDocument/2006/relationships/tags" Target="../tags/tag212.xml"/><Relationship Id="rId5" Type="http://schemas.openxmlformats.org/officeDocument/2006/relationships/tags" Target="../tags/tag211.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s>
</file>

<file path=ppt/slides/_rels/slide11.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svg"/><Relationship Id="rId7" Type="http://schemas.openxmlformats.org/officeDocument/2006/relationships/image" Target="../media/image30.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5" Type="http://schemas.openxmlformats.org/officeDocument/2006/relationships/notesSlide" Target="../notesSlides/notesSlide11.xml"/><Relationship Id="rId24" Type="http://schemas.openxmlformats.org/officeDocument/2006/relationships/slideLayout" Target="../slideLayouts/slideLayout14.xml"/><Relationship Id="rId23" Type="http://schemas.openxmlformats.org/officeDocument/2006/relationships/tags" Target="../tags/tag218.xml"/><Relationship Id="rId22" Type="http://schemas.openxmlformats.org/officeDocument/2006/relationships/tags" Target="../tags/tag217.xml"/><Relationship Id="rId21" Type="http://schemas.openxmlformats.org/officeDocument/2006/relationships/tags" Target="../tags/tag216.xml"/><Relationship Id="rId20" Type="http://schemas.openxmlformats.org/officeDocument/2006/relationships/tags" Target="../tags/tag215.xml"/><Relationship Id="rId2" Type="http://schemas.openxmlformats.org/officeDocument/2006/relationships/tags" Target="../tags/tag213.xml"/><Relationship Id="rId19" Type="http://schemas.openxmlformats.org/officeDocument/2006/relationships/tags" Target="../tags/tag214.xml"/><Relationship Id="rId18" Type="http://schemas.openxmlformats.org/officeDocument/2006/relationships/image" Target="../media/image41.svg"/><Relationship Id="rId17" Type="http://schemas.openxmlformats.org/officeDocument/2006/relationships/image" Target="../media/image40.png"/><Relationship Id="rId16" Type="http://schemas.openxmlformats.org/officeDocument/2006/relationships/image" Target="../media/image39.svg"/><Relationship Id="rId15" Type="http://schemas.openxmlformats.org/officeDocument/2006/relationships/image" Target="../media/image38.png"/><Relationship Id="rId14" Type="http://schemas.openxmlformats.org/officeDocument/2006/relationships/image" Target="../media/image37.svg"/><Relationship Id="rId13" Type="http://schemas.openxmlformats.org/officeDocument/2006/relationships/image" Target="../media/image36.png"/><Relationship Id="rId12" Type="http://schemas.openxmlformats.org/officeDocument/2006/relationships/image" Target="../media/image35.svg"/><Relationship Id="rId11" Type="http://schemas.openxmlformats.org/officeDocument/2006/relationships/image" Target="../media/image34.png"/><Relationship Id="rId10" Type="http://schemas.openxmlformats.org/officeDocument/2006/relationships/image" Target="../media/image33.svg"/><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9" Type="http://schemas.openxmlformats.org/officeDocument/2006/relationships/tags" Target="../tags/tag227.xml"/><Relationship Id="rId8" Type="http://schemas.openxmlformats.org/officeDocument/2006/relationships/tags" Target="../tags/tag226.xml"/><Relationship Id="rId7" Type="http://schemas.openxmlformats.org/officeDocument/2006/relationships/tags" Target="../tags/tag225.xml"/><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tags" Target="../tags/tag220.xml"/><Relationship Id="rId12" Type="http://schemas.openxmlformats.org/officeDocument/2006/relationships/notesSlide" Target="../notesSlides/notesSlide12.xml"/><Relationship Id="rId11" Type="http://schemas.openxmlformats.org/officeDocument/2006/relationships/slideLayout" Target="../slideLayouts/slideLayout14.xml"/><Relationship Id="rId10" Type="http://schemas.openxmlformats.org/officeDocument/2006/relationships/tags" Target="../tags/tag228.xml"/><Relationship Id="rId1" Type="http://schemas.openxmlformats.org/officeDocument/2006/relationships/tags" Target="../tags/tag219.xml"/></Relationships>
</file>

<file path=ppt/slides/_rels/slide13.xml.rels><?xml version="1.0" encoding="UTF-8" standalone="yes"?>
<Relationships xmlns="http://schemas.openxmlformats.org/package/2006/relationships"><Relationship Id="rId9" Type="http://schemas.openxmlformats.org/officeDocument/2006/relationships/image" Target="../media/image43.svg"/><Relationship Id="rId8" Type="http://schemas.openxmlformats.org/officeDocument/2006/relationships/image" Target="../media/image42.png"/><Relationship Id="rId7" Type="http://schemas.openxmlformats.org/officeDocument/2006/relationships/tags" Target="../tags/tag235.xml"/><Relationship Id="rId6" Type="http://schemas.openxmlformats.org/officeDocument/2006/relationships/tags" Target="../tags/tag234.xml"/><Relationship Id="rId5" Type="http://schemas.openxmlformats.org/officeDocument/2006/relationships/tags" Target="../tags/tag233.xml"/><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1" Type="http://schemas.openxmlformats.org/officeDocument/2006/relationships/notesSlide" Target="../notesSlides/notesSlide13.xml"/><Relationship Id="rId10" Type="http://schemas.openxmlformats.org/officeDocument/2006/relationships/slideLayout" Target="../slideLayouts/slideLayout14.xml"/><Relationship Id="rId1" Type="http://schemas.openxmlformats.org/officeDocument/2006/relationships/tags" Target="../tags/tag229.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4.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4.xml"/><Relationship Id="rId7" Type="http://schemas.openxmlformats.org/officeDocument/2006/relationships/image" Target="../media/image44.png"/><Relationship Id="rId6" Type="http://schemas.openxmlformats.org/officeDocument/2006/relationships/tags" Target="../tags/tag247.xml"/><Relationship Id="rId5" Type="http://schemas.openxmlformats.org/officeDocument/2006/relationships/tags" Target="../tags/tag246.xml"/><Relationship Id="rId4" Type="http://schemas.openxmlformats.org/officeDocument/2006/relationships/tags" Target="../tags/tag245.xml"/><Relationship Id="rId3" Type="http://schemas.openxmlformats.org/officeDocument/2006/relationships/tags" Target="../tags/tag244.xml"/><Relationship Id="rId2" Type="http://schemas.openxmlformats.org/officeDocument/2006/relationships/tags" Target="../tags/tag243.xml"/><Relationship Id="rId1" Type="http://schemas.openxmlformats.org/officeDocument/2006/relationships/tags" Target="../tags/tag242.xml"/></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4.xml"/><Relationship Id="rId7" Type="http://schemas.openxmlformats.org/officeDocument/2006/relationships/tags" Target="../tags/tag254.xml"/><Relationship Id="rId6" Type="http://schemas.openxmlformats.org/officeDocument/2006/relationships/tags" Target="../tags/tag253.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17.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46.png"/><Relationship Id="rId7" Type="http://schemas.openxmlformats.org/officeDocument/2006/relationships/image" Target="../media/image45.png"/><Relationship Id="rId6" Type="http://schemas.openxmlformats.org/officeDocument/2006/relationships/tags" Target="../tags/tag260.xml"/><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tags" Target="../tags/tag256.xml"/><Relationship Id="rId11" Type="http://schemas.openxmlformats.org/officeDocument/2006/relationships/notesSlide" Target="../notesSlides/notesSlide17.xml"/><Relationship Id="rId10" Type="http://schemas.openxmlformats.org/officeDocument/2006/relationships/slideLayout" Target="../slideLayouts/slideLayout14.xml"/><Relationship Id="rId1" Type="http://schemas.openxmlformats.org/officeDocument/2006/relationships/tags" Target="../tags/tag255.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4.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1" hidden="1"/>
          <p:cNvSpPr txBox="1"/>
          <p:nvPr/>
        </p:nvSpPr>
        <p:spPr>
          <a:xfrm>
            <a:off x="600" y="0"/>
            <a:ext cx="0" cy="0"/>
          </a:xfrm>
          <a:prstGeom prst="rect">
            <a:avLst/>
          </a:prstGeom>
          <a:solidFill>
            <a:srgbClr val="FFFFFF"/>
          </a:solidFill>
        </p:spPr>
        <p:txBody>
          <a:bodyPr rtlCol="0" anchor="t"/>
          <a:lstStyle/>
          <a:p>
            <a:pPr algn="l"/>
            <a:endParaRPr lang="en-US" sz="550"/>
          </a:p>
          <a:p>
            <a:pPr>
              <a:buClr>
                <a:srgbClr val="FFFFFF"/>
              </a:buClr>
            </a:pPr>
            <a:r>
              <a:rPr lang="en-US" sz="900">
                <a:solidFill>
                  <a:srgbClr val="FFFFFF"/>
                </a:solidFill>
              </a:rPr>
              <a:t>E6636BC20180234D78A0072836F0B3B062B9B207100DDB20A0D98F39B16C2BA34B43BC38C168AB0122592F0838465CEB921921FAF1D0ABC11BBFC26B7F4E1ADA24FB2EADD526949754C728F767A2439F9FD0E9157C626057A81A5197EE01DCA8DD06229F4E3</a:t>
            </a:r>
            <a:endParaRPr lang="en-US" sz="900">
              <a:solidFill>
                <a:srgbClr val="FFFFFF"/>
              </a:solidFill>
            </a:endParaRPr>
          </a:p>
        </p:txBody>
      </p:sp>
      <p:sp>
        <p:nvSpPr>
          <p:cNvPr id="10" name="文本框 2" hidden="1"/>
          <p:cNvSpPr txBox="1"/>
          <p:nvPr/>
        </p:nvSpPr>
        <p:spPr>
          <a:xfrm>
            <a:off x="600" y="0"/>
            <a:ext cx="0" cy="0"/>
          </a:xfrm>
          <a:prstGeom prst="rect">
            <a:avLst/>
          </a:prstGeom>
          <a:solidFill>
            <a:srgbClr val="FFFFFF"/>
          </a:solidFill>
        </p:spPr>
        <p:txBody>
          <a:bodyPr rtlCol="0" anchor="t"/>
          <a:lstStyle/>
          <a:p>
            <a:pPr algn="l"/>
            <a:endParaRPr lang="en-US" sz="550"/>
          </a:p>
          <a:p>
            <a:pPr>
              <a:buClr>
                <a:srgbClr val="FFFFFF"/>
              </a:buClr>
            </a:pPr>
            <a:r>
              <a:rPr lang="en-US" sz="900">
                <a:solidFill>
                  <a:srgbClr val="FFFFFF"/>
                </a:solidFill>
              </a:rPr>
              <a:t>E6636BC20180234D78A0072836F0B99012B9B2041CBB0BD0AED9843CB1E92B759B4BB3387161DB0A22092008384687EBAD09218A11D00BB11BBFC253752E1BD324F50EAD8127E48704882AE76E224046D963E4B175990FA048DEA195FADFAC88D9862B9F9E3</a:t>
            </a:r>
            <a:endParaRPr lang="en-US" sz="900">
              <a:solidFill>
                <a:srgbClr val="FFFFFF"/>
              </a:solidFill>
            </a:endParaRPr>
          </a:p>
        </p:txBody>
      </p:sp>
      <p:sp>
        <p:nvSpPr>
          <p:cNvPr id="11" name="文本框 3" hidden="1"/>
          <p:cNvSpPr txBox="1"/>
          <p:nvPr/>
        </p:nvSpPr>
        <p:spPr>
          <a:xfrm>
            <a:off x="600" y="0"/>
            <a:ext cx="0" cy="0"/>
          </a:xfrm>
          <a:prstGeom prst="rect">
            <a:avLst/>
          </a:prstGeom>
          <a:solidFill>
            <a:srgbClr val="FFFFFF"/>
          </a:solidFill>
        </p:spPr>
        <p:txBody>
          <a:bodyPr rtlCol="0" anchor="t"/>
          <a:lstStyle/>
          <a:p>
            <a:pPr algn="l"/>
            <a:endParaRPr lang="en-US" sz="550"/>
          </a:p>
          <a:p>
            <a:pPr>
              <a:buClr>
                <a:srgbClr val="FFFFFF"/>
              </a:buClr>
            </a:pPr>
            <a:r>
              <a:rPr lang="en-US" sz="900">
                <a:solidFill>
                  <a:srgbClr val="FFFFFF"/>
                </a:solidFill>
              </a:rPr>
              <a:t>E6636BC20180234D78A0072836F0BE8092B9B20C1995FBB0AAD98B33B1032B25BB4EBB387163FB0F22C92E08384670EB2809215AC1D0FBA11BBFC2437A1E1FD724F5F8AD632564B7B4FF2ED7684240538A9CE0BE76481F81688BF19F28E95C98DFE620900E3</a:t>
            </a:r>
            <a:endParaRPr lang="en-US" sz="900">
              <a:solidFill>
                <a:srgbClr val="FFFFFF"/>
              </a:solidFill>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42570" y="373380"/>
            <a:ext cx="3629660" cy="455295"/>
          </a:xfrm>
          <a:prstGeom prst="rect">
            <a:avLst/>
          </a:prstGeom>
        </p:spPr>
      </p:pic>
      <p:sp>
        <p:nvSpPr>
          <p:cNvPr id="3" name="文本框 2"/>
          <p:cNvSpPr txBox="1"/>
          <p:nvPr/>
        </p:nvSpPr>
        <p:spPr>
          <a:xfrm>
            <a:off x="3381375" y="5619750"/>
            <a:ext cx="5429250" cy="337185"/>
          </a:xfrm>
          <a:prstGeom prst="rect">
            <a:avLst/>
          </a:prstGeom>
        </p:spPr>
        <p:txBody>
          <a:bodyPr wrap="square">
            <a:spAutoFit/>
          </a:bodyPr>
          <a:p>
            <a:pPr algn="ctr"/>
            <a:r>
              <a:rPr lang="zh-CN" altLang="en-US" sz="1600">
                <a:solidFill>
                  <a:srgbClr val="00A6C7"/>
                </a:solidFill>
              </a:rPr>
              <a:t>以科技赋能政务，打造智慧城市服务标杆企业</a:t>
            </a:r>
            <a:endParaRPr lang="zh-CN" altLang="en-US" sz="1600">
              <a:solidFill>
                <a:srgbClr val="00A6C7"/>
              </a:solidFill>
            </a:endParaRPr>
          </a:p>
        </p:txBody>
      </p:sp>
      <p:sp>
        <p:nvSpPr>
          <p:cNvPr id="4" name="文本框 3"/>
          <p:cNvSpPr txBox="1"/>
          <p:nvPr/>
        </p:nvSpPr>
        <p:spPr>
          <a:xfrm>
            <a:off x="334645" y="2151380"/>
            <a:ext cx="11522710" cy="706755"/>
          </a:xfrm>
          <a:prstGeom prst="rect">
            <a:avLst/>
          </a:prstGeom>
        </p:spPr>
        <p:txBody>
          <a:bodyPr wrap="square">
            <a:spAutoFit/>
          </a:bodyPr>
          <a:p>
            <a:pPr algn="ctr">
              <a:buSzTx/>
            </a:pPr>
            <a:r>
              <a:rPr lang="en-US" sz="4000" b="1">
                <a:solidFill>
                  <a:srgbClr val="00A6C7"/>
                </a:solidFill>
                <a:latin typeface="微软雅黑" panose="020B0503020204020204" charset="-122"/>
                <a:ea typeface="微软雅黑" panose="020B0503020204020204" charset="-122"/>
                <a:cs typeface="微软雅黑" panose="020B0503020204020204" charset="-122"/>
                <a:sym typeface="+mn-ea"/>
              </a:rPr>
              <a:t>AI+</a:t>
            </a:r>
            <a:r>
              <a:rPr lang="zh-CN" altLang="en-US" sz="4000" b="1">
                <a:solidFill>
                  <a:srgbClr val="00A6C7"/>
                </a:solidFill>
                <a:latin typeface="微软雅黑" panose="020B0503020204020204" charset="-122"/>
                <a:ea typeface="微软雅黑" panose="020B0503020204020204" charset="-122"/>
                <a:cs typeface="微软雅黑" panose="020B0503020204020204" charset="-122"/>
                <a:sym typeface="+mn-ea"/>
              </a:rPr>
              <a:t>综合场景谋划与建设</a:t>
            </a:r>
            <a:endParaRPr lang="zh-CN" altLang="en-US" sz="4000" b="1">
              <a:solidFill>
                <a:srgbClr val="00A6C7"/>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1692275" y="3429000"/>
            <a:ext cx="8807450" cy="706755"/>
          </a:xfrm>
          <a:prstGeom prst="rect">
            <a:avLst/>
          </a:prstGeom>
          <a:noFill/>
        </p:spPr>
        <p:txBody>
          <a:bodyPr wrap="square" rtlCol="0" anchor="t">
            <a:spAutoFit/>
          </a:bodyPr>
          <a:p>
            <a:pPr algn="ctr">
              <a:buSzTx/>
            </a:pPr>
            <a:r>
              <a:rPr lang="zh-CN" altLang="en-US" sz="2000">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rPr>
              <a:t>推动人工智能与数字重庆双向赋能</a:t>
            </a:r>
            <a:endParaRPr lang="zh-CN" altLang="en-US" sz="2000">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endParaRPr>
          </a:p>
          <a:p>
            <a:pPr algn="ctr">
              <a:buSzTx/>
            </a:pPr>
            <a:r>
              <a:rPr lang="zh-CN" altLang="en-US" sz="2000">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rPr>
              <a:t>加快形成现代化人民城市发展服务治理基本能力</a:t>
            </a:r>
            <a:endParaRPr lang="zh-CN" altLang="en-US" sz="2000">
              <a:solidFill>
                <a:schemeClr val="bg1">
                  <a:lumMod val="50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8" name="直接连接符 7"/>
          <p:cNvCxnSpPr/>
          <p:nvPr/>
        </p:nvCxnSpPr>
        <p:spPr>
          <a:xfrm>
            <a:off x="350520" y="3110865"/>
            <a:ext cx="11490960" cy="0"/>
          </a:xfrm>
          <a:prstGeom prst="line">
            <a:avLst/>
          </a:prstGeom>
          <a:ln>
            <a:solidFill>
              <a:schemeClr val="accent5"/>
            </a:solidFill>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1" hidden="1"/>
          <p:cNvSpPr txBox="1"/>
          <p:nvPr/>
        </p:nvSpPr>
        <p:spPr>
          <a:xfrm>
            <a:off x="6239" y="3172"/>
            <a:ext cx="0" cy="0"/>
          </a:xfrm>
          <a:prstGeom prst="rect">
            <a:avLst/>
          </a:prstGeom>
          <a:solidFill>
            <a:srgbClr val="FFFFFF"/>
          </a:solidFill>
        </p:spPr>
        <p:txBody>
          <a:bodyPr rtlCol="0" anchor="t"/>
          <a:lstStyle/>
          <a:p>
            <a:pPr algn="l"/>
            <a:endParaRPr lang="en-US" sz="550">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buClr>
                <a:srgbClr val="FFFFFF"/>
              </a:buClr>
            </a:pPr>
            <a:r>
              <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E6636BC20180234D78A0072836F0B3B062B9B207100DDB20A0D98F39B16C2BA34B43BC38C168AB0122592F0838465CEB921921FAF1D0ABC11BBFC26B7F4E1ADA24FB2EADD526949754C728F767A2439F9FD0E9157C626057A81A5197EE01DCA8DD06229F4E3</a:t>
            </a:r>
            <a:endPar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文本框 2" hidden="1"/>
          <p:cNvSpPr txBox="1"/>
          <p:nvPr/>
        </p:nvSpPr>
        <p:spPr>
          <a:xfrm>
            <a:off x="6239" y="3172"/>
            <a:ext cx="0" cy="0"/>
          </a:xfrm>
          <a:prstGeom prst="rect">
            <a:avLst/>
          </a:prstGeom>
          <a:solidFill>
            <a:srgbClr val="FFFFFF"/>
          </a:solidFill>
        </p:spPr>
        <p:txBody>
          <a:bodyPr rtlCol="0" anchor="t"/>
          <a:lstStyle/>
          <a:p>
            <a:pPr algn="l"/>
            <a:endParaRPr lang="en-US" sz="550">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buClr>
                <a:srgbClr val="FFFFFF"/>
              </a:buClr>
            </a:pPr>
            <a:r>
              <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E6636BC20180234D78A0072836F0B99012B9B2041CBB0BD0AED9843CB1E92B759B4BB3387161DB0A22092008384687EBAD09218A11D00BB11BBFC253752E1BD324F50EAD8127E48704882AE76E224046D963E4B175990FA048DEA195FADFAC88D9862B9F9E3</a:t>
            </a:r>
            <a:endPar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文本框 3" hidden="1"/>
          <p:cNvSpPr txBox="1"/>
          <p:nvPr/>
        </p:nvSpPr>
        <p:spPr>
          <a:xfrm>
            <a:off x="6239" y="3172"/>
            <a:ext cx="0" cy="0"/>
          </a:xfrm>
          <a:prstGeom prst="rect">
            <a:avLst/>
          </a:prstGeom>
          <a:solidFill>
            <a:srgbClr val="FFFFFF"/>
          </a:solidFill>
        </p:spPr>
        <p:txBody>
          <a:bodyPr rtlCol="0" anchor="t"/>
          <a:lstStyle/>
          <a:p>
            <a:pPr algn="l"/>
            <a:endParaRPr lang="en-US" sz="550">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buClr>
                <a:srgbClr val="FFFFFF"/>
              </a:buClr>
            </a:pPr>
            <a:r>
              <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E6636BC20180234D78A0072836F0BE8092B9B20C1995FBB0AAD98B33B1032B25BB4EBB387163FB0F22C92E08384670EB2809215AC1D0FBA11BBFC2437A1E1FD724F5F8AD632564B7B4FF2ED7684240538A9CE0BE76481F81688BF19F28E95C98DFE620900E3</a:t>
            </a:r>
            <a:endPar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10157" y="231561"/>
            <a:ext cx="2083411" cy="261378"/>
          </a:xfrm>
          <a:prstGeom prst="rect">
            <a:avLst/>
          </a:prstGeom>
        </p:spPr>
      </p:pic>
      <p:sp>
        <p:nvSpPr>
          <p:cNvPr id="2" name="文本框 1"/>
          <p:cNvSpPr txBox="1"/>
          <p:nvPr/>
        </p:nvSpPr>
        <p:spPr>
          <a:xfrm>
            <a:off x="569595" y="2839085"/>
            <a:ext cx="11052810" cy="706755"/>
          </a:xfrm>
          <a:prstGeom prst="rect">
            <a:avLst/>
          </a:prstGeom>
        </p:spPr>
        <p:txBody>
          <a:bodyPr wrap="square">
            <a:spAutoFit/>
          </a:bodyPr>
          <a:p>
            <a:pPr algn="ctr">
              <a:buSzTx/>
            </a:pPr>
            <a:r>
              <a:rPr lang="zh-CN" altLang="en-US" sz="3995" b="1">
                <a:solidFill>
                  <a:srgbClr val="00A6C7"/>
                </a:solidFill>
                <a:latin typeface="微软雅黑" panose="020B0503020204020204" charset="-122"/>
                <a:ea typeface="微软雅黑" panose="020B0503020204020204" charset="-122"/>
                <a:cs typeface="微软雅黑" panose="020B0503020204020204" charset="-122"/>
              </a:rPr>
              <a:t>一、数字重庆</a:t>
            </a:r>
            <a:r>
              <a:rPr lang="en-US" altLang="zh-CN" sz="3995" b="1">
                <a:solidFill>
                  <a:srgbClr val="00A6C7"/>
                </a:solidFill>
                <a:latin typeface="微软雅黑" panose="020B0503020204020204" charset="-122"/>
                <a:ea typeface="微软雅黑" panose="020B0503020204020204" charset="-122"/>
                <a:cs typeface="微软雅黑" panose="020B0503020204020204" charset="-122"/>
              </a:rPr>
              <a:t>AI</a:t>
            </a:r>
            <a:r>
              <a:rPr lang="zh-CN" altLang="en-US" sz="3995" b="1">
                <a:solidFill>
                  <a:srgbClr val="00A6C7"/>
                </a:solidFill>
                <a:latin typeface="微软雅黑" panose="020B0503020204020204" charset="-122"/>
                <a:ea typeface="微软雅黑" panose="020B0503020204020204" charset="-122"/>
                <a:cs typeface="微软雅黑" panose="020B0503020204020204" charset="-122"/>
              </a:rPr>
              <a:t>底座建设</a:t>
            </a:r>
            <a:endParaRPr lang="zh-CN" altLang="en-US" sz="3995" b="1">
              <a:solidFill>
                <a:srgbClr val="00A6C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cNvSpPr/>
          <p:nvPr/>
        </p:nvSpPr>
        <p:spPr>
          <a:xfrm>
            <a:off x="244475" y="3656330"/>
            <a:ext cx="11680825" cy="3155315"/>
          </a:xfrm>
          <a:prstGeom prst="rect">
            <a:avLst/>
          </a:prstGeom>
          <a:solidFill>
            <a:srgbClr val="00A4C5">
              <a:alpha val="5000"/>
            </a:srgbClr>
          </a:solidFill>
          <a:ln w="12700" cap="flat" cmpd="sng" algn="ctr">
            <a:noFill/>
            <a:prstDash val="solid"/>
            <a:miter lim="800000"/>
          </a:ln>
          <a:effectLst/>
        </p:spPr>
        <p:style>
          <a:lnRef idx="2">
            <a:srgbClr val="00A4C5">
              <a:shade val="50000"/>
            </a:srgbClr>
          </a:lnRef>
          <a:fillRef idx="1">
            <a:srgbClr val="00A4C5"/>
          </a:fillRef>
          <a:effectRef idx="0">
            <a:srgbClr val="00A4C5"/>
          </a:effectRef>
          <a:fontRef idx="minor">
            <a:srgbClr val="FFFFFF"/>
          </a:fontRef>
        </p:style>
        <p:txBody>
          <a:bodyPr wrap="square" lIns="91440" tIns="0" rIns="91440" bIns="0"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nSpc>
                <a:spcPct val="130000"/>
              </a:lnSpc>
            </a:pPr>
            <a:endParaRPr lang="zh-CN" altLang="en-US" b="1" dirty="0">
              <a:solidFill>
                <a:srgbClr val="000000"/>
              </a:solidFill>
              <a:latin typeface="+mn-ea"/>
            </a:endParaRPr>
          </a:p>
        </p:txBody>
      </p:sp>
      <p:sp>
        <p:nvSpPr>
          <p:cNvPr id="2" name="矩形 1"/>
          <p:cNvSpPr/>
          <p:nvPr>
            <p:custDataLst>
              <p:tags r:id="rId1"/>
            </p:custDataLst>
          </p:nvPr>
        </p:nvSpPr>
        <p:spPr>
          <a:xfrm>
            <a:off x="336803" y="144012"/>
            <a:ext cx="8493516" cy="521970"/>
          </a:xfrm>
          <a:prstGeom prst="rect">
            <a:avLst/>
          </a:prstGeom>
        </p:spPr>
        <p:txBody>
          <a:bodyPr wrap="square">
            <a:spAutoFit/>
          </a:bodyPr>
          <a:p>
            <a:r>
              <a:rPr lang="zh-CN" altLang="en-US" sz="2795" b="1" dirty="0">
                <a:solidFill>
                  <a:srgbClr val="00A6C7"/>
                </a:solidFill>
                <a:latin typeface="+mn-ea"/>
                <a:ea typeface="微软雅黑" panose="020B0503020204020204" charset="-122"/>
                <a:cs typeface="微软雅黑" panose="020B0503020204020204" charset="-122"/>
                <a:sym typeface="+mn-ea"/>
              </a:rPr>
              <a:t>习近平总书记就人工智能发展作出系列重要指示</a:t>
            </a:r>
            <a:endParaRPr lang="zh-CN" altLang="en-US" sz="2795" b="1" dirty="0">
              <a:solidFill>
                <a:srgbClr val="00A6C7"/>
              </a:solidFill>
              <a:latin typeface="+mn-ea"/>
              <a:ea typeface="微软雅黑" panose="020B0503020204020204" charset="-122"/>
              <a:cs typeface="微软雅黑" panose="020B0503020204020204" charset="-122"/>
              <a:sym typeface="+mn-ea"/>
            </a:endParaRPr>
          </a:p>
        </p:txBody>
      </p:sp>
      <p:sp>
        <p:nvSpPr>
          <p:cNvPr id="19" name="文本框 18"/>
          <p:cNvSpPr txBox="1"/>
          <p:nvPr/>
        </p:nvSpPr>
        <p:spPr>
          <a:xfrm>
            <a:off x="300355" y="3279140"/>
            <a:ext cx="8724265" cy="376555"/>
          </a:xfrm>
          <a:prstGeom prst="rect">
            <a:avLst/>
          </a:prstGeom>
          <a:ln>
            <a:noFill/>
          </a:ln>
        </p:spPr>
        <p:txBody>
          <a:bodyPr wrap="square" lIns="36195" tIns="0" rIns="36195" bIns="0" anchor="ctr" anchorCtr="0">
            <a:noAutofit/>
          </a:bodyPr>
          <a:p>
            <a:pPr fontAlgn="auto">
              <a:lnSpc>
                <a:spcPct val="100000"/>
              </a:lnSpc>
              <a:buClrTx/>
              <a:buSzTx/>
              <a:buFontTx/>
            </a:pPr>
            <a:r>
              <a:rPr lang="zh-CN" altLang="en-US" sz="1600" b="1" i="0" noProof="0" dirty="0">
                <a:solidFill>
                  <a:schemeClr val="tx1"/>
                </a:solidFill>
                <a:latin typeface="微软雅黑" panose="020B0503020204020204" charset="-122"/>
                <a:ea typeface="微软雅黑" panose="020B0503020204020204" charset="-122"/>
                <a:cs typeface="+mn-lt"/>
              </a:rPr>
              <a:t>推动</a:t>
            </a:r>
            <a:r>
              <a:rPr lang="zh-CN" altLang="en-US" sz="1600" b="1" i="0">
                <a:solidFill>
                  <a:srgbClr val="00A6C7"/>
                </a:solidFill>
                <a:latin typeface="微软雅黑" panose="020B0503020204020204" charset="-122"/>
                <a:ea typeface="微软雅黑" panose="020B0503020204020204" charset="-122"/>
              </a:rPr>
              <a:t>人工智能与数字重庆</a:t>
            </a:r>
            <a:r>
              <a:rPr lang="zh-CN" altLang="en-US" sz="1600" b="1" i="0" noProof="0" dirty="0">
                <a:solidFill>
                  <a:schemeClr val="tx1"/>
                </a:solidFill>
                <a:latin typeface="微软雅黑" panose="020B0503020204020204" charset="-122"/>
                <a:ea typeface="微软雅黑" panose="020B0503020204020204" charset="-122"/>
                <a:cs typeface="+mn-lt"/>
              </a:rPr>
              <a:t>双向赋能</a:t>
            </a:r>
            <a:r>
              <a:rPr lang="zh-CN" altLang="en-US" sz="1600" b="1" i="0" noProof="0" dirty="0">
                <a:solidFill>
                  <a:schemeClr val="tx1"/>
                </a:solidFill>
                <a:latin typeface="微软雅黑" panose="020B0503020204020204" charset="-122"/>
                <a:ea typeface="微软雅黑" panose="020B0503020204020204" charset="-122"/>
                <a:cs typeface="+mn-lt"/>
              </a:rPr>
              <a:t>加快形成现代化人民城市发展服务治理基本能力</a:t>
            </a:r>
            <a:endParaRPr lang="zh-CN" altLang="en-US" sz="1600" b="1" i="0" noProof="0" dirty="0">
              <a:solidFill>
                <a:schemeClr val="tx1"/>
              </a:solidFill>
              <a:latin typeface="微软雅黑" panose="020B0503020204020204" charset="-122"/>
              <a:ea typeface="微软雅黑" panose="020B0503020204020204" charset="-122"/>
              <a:cs typeface="+mn-lt"/>
            </a:endParaRPr>
          </a:p>
        </p:txBody>
      </p:sp>
      <p:grpSp>
        <p:nvGrpSpPr>
          <p:cNvPr id="4" name="组合 3"/>
          <p:cNvGrpSpPr/>
          <p:nvPr/>
        </p:nvGrpSpPr>
        <p:grpSpPr>
          <a:xfrm>
            <a:off x="376238" y="4021138"/>
            <a:ext cx="11436985" cy="2672715"/>
            <a:chOff x="610" y="5757"/>
            <a:chExt cx="18011" cy="4209"/>
          </a:xfrm>
        </p:grpSpPr>
        <p:sp>
          <p:nvSpPr>
            <p:cNvPr id="5" name="íSľîḋe"/>
            <p:cNvSpPr/>
            <p:nvPr>
              <p:custDataLst>
                <p:tags r:id="rId2"/>
              </p:custDataLst>
            </p:nvPr>
          </p:nvSpPr>
          <p:spPr>
            <a:xfrm>
              <a:off x="640" y="9546"/>
              <a:ext cx="17981" cy="420"/>
            </a:xfrm>
            <a:prstGeom prst="rect">
              <a:avLst/>
            </a:prstGeom>
            <a:solidFill>
              <a:srgbClr val="00A6C7"/>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lvl="0" algn="ctr" defTabSz="913765">
                <a:buClrTx/>
                <a:buSzTx/>
                <a:buFontTx/>
              </a:pPr>
              <a:r>
                <a:rPr lang="en-US" altLang="zh-CN" sz="1600" b="1" dirty="0">
                  <a:solidFill>
                    <a:schemeClr val="bg1"/>
                  </a:solidFill>
                  <a:latin typeface="微软雅黑" panose="020B0503020204020204" charset="-122"/>
                  <a:ea typeface="微软雅黑" panose="020B0503020204020204" charset="-122"/>
                  <a:cs typeface="Impact" panose="020B0806030902050204" charset="0"/>
                  <a:sym typeface="+mn-ea"/>
                </a:rPr>
                <a:t>2025年7月</a:t>
              </a:r>
              <a:endParaRPr lang="en-US" altLang="zh-CN" sz="1600" b="1" dirty="0">
                <a:solidFill>
                  <a:schemeClr val="bg1"/>
                </a:solidFill>
                <a:latin typeface="微软雅黑" panose="020B0503020204020204" charset="-122"/>
                <a:ea typeface="微软雅黑" panose="020B0503020204020204" charset="-122"/>
                <a:cs typeface="Impact" panose="020B0806030902050204" charset="0"/>
                <a:sym typeface="+mn-ea"/>
              </a:endParaRPr>
            </a:p>
          </p:txBody>
        </p:sp>
        <p:sp>
          <p:nvSpPr>
            <p:cNvPr id="6" name="文本框 5"/>
            <p:cNvSpPr txBox="1"/>
            <p:nvPr/>
          </p:nvSpPr>
          <p:spPr>
            <a:xfrm>
              <a:off x="610" y="7930"/>
              <a:ext cx="17980" cy="1525"/>
            </a:xfrm>
            <a:prstGeom prst="rect">
              <a:avLst/>
            </a:prstGeom>
            <a:solidFill>
              <a:schemeClr val="bg1"/>
            </a:solidFill>
            <a:ln>
              <a:solidFill>
                <a:schemeClr val="accent2"/>
              </a:solidFill>
            </a:ln>
          </p:spPr>
          <p:txBody>
            <a:bodyPr wrap="square" lIns="36195" tIns="0" rIns="36195" bIns="0" anchor="ctr" anchorCtr="0">
              <a:noAutofit/>
            </a:bodyPr>
            <a:p>
              <a:pPr indent="254000" fontAlgn="auto">
                <a:lnSpc>
                  <a:spcPct val="130000"/>
                </a:lnSpc>
                <a:buClrTx/>
                <a:buSzTx/>
                <a:buFontTx/>
                <a:extLst>
                  <a:ext uri="{35155182-B16C-46BC-9424-99874614C6A1}">
                    <wpsdc:indentchars xmlns:wpsdc="http://www.wps.cn/officeDocument/2017/drawingmlCustomData" val="200" checksum="3013784323"/>
                  </a:ext>
                </a:extLst>
              </a:pPr>
              <a:r>
                <a:rPr lang="zh-CN" altLang="en-US" sz="1000" b="1" i="0" noProof="0" dirty="0">
                  <a:solidFill>
                    <a:srgbClr val="00A6C7"/>
                  </a:solidFill>
                  <a:latin typeface="微软雅黑" panose="020B0503020204020204" charset="-122"/>
                  <a:ea typeface="微软雅黑" panose="020B0503020204020204" charset="-122"/>
                  <a:cs typeface="+mn-lt"/>
                </a:rPr>
                <a:t>要强化</a:t>
              </a:r>
              <a:r>
                <a:rPr sz="1000" b="1" i="0"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AI赋能“1361”各系统基本能力</a:t>
              </a:r>
              <a:r>
                <a:rPr lang="zh-CN" altLang="en-US" sz="1000" b="1" i="0" noProof="0" dirty="0">
                  <a:solidFill>
                    <a:srgbClr val="00A6C7"/>
                  </a:solidFill>
                  <a:latin typeface="微软雅黑" panose="020B0503020204020204" charset="-122"/>
                  <a:ea typeface="微软雅黑" panose="020B0503020204020204" charset="-122"/>
                  <a:cs typeface="+mn-lt"/>
                </a:rPr>
                <a:t>全面跃升，推进</a:t>
              </a:r>
              <a:r>
                <a:rPr sz="1000" b="1" i="0"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高质量数据集</a:t>
              </a:r>
              <a:r>
                <a:rPr lang="zh-CN" altLang="en-US" sz="1000" b="1" i="0" noProof="0" dirty="0">
                  <a:solidFill>
                    <a:srgbClr val="00A6C7"/>
                  </a:solidFill>
                  <a:latin typeface="微软雅黑" panose="020B0503020204020204" charset="-122"/>
                  <a:ea typeface="微软雅黑" panose="020B0503020204020204" charset="-122"/>
                  <a:cs typeface="+mn-lt"/>
                </a:rPr>
                <a:t>和重点领域</a:t>
              </a:r>
              <a:r>
                <a:rPr sz="1000" b="1" i="0"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可信数据空间</a:t>
              </a:r>
              <a:r>
                <a:rPr lang="zh-CN" altLang="en-US" sz="1000" b="1" i="0" noProof="0" dirty="0">
                  <a:solidFill>
                    <a:srgbClr val="00A6C7"/>
                  </a:solidFill>
                  <a:latin typeface="微软雅黑" panose="020B0503020204020204" charset="-122"/>
                  <a:ea typeface="微软雅黑" panose="020B0503020204020204" charset="-122"/>
                  <a:cs typeface="+mn-lt"/>
                </a:rPr>
                <a:t>建设取得新突破，迭代完善五大领域企事业单位数据资源体系，加快打造</a:t>
              </a:r>
              <a:r>
                <a:rPr sz="1000" b="1" i="0"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AI+综合场景</a:t>
              </a:r>
              <a:r>
                <a:rPr lang="zh-CN" altLang="en-US" sz="1000" b="1" i="0" noProof="0" dirty="0">
                  <a:solidFill>
                    <a:srgbClr val="00A6C7"/>
                  </a:solidFill>
                  <a:latin typeface="微软雅黑" panose="020B0503020204020204" charset="-122"/>
                  <a:ea typeface="微软雅黑" panose="020B0503020204020204" charset="-122"/>
                  <a:cs typeface="+mn-lt"/>
                </a:rPr>
                <a:t>标志性成果，持续提升三级治理中心活跃度及实战能力，显著增强</a:t>
              </a:r>
              <a:r>
                <a:rPr lang="en-US" altLang="zh-CN" sz="1000" b="1" i="0" noProof="0" dirty="0">
                  <a:solidFill>
                    <a:srgbClr val="00A6C7"/>
                  </a:solidFill>
                  <a:latin typeface="微软雅黑" panose="020B0503020204020204" charset="-122"/>
                  <a:ea typeface="微软雅黑" panose="020B0503020204020204" charset="-122"/>
                  <a:cs typeface="+mn-lt"/>
                </a:rPr>
                <a:t>“9+2”</a:t>
              </a:r>
              <a:r>
                <a:rPr lang="zh-CN" altLang="en-US" sz="1000" b="1" i="0" noProof="0" dirty="0">
                  <a:solidFill>
                    <a:srgbClr val="00A6C7"/>
                  </a:solidFill>
                  <a:latin typeface="微软雅黑" panose="020B0503020204020204" charset="-122"/>
                  <a:ea typeface="微软雅黑" panose="020B0503020204020204" charset="-122"/>
                  <a:cs typeface="+mn-lt"/>
                </a:rPr>
                <a:t>中心城区一体化工作体系能力，提速构建</a:t>
              </a:r>
              <a:r>
                <a:rPr sz="1000" b="1" i="0"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数字重庆人工智能体系</a:t>
              </a:r>
              <a:r>
                <a:rPr lang="zh-CN" altLang="en-US" sz="1000" b="1" i="0" noProof="0" dirty="0">
                  <a:solidFill>
                    <a:srgbClr val="00A6C7"/>
                  </a:solidFill>
                  <a:latin typeface="微软雅黑" panose="020B0503020204020204" charset="-122"/>
                  <a:ea typeface="微软雅黑" panose="020B0503020204020204" charset="-122"/>
                  <a:cs typeface="+mn-lt"/>
                </a:rPr>
                <a:t>，着力促进</a:t>
              </a:r>
              <a:r>
                <a:rPr sz="1000" b="1" i="0"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智能体建设</a:t>
              </a:r>
              <a:r>
                <a:rPr lang="zh-CN" altLang="en-US" sz="1000" b="1" i="0" noProof="0" dirty="0">
                  <a:solidFill>
                    <a:srgbClr val="00A6C7"/>
                  </a:solidFill>
                  <a:latin typeface="微软雅黑" panose="020B0503020204020204" charset="-122"/>
                  <a:ea typeface="微软雅黑" panose="020B0503020204020204" charset="-122"/>
                  <a:cs typeface="+mn-lt"/>
                </a:rPr>
                <a:t>取得实战成果，积极探索超大城市现代化治理新路子，全力打造现代化新重庆建设</a:t>
              </a:r>
              <a:r>
                <a:rPr lang="en-US" altLang="zh-CN" sz="1000" b="1" i="0" noProof="0" dirty="0">
                  <a:solidFill>
                    <a:srgbClr val="00A6C7"/>
                  </a:solidFill>
                  <a:latin typeface="微软雅黑" panose="020B0503020204020204" charset="-122"/>
                  <a:ea typeface="微软雅黑" panose="020B0503020204020204" charset="-122"/>
                  <a:cs typeface="+mn-lt"/>
                </a:rPr>
                <a:t>“</a:t>
              </a:r>
              <a:r>
                <a:rPr lang="zh-CN" altLang="en-US" sz="1000" b="1" i="0" noProof="0" dirty="0">
                  <a:solidFill>
                    <a:srgbClr val="00A6C7"/>
                  </a:solidFill>
                  <a:latin typeface="微软雅黑" panose="020B0503020204020204" charset="-122"/>
                  <a:ea typeface="微软雅黑" panose="020B0503020204020204" charset="-122"/>
                  <a:cs typeface="+mn-lt"/>
                </a:rPr>
                <a:t>金名片</a:t>
              </a:r>
              <a:r>
                <a:rPr lang="en-US" altLang="zh-CN" sz="1000" b="1" i="0" noProof="0" dirty="0">
                  <a:solidFill>
                    <a:srgbClr val="00A6C7"/>
                  </a:solidFill>
                  <a:latin typeface="微软雅黑" panose="020B0503020204020204" charset="-122"/>
                  <a:ea typeface="微软雅黑" panose="020B0503020204020204" charset="-122"/>
                  <a:cs typeface="+mn-lt"/>
                </a:rPr>
                <a:t>”</a:t>
              </a:r>
              <a:r>
                <a:rPr lang="zh-CN" altLang="en-US" sz="1000" b="1" i="0" noProof="0" dirty="0">
                  <a:solidFill>
                    <a:srgbClr val="00A6C7"/>
                  </a:solidFill>
                  <a:latin typeface="微软雅黑" panose="020B0503020204020204" charset="-122"/>
                  <a:ea typeface="微软雅黑" panose="020B0503020204020204" charset="-122"/>
                  <a:cs typeface="+mn-lt"/>
                </a:rPr>
                <a:t>。</a:t>
              </a:r>
              <a:endParaRPr lang="zh-CN" altLang="en-US" sz="1000" b="1" i="0" noProof="0" dirty="0">
                <a:solidFill>
                  <a:srgbClr val="00A6C7"/>
                </a:solidFill>
                <a:latin typeface="微软雅黑" panose="020B0503020204020204" charset="-122"/>
                <a:ea typeface="微软雅黑" panose="020B0503020204020204" charset="-122"/>
                <a:cs typeface="+mn-lt"/>
              </a:endParaRPr>
            </a:p>
          </p:txBody>
        </p:sp>
        <p:sp>
          <p:nvSpPr>
            <p:cNvPr id="20" name="文本框 19"/>
            <p:cNvSpPr txBox="1"/>
            <p:nvPr/>
          </p:nvSpPr>
          <p:spPr>
            <a:xfrm>
              <a:off x="9693" y="5757"/>
              <a:ext cx="4408" cy="1392"/>
            </a:xfrm>
            <a:prstGeom prst="rect">
              <a:avLst/>
            </a:prstGeom>
            <a:solidFill>
              <a:schemeClr val="bg1"/>
            </a:solidFill>
            <a:ln>
              <a:solidFill>
                <a:schemeClr val="accent2"/>
              </a:solidFill>
            </a:ln>
          </p:spPr>
          <p:txBody>
            <a:bodyPr wrap="square" lIns="36195" tIns="0" rIns="36195" bIns="0" anchor="ctr" anchorCtr="0">
              <a:noAutofit/>
            </a:bodyPr>
            <a:p>
              <a:pPr indent="254000" algn="l" fontAlgn="auto">
                <a:lnSpc>
                  <a:spcPct val="130000"/>
                </a:lnSpc>
                <a:buClrTx/>
                <a:buSzTx/>
                <a:buFontTx/>
                <a:extLst>
                  <a:ext uri="{35155182-B16C-46BC-9424-99874614C6A1}">
                    <wpsdc:indentchars xmlns:wpsdc="http://www.wps.cn/officeDocument/2017/drawingmlCustomData" val="200" checksum="3013784323"/>
                  </a:ext>
                </a:extLst>
              </a:pPr>
              <a:r>
                <a:rPr lang="zh-CN" altLang="en-US" sz="1000" b="1" i="0" noProof="0" dirty="0">
                  <a:solidFill>
                    <a:srgbClr val="00A6C7"/>
                  </a:solidFill>
                  <a:latin typeface="微软雅黑" panose="020B0503020204020204" charset="-122"/>
                  <a:ea typeface="微软雅黑" panose="020B0503020204020204" charset="-122"/>
                  <a:cs typeface="+mn-lt"/>
                </a:rPr>
                <a:t>加快提升AI赋能支撑能力。初步建成</a:t>
              </a:r>
              <a:r>
                <a:rPr sz="1000" b="1" i="0"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数字重庆AI底座，</a:t>
              </a:r>
              <a:r>
                <a:rPr lang="zh-CN" altLang="en-US" sz="1000" b="1" i="0" noProof="0" dirty="0">
                  <a:solidFill>
                    <a:srgbClr val="00A6C7"/>
                  </a:solidFill>
                  <a:latin typeface="微软雅黑" panose="020B0503020204020204" charset="-122"/>
                  <a:ea typeface="微软雅黑" panose="020B0503020204020204" charset="-122"/>
                  <a:cs typeface="+mn-lt"/>
                </a:rPr>
                <a:t>提供智算算力、模型服务和智能体开发等基本功能。</a:t>
              </a:r>
              <a:endParaRPr lang="zh-CN" altLang="en-US" sz="1000" b="1" i="0" noProof="0" dirty="0">
                <a:solidFill>
                  <a:srgbClr val="00A6C7"/>
                </a:solidFill>
                <a:latin typeface="微软雅黑" panose="020B0503020204020204" charset="-122"/>
                <a:ea typeface="微软雅黑" panose="020B0503020204020204" charset="-122"/>
                <a:cs typeface="+mn-lt"/>
              </a:endParaRPr>
            </a:p>
          </p:txBody>
        </p:sp>
        <p:sp>
          <p:nvSpPr>
            <p:cNvPr id="23" name="íSľîḋe"/>
            <p:cNvSpPr/>
            <p:nvPr/>
          </p:nvSpPr>
          <p:spPr>
            <a:xfrm>
              <a:off x="669" y="7228"/>
              <a:ext cx="4407" cy="403"/>
            </a:xfrm>
            <a:prstGeom prst="rect">
              <a:avLst/>
            </a:prstGeom>
            <a:solidFill>
              <a:srgbClr val="00A6C7"/>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p>
              <a:pPr algn="ctr" defTabSz="913765"/>
              <a:r>
                <a:rPr lang="en-US" altLang="zh-CN" sz="1400" b="1" dirty="0">
                  <a:solidFill>
                    <a:schemeClr val="bg1"/>
                  </a:solidFill>
                  <a:latin typeface="微软雅黑" panose="020B0503020204020204" charset="-122"/>
                  <a:ea typeface="微软雅黑" panose="020B0503020204020204" charset="-122"/>
                  <a:cs typeface="Impact" panose="020B0806030902050204" charset="0"/>
                </a:rPr>
                <a:t>2024</a:t>
              </a:r>
              <a:r>
                <a:rPr lang="zh-CN" altLang="en-US" sz="1400" b="1" dirty="0">
                  <a:solidFill>
                    <a:schemeClr val="bg1"/>
                  </a:solidFill>
                  <a:latin typeface="微软雅黑" panose="020B0503020204020204" charset="-122"/>
                  <a:ea typeface="微软雅黑" panose="020B0503020204020204" charset="-122"/>
                  <a:cs typeface="Impact" panose="020B0806030902050204" charset="0"/>
                </a:rPr>
                <a:t>年</a:t>
              </a:r>
              <a:r>
                <a:rPr lang="en-US" altLang="zh-CN" sz="1400" b="1" dirty="0">
                  <a:solidFill>
                    <a:schemeClr val="bg1"/>
                  </a:solidFill>
                  <a:latin typeface="微软雅黑" panose="020B0503020204020204" charset="-122"/>
                  <a:ea typeface="微软雅黑" panose="020B0503020204020204" charset="-122"/>
                  <a:cs typeface="Impact" panose="020B0806030902050204" charset="0"/>
                </a:rPr>
                <a:t>7</a:t>
              </a:r>
              <a:r>
                <a:rPr lang="zh-CN" altLang="en-US" sz="1400" b="1" dirty="0">
                  <a:solidFill>
                    <a:schemeClr val="bg1"/>
                  </a:solidFill>
                  <a:latin typeface="微软雅黑" panose="020B0503020204020204" charset="-122"/>
                  <a:ea typeface="微软雅黑" panose="020B0503020204020204" charset="-122"/>
                  <a:cs typeface="Impact" panose="020B0806030902050204" charset="0"/>
                </a:rPr>
                <a:t>月</a:t>
              </a:r>
              <a:endParaRPr lang="zh-CN" altLang="en-US" sz="1400" b="1" dirty="0">
                <a:solidFill>
                  <a:schemeClr val="bg1"/>
                </a:solidFill>
                <a:latin typeface="微软雅黑" panose="020B0503020204020204" charset="-122"/>
                <a:ea typeface="微软雅黑" panose="020B0503020204020204" charset="-122"/>
                <a:cs typeface="Impact" panose="020B0806030902050204" charset="0"/>
              </a:endParaRPr>
            </a:p>
          </p:txBody>
        </p:sp>
        <p:sp>
          <p:nvSpPr>
            <p:cNvPr id="33" name="íSľîḋe"/>
            <p:cNvSpPr/>
            <p:nvPr>
              <p:custDataLst>
                <p:tags r:id="rId3"/>
              </p:custDataLst>
            </p:nvPr>
          </p:nvSpPr>
          <p:spPr>
            <a:xfrm>
              <a:off x="5184" y="7229"/>
              <a:ext cx="4407" cy="402"/>
            </a:xfrm>
            <a:prstGeom prst="rect">
              <a:avLst/>
            </a:prstGeom>
            <a:solidFill>
              <a:srgbClr val="00A6C7"/>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lvl="0" algn="ctr" defTabSz="913765">
                <a:buClrTx/>
                <a:buSzTx/>
                <a:buFontTx/>
              </a:pPr>
              <a:r>
                <a:rPr lang="en-US" altLang="zh-CN" sz="1400" b="1" dirty="0">
                  <a:solidFill>
                    <a:schemeClr val="bg1"/>
                  </a:solidFill>
                  <a:latin typeface="微软雅黑" panose="020B0503020204020204" charset="-122"/>
                  <a:ea typeface="微软雅黑" panose="020B0503020204020204" charset="-122"/>
                  <a:cs typeface="Impact" panose="020B0806030902050204" charset="0"/>
                  <a:sym typeface="+mn-ea"/>
                </a:rPr>
                <a:t>2024年10月</a:t>
              </a:r>
              <a:endParaRPr lang="en-US" altLang="zh-CN" sz="1400" b="1" dirty="0">
                <a:solidFill>
                  <a:schemeClr val="bg1"/>
                </a:solidFill>
                <a:latin typeface="微软雅黑" panose="020B0503020204020204" charset="-122"/>
                <a:ea typeface="微软雅黑" panose="020B0503020204020204" charset="-122"/>
                <a:cs typeface="Impact" panose="020B0806030902050204" charset="0"/>
                <a:sym typeface="+mn-ea"/>
              </a:endParaRPr>
            </a:p>
          </p:txBody>
        </p:sp>
        <p:sp>
          <p:nvSpPr>
            <p:cNvPr id="42" name="íSľîḋe"/>
            <p:cNvSpPr/>
            <p:nvPr>
              <p:custDataLst>
                <p:tags r:id="rId4"/>
              </p:custDataLst>
            </p:nvPr>
          </p:nvSpPr>
          <p:spPr>
            <a:xfrm>
              <a:off x="14213" y="7229"/>
              <a:ext cx="4407" cy="403"/>
            </a:xfrm>
            <a:prstGeom prst="rect">
              <a:avLst/>
            </a:prstGeom>
            <a:solidFill>
              <a:srgbClr val="00A6C7"/>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lvl="0" algn="ctr" defTabSz="913765">
                <a:buClrTx/>
                <a:buSzTx/>
                <a:buFontTx/>
              </a:pPr>
              <a:r>
                <a:rPr lang="en-US" altLang="zh-CN" sz="1400" b="1" dirty="0">
                  <a:solidFill>
                    <a:schemeClr val="bg1"/>
                  </a:solidFill>
                  <a:latin typeface="微软雅黑" panose="020B0503020204020204" charset="-122"/>
                  <a:ea typeface="微软雅黑" panose="020B0503020204020204" charset="-122"/>
                  <a:cs typeface="Impact" panose="020B0806030902050204" charset="0"/>
                  <a:sym typeface="+mn-ea"/>
                </a:rPr>
                <a:t>2025年4月</a:t>
              </a:r>
              <a:endParaRPr lang="en-US" altLang="zh-CN" sz="1400" b="1" dirty="0">
                <a:solidFill>
                  <a:schemeClr val="bg1"/>
                </a:solidFill>
                <a:latin typeface="微软雅黑" panose="020B0503020204020204" charset="-122"/>
                <a:ea typeface="微软雅黑" panose="020B0503020204020204" charset="-122"/>
                <a:cs typeface="Impact" panose="020B0806030902050204" charset="0"/>
                <a:sym typeface="+mn-ea"/>
              </a:endParaRPr>
            </a:p>
          </p:txBody>
        </p:sp>
        <p:sp>
          <p:nvSpPr>
            <p:cNvPr id="45" name="íSľîḋe"/>
            <p:cNvSpPr/>
            <p:nvPr>
              <p:custDataLst>
                <p:tags r:id="rId5"/>
              </p:custDataLst>
            </p:nvPr>
          </p:nvSpPr>
          <p:spPr>
            <a:xfrm>
              <a:off x="9698" y="7229"/>
              <a:ext cx="4407" cy="402"/>
            </a:xfrm>
            <a:prstGeom prst="rect">
              <a:avLst/>
            </a:prstGeom>
            <a:solidFill>
              <a:srgbClr val="00A6C7"/>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lvl="0" algn="ctr" defTabSz="913765">
                <a:buClrTx/>
                <a:buSzTx/>
                <a:buFontTx/>
              </a:pPr>
              <a:r>
                <a:rPr lang="en-US" altLang="zh-CN" sz="1400" b="1" dirty="0">
                  <a:solidFill>
                    <a:schemeClr val="bg1"/>
                  </a:solidFill>
                  <a:latin typeface="微软雅黑" panose="020B0503020204020204" charset="-122"/>
                  <a:ea typeface="微软雅黑" panose="020B0503020204020204" charset="-122"/>
                  <a:cs typeface="Impact" panose="020B0806030902050204" charset="0"/>
                  <a:sym typeface="+mn-ea"/>
                </a:rPr>
                <a:t>2025年1月</a:t>
              </a:r>
              <a:endParaRPr lang="en-US" altLang="zh-CN" sz="1400" b="1" dirty="0">
                <a:solidFill>
                  <a:schemeClr val="bg1"/>
                </a:solidFill>
                <a:latin typeface="微软雅黑" panose="020B0503020204020204" charset="-122"/>
                <a:ea typeface="微软雅黑" panose="020B0503020204020204" charset="-122"/>
                <a:cs typeface="Impact" panose="020B0806030902050204" charset="0"/>
                <a:sym typeface="+mn-ea"/>
              </a:endParaRPr>
            </a:p>
          </p:txBody>
        </p:sp>
        <p:sp>
          <p:nvSpPr>
            <p:cNvPr id="47" name="文本框 46"/>
            <p:cNvSpPr txBox="1"/>
            <p:nvPr/>
          </p:nvSpPr>
          <p:spPr>
            <a:xfrm>
              <a:off x="14182" y="5757"/>
              <a:ext cx="4408" cy="1392"/>
            </a:xfrm>
            <a:prstGeom prst="rect">
              <a:avLst/>
            </a:prstGeom>
            <a:solidFill>
              <a:schemeClr val="bg1"/>
            </a:solidFill>
            <a:ln>
              <a:solidFill>
                <a:schemeClr val="accent2"/>
              </a:solidFill>
            </a:ln>
          </p:spPr>
          <p:txBody>
            <a:bodyPr wrap="square" lIns="36195" tIns="0" rIns="36195" bIns="0" anchor="ctr" anchorCtr="0">
              <a:noAutofit/>
            </a:bodyPr>
            <a:p>
              <a:pPr indent="254000" algn="l" fontAlgn="auto">
                <a:lnSpc>
                  <a:spcPct val="130000"/>
                </a:lnSpc>
                <a:buClrTx/>
                <a:buSzTx/>
                <a:buFontTx/>
                <a:extLst>
                  <a:ext uri="{35155182-B16C-46BC-9424-99874614C6A1}">
                    <wpsdc:indentchars xmlns:wpsdc="http://www.wps.cn/officeDocument/2017/drawingmlCustomData" val="200" checksum="3013784323"/>
                  </a:ext>
                </a:extLst>
              </a:pPr>
              <a:r>
                <a:rPr lang="zh-CN" altLang="en-US" sz="1000" b="1" i="0" noProof="0" dirty="0">
                  <a:solidFill>
                    <a:srgbClr val="00A6C7"/>
                  </a:solidFill>
                  <a:latin typeface="微软雅黑" panose="020B0503020204020204" charset="-122"/>
                  <a:ea typeface="微软雅黑" panose="020B0503020204020204" charset="-122"/>
                  <a:cs typeface="+mn-lt"/>
                </a:rPr>
                <a:t>到7月底，初步构建</a:t>
              </a:r>
              <a:r>
                <a:rPr sz="1000" b="1" i="0"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数字重庆人工智能体系，</a:t>
              </a:r>
              <a:r>
                <a:rPr lang="zh-CN" altLang="en-US" sz="1000" b="1" noProof="0" dirty="0">
                  <a:solidFill>
                    <a:srgbClr val="00A6C7"/>
                  </a:solidFill>
                  <a:latin typeface="微软雅黑" panose="020B0503020204020204" charset="-122"/>
                  <a:ea typeface="微软雅黑" panose="020B0503020204020204" charset="-122"/>
                  <a:cs typeface="+mn-lt"/>
                  <a:sym typeface="+mn-ea"/>
                </a:rPr>
                <a:t>AI赋能超大城市治理综合场景实现突破。</a:t>
              </a:r>
              <a:endParaRPr lang="zh-CN" altLang="en-US" sz="1000" b="1" i="0" noProof="0" dirty="0">
                <a:solidFill>
                  <a:srgbClr val="00A6C7"/>
                </a:solidFill>
                <a:latin typeface="微软雅黑" panose="020B0503020204020204" charset="-122"/>
                <a:ea typeface="微软雅黑" panose="020B0503020204020204" charset="-122"/>
                <a:cs typeface="+mn-lt"/>
                <a:sym typeface="+mn-ea"/>
              </a:endParaRPr>
            </a:p>
          </p:txBody>
        </p:sp>
        <p:sp>
          <p:nvSpPr>
            <p:cNvPr id="30" name="文本框 29"/>
            <p:cNvSpPr txBox="1"/>
            <p:nvPr/>
          </p:nvSpPr>
          <p:spPr>
            <a:xfrm>
              <a:off x="5181" y="5757"/>
              <a:ext cx="4408" cy="1392"/>
            </a:xfrm>
            <a:prstGeom prst="rect">
              <a:avLst/>
            </a:prstGeom>
            <a:solidFill>
              <a:schemeClr val="bg1"/>
            </a:solidFill>
            <a:ln>
              <a:solidFill>
                <a:schemeClr val="accent2"/>
              </a:solidFill>
            </a:ln>
          </p:spPr>
          <p:txBody>
            <a:bodyPr wrap="square" lIns="36195" tIns="0" rIns="36195" bIns="0" anchor="ctr" anchorCtr="0">
              <a:noAutofit/>
            </a:bodyPr>
            <a:p>
              <a:pPr indent="254000" algn="l" fontAlgn="auto">
                <a:lnSpc>
                  <a:spcPct val="130000"/>
                </a:lnSpc>
                <a:buClrTx/>
                <a:buSzTx/>
                <a:buFontTx/>
                <a:extLst>
                  <a:ext uri="{35155182-B16C-46BC-9424-99874614C6A1}">
                    <wpsdc:indentchars xmlns:wpsdc="http://www.wps.cn/officeDocument/2017/drawingmlCustomData" val="200" checksum="3013784323"/>
                  </a:ext>
                </a:extLst>
              </a:pPr>
              <a:r>
                <a:rPr lang="zh-CN" altLang="en-US" sz="1000" b="1" i="0" noProof="0" dirty="0">
                  <a:solidFill>
                    <a:srgbClr val="00A6C7"/>
                  </a:solidFill>
                  <a:latin typeface="微软雅黑" panose="020B0503020204020204" charset="-122"/>
                  <a:ea typeface="微软雅黑" panose="020B0503020204020204" charset="-122"/>
                  <a:cs typeface="+mn-lt"/>
                </a:rPr>
                <a:t>发挥数字重庆场景优势，加快</a:t>
              </a:r>
              <a:r>
                <a:rPr sz="1000" b="1" i="0"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AI智能体和数字孪生系统</a:t>
              </a:r>
              <a:r>
                <a:rPr lang="zh-CN" altLang="en-US" sz="1000" b="1" i="0" noProof="0" dirty="0">
                  <a:solidFill>
                    <a:srgbClr val="00A6C7"/>
                  </a:solidFill>
                  <a:latin typeface="微软雅黑" panose="020B0503020204020204" charset="-122"/>
                  <a:ea typeface="微软雅黑" panose="020B0503020204020204" charset="-122"/>
                  <a:cs typeface="+mn-lt"/>
                </a:rPr>
                <a:t>建设，探索构建AI分析、推理、识别、预测等能力体系。</a:t>
              </a:r>
              <a:endParaRPr lang="zh-CN" altLang="en-US" sz="1000" b="1" i="0" noProof="0" dirty="0">
                <a:solidFill>
                  <a:srgbClr val="00A6C7"/>
                </a:solidFill>
                <a:latin typeface="微软雅黑" panose="020B0503020204020204" charset="-122"/>
                <a:ea typeface="微软雅黑" panose="020B0503020204020204" charset="-122"/>
                <a:cs typeface="+mn-lt"/>
              </a:endParaRPr>
            </a:p>
          </p:txBody>
        </p:sp>
        <p:sp>
          <p:nvSpPr>
            <p:cNvPr id="31" name="文本框 30"/>
            <p:cNvSpPr txBox="1"/>
            <p:nvPr/>
          </p:nvSpPr>
          <p:spPr>
            <a:xfrm>
              <a:off x="668" y="5757"/>
              <a:ext cx="4408" cy="1392"/>
            </a:xfrm>
            <a:prstGeom prst="rect">
              <a:avLst/>
            </a:prstGeom>
            <a:solidFill>
              <a:schemeClr val="bg1"/>
            </a:solidFill>
            <a:ln>
              <a:solidFill>
                <a:schemeClr val="accent2"/>
              </a:solidFill>
            </a:ln>
          </p:spPr>
          <p:txBody>
            <a:bodyPr wrap="square" lIns="36195" tIns="0" rIns="36195" bIns="0" anchor="ctr" anchorCtr="0">
              <a:noAutofit/>
            </a:bodyPr>
            <a:p>
              <a:pPr indent="254000" algn="l" fontAlgn="auto">
                <a:lnSpc>
                  <a:spcPct val="130000"/>
                </a:lnSpc>
                <a:buClrTx/>
                <a:buSzTx/>
                <a:buFontTx/>
                <a:extLst>
                  <a:ext uri="{35155182-B16C-46BC-9424-99874614C6A1}">
                    <wpsdc:indentchars xmlns:wpsdc="http://www.wps.cn/officeDocument/2017/drawingmlCustomData" val="200" checksum="3013784323"/>
                  </a:ext>
                </a:extLst>
              </a:pPr>
              <a:r>
                <a:rPr lang="zh-CN" altLang="en-US" sz="1000" b="1" i="0" noProof="0" dirty="0">
                  <a:solidFill>
                    <a:srgbClr val="00A6C7"/>
                  </a:solidFill>
                  <a:latin typeface="微软雅黑" panose="020B0503020204020204" charset="-122"/>
                  <a:ea typeface="微软雅黑" panose="020B0503020204020204" charset="-122"/>
                  <a:cs typeface="+mn-lt"/>
                </a:rPr>
                <a:t>加快探索AI支撑赋能。持续推动构建AI能力组件矩阵，形成一批</a:t>
              </a:r>
              <a:r>
                <a:rPr sz="1000" b="1" i="0"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大模型、智能算法成果，</a:t>
              </a:r>
              <a:r>
                <a:rPr lang="zh-CN" altLang="en-US" sz="1000" b="1" i="0" noProof="0" dirty="0">
                  <a:solidFill>
                    <a:srgbClr val="00A6C7"/>
                  </a:solidFill>
                  <a:latin typeface="微软雅黑" panose="020B0503020204020204" charset="-122"/>
                  <a:ea typeface="微软雅黑" panose="020B0503020204020204" charset="-122"/>
                  <a:cs typeface="+mn-lt"/>
                </a:rPr>
                <a:t>增强大模型能力。</a:t>
              </a:r>
              <a:endParaRPr lang="zh-CN" altLang="en-US" sz="1000" b="1" i="0" noProof="0" dirty="0">
                <a:solidFill>
                  <a:srgbClr val="00A6C7"/>
                </a:solidFill>
                <a:latin typeface="微软雅黑" panose="020B0503020204020204" charset="-122"/>
                <a:ea typeface="微软雅黑" panose="020B0503020204020204" charset="-122"/>
                <a:cs typeface="+mn-lt"/>
              </a:endParaRPr>
            </a:p>
          </p:txBody>
        </p:sp>
      </p:grpSp>
      <p:grpSp>
        <p:nvGrpSpPr>
          <p:cNvPr id="82" name="组合 81"/>
          <p:cNvGrpSpPr/>
          <p:nvPr/>
        </p:nvGrpSpPr>
        <p:grpSpPr>
          <a:xfrm>
            <a:off x="244475" y="1136015"/>
            <a:ext cx="11734165" cy="1921558"/>
            <a:chOff x="385" y="2000"/>
            <a:chExt cx="18479" cy="2815"/>
          </a:xfrm>
        </p:grpSpPr>
        <p:sp>
          <p:nvSpPr>
            <p:cNvPr id="49" name="任意多边形: 形状 6"/>
            <p:cNvSpPr/>
            <p:nvPr/>
          </p:nvSpPr>
          <p:spPr>
            <a:xfrm>
              <a:off x="456" y="2096"/>
              <a:ext cx="3862" cy="2624"/>
            </a:xfrm>
            <a:custGeom>
              <a:avLst/>
              <a:gdLst>
                <a:gd name="connsiteX0" fmla="*/ 0 w 5223268"/>
                <a:gd name="connsiteY0" fmla="*/ 0 h 2518166"/>
                <a:gd name="connsiteX1" fmla="*/ 5223269 w 5223268"/>
                <a:gd name="connsiteY1" fmla="*/ 0 h 2518166"/>
                <a:gd name="connsiteX2" fmla="*/ 5223269 w 5223268"/>
                <a:gd name="connsiteY2" fmla="*/ 2518166 h 2518166"/>
                <a:gd name="connsiteX3" fmla="*/ 0 w 5223268"/>
                <a:gd name="connsiteY3" fmla="*/ 2518166 h 2518166"/>
                <a:gd name="connsiteX4" fmla="*/ 0 w 5223268"/>
                <a:gd name="connsiteY4" fmla="*/ 0 h 2518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3268" h="2518166">
                  <a:moveTo>
                    <a:pt x="0" y="0"/>
                  </a:moveTo>
                  <a:lnTo>
                    <a:pt x="5223269" y="0"/>
                  </a:lnTo>
                  <a:lnTo>
                    <a:pt x="5223269" y="2518166"/>
                  </a:lnTo>
                  <a:lnTo>
                    <a:pt x="0" y="2518166"/>
                  </a:lnTo>
                  <a:lnTo>
                    <a:pt x="0" y="0"/>
                  </a:lnTo>
                  <a:close/>
                </a:path>
              </a:pathLst>
            </a:custGeom>
            <a:solidFill>
              <a:srgbClr val="FFFFFF"/>
            </a:solidFill>
            <a:ln w="8496"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50" name="任意多边形: 形状 7"/>
            <p:cNvSpPr/>
            <p:nvPr/>
          </p:nvSpPr>
          <p:spPr>
            <a:xfrm>
              <a:off x="437" y="2070"/>
              <a:ext cx="3900" cy="2677"/>
            </a:xfrm>
            <a:custGeom>
              <a:avLst/>
              <a:gdLst>
                <a:gd name="connsiteX0" fmla="*/ 5274310 w 5274310"/>
                <a:gd name="connsiteY0" fmla="*/ 0 h 2569210"/>
                <a:gd name="connsiteX1" fmla="*/ 0 w 5274310"/>
                <a:gd name="connsiteY1" fmla="*/ 0 h 2569210"/>
                <a:gd name="connsiteX2" fmla="*/ 0 w 5274310"/>
                <a:gd name="connsiteY2" fmla="*/ 2569210 h 2569210"/>
                <a:gd name="connsiteX3" fmla="*/ 5274310 w 5274310"/>
                <a:gd name="connsiteY3" fmla="*/ 2569210 h 2569210"/>
                <a:gd name="connsiteX4" fmla="*/ 5274310 w 5274310"/>
                <a:gd name="connsiteY4" fmla="*/ 0 h 2569210"/>
                <a:gd name="connsiteX5" fmla="*/ 51042 w 5274310"/>
                <a:gd name="connsiteY5" fmla="*/ 2518166 h 2569210"/>
                <a:gd name="connsiteX6" fmla="*/ 51042 w 5274310"/>
                <a:gd name="connsiteY6" fmla="*/ 51044 h 2569210"/>
                <a:gd name="connsiteX7" fmla="*/ 5223269 w 5274310"/>
                <a:gd name="connsiteY7" fmla="*/ 51044 h 2569210"/>
                <a:gd name="connsiteX8" fmla="*/ 5223269 w 5274310"/>
                <a:gd name="connsiteY8" fmla="*/ 2518166 h 2569210"/>
                <a:gd name="connsiteX9" fmla="*/ 51042 w 5274310"/>
                <a:gd name="connsiteY9" fmla="*/ 2518166 h 256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74310" h="2569210">
                  <a:moveTo>
                    <a:pt x="5274310" y="0"/>
                  </a:moveTo>
                  <a:lnTo>
                    <a:pt x="0" y="0"/>
                  </a:lnTo>
                  <a:lnTo>
                    <a:pt x="0" y="2569210"/>
                  </a:lnTo>
                  <a:lnTo>
                    <a:pt x="5274310" y="2569210"/>
                  </a:lnTo>
                  <a:lnTo>
                    <a:pt x="5274310" y="0"/>
                  </a:lnTo>
                  <a:close/>
                  <a:moveTo>
                    <a:pt x="51042" y="2518166"/>
                  </a:moveTo>
                  <a:lnTo>
                    <a:pt x="51042" y="51044"/>
                  </a:lnTo>
                  <a:lnTo>
                    <a:pt x="5223269" y="51044"/>
                  </a:lnTo>
                  <a:lnTo>
                    <a:pt x="5223269" y="2518166"/>
                  </a:lnTo>
                  <a:lnTo>
                    <a:pt x="51042" y="2518166"/>
                  </a:lnTo>
                  <a:close/>
                </a:path>
              </a:pathLst>
            </a:custGeom>
            <a:solidFill>
              <a:srgbClr val="00A6C7"/>
            </a:solidFill>
            <a:ln w="8496"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51" name="任意多边形: 形状 5"/>
            <p:cNvSpPr/>
            <p:nvPr/>
          </p:nvSpPr>
          <p:spPr>
            <a:xfrm>
              <a:off x="385" y="2000"/>
              <a:ext cx="4004" cy="2815"/>
            </a:xfrm>
            <a:custGeom>
              <a:avLst/>
              <a:gdLst>
                <a:gd name="connsiteX0" fmla="*/ 24770 w 5249556"/>
                <a:gd name="connsiteY0" fmla="*/ 24759 h 2624460"/>
                <a:gd name="connsiteX1" fmla="*/ 288890 w 5249556"/>
                <a:gd name="connsiteY1" fmla="*/ 24759 h 2624460"/>
                <a:gd name="connsiteX2" fmla="*/ 288890 w 5249556"/>
                <a:gd name="connsiteY2" fmla="*/ 0 h 2624460"/>
                <a:gd name="connsiteX3" fmla="*/ 0 w 5249556"/>
                <a:gd name="connsiteY3" fmla="*/ 0 h 2624460"/>
                <a:gd name="connsiteX4" fmla="*/ 0 w 5249556"/>
                <a:gd name="connsiteY4" fmla="*/ 24759 h 2624460"/>
                <a:gd name="connsiteX5" fmla="*/ 8 w 5249556"/>
                <a:gd name="connsiteY5" fmla="*/ 24759 h 2624460"/>
                <a:gd name="connsiteX6" fmla="*/ 8 w 5249556"/>
                <a:gd name="connsiteY6" fmla="*/ 288856 h 2624460"/>
                <a:gd name="connsiteX7" fmla="*/ 24770 w 5249556"/>
                <a:gd name="connsiteY7" fmla="*/ 288856 h 2624460"/>
                <a:gd name="connsiteX8" fmla="*/ 24770 w 5249556"/>
                <a:gd name="connsiteY8" fmla="*/ 24759 h 2624460"/>
                <a:gd name="connsiteX9" fmla="*/ 5224786 w 5249556"/>
                <a:gd name="connsiteY9" fmla="*/ 0 h 2624460"/>
                <a:gd name="connsiteX10" fmla="*/ 4960666 w 5249556"/>
                <a:gd name="connsiteY10" fmla="*/ 0 h 2624460"/>
                <a:gd name="connsiteX11" fmla="*/ 4960666 w 5249556"/>
                <a:gd name="connsiteY11" fmla="*/ 24759 h 2624460"/>
                <a:gd name="connsiteX12" fmla="*/ 5224786 w 5249556"/>
                <a:gd name="connsiteY12" fmla="*/ 24759 h 2624460"/>
                <a:gd name="connsiteX13" fmla="*/ 5224786 w 5249556"/>
                <a:gd name="connsiteY13" fmla="*/ 288856 h 2624460"/>
                <a:gd name="connsiteX14" fmla="*/ 5249548 w 5249556"/>
                <a:gd name="connsiteY14" fmla="*/ 288856 h 2624460"/>
                <a:gd name="connsiteX15" fmla="*/ 5249548 w 5249556"/>
                <a:gd name="connsiteY15" fmla="*/ 24759 h 2624460"/>
                <a:gd name="connsiteX16" fmla="*/ 5249556 w 5249556"/>
                <a:gd name="connsiteY16" fmla="*/ 24759 h 2624460"/>
                <a:gd name="connsiteX17" fmla="*/ 5249556 w 5249556"/>
                <a:gd name="connsiteY17" fmla="*/ 0 h 2624460"/>
                <a:gd name="connsiteX18" fmla="*/ 5224786 w 5249556"/>
                <a:gd name="connsiteY18" fmla="*/ 0 h 2624460"/>
                <a:gd name="connsiteX19" fmla="*/ 24770 w 5249556"/>
                <a:gd name="connsiteY19" fmla="*/ 2599702 h 2624460"/>
                <a:gd name="connsiteX20" fmla="*/ 24770 w 5249556"/>
                <a:gd name="connsiteY20" fmla="*/ 2335605 h 2624460"/>
                <a:gd name="connsiteX21" fmla="*/ 8 w 5249556"/>
                <a:gd name="connsiteY21" fmla="*/ 2335605 h 2624460"/>
                <a:gd name="connsiteX22" fmla="*/ 8 w 5249556"/>
                <a:gd name="connsiteY22" fmla="*/ 2599702 h 2624460"/>
                <a:gd name="connsiteX23" fmla="*/ 0 w 5249556"/>
                <a:gd name="connsiteY23" fmla="*/ 2599702 h 2624460"/>
                <a:gd name="connsiteX24" fmla="*/ 0 w 5249556"/>
                <a:gd name="connsiteY24" fmla="*/ 2624461 h 2624460"/>
                <a:gd name="connsiteX25" fmla="*/ 288890 w 5249556"/>
                <a:gd name="connsiteY25" fmla="*/ 2624461 h 2624460"/>
                <a:gd name="connsiteX26" fmla="*/ 288890 w 5249556"/>
                <a:gd name="connsiteY26" fmla="*/ 2599702 h 2624460"/>
                <a:gd name="connsiteX27" fmla="*/ 24770 w 5249556"/>
                <a:gd name="connsiteY27" fmla="*/ 2599702 h 2624460"/>
                <a:gd name="connsiteX28" fmla="*/ 5249548 w 5249556"/>
                <a:gd name="connsiteY28" fmla="*/ 2599702 h 2624460"/>
                <a:gd name="connsiteX29" fmla="*/ 5249548 w 5249556"/>
                <a:gd name="connsiteY29" fmla="*/ 2335605 h 2624460"/>
                <a:gd name="connsiteX30" fmla="*/ 5224786 w 5249556"/>
                <a:gd name="connsiteY30" fmla="*/ 2335605 h 2624460"/>
                <a:gd name="connsiteX31" fmla="*/ 5224786 w 5249556"/>
                <a:gd name="connsiteY31" fmla="*/ 2599702 h 2624460"/>
                <a:gd name="connsiteX32" fmla="*/ 4960666 w 5249556"/>
                <a:gd name="connsiteY32" fmla="*/ 2599702 h 2624460"/>
                <a:gd name="connsiteX33" fmla="*/ 4960666 w 5249556"/>
                <a:gd name="connsiteY33" fmla="*/ 2624461 h 2624460"/>
                <a:gd name="connsiteX34" fmla="*/ 5249556 w 5249556"/>
                <a:gd name="connsiteY34" fmla="*/ 2624461 h 2624460"/>
                <a:gd name="connsiteX35" fmla="*/ 5249556 w 5249556"/>
                <a:gd name="connsiteY35" fmla="*/ 2599702 h 2624460"/>
                <a:gd name="connsiteX36" fmla="*/ 5249548 w 5249556"/>
                <a:gd name="connsiteY36" fmla="*/ 2599702 h 2624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249556" h="2624460">
                  <a:moveTo>
                    <a:pt x="24770" y="24759"/>
                  </a:moveTo>
                  <a:lnTo>
                    <a:pt x="288890" y="24759"/>
                  </a:lnTo>
                  <a:lnTo>
                    <a:pt x="288890" y="0"/>
                  </a:lnTo>
                  <a:lnTo>
                    <a:pt x="0" y="0"/>
                  </a:lnTo>
                  <a:lnTo>
                    <a:pt x="0" y="24759"/>
                  </a:lnTo>
                  <a:lnTo>
                    <a:pt x="8" y="24759"/>
                  </a:lnTo>
                  <a:lnTo>
                    <a:pt x="8" y="288856"/>
                  </a:lnTo>
                  <a:lnTo>
                    <a:pt x="24770" y="288856"/>
                  </a:lnTo>
                  <a:lnTo>
                    <a:pt x="24770" y="24759"/>
                  </a:lnTo>
                  <a:close/>
                  <a:moveTo>
                    <a:pt x="5224786" y="0"/>
                  </a:moveTo>
                  <a:lnTo>
                    <a:pt x="4960666" y="0"/>
                  </a:lnTo>
                  <a:lnTo>
                    <a:pt x="4960666" y="24759"/>
                  </a:lnTo>
                  <a:lnTo>
                    <a:pt x="5224786" y="24759"/>
                  </a:lnTo>
                  <a:lnTo>
                    <a:pt x="5224786" y="288856"/>
                  </a:lnTo>
                  <a:lnTo>
                    <a:pt x="5249548" y="288856"/>
                  </a:lnTo>
                  <a:lnTo>
                    <a:pt x="5249548" y="24759"/>
                  </a:lnTo>
                  <a:lnTo>
                    <a:pt x="5249556" y="24759"/>
                  </a:lnTo>
                  <a:lnTo>
                    <a:pt x="5249556" y="0"/>
                  </a:lnTo>
                  <a:lnTo>
                    <a:pt x="5224786" y="0"/>
                  </a:lnTo>
                  <a:close/>
                  <a:moveTo>
                    <a:pt x="24770" y="2599702"/>
                  </a:moveTo>
                  <a:lnTo>
                    <a:pt x="24770" y="2335605"/>
                  </a:lnTo>
                  <a:lnTo>
                    <a:pt x="8" y="2335605"/>
                  </a:lnTo>
                  <a:lnTo>
                    <a:pt x="8" y="2599702"/>
                  </a:lnTo>
                  <a:lnTo>
                    <a:pt x="0" y="2599702"/>
                  </a:lnTo>
                  <a:lnTo>
                    <a:pt x="0" y="2624461"/>
                  </a:lnTo>
                  <a:lnTo>
                    <a:pt x="288890" y="2624461"/>
                  </a:lnTo>
                  <a:lnTo>
                    <a:pt x="288890" y="2599702"/>
                  </a:lnTo>
                  <a:lnTo>
                    <a:pt x="24770" y="2599702"/>
                  </a:lnTo>
                  <a:close/>
                  <a:moveTo>
                    <a:pt x="5249548" y="2599702"/>
                  </a:moveTo>
                  <a:lnTo>
                    <a:pt x="5249548" y="2335605"/>
                  </a:lnTo>
                  <a:lnTo>
                    <a:pt x="5224786" y="2335605"/>
                  </a:lnTo>
                  <a:lnTo>
                    <a:pt x="5224786" y="2599702"/>
                  </a:lnTo>
                  <a:lnTo>
                    <a:pt x="4960666" y="2599702"/>
                  </a:lnTo>
                  <a:lnTo>
                    <a:pt x="4960666" y="2624461"/>
                  </a:lnTo>
                  <a:lnTo>
                    <a:pt x="5249556" y="2624461"/>
                  </a:lnTo>
                  <a:lnTo>
                    <a:pt x="5249556" y="2599702"/>
                  </a:lnTo>
                  <a:lnTo>
                    <a:pt x="5249548" y="2599702"/>
                  </a:lnTo>
                  <a:close/>
                </a:path>
              </a:pathLst>
            </a:custGeom>
            <a:solidFill>
              <a:srgbClr val="3F8BE8"/>
            </a:solidFill>
            <a:ln w="8243"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52" name="文本框 51"/>
            <p:cNvSpPr txBox="1"/>
            <p:nvPr/>
          </p:nvSpPr>
          <p:spPr>
            <a:xfrm>
              <a:off x="607" y="2226"/>
              <a:ext cx="3561" cy="2326"/>
            </a:xfrm>
            <a:prstGeom prst="rect">
              <a:avLst/>
            </a:prstGeom>
            <a:noFill/>
          </p:spPr>
          <p:txBody>
            <a:bodyPr wrap="square" rtlCol="0" anchor="ctr"/>
            <a:lstStyle/>
            <a:p>
              <a:pPr algn="just">
                <a:lnSpc>
                  <a:spcPct val="100000"/>
                </a:lnSpc>
              </a:pPr>
              <a:r>
                <a:rPr sz="1200" b="1"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人工智能是新一轮科技革命和产业变革的重要驱动力</a:t>
              </a:r>
              <a:r>
                <a:rPr lang="zh-CN" altLang="en-US" sz="1200" dirty="0">
                  <a:latin typeface="微软雅黑" panose="020B0503020204020204" charset="-122"/>
                  <a:ea typeface="微软雅黑" panose="020B0503020204020204" charset="-122"/>
                </a:rPr>
                <a:t>，加快发展新一代人工智能是事关我国能否抓住新一轮科技革命和产业变革机遇的战略问题。</a:t>
              </a:r>
              <a:endParaRPr lang="zh-CN" altLang="en-US" sz="1200" dirty="0">
                <a:latin typeface="微软雅黑" panose="020B0503020204020204" charset="-122"/>
                <a:ea typeface="微软雅黑" panose="020B0503020204020204" charset="-122"/>
              </a:endParaRPr>
            </a:p>
            <a:p>
              <a:pPr indent="0" algn="just" fontAlgn="auto">
                <a:lnSpc>
                  <a:spcPct val="100000"/>
                </a:lnSpc>
                <a:spcBef>
                  <a:spcPts val="600"/>
                </a:spcBef>
              </a:pPr>
              <a:r>
                <a:rPr lang="zh-CN" altLang="en-US" sz="1000" dirty="0">
                  <a:solidFill>
                    <a:schemeClr val="bg1">
                      <a:lumMod val="50000"/>
                    </a:schemeClr>
                  </a:solidFill>
                  <a:effectLst/>
                  <a:latin typeface="微软雅黑" panose="020B0503020204020204" charset="-122"/>
                  <a:ea typeface="微软雅黑" panose="020B0503020204020204" charset="-122"/>
                </a:rPr>
                <a:t>——2018年10月31日，在十九届中央政治局第九次集体学习时强调</a:t>
              </a:r>
              <a:endParaRPr lang="zh-CN" altLang="en-US" sz="1000" dirty="0">
                <a:solidFill>
                  <a:schemeClr val="bg1">
                    <a:lumMod val="50000"/>
                  </a:schemeClr>
                </a:solidFill>
                <a:effectLst/>
                <a:latin typeface="微软雅黑" panose="020B0503020204020204" charset="-122"/>
                <a:ea typeface="微软雅黑" panose="020B0503020204020204" charset="-122"/>
              </a:endParaRPr>
            </a:p>
          </p:txBody>
        </p:sp>
        <p:sp>
          <p:nvSpPr>
            <p:cNvPr id="56" name="任意多边形: 形状 6"/>
            <p:cNvSpPr/>
            <p:nvPr/>
          </p:nvSpPr>
          <p:spPr>
            <a:xfrm>
              <a:off x="4600" y="2096"/>
              <a:ext cx="4546" cy="2624"/>
            </a:xfrm>
            <a:custGeom>
              <a:avLst/>
              <a:gdLst>
                <a:gd name="connsiteX0" fmla="*/ 0 w 5223268"/>
                <a:gd name="connsiteY0" fmla="*/ 0 h 2518166"/>
                <a:gd name="connsiteX1" fmla="*/ 5223269 w 5223268"/>
                <a:gd name="connsiteY1" fmla="*/ 0 h 2518166"/>
                <a:gd name="connsiteX2" fmla="*/ 5223269 w 5223268"/>
                <a:gd name="connsiteY2" fmla="*/ 2518166 h 2518166"/>
                <a:gd name="connsiteX3" fmla="*/ 0 w 5223268"/>
                <a:gd name="connsiteY3" fmla="*/ 2518166 h 2518166"/>
                <a:gd name="connsiteX4" fmla="*/ 0 w 5223268"/>
                <a:gd name="connsiteY4" fmla="*/ 0 h 2518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3268" h="2518166">
                  <a:moveTo>
                    <a:pt x="0" y="0"/>
                  </a:moveTo>
                  <a:lnTo>
                    <a:pt x="5223269" y="0"/>
                  </a:lnTo>
                  <a:lnTo>
                    <a:pt x="5223269" y="2518166"/>
                  </a:lnTo>
                  <a:lnTo>
                    <a:pt x="0" y="2518166"/>
                  </a:lnTo>
                  <a:lnTo>
                    <a:pt x="0" y="0"/>
                  </a:lnTo>
                  <a:close/>
                </a:path>
              </a:pathLst>
            </a:custGeom>
            <a:solidFill>
              <a:srgbClr val="FFFFFF"/>
            </a:solidFill>
            <a:ln w="8496"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57" name="任意多边形: 形状 7"/>
            <p:cNvSpPr/>
            <p:nvPr/>
          </p:nvSpPr>
          <p:spPr>
            <a:xfrm>
              <a:off x="4578" y="2070"/>
              <a:ext cx="4901" cy="2677"/>
            </a:xfrm>
            <a:custGeom>
              <a:avLst/>
              <a:gdLst>
                <a:gd name="connsiteX0" fmla="*/ 5274310 w 5274310"/>
                <a:gd name="connsiteY0" fmla="*/ 0 h 2569210"/>
                <a:gd name="connsiteX1" fmla="*/ 0 w 5274310"/>
                <a:gd name="connsiteY1" fmla="*/ 0 h 2569210"/>
                <a:gd name="connsiteX2" fmla="*/ 0 w 5274310"/>
                <a:gd name="connsiteY2" fmla="*/ 2569210 h 2569210"/>
                <a:gd name="connsiteX3" fmla="*/ 5274310 w 5274310"/>
                <a:gd name="connsiteY3" fmla="*/ 2569210 h 2569210"/>
                <a:gd name="connsiteX4" fmla="*/ 5274310 w 5274310"/>
                <a:gd name="connsiteY4" fmla="*/ 0 h 2569210"/>
                <a:gd name="connsiteX5" fmla="*/ 51042 w 5274310"/>
                <a:gd name="connsiteY5" fmla="*/ 2518166 h 2569210"/>
                <a:gd name="connsiteX6" fmla="*/ 51042 w 5274310"/>
                <a:gd name="connsiteY6" fmla="*/ 51044 h 2569210"/>
                <a:gd name="connsiteX7" fmla="*/ 5223269 w 5274310"/>
                <a:gd name="connsiteY7" fmla="*/ 51044 h 2569210"/>
                <a:gd name="connsiteX8" fmla="*/ 5223269 w 5274310"/>
                <a:gd name="connsiteY8" fmla="*/ 2518166 h 2569210"/>
                <a:gd name="connsiteX9" fmla="*/ 51042 w 5274310"/>
                <a:gd name="connsiteY9" fmla="*/ 2518166 h 256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74310" h="2569210">
                  <a:moveTo>
                    <a:pt x="5274310" y="0"/>
                  </a:moveTo>
                  <a:lnTo>
                    <a:pt x="0" y="0"/>
                  </a:lnTo>
                  <a:lnTo>
                    <a:pt x="0" y="2569210"/>
                  </a:lnTo>
                  <a:lnTo>
                    <a:pt x="5274310" y="2569210"/>
                  </a:lnTo>
                  <a:lnTo>
                    <a:pt x="5274310" y="0"/>
                  </a:lnTo>
                  <a:close/>
                  <a:moveTo>
                    <a:pt x="51042" y="2518166"/>
                  </a:moveTo>
                  <a:lnTo>
                    <a:pt x="51042" y="51044"/>
                  </a:lnTo>
                  <a:lnTo>
                    <a:pt x="5223269" y="51044"/>
                  </a:lnTo>
                  <a:lnTo>
                    <a:pt x="5223269" y="2518166"/>
                  </a:lnTo>
                  <a:lnTo>
                    <a:pt x="51042" y="2518166"/>
                  </a:lnTo>
                  <a:close/>
                </a:path>
              </a:pathLst>
            </a:custGeom>
            <a:solidFill>
              <a:srgbClr val="00A6C7"/>
            </a:solidFill>
            <a:ln w="8496"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58" name="任意多边形: 形状 5"/>
            <p:cNvSpPr/>
            <p:nvPr/>
          </p:nvSpPr>
          <p:spPr>
            <a:xfrm>
              <a:off x="4517" y="2000"/>
              <a:ext cx="5028" cy="2815"/>
            </a:xfrm>
            <a:custGeom>
              <a:avLst/>
              <a:gdLst>
                <a:gd name="connsiteX0" fmla="*/ 24770 w 5249556"/>
                <a:gd name="connsiteY0" fmla="*/ 24759 h 2624460"/>
                <a:gd name="connsiteX1" fmla="*/ 288890 w 5249556"/>
                <a:gd name="connsiteY1" fmla="*/ 24759 h 2624460"/>
                <a:gd name="connsiteX2" fmla="*/ 288890 w 5249556"/>
                <a:gd name="connsiteY2" fmla="*/ 0 h 2624460"/>
                <a:gd name="connsiteX3" fmla="*/ 0 w 5249556"/>
                <a:gd name="connsiteY3" fmla="*/ 0 h 2624460"/>
                <a:gd name="connsiteX4" fmla="*/ 0 w 5249556"/>
                <a:gd name="connsiteY4" fmla="*/ 24759 h 2624460"/>
                <a:gd name="connsiteX5" fmla="*/ 8 w 5249556"/>
                <a:gd name="connsiteY5" fmla="*/ 24759 h 2624460"/>
                <a:gd name="connsiteX6" fmla="*/ 8 w 5249556"/>
                <a:gd name="connsiteY6" fmla="*/ 288856 h 2624460"/>
                <a:gd name="connsiteX7" fmla="*/ 24770 w 5249556"/>
                <a:gd name="connsiteY7" fmla="*/ 288856 h 2624460"/>
                <a:gd name="connsiteX8" fmla="*/ 24770 w 5249556"/>
                <a:gd name="connsiteY8" fmla="*/ 24759 h 2624460"/>
                <a:gd name="connsiteX9" fmla="*/ 5224786 w 5249556"/>
                <a:gd name="connsiteY9" fmla="*/ 0 h 2624460"/>
                <a:gd name="connsiteX10" fmla="*/ 4960666 w 5249556"/>
                <a:gd name="connsiteY10" fmla="*/ 0 h 2624460"/>
                <a:gd name="connsiteX11" fmla="*/ 4960666 w 5249556"/>
                <a:gd name="connsiteY11" fmla="*/ 24759 h 2624460"/>
                <a:gd name="connsiteX12" fmla="*/ 5224786 w 5249556"/>
                <a:gd name="connsiteY12" fmla="*/ 24759 h 2624460"/>
                <a:gd name="connsiteX13" fmla="*/ 5224786 w 5249556"/>
                <a:gd name="connsiteY13" fmla="*/ 288856 h 2624460"/>
                <a:gd name="connsiteX14" fmla="*/ 5249548 w 5249556"/>
                <a:gd name="connsiteY14" fmla="*/ 288856 h 2624460"/>
                <a:gd name="connsiteX15" fmla="*/ 5249548 w 5249556"/>
                <a:gd name="connsiteY15" fmla="*/ 24759 h 2624460"/>
                <a:gd name="connsiteX16" fmla="*/ 5249556 w 5249556"/>
                <a:gd name="connsiteY16" fmla="*/ 24759 h 2624460"/>
                <a:gd name="connsiteX17" fmla="*/ 5249556 w 5249556"/>
                <a:gd name="connsiteY17" fmla="*/ 0 h 2624460"/>
                <a:gd name="connsiteX18" fmla="*/ 5224786 w 5249556"/>
                <a:gd name="connsiteY18" fmla="*/ 0 h 2624460"/>
                <a:gd name="connsiteX19" fmla="*/ 24770 w 5249556"/>
                <a:gd name="connsiteY19" fmla="*/ 2599702 h 2624460"/>
                <a:gd name="connsiteX20" fmla="*/ 24770 w 5249556"/>
                <a:gd name="connsiteY20" fmla="*/ 2335605 h 2624460"/>
                <a:gd name="connsiteX21" fmla="*/ 8 w 5249556"/>
                <a:gd name="connsiteY21" fmla="*/ 2335605 h 2624460"/>
                <a:gd name="connsiteX22" fmla="*/ 8 w 5249556"/>
                <a:gd name="connsiteY22" fmla="*/ 2599702 h 2624460"/>
                <a:gd name="connsiteX23" fmla="*/ 0 w 5249556"/>
                <a:gd name="connsiteY23" fmla="*/ 2599702 h 2624460"/>
                <a:gd name="connsiteX24" fmla="*/ 0 w 5249556"/>
                <a:gd name="connsiteY24" fmla="*/ 2624461 h 2624460"/>
                <a:gd name="connsiteX25" fmla="*/ 288890 w 5249556"/>
                <a:gd name="connsiteY25" fmla="*/ 2624461 h 2624460"/>
                <a:gd name="connsiteX26" fmla="*/ 288890 w 5249556"/>
                <a:gd name="connsiteY26" fmla="*/ 2599702 h 2624460"/>
                <a:gd name="connsiteX27" fmla="*/ 24770 w 5249556"/>
                <a:gd name="connsiteY27" fmla="*/ 2599702 h 2624460"/>
                <a:gd name="connsiteX28" fmla="*/ 5249548 w 5249556"/>
                <a:gd name="connsiteY28" fmla="*/ 2599702 h 2624460"/>
                <a:gd name="connsiteX29" fmla="*/ 5249548 w 5249556"/>
                <a:gd name="connsiteY29" fmla="*/ 2335605 h 2624460"/>
                <a:gd name="connsiteX30" fmla="*/ 5224786 w 5249556"/>
                <a:gd name="connsiteY30" fmla="*/ 2335605 h 2624460"/>
                <a:gd name="connsiteX31" fmla="*/ 5224786 w 5249556"/>
                <a:gd name="connsiteY31" fmla="*/ 2599702 h 2624460"/>
                <a:gd name="connsiteX32" fmla="*/ 4960666 w 5249556"/>
                <a:gd name="connsiteY32" fmla="*/ 2599702 h 2624460"/>
                <a:gd name="connsiteX33" fmla="*/ 4960666 w 5249556"/>
                <a:gd name="connsiteY33" fmla="*/ 2624461 h 2624460"/>
                <a:gd name="connsiteX34" fmla="*/ 5249556 w 5249556"/>
                <a:gd name="connsiteY34" fmla="*/ 2624461 h 2624460"/>
                <a:gd name="connsiteX35" fmla="*/ 5249556 w 5249556"/>
                <a:gd name="connsiteY35" fmla="*/ 2599702 h 2624460"/>
                <a:gd name="connsiteX36" fmla="*/ 5249548 w 5249556"/>
                <a:gd name="connsiteY36" fmla="*/ 2599702 h 2624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249556" h="2624460">
                  <a:moveTo>
                    <a:pt x="24770" y="24759"/>
                  </a:moveTo>
                  <a:lnTo>
                    <a:pt x="288890" y="24759"/>
                  </a:lnTo>
                  <a:lnTo>
                    <a:pt x="288890" y="0"/>
                  </a:lnTo>
                  <a:lnTo>
                    <a:pt x="0" y="0"/>
                  </a:lnTo>
                  <a:lnTo>
                    <a:pt x="0" y="24759"/>
                  </a:lnTo>
                  <a:lnTo>
                    <a:pt x="8" y="24759"/>
                  </a:lnTo>
                  <a:lnTo>
                    <a:pt x="8" y="288856"/>
                  </a:lnTo>
                  <a:lnTo>
                    <a:pt x="24770" y="288856"/>
                  </a:lnTo>
                  <a:lnTo>
                    <a:pt x="24770" y="24759"/>
                  </a:lnTo>
                  <a:close/>
                  <a:moveTo>
                    <a:pt x="5224786" y="0"/>
                  </a:moveTo>
                  <a:lnTo>
                    <a:pt x="4960666" y="0"/>
                  </a:lnTo>
                  <a:lnTo>
                    <a:pt x="4960666" y="24759"/>
                  </a:lnTo>
                  <a:lnTo>
                    <a:pt x="5224786" y="24759"/>
                  </a:lnTo>
                  <a:lnTo>
                    <a:pt x="5224786" y="288856"/>
                  </a:lnTo>
                  <a:lnTo>
                    <a:pt x="5249548" y="288856"/>
                  </a:lnTo>
                  <a:lnTo>
                    <a:pt x="5249548" y="24759"/>
                  </a:lnTo>
                  <a:lnTo>
                    <a:pt x="5249556" y="24759"/>
                  </a:lnTo>
                  <a:lnTo>
                    <a:pt x="5249556" y="0"/>
                  </a:lnTo>
                  <a:lnTo>
                    <a:pt x="5224786" y="0"/>
                  </a:lnTo>
                  <a:close/>
                  <a:moveTo>
                    <a:pt x="24770" y="2599702"/>
                  </a:moveTo>
                  <a:lnTo>
                    <a:pt x="24770" y="2335605"/>
                  </a:lnTo>
                  <a:lnTo>
                    <a:pt x="8" y="2335605"/>
                  </a:lnTo>
                  <a:lnTo>
                    <a:pt x="8" y="2599702"/>
                  </a:lnTo>
                  <a:lnTo>
                    <a:pt x="0" y="2599702"/>
                  </a:lnTo>
                  <a:lnTo>
                    <a:pt x="0" y="2624461"/>
                  </a:lnTo>
                  <a:lnTo>
                    <a:pt x="288890" y="2624461"/>
                  </a:lnTo>
                  <a:lnTo>
                    <a:pt x="288890" y="2599702"/>
                  </a:lnTo>
                  <a:lnTo>
                    <a:pt x="24770" y="2599702"/>
                  </a:lnTo>
                  <a:close/>
                  <a:moveTo>
                    <a:pt x="5249548" y="2599702"/>
                  </a:moveTo>
                  <a:lnTo>
                    <a:pt x="5249548" y="2335605"/>
                  </a:lnTo>
                  <a:lnTo>
                    <a:pt x="5224786" y="2335605"/>
                  </a:lnTo>
                  <a:lnTo>
                    <a:pt x="5224786" y="2599702"/>
                  </a:lnTo>
                  <a:lnTo>
                    <a:pt x="4960666" y="2599702"/>
                  </a:lnTo>
                  <a:lnTo>
                    <a:pt x="4960666" y="2624461"/>
                  </a:lnTo>
                  <a:lnTo>
                    <a:pt x="5249556" y="2624461"/>
                  </a:lnTo>
                  <a:lnTo>
                    <a:pt x="5249556" y="2599702"/>
                  </a:lnTo>
                  <a:lnTo>
                    <a:pt x="5249548" y="2599702"/>
                  </a:lnTo>
                  <a:close/>
                </a:path>
              </a:pathLst>
            </a:custGeom>
            <a:solidFill>
              <a:srgbClr val="3F8BE8"/>
            </a:solidFill>
            <a:ln w="8243"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59" name="文本框 58"/>
            <p:cNvSpPr txBox="1"/>
            <p:nvPr/>
          </p:nvSpPr>
          <p:spPr>
            <a:xfrm>
              <a:off x="4643" y="2226"/>
              <a:ext cx="4673" cy="2326"/>
            </a:xfrm>
            <a:prstGeom prst="rect">
              <a:avLst/>
            </a:prstGeom>
            <a:noFill/>
          </p:spPr>
          <p:txBody>
            <a:bodyPr wrap="square" rtlCol="0" anchor="ctr">
              <a:noAutofit/>
            </a:bodyPr>
            <a:lstStyle/>
            <a:p>
              <a:pPr algn="just">
                <a:lnSpc>
                  <a:spcPct val="100000"/>
                </a:lnSpc>
              </a:pPr>
              <a:r>
                <a:rPr lang="zh-CN" altLang="en-US" sz="1200" dirty="0">
                  <a:latin typeface="微软雅黑" panose="020B0503020204020204" charset="-122"/>
                  <a:ea typeface="微软雅黑" panose="020B0503020204020204" charset="-122"/>
                  <a:sym typeface="+mn-ea"/>
                </a:rPr>
                <a:t>以科技创新引</a:t>
              </a:r>
              <a:r>
                <a:rPr sz="1200" b="1"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sym typeface="+mn-ea"/>
                </a:rPr>
                <a:t>领新质生产力发展</a:t>
              </a:r>
              <a:r>
                <a:rPr lang="zh-CN" altLang="en-US" sz="1200" dirty="0">
                  <a:latin typeface="微软雅黑" panose="020B0503020204020204" charset="-122"/>
                  <a:ea typeface="微软雅黑" panose="020B0503020204020204" charset="-122"/>
                  <a:sym typeface="+mn-ea"/>
                </a:rPr>
                <a:t>，建设现代化产业体系。加强基础研究和关键核心技术攻关，超前布局重大科技项目，开展新技术新产品新场景大规模应用示范行动。开展“</a:t>
              </a:r>
              <a:r>
                <a:rPr sz="1200" b="1"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sym typeface="+mn-ea"/>
                </a:rPr>
                <a:t>人工智能+”行动，培育未来产业。加强国家战略科技力量建设</a:t>
              </a:r>
              <a:endParaRPr sz="1200" b="1"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a:p>
              <a:pPr algn="just">
                <a:lnSpc>
                  <a:spcPct val="100000"/>
                </a:lnSpc>
                <a:spcBef>
                  <a:spcPts val="600"/>
                </a:spcBef>
                <a:buClrTx/>
                <a:buSzTx/>
                <a:buFontTx/>
              </a:pPr>
              <a:r>
                <a:rPr lang="zh-CN" altLang="en-US" sz="1000" dirty="0">
                  <a:solidFill>
                    <a:schemeClr val="bg1">
                      <a:lumMod val="50000"/>
                    </a:schemeClr>
                  </a:solidFill>
                  <a:effectLst/>
                  <a:latin typeface="微软雅黑" panose="020B0503020204020204" charset="-122"/>
                  <a:ea typeface="微软雅黑" panose="020B0503020204020204" charset="-122"/>
                  <a:sym typeface="+mn-ea"/>
                </a:rPr>
                <a:t>——2024年12月12日，在中央经济工作会议强调</a:t>
              </a:r>
              <a:endParaRPr lang="zh-CN" altLang="en-US" sz="1000" dirty="0">
                <a:solidFill>
                  <a:schemeClr val="bg1">
                    <a:lumMod val="50000"/>
                  </a:schemeClr>
                </a:solidFill>
                <a:effectLst/>
                <a:latin typeface="微软雅黑" panose="020B0503020204020204" charset="-122"/>
                <a:ea typeface="微软雅黑" panose="020B0503020204020204" charset="-122"/>
              </a:endParaRPr>
            </a:p>
          </p:txBody>
        </p:sp>
        <p:sp>
          <p:nvSpPr>
            <p:cNvPr id="63" name="任意多边形: 形状 6"/>
            <p:cNvSpPr/>
            <p:nvPr/>
          </p:nvSpPr>
          <p:spPr>
            <a:xfrm>
              <a:off x="14234" y="2096"/>
              <a:ext cx="4546" cy="2624"/>
            </a:xfrm>
            <a:custGeom>
              <a:avLst/>
              <a:gdLst>
                <a:gd name="connsiteX0" fmla="*/ 0 w 5223268"/>
                <a:gd name="connsiteY0" fmla="*/ 0 h 2518166"/>
                <a:gd name="connsiteX1" fmla="*/ 5223269 w 5223268"/>
                <a:gd name="connsiteY1" fmla="*/ 0 h 2518166"/>
                <a:gd name="connsiteX2" fmla="*/ 5223269 w 5223268"/>
                <a:gd name="connsiteY2" fmla="*/ 2518166 h 2518166"/>
                <a:gd name="connsiteX3" fmla="*/ 0 w 5223268"/>
                <a:gd name="connsiteY3" fmla="*/ 2518166 h 2518166"/>
                <a:gd name="connsiteX4" fmla="*/ 0 w 5223268"/>
                <a:gd name="connsiteY4" fmla="*/ 0 h 2518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3268" h="2518166">
                  <a:moveTo>
                    <a:pt x="0" y="0"/>
                  </a:moveTo>
                  <a:lnTo>
                    <a:pt x="5223269" y="0"/>
                  </a:lnTo>
                  <a:lnTo>
                    <a:pt x="5223269" y="2518166"/>
                  </a:lnTo>
                  <a:lnTo>
                    <a:pt x="0" y="2518166"/>
                  </a:lnTo>
                  <a:lnTo>
                    <a:pt x="0" y="0"/>
                  </a:lnTo>
                  <a:close/>
                </a:path>
              </a:pathLst>
            </a:custGeom>
            <a:solidFill>
              <a:srgbClr val="FFFFFF"/>
            </a:solidFill>
            <a:ln w="8496"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64" name="任意多边形: 形状 7"/>
            <p:cNvSpPr/>
            <p:nvPr/>
          </p:nvSpPr>
          <p:spPr>
            <a:xfrm>
              <a:off x="14212" y="2070"/>
              <a:ext cx="4591" cy="2677"/>
            </a:xfrm>
            <a:custGeom>
              <a:avLst/>
              <a:gdLst>
                <a:gd name="connsiteX0" fmla="*/ 5274310 w 5274310"/>
                <a:gd name="connsiteY0" fmla="*/ 0 h 2569210"/>
                <a:gd name="connsiteX1" fmla="*/ 0 w 5274310"/>
                <a:gd name="connsiteY1" fmla="*/ 0 h 2569210"/>
                <a:gd name="connsiteX2" fmla="*/ 0 w 5274310"/>
                <a:gd name="connsiteY2" fmla="*/ 2569210 h 2569210"/>
                <a:gd name="connsiteX3" fmla="*/ 5274310 w 5274310"/>
                <a:gd name="connsiteY3" fmla="*/ 2569210 h 2569210"/>
                <a:gd name="connsiteX4" fmla="*/ 5274310 w 5274310"/>
                <a:gd name="connsiteY4" fmla="*/ 0 h 2569210"/>
                <a:gd name="connsiteX5" fmla="*/ 51042 w 5274310"/>
                <a:gd name="connsiteY5" fmla="*/ 2518166 h 2569210"/>
                <a:gd name="connsiteX6" fmla="*/ 51042 w 5274310"/>
                <a:gd name="connsiteY6" fmla="*/ 51044 h 2569210"/>
                <a:gd name="connsiteX7" fmla="*/ 5223269 w 5274310"/>
                <a:gd name="connsiteY7" fmla="*/ 51044 h 2569210"/>
                <a:gd name="connsiteX8" fmla="*/ 5223269 w 5274310"/>
                <a:gd name="connsiteY8" fmla="*/ 2518166 h 2569210"/>
                <a:gd name="connsiteX9" fmla="*/ 51042 w 5274310"/>
                <a:gd name="connsiteY9" fmla="*/ 2518166 h 256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74310" h="2569210">
                  <a:moveTo>
                    <a:pt x="5274310" y="0"/>
                  </a:moveTo>
                  <a:lnTo>
                    <a:pt x="0" y="0"/>
                  </a:lnTo>
                  <a:lnTo>
                    <a:pt x="0" y="2569210"/>
                  </a:lnTo>
                  <a:lnTo>
                    <a:pt x="5274310" y="2569210"/>
                  </a:lnTo>
                  <a:lnTo>
                    <a:pt x="5274310" y="0"/>
                  </a:lnTo>
                  <a:close/>
                  <a:moveTo>
                    <a:pt x="51042" y="2518166"/>
                  </a:moveTo>
                  <a:lnTo>
                    <a:pt x="51042" y="51044"/>
                  </a:lnTo>
                  <a:lnTo>
                    <a:pt x="5223269" y="51044"/>
                  </a:lnTo>
                  <a:lnTo>
                    <a:pt x="5223269" y="2518166"/>
                  </a:lnTo>
                  <a:lnTo>
                    <a:pt x="51042" y="2518166"/>
                  </a:lnTo>
                  <a:close/>
                </a:path>
              </a:pathLst>
            </a:custGeom>
            <a:solidFill>
              <a:srgbClr val="00A6C7"/>
            </a:solidFill>
            <a:ln w="8496"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65" name="任意多边形: 形状 5"/>
            <p:cNvSpPr/>
            <p:nvPr/>
          </p:nvSpPr>
          <p:spPr>
            <a:xfrm>
              <a:off x="14151" y="2000"/>
              <a:ext cx="4713" cy="2815"/>
            </a:xfrm>
            <a:custGeom>
              <a:avLst/>
              <a:gdLst>
                <a:gd name="connsiteX0" fmla="*/ 24770 w 5249556"/>
                <a:gd name="connsiteY0" fmla="*/ 24759 h 2624460"/>
                <a:gd name="connsiteX1" fmla="*/ 288890 w 5249556"/>
                <a:gd name="connsiteY1" fmla="*/ 24759 h 2624460"/>
                <a:gd name="connsiteX2" fmla="*/ 288890 w 5249556"/>
                <a:gd name="connsiteY2" fmla="*/ 0 h 2624460"/>
                <a:gd name="connsiteX3" fmla="*/ 0 w 5249556"/>
                <a:gd name="connsiteY3" fmla="*/ 0 h 2624460"/>
                <a:gd name="connsiteX4" fmla="*/ 0 w 5249556"/>
                <a:gd name="connsiteY4" fmla="*/ 24759 h 2624460"/>
                <a:gd name="connsiteX5" fmla="*/ 8 w 5249556"/>
                <a:gd name="connsiteY5" fmla="*/ 24759 h 2624460"/>
                <a:gd name="connsiteX6" fmla="*/ 8 w 5249556"/>
                <a:gd name="connsiteY6" fmla="*/ 288856 h 2624460"/>
                <a:gd name="connsiteX7" fmla="*/ 24770 w 5249556"/>
                <a:gd name="connsiteY7" fmla="*/ 288856 h 2624460"/>
                <a:gd name="connsiteX8" fmla="*/ 24770 w 5249556"/>
                <a:gd name="connsiteY8" fmla="*/ 24759 h 2624460"/>
                <a:gd name="connsiteX9" fmla="*/ 5224786 w 5249556"/>
                <a:gd name="connsiteY9" fmla="*/ 0 h 2624460"/>
                <a:gd name="connsiteX10" fmla="*/ 4960666 w 5249556"/>
                <a:gd name="connsiteY10" fmla="*/ 0 h 2624460"/>
                <a:gd name="connsiteX11" fmla="*/ 4960666 w 5249556"/>
                <a:gd name="connsiteY11" fmla="*/ 24759 h 2624460"/>
                <a:gd name="connsiteX12" fmla="*/ 5224786 w 5249556"/>
                <a:gd name="connsiteY12" fmla="*/ 24759 h 2624460"/>
                <a:gd name="connsiteX13" fmla="*/ 5224786 w 5249556"/>
                <a:gd name="connsiteY13" fmla="*/ 288856 h 2624460"/>
                <a:gd name="connsiteX14" fmla="*/ 5249548 w 5249556"/>
                <a:gd name="connsiteY14" fmla="*/ 288856 h 2624460"/>
                <a:gd name="connsiteX15" fmla="*/ 5249548 w 5249556"/>
                <a:gd name="connsiteY15" fmla="*/ 24759 h 2624460"/>
                <a:gd name="connsiteX16" fmla="*/ 5249556 w 5249556"/>
                <a:gd name="connsiteY16" fmla="*/ 24759 h 2624460"/>
                <a:gd name="connsiteX17" fmla="*/ 5249556 w 5249556"/>
                <a:gd name="connsiteY17" fmla="*/ 0 h 2624460"/>
                <a:gd name="connsiteX18" fmla="*/ 5224786 w 5249556"/>
                <a:gd name="connsiteY18" fmla="*/ 0 h 2624460"/>
                <a:gd name="connsiteX19" fmla="*/ 24770 w 5249556"/>
                <a:gd name="connsiteY19" fmla="*/ 2599702 h 2624460"/>
                <a:gd name="connsiteX20" fmla="*/ 24770 w 5249556"/>
                <a:gd name="connsiteY20" fmla="*/ 2335605 h 2624460"/>
                <a:gd name="connsiteX21" fmla="*/ 8 w 5249556"/>
                <a:gd name="connsiteY21" fmla="*/ 2335605 h 2624460"/>
                <a:gd name="connsiteX22" fmla="*/ 8 w 5249556"/>
                <a:gd name="connsiteY22" fmla="*/ 2599702 h 2624460"/>
                <a:gd name="connsiteX23" fmla="*/ 0 w 5249556"/>
                <a:gd name="connsiteY23" fmla="*/ 2599702 h 2624460"/>
                <a:gd name="connsiteX24" fmla="*/ 0 w 5249556"/>
                <a:gd name="connsiteY24" fmla="*/ 2624461 h 2624460"/>
                <a:gd name="connsiteX25" fmla="*/ 288890 w 5249556"/>
                <a:gd name="connsiteY25" fmla="*/ 2624461 h 2624460"/>
                <a:gd name="connsiteX26" fmla="*/ 288890 w 5249556"/>
                <a:gd name="connsiteY26" fmla="*/ 2599702 h 2624460"/>
                <a:gd name="connsiteX27" fmla="*/ 24770 w 5249556"/>
                <a:gd name="connsiteY27" fmla="*/ 2599702 h 2624460"/>
                <a:gd name="connsiteX28" fmla="*/ 5249548 w 5249556"/>
                <a:gd name="connsiteY28" fmla="*/ 2599702 h 2624460"/>
                <a:gd name="connsiteX29" fmla="*/ 5249548 w 5249556"/>
                <a:gd name="connsiteY29" fmla="*/ 2335605 h 2624460"/>
                <a:gd name="connsiteX30" fmla="*/ 5224786 w 5249556"/>
                <a:gd name="connsiteY30" fmla="*/ 2335605 h 2624460"/>
                <a:gd name="connsiteX31" fmla="*/ 5224786 w 5249556"/>
                <a:gd name="connsiteY31" fmla="*/ 2599702 h 2624460"/>
                <a:gd name="connsiteX32" fmla="*/ 4960666 w 5249556"/>
                <a:gd name="connsiteY32" fmla="*/ 2599702 h 2624460"/>
                <a:gd name="connsiteX33" fmla="*/ 4960666 w 5249556"/>
                <a:gd name="connsiteY33" fmla="*/ 2624461 h 2624460"/>
                <a:gd name="connsiteX34" fmla="*/ 5249556 w 5249556"/>
                <a:gd name="connsiteY34" fmla="*/ 2624461 h 2624460"/>
                <a:gd name="connsiteX35" fmla="*/ 5249556 w 5249556"/>
                <a:gd name="connsiteY35" fmla="*/ 2599702 h 2624460"/>
                <a:gd name="connsiteX36" fmla="*/ 5249548 w 5249556"/>
                <a:gd name="connsiteY36" fmla="*/ 2599702 h 2624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249556" h="2624460">
                  <a:moveTo>
                    <a:pt x="24770" y="24759"/>
                  </a:moveTo>
                  <a:lnTo>
                    <a:pt x="288890" y="24759"/>
                  </a:lnTo>
                  <a:lnTo>
                    <a:pt x="288890" y="0"/>
                  </a:lnTo>
                  <a:lnTo>
                    <a:pt x="0" y="0"/>
                  </a:lnTo>
                  <a:lnTo>
                    <a:pt x="0" y="24759"/>
                  </a:lnTo>
                  <a:lnTo>
                    <a:pt x="8" y="24759"/>
                  </a:lnTo>
                  <a:lnTo>
                    <a:pt x="8" y="288856"/>
                  </a:lnTo>
                  <a:lnTo>
                    <a:pt x="24770" y="288856"/>
                  </a:lnTo>
                  <a:lnTo>
                    <a:pt x="24770" y="24759"/>
                  </a:lnTo>
                  <a:close/>
                  <a:moveTo>
                    <a:pt x="5224786" y="0"/>
                  </a:moveTo>
                  <a:lnTo>
                    <a:pt x="4960666" y="0"/>
                  </a:lnTo>
                  <a:lnTo>
                    <a:pt x="4960666" y="24759"/>
                  </a:lnTo>
                  <a:lnTo>
                    <a:pt x="5224786" y="24759"/>
                  </a:lnTo>
                  <a:lnTo>
                    <a:pt x="5224786" y="288856"/>
                  </a:lnTo>
                  <a:lnTo>
                    <a:pt x="5249548" y="288856"/>
                  </a:lnTo>
                  <a:lnTo>
                    <a:pt x="5249548" y="24759"/>
                  </a:lnTo>
                  <a:lnTo>
                    <a:pt x="5249556" y="24759"/>
                  </a:lnTo>
                  <a:lnTo>
                    <a:pt x="5249556" y="0"/>
                  </a:lnTo>
                  <a:lnTo>
                    <a:pt x="5224786" y="0"/>
                  </a:lnTo>
                  <a:close/>
                  <a:moveTo>
                    <a:pt x="24770" y="2599702"/>
                  </a:moveTo>
                  <a:lnTo>
                    <a:pt x="24770" y="2335605"/>
                  </a:lnTo>
                  <a:lnTo>
                    <a:pt x="8" y="2335605"/>
                  </a:lnTo>
                  <a:lnTo>
                    <a:pt x="8" y="2599702"/>
                  </a:lnTo>
                  <a:lnTo>
                    <a:pt x="0" y="2599702"/>
                  </a:lnTo>
                  <a:lnTo>
                    <a:pt x="0" y="2624461"/>
                  </a:lnTo>
                  <a:lnTo>
                    <a:pt x="288890" y="2624461"/>
                  </a:lnTo>
                  <a:lnTo>
                    <a:pt x="288890" y="2599702"/>
                  </a:lnTo>
                  <a:lnTo>
                    <a:pt x="24770" y="2599702"/>
                  </a:lnTo>
                  <a:close/>
                  <a:moveTo>
                    <a:pt x="5249548" y="2599702"/>
                  </a:moveTo>
                  <a:lnTo>
                    <a:pt x="5249548" y="2335605"/>
                  </a:lnTo>
                  <a:lnTo>
                    <a:pt x="5224786" y="2335605"/>
                  </a:lnTo>
                  <a:lnTo>
                    <a:pt x="5224786" y="2599702"/>
                  </a:lnTo>
                  <a:lnTo>
                    <a:pt x="4960666" y="2599702"/>
                  </a:lnTo>
                  <a:lnTo>
                    <a:pt x="4960666" y="2624461"/>
                  </a:lnTo>
                  <a:lnTo>
                    <a:pt x="5249556" y="2624461"/>
                  </a:lnTo>
                  <a:lnTo>
                    <a:pt x="5249556" y="2599702"/>
                  </a:lnTo>
                  <a:lnTo>
                    <a:pt x="5249548" y="2599702"/>
                  </a:lnTo>
                  <a:close/>
                </a:path>
              </a:pathLst>
            </a:custGeom>
            <a:solidFill>
              <a:srgbClr val="3F8BE8"/>
            </a:solidFill>
            <a:ln w="8243"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66" name="文本框 65"/>
            <p:cNvSpPr txBox="1"/>
            <p:nvPr/>
          </p:nvSpPr>
          <p:spPr>
            <a:xfrm>
              <a:off x="14411" y="2226"/>
              <a:ext cx="4193" cy="2326"/>
            </a:xfrm>
            <a:prstGeom prst="rect">
              <a:avLst/>
            </a:prstGeom>
            <a:noFill/>
          </p:spPr>
          <p:txBody>
            <a:bodyPr wrap="square" rtlCol="0" anchor="ctr">
              <a:noAutofit/>
            </a:bodyPr>
            <a:lstStyle/>
            <a:p>
              <a:pPr algn="just">
                <a:lnSpc>
                  <a:spcPct val="100000"/>
                </a:lnSpc>
              </a:pPr>
              <a:r>
                <a:rPr sz="1200" b="1"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深入实施“人工智能+”行动</a:t>
              </a:r>
              <a:r>
                <a:rPr lang="zh-CN" altLang="en-US" sz="1200" dirty="0">
                  <a:latin typeface="微软雅黑" panose="020B0503020204020204" charset="-122"/>
                  <a:ea typeface="微软雅黑" panose="020B0503020204020204" charset="-122"/>
                </a:rPr>
                <a:t>，涌现一批新基础设施、新技术体系、新产业生态、新就业岗位等，加快培育发展新质生产力，使全体人民共享人工智能发展成果，更好服务中国式现代化建设</a:t>
              </a:r>
              <a:r>
                <a:rPr lang="zh-CN" altLang="en-US" sz="1200" dirty="0">
                  <a:latin typeface="微软雅黑" panose="020B0503020204020204" charset="-122"/>
                  <a:ea typeface="微软雅黑" panose="020B0503020204020204" charset="-122"/>
                </a:rPr>
                <a:t>。</a:t>
              </a:r>
              <a:endParaRPr lang="zh-CN" altLang="en-US" sz="1200" dirty="0">
                <a:latin typeface="微软雅黑" panose="020B0503020204020204" charset="-122"/>
                <a:ea typeface="微软雅黑" panose="020B0503020204020204" charset="-122"/>
              </a:endParaRPr>
            </a:p>
            <a:p>
              <a:pPr algn="just">
                <a:lnSpc>
                  <a:spcPct val="100000"/>
                </a:lnSpc>
                <a:spcBef>
                  <a:spcPts val="600"/>
                </a:spcBef>
                <a:buClrTx/>
                <a:buSzTx/>
                <a:buFontTx/>
              </a:pPr>
              <a:r>
                <a:rPr lang="zh-CN" altLang="en-US" sz="1000" dirty="0">
                  <a:solidFill>
                    <a:schemeClr val="bg1">
                      <a:lumMod val="50000"/>
                    </a:schemeClr>
                  </a:solidFill>
                  <a:effectLst/>
                  <a:latin typeface="微软雅黑" panose="020B0503020204020204" charset="-122"/>
                  <a:ea typeface="微软雅黑" panose="020B0503020204020204" charset="-122"/>
                </a:rPr>
                <a:t>——2025年</a:t>
              </a:r>
              <a:r>
                <a:rPr lang="en-US" altLang="zh-CN" sz="1000" dirty="0">
                  <a:solidFill>
                    <a:schemeClr val="bg1">
                      <a:lumMod val="50000"/>
                    </a:schemeClr>
                  </a:solidFill>
                  <a:effectLst/>
                  <a:latin typeface="微软雅黑" panose="020B0503020204020204" charset="-122"/>
                  <a:ea typeface="微软雅黑" panose="020B0503020204020204" charset="-122"/>
                </a:rPr>
                <a:t>8</a:t>
              </a:r>
              <a:r>
                <a:rPr lang="zh-CN" altLang="en-US" sz="1000" dirty="0">
                  <a:solidFill>
                    <a:schemeClr val="bg1">
                      <a:lumMod val="50000"/>
                    </a:schemeClr>
                  </a:solidFill>
                  <a:effectLst/>
                  <a:latin typeface="微软雅黑" panose="020B0503020204020204" charset="-122"/>
                  <a:ea typeface="微软雅黑" panose="020B0503020204020204" charset="-122"/>
                </a:rPr>
                <a:t>月</a:t>
              </a:r>
              <a:r>
                <a:rPr lang="en-US" altLang="zh-CN" sz="1000" dirty="0">
                  <a:solidFill>
                    <a:schemeClr val="bg1">
                      <a:lumMod val="50000"/>
                    </a:schemeClr>
                  </a:solidFill>
                  <a:effectLst/>
                  <a:latin typeface="微软雅黑" panose="020B0503020204020204" charset="-122"/>
                  <a:ea typeface="微软雅黑" panose="020B0503020204020204" charset="-122"/>
                </a:rPr>
                <a:t>26</a:t>
              </a:r>
              <a:r>
                <a:rPr lang="zh-CN" altLang="en-US" sz="1000" dirty="0">
                  <a:solidFill>
                    <a:schemeClr val="bg1">
                      <a:lumMod val="50000"/>
                    </a:schemeClr>
                  </a:solidFill>
                  <a:effectLst/>
                  <a:latin typeface="微软雅黑" panose="020B0503020204020204" charset="-122"/>
                  <a:ea typeface="微软雅黑" panose="020B0503020204020204" charset="-122"/>
                </a:rPr>
                <a:t>日</a:t>
              </a:r>
              <a:r>
                <a:rPr lang="zh-CN" altLang="en-US" sz="1000" dirty="0">
                  <a:solidFill>
                    <a:schemeClr val="bg1">
                      <a:lumMod val="50000"/>
                    </a:schemeClr>
                  </a:solidFill>
                  <a:effectLst/>
                  <a:latin typeface="微软雅黑" panose="020B0503020204020204" charset="-122"/>
                  <a:ea typeface="微软雅黑" panose="020B0503020204020204" charset="-122"/>
                </a:rPr>
                <a:t>，国务院印发《关于深入实施</a:t>
              </a:r>
              <a:r>
                <a:rPr lang="en-US" altLang="zh-CN" sz="1000" dirty="0">
                  <a:solidFill>
                    <a:schemeClr val="bg1">
                      <a:lumMod val="50000"/>
                    </a:schemeClr>
                  </a:solidFill>
                  <a:effectLst/>
                  <a:latin typeface="微软雅黑" panose="020B0503020204020204" charset="-122"/>
                  <a:ea typeface="微软雅黑" panose="020B0503020204020204" charset="-122"/>
                </a:rPr>
                <a:t>“</a:t>
              </a:r>
              <a:r>
                <a:rPr lang="zh-CN" altLang="en-US" sz="1000" dirty="0">
                  <a:solidFill>
                    <a:schemeClr val="bg1">
                      <a:lumMod val="50000"/>
                    </a:schemeClr>
                  </a:solidFill>
                  <a:effectLst/>
                  <a:latin typeface="微软雅黑" panose="020B0503020204020204" charset="-122"/>
                  <a:ea typeface="微软雅黑" panose="020B0503020204020204" charset="-122"/>
                </a:rPr>
                <a:t>人工智能</a:t>
              </a:r>
              <a:r>
                <a:rPr lang="en-US" altLang="zh-CN" sz="1000" dirty="0">
                  <a:solidFill>
                    <a:schemeClr val="bg1">
                      <a:lumMod val="50000"/>
                    </a:schemeClr>
                  </a:solidFill>
                  <a:effectLst/>
                  <a:latin typeface="微软雅黑" panose="020B0503020204020204" charset="-122"/>
                  <a:ea typeface="微软雅黑" panose="020B0503020204020204" charset="-122"/>
                </a:rPr>
                <a:t>+”</a:t>
              </a:r>
              <a:r>
                <a:rPr lang="zh-CN" altLang="en-US" sz="1000" dirty="0">
                  <a:solidFill>
                    <a:schemeClr val="bg1">
                      <a:lumMod val="50000"/>
                    </a:schemeClr>
                  </a:solidFill>
                  <a:effectLst/>
                  <a:latin typeface="微软雅黑" panose="020B0503020204020204" charset="-122"/>
                  <a:ea typeface="微软雅黑" panose="020B0503020204020204" charset="-122"/>
                </a:rPr>
                <a:t>行动的意见》</a:t>
              </a:r>
              <a:endParaRPr lang="zh-CN" altLang="en-US" sz="1000" dirty="0">
                <a:solidFill>
                  <a:schemeClr val="bg1">
                    <a:lumMod val="50000"/>
                  </a:schemeClr>
                </a:solidFill>
                <a:effectLst/>
                <a:latin typeface="微软雅黑" panose="020B0503020204020204" charset="-122"/>
                <a:ea typeface="微软雅黑" panose="020B0503020204020204" charset="-122"/>
              </a:endParaRPr>
            </a:p>
          </p:txBody>
        </p:sp>
        <p:sp>
          <p:nvSpPr>
            <p:cNvPr id="70" name="任意多边形: 形状 6"/>
            <p:cNvSpPr/>
            <p:nvPr/>
          </p:nvSpPr>
          <p:spPr>
            <a:xfrm>
              <a:off x="9750" y="2096"/>
              <a:ext cx="4213" cy="2624"/>
            </a:xfrm>
            <a:custGeom>
              <a:avLst/>
              <a:gdLst>
                <a:gd name="connsiteX0" fmla="*/ 0 w 5223268"/>
                <a:gd name="connsiteY0" fmla="*/ 0 h 2518166"/>
                <a:gd name="connsiteX1" fmla="*/ 5223269 w 5223268"/>
                <a:gd name="connsiteY1" fmla="*/ 0 h 2518166"/>
                <a:gd name="connsiteX2" fmla="*/ 5223269 w 5223268"/>
                <a:gd name="connsiteY2" fmla="*/ 2518166 h 2518166"/>
                <a:gd name="connsiteX3" fmla="*/ 0 w 5223268"/>
                <a:gd name="connsiteY3" fmla="*/ 2518166 h 2518166"/>
                <a:gd name="connsiteX4" fmla="*/ 0 w 5223268"/>
                <a:gd name="connsiteY4" fmla="*/ 0 h 2518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3268" h="2518166">
                  <a:moveTo>
                    <a:pt x="0" y="0"/>
                  </a:moveTo>
                  <a:lnTo>
                    <a:pt x="5223269" y="0"/>
                  </a:lnTo>
                  <a:lnTo>
                    <a:pt x="5223269" y="2518166"/>
                  </a:lnTo>
                  <a:lnTo>
                    <a:pt x="0" y="2518166"/>
                  </a:lnTo>
                  <a:lnTo>
                    <a:pt x="0" y="0"/>
                  </a:lnTo>
                  <a:close/>
                </a:path>
              </a:pathLst>
            </a:custGeom>
            <a:solidFill>
              <a:srgbClr val="FFFFFF"/>
            </a:solidFill>
            <a:ln w="8496"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71" name="任意多边形: 形状 7"/>
            <p:cNvSpPr/>
            <p:nvPr/>
          </p:nvSpPr>
          <p:spPr>
            <a:xfrm>
              <a:off x="9753" y="2070"/>
              <a:ext cx="4233" cy="2677"/>
            </a:xfrm>
            <a:custGeom>
              <a:avLst/>
              <a:gdLst>
                <a:gd name="connsiteX0" fmla="*/ 5274310 w 5274310"/>
                <a:gd name="connsiteY0" fmla="*/ 0 h 2569210"/>
                <a:gd name="connsiteX1" fmla="*/ 0 w 5274310"/>
                <a:gd name="connsiteY1" fmla="*/ 0 h 2569210"/>
                <a:gd name="connsiteX2" fmla="*/ 0 w 5274310"/>
                <a:gd name="connsiteY2" fmla="*/ 2569210 h 2569210"/>
                <a:gd name="connsiteX3" fmla="*/ 5274310 w 5274310"/>
                <a:gd name="connsiteY3" fmla="*/ 2569210 h 2569210"/>
                <a:gd name="connsiteX4" fmla="*/ 5274310 w 5274310"/>
                <a:gd name="connsiteY4" fmla="*/ 0 h 2569210"/>
                <a:gd name="connsiteX5" fmla="*/ 51042 w 5274310"/>
                <a:gd name="connsiteY5" fmla="*/ 2518166 h 2569210"/>
                <a:gd name="connsiteX6" fmla="*/ 51042 w 5274310"/>
                <a:gd name="connsiteY6" fmla="*/ 51044 h 2569210"/>
                <a:gd name="connsiteX7" fmla="*/ 5223269 w 5274310"/>
                <a:gd name="connsiteY7" fmla="*/ 51044 h 2569210"/>
                <a:gd name="connsiteX8" fmla="*/ 5223269 w 5274310"/>
                <a:gd name="connsiteY8" fmla="*/ 2518166 h 2569210"/>
                <a:gd name="connsiteX9" fmla="*/ 51042 w 5274310"/>
                <a:gd name="connsiteY9" fmla="*/ 2518166 h 256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74310" h="2569210">
                  <a:moveTo>
                    <a:pt x="5274310" y="0"/>
                  </a:moveTo>
                  <a:lnTo>
                    <a:pt x="0" y="0"/>
                  </a:lnTo>
                  <a:lnTo>
                    <a:pt x="0" y="2569210"/>
                  </a:lnTo>
                  <a:lnTo>
                    <a:pt x="5274310" y="2569210"/>
                  </a:lnTo>
                  <a:lnTo>
                    <a:pt x="5274310" y="0"/>
                  </a:lnTo>
                  <a:close/>
                  <a:moveTo>
                    <a:pt x="51042" y="2518166"/>
                  </a:moveTo>
                  <a:lnTo>
                    <a:pt x="51042" y="51044"/>
                  </a:lnTo>
                  <a:lnTo>
                    <a:pt x="5223269" y="51044"/>
                  </a:lnTo>
                  <a:lnTo>
                    <a:pt x="5223269" y="2518166"/>
                  </a:lnTo>
                  <a:lnTo>
                    <a:pt x="51042" y="2518166"/>
                  </a:lnTo>
                  <a:close/>
                </a:path>
              </a:pathLst>
            </a:custGeom>
            <a:solidFill>
              <a:srgbClr val="00A6C7"/>
            </a:solidFill>
            <a:ln w="8496"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72" name="任意多边形: 形状 5"/>
            <p:cNvSpPr/>
            <p:nvPr/>
          </p:nvSpPr>
          <p:spPr>
            <a:xfrm>
              <a:off x="9680" y="2000"/>
              <a:ext cx="4367" cy="2815"/>
            </a:xfrm>
            <a:custGeom>
              <a:avLst/>
              <a:gdLst>
                <a:gd name="connsiteX0" fmla="*/ 24770 w 5249556"/>
                <a:gd name="connsiteY0" fmla="*/ 24759 h 2624460"/>
                <a:gd name="connsiteX1" fmla="*/ 288890 w 5249556"/>
                <a:gd name="connsiteY1" fmla="*/ 24759 h 2624460"/>
                <a:gd name="connsiteX2" fmla="*/ 288890 w 5249556"/>
                <a:gd name="connsiteY2" fmla="*/ 0 h 2624460"/>
                <a:gd name="connsiteX3" fmla="*/ 0 w 5249556"/>
                <a:gd name="connsiteY3" fmla="*/ 0 h 2624460"/>
                <a:gd name="connsiteX4" fmla="*/ 0 w 5249556"/>
                <a:gd name="connsiteY4" fmla="*/ 24759 h 2624460"/>
                <a:gd name="connsiteX5" fmla="*/ 8 w 5249556"/>
                <a:gd name="connsiteY5" fmla="*/ 24759 h 2624460"/>
                <a:gd name="connsiteX6" fmla="*/ 8 w 5249556"/>
                <a:gd name="connsiteY6" fmla="*/ 288856 h 2624460"/>
                <a:gd name="connsiteX7" fmla="*/ 24770 w 5249556"/>
                <a:gd name="connsiteY7" fmla="*/ 288856 h 2624460"/>
                <a:gd name="connsiteX8" fmla="*/ 24770 w 5249556"/>
                <a:gd name="connsiteY8" fmla="*/ 24759 h 2624460"/>
                <a:gd name="connsiteX9" fmla="*/ 5224786 w 5249556"/>
                <a:gd name="connsiteY9" fmla="*/ 0 h 2624460"/>
                <a:gd name="connsiteX10" fmla="*/ 4960666 w 5249556"/>
                <a:gd name="connsiteY10" fmla="*/ 0 h 2624460"/>
                <a:gd name="connsiteX11" fmla="*/ 4960666 w 5249556"/>
                <a:gd name="connsiteY11" fmla="*/ 24759 h 2624460"/>
                <a:gd name="connsiteX12" fmla="*/ 5224786 w 5249556"/>
                <a:gd name="connsiteY12" fmla="*/ 24759 h 2624460"/>
                <a:gd name="connsiteX13" fmla="*/ 5224786 w 5249556"/>
                <a:gd name="connsiteY13" fmla="*/ 288856 h 2624460"/>
                <a:gd name="connsiteX14" fmla="*/ 5249548 w 5249556"/>
                <a:gd name="connsiteY14" fmla="*/ 288856 h 2624460"/>
                <a:gd name="connsiteX15" fmla="*/ 5249548 w 5249556"/>
                <a:gd name="connsiteY15" fmla="*/ 24759 h 2624460"/>
                <a:gd name="connsiteX16" fmla="*/ 5249556 w 5249556"/>
                <a:gd name="connsiteY16" fmla="*/ 24759 h 2624460"/>
                <a:gd name="connsiteX17" fmla="*/ 5249556 w 5249556"/>
                <a:gd name="connsiteY17" fmla="*/ 0 h 2624460"/>
                <a:gd name="connsiteX18" fmla="*/ 5224786 w 5249556"/>
                <a:gd name="connsiteY18" fmla="*/ 0 h 2624460"/>
                <a:gd name="connsiteX19" fmla="*/ 24770 w 5249556"/>
                <a:gd name="connsiteY19" fmla="*/ 2599702 h 2624460"/>
                <a:gd name="connsiteX20" fmla="*/ 24770 w 5249556"/>
                <a:gd name="connsiteY20" fmla="*/ 2335605 h 2624460"/>
                <a:gd name="connsiteX21" fmla="*/ 8 w 5249556"/>
                <a:gd name="connsiteY21" fmla="*/ 2335605 h 2624460"/>
                <a:gd name="connsiteX22" fmla="*/ 8 w 5249556"/>
                <a:gd name="connsiteY22" fmla="*/ 2599702 h 2624460"/>
                <a:gd name="connsiteX23" fmla="*/ 0 w 5249556"/>
                <a:gd name="connsiteY23" fmla="*/ 2599702 h 2624460"/>
                <a:gd name="connsiteX24" fmla="*/ 0 w 5249556"/>
                <a:gd name="connsiteY24" fmla="*/ 2624461 h 2624460"/>
                <a:gd name="connsiteX25" fmla="*/ 288890 w 5249556"/>
                <a:gd name="connsiteY25" fmla="*/ 2624461 h 2624460"/>
                <a:gd name="connsiteX26" fmla="*/ 288890 w 5249556"/>
                <a:gd name="connsiteY26" fmla="*/ 2599702 h 2624460"/>
                <a:gd name="connsiteX27" fmla="*/ 24770 w 5249556"/>
                <a:gd name="connsiteY27" fmla="*/ 2599702 h 2624460"/>
                <a:gd name="connsiteX28" fmla="*/ 5249548 w 5249556"/>
                <a:gd name="connsiteY28" fmla="*/ 2599702 h 2624460"/>
                <a:gd name="connsiteX29" fmla="*/ 5249548 w 5249556"/>
                <a:gd name="connsiteY29" fmla="*/ 2335605 h 2624460"/>
                <a:gd name="connsiteX30" fmla="*/ 5224786 w 5249556"/>
                <a:gd name="connsiteY30" fmla="*/ 2335605 h 2624460"/>
                <a:gd name="connsiteX31" fmla="*/ 5224786 w 5249556"/>
                <a:gd name="connsiteY31" fmla="*/ 2599702 h 2624460"/>
                <a:gd name="connsiteX32" fmla="*/ 4960666 w 5249556"/>
                <a:gd name="connsiteY32" fmla="*/ 2599702 h 2624460"/>
                <a:gd name="connsiteX33" fmla="*/ 4960666 w 5249556"/>
                <a:gd name="connsiteY33" fmla="*/ 2624461 h 2624460"/>
                <a:gd name="connsiteX34" fmla="*/ 5249556 w 5249556"/>
                <a:gd name="connsiteY34" fmla="*/ 2624461 h 2624460"/>
                <a:gd name="connsiteX35" fmla="*/ 5249556 w 5249556"/>
                <a:gd name="connsiteY35" fmla="*/ 2599702 h 2624460"/>
                <a:gd name="connsiteX36" fmla="*/ 5249548 w 5249556"/>
                <a:gd name="connsiteY36" fmla="*/ 2599702 h 2624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249556" h="2624460">
                  <a:moveTo>
                    <a:pt x="24770" y="24759"/>
                  </a:moveTo>
                  <a:lnTo>
                    <a:pt x="288890" y="24759"/>
                  </a:lnTo>
                  <a:lnTo>
                    <a:pt x="288890" y="0"/>
                  </a:lnTo>
                  <a:lnTo>
                    <a:pt x="0" y="0"/>
                  </a:lnTo>
                  <a:lnTo>
                    <a:pt x="0" y="24759"/>
                  </a:lnTo>
                  <a:lnTo>
                    <a:pt x="8" y="24759"/>
                  </a:lnTo>
                  <a:lnTo>
                    <a:pt x="8" y="288856"/>
                  </a:lnTo>
                  <a:lnTo>
                    <a:pt x="24770" y="288856"/>
                  </a:lnTo>
                  <a:lnTo>
                    <a:pt x="24770" y="24759"/>
                  </a:lnTo>
                  <a:close/>
                  <a:moveTo>
                    <a:pt x="5224786" y="0"/>
                  </a:moveTo>
                  <a:lnTo>
                    <a:pt x="4960666" y="0"/>
                  </a:lnTo>
                  <a:lnTo>
                    <a:pt x="4960666" y="24759"/>
                  </a:lnTo>
                  <a:lnTo>
                    <a:pt x="5224786" y="24759"/>
                  </a:lnTo>
                  <a:lnTo>
                    <a:pt x="5224786" y="288856"/>
                  </a:lnTo>
                  <a:lnTo>
                    <a:pt x="5249548" y="288856"/>
                  </a:lnTo>
                  <a:lnTo>
                    <a:pt x="5249548" y="24759"/>
                  </a:lnTo>
                  <a:lnTo>
                    <a:pt x="5249556" y="24759"/>
                  </a:lnTo>
                  <a:lnTo>
                    <a:pt x="5249556" y="0"/>
                  </a:lnTo>
                  <a:lnTo>
                    <a:pt x="5224786" y="0"/>
                  </a:lnTo>
                  <a:close/>
                  <a:moveTo>
                    <a:pt x="24770" y="2599702"/>
                  </a:moveTo>
                  <a:lnTo>
                    <a:pt x="24770" y="2335605"/>
                  </a:lnTo>
                  <a:lnTo>
                    <a:pt x="8" y="2335605"/>
                  </a:lnTo>
                  <a:lnTo>
                    <a:pt x="8" y="2599702"/>
                  </a:lnTo>
                  <a:lnTo>
                    <a:pt x="0" y="2599702"/>
                  </a:lnTo>
                  <a:lnTo>
                    <a:pt x="0" y="2624461"/>
                  </a:lnTo>
                  <a:lnTo>
                    <a:pt x="288890" y="2624461"/>
                  </a:lnTo>
                  <a:lnTo>
                    <a:pt x="288890" y="2599702"/>
                  </a:lnTo>
                  <a:lnTo>
                    <a:pt x="24770" y="2599702"/>
                  </a:lnTo>
                  <a:close/>
                  <a:moveTo>
                    <a:pt x="5249548" y="2599702"/>
                  </a:moveTo>
                  <a:lnTo>
                    <a:pt x="5249548" y="2335605"/>
                  </a:lnTo>
                  <a:lnTo>
                    <a:pt x="5224786" y="2335605"/>
                  </a:lnTo>
                  <a:lnTo>
                    <a:pt x="5224786" y="2599702"/>
                  </a:lnTo>
                  <a:lnTo>
                    <a:pt x="4960666" y="2599702"/>
                  </a:lnTo>
                  <a:lnTo>
                    <a:pt x="4960666" y="2624461"/>
                  </a:lnTo>
                  <a:lnTo>
                    <a:pt x="5249556" y="2624461"/>
                  </a:lnTo>
                  <a:lnTo>
                    <a:pt x="5249556" y="2599702"/>
                  </a:lnTo>
                  <a:lnTo>
                    <a:pt x="5249548" y="2599702"/>
                  </a:lnTo>
                  <a:close/>
                </a:path>
              </a:pathLst>
            </a:custGeom>
            <a:solidFill>
              <a:srgbClr val="3F8BE8"/>
            </a:solidFill>
            <a:ln w="8243" cap="flat">
              <a:no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sz="1200"/>
            </a:p>
          </p:txBody>
        </p:sp>
        <p:sp>
          <p:nvSpPr>
            <p:cNvPr id="73" name="文本框 72"/>
            <p:cNvSpPr txBox="1"/>
            <p:nvPr/>
          </p:nvSpPr>
          <p:spPr>
            <a:xfrm>
              <a:off x="9752" y="2226"/>
              <a:ext cx="4078" cy="2326"/>
            </a:xfrm>
            <a:prstGeom prst="rect">
              <a:avLst/>
            </a:prstGeom>
            <a:noFill/>
          </p:spPr>
          <p:txBody>
            <a:bodyPr wrap="square" rtlCol="0" anchor="ctr">
              <a:noAutofit/>
            </a:bodyPr>
            <a:lstStyle/>
            <a:p>
              <a:pPr algn="just">
                <a:lnSpc>
                  <a:spcPct val="100000"/>
                </a:lnSpc>
              </a:pPr>
              <a:r>
                <a:rPr lang="zh-CN" altLang="en-US" sz="1200" dirty="0">
                  <a:latin typeface="微软雅黑" panose="020B0503020204020204" charset="-122"/>
                  <a:ea typeface="微软雅黑" panose="020B0503020204020204" charset="-122"/>
                  <a:sym typeface="+mn-ea"/>
                </a:rPr>
                <a:t>面对新一代人工智能技术快速演进的新形势，</a:t>
              </a:r>
              <a:r>
                <a:rPr sz="1200" b="1"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sym typeface="+mn-ea"/>
                </a:rPr>
                <a:t>要充分发挥新型举国体制优势</a:t>
              </a:r>
              <a:r>
                <a:rPr lang="zh-CN" altLang="en-US" sz="1200" dirty="0">
                  <a:latin typeface="微软雅黑" panose="020B0503020204020204" charset="-122"/>
                  <a:ea typeface="微软雅黑" panose="020B0503020204020204" charset="-122"/>
                  <a:sym typeface="+mn-ea"/>
                </a:rPr>
                <a:t>，坚持自立自强，突出应用导向，推动我国人工智能朝着</a:t>
              </a:r>
              <a:r>
                <a:rPr sz="1200" b="1"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sym typeface="+mn-ea"/>
                </a:rPr>
                <a:t>有益、安全、公平方向健康有序发展</a:t>
              </a:r>
              <a:r>
                <a:rPr lang="zh-CN" altLang="en-US" sz="1200" dirty="0">
                  <a:latin typeface="微软雅黑" panose="020B0503020204020204" charset="-122"/>
                  <a:ea typeface="微软雅黑" panose="020B0503020204020204" charset="-122"/>
                  <a:sym typeface="+mn-ea"/>
                </a:rPr>
                <a:t>。</a:t>
              </a:r>
              <a:r>
                <a:rPr lang="en-US" altLang="zh-CN" sz="1200" dirty="0">
                  <a:latin typeface="微软雅黑" panose="020B0503020204020204" charset="-122"/>
                  <a:ea typeface="微软雅黑" panose="020B0503020204020204" charset="-122"/>
                  <a:sym typeface="+mn-ea"/>
                </a:rPr>
                <a:t>a</a:t>
              </a:r>
              <a:endParaRPr lang="zh-CN" altLang="en-US" sz="1200" dirty="0">
                <a:latin typeface="微软雅黑" panose="020B0503020204020204" charset="-122"/>
                <a:ea typeface="微软雅黑" panose="020B0503020204020204" charset="-122"/>
              </a:endParaRPr>
            </a:p>
            <a:p>
              <a:pPr algn="just">
                <a:lnSpc>
                  <a:spcPct val="100000"/>
                </a:lnSpc>
                <a:spcBef>
                  <a:spcPts val="600"/>
                </a:spcBef>
                <a:buClrTx/>
                <a:buSzTx/>
                <a:buFontTx/>
              </a:pPr>
              <a:r>
                <a:rPr lang="zh-CN" altLang="en-US" sz="1200" dirty="0">
                  <a:solidFill>
                    <a:schemeClr val="bg1">
                      <a:lumMod val="50000"/>
                    </a:schemeClr>
                  </a:solidFill>
                  <a:effectLst/>
                  <a:latin typeface="微软雅黑" panose="020B0503020204020204" charset="-122"/>
                  <a:ea typeface="微软雅黑" panose="020B0503020204020204" charset="-122"/>
                  <a:sym typeface="+mn-ea"/>
                </a:rPr>
                <a:t>——2025年4月25日，在二十届中央政治局第二十次集体学习时强调</a:t>
              </a:r>
              <a:endParaRPr lang="zh-CN" altLang="en-US" sz="1200" dirty="0">
                <a:solidFill>
                  <a:schemeClr val="bg1">
                    <a:lumMod val="50000"/>
                  </a:schemeClr>
                </a:solidFill>
                <a:effectLst/>
                <a:latin typeface="微软雅黑" panose="020B0503020204020204" charset="-122"/>
                <a:ea typeface="微软雅黑" panose="020B0503020204020204" charset="-122"/>
              </a:endParaRPr>
            </a:p>
            <a:p>
              <a:pPr algn="just">
                <a:lnSpc>
                  <a:spcPct val="100000"/>
                </a:lnSpc>
                <a:spcBef>
                  <a:spcPts val="600"/>
                </a:spcBef>
                <a:buClrTx/>
                <a:buSzTx/>
                <a:buFontTx/>
              </a:pPr>
              <a:endParaRPr lang="zh-CN" altLang="en-US" sz="1200" dirty="0">
                <a:solidFill>
                  <a:schemeClr val="bg1">
                    <a:lumMod val="50000"/>
                  </a:schemeClr>
                </a:solidFill>
                <a:effectLst/>
                <a:latin typeface="微软雅黑" panose="020B0503020204020204" charset="-122"/>
                <a:ea typeface="微软雅黑" panose="020B0503020204020204" charset="-122"/>
              </a:endParaRPr>
            </a:p>
          </p:txBody>
        </p:sp>
      </p:grpSp>
      <p:sp>
        <p:nvSpPr>
          <p:cNvPr id="79" name="文本框 78"/>
          <p:cNvSpPr txBox="1"/>
          <p:nvPr/>
        </p:nvSpPr>
        <p:spPr>
          <a:xfrm>
            <a:off x="277495" y="799465"/>
            <a:ext cx="7840345" cy="337185"/>
          </a:xfrm>
          <a:prstGeom prst="rect">
            <a:avLst/>
          </a:prstGeom>
        </p:spPr>
        <p:txBody>
          <a:bodyPr wrap="square">
            <a:spAutoFit/>
          </a:bodyPr>
          <a:p>
            <a:pPr marL="0" indent="0" algn="just">
              <a:spcBef>
                <a:spcPts val="1500"/>
              </a:spcBef>
              <a:spcAft>
                <a:spcPct val="0"/>
              </a:spcAft>
            </a:pPr>
            <a:r>
              <a:rPr lang="zh-CN" altLang="en-US" sz="1600" b="1" i="0">
                <a:solidFill>
                  <a:srgbClr val="333333"/>
                </a:solidFill>
                <a:latin typeface="微软雅黑" panose="020B0503020204020204" charset="-122"/>
                <a:ea typeface="微软雅黑" panose="020B0503020204020204" charset="-122"/>
              </a:rPr>
              <a:t>抢抓人工智能发展的</a:t>
            </a:r>
            <a:r>
              <a:rPr lang="zh-CN" altLang="en-US" sz="1600" b="1" i="0">
                <a:solidFill>
                  <a:srgbClr val="00A6C7"/>
                </a:solidFill>
                <a:latin typeface="微软雅黑" panose="020B0503020204020204" charset="-122"/>
                <a:ea typeface="微软雅黑" panose="020B0503020204020204" charset="-122"/>
              </a:rPr>
              <a:t>历史性机遇</a:t>
            </a:r>
            <a:r>
              <a:rPr lang="en-US" altLang="zh-CN" sz="1600" b="1" i="0">
                <a:solidFill>
                  <a:srgbClr val="333333"/>
                </a:solidFill>
                <a:latin typeface="微软雅黑" panose="020B0503020204020204" charset="-122"/>
                <a:ea typeface="微软雅黑" panose="020B0503020204020204" charset="-122"/>
              </a:rPr>
              <a:t>——</a:t>
            </a:r>
            <a:r>
              <a:rPr lang="zh-CN" altLang="en-US" sz="1600" b="1" i="0">
                <a:solidFill>
                  <a:srgbClr val="333333"/>
                </a:solidFill>
                <a:latin typeface="微软雅黑" panose="020B0503020204020204" charset="-122"/>
                <a:ea typeface="微软雅黑" panose="020B0503020204020204" charset="-122"/>
              </a:rPr>
              <a:t>深刻领会习近平总书记关于人工智能的重要论述</a:t>
            </a:r>
            <a:endParaRPr lang="zh-CN" altLang="en-US" sz="1600" b="1" i="0">
              <a:solidFill>
                <a:srgbClr val="333333"/>
              </a:solidFill>
              <a:latin typeface="微软雅黑" panose="020B0503020204020204" charset="-122"/>
              <a:ea typeface="微软雅黑" panose="020B0503020204020204" charset="-122"/>
            </a:endParaRPr>
          </a:p>
        </p:txBody>
      </p:sp>
      <p:sp>
        <p:nvSpPr>
          <p:cNvPr id="8" name="文本框 7"/>
          <p:cNvSpPr txBox="1"/>
          <p:nvPr/>
        </p:nvSpPr>
        <p:spPr>
          <a:xfrm>
            <a:off x="4795520" y="3603625"/>
            <a:ext cx="2601595" cy="356870"/>
          </a:xfrm>
          <a:prstGeom prst="rect">
            <a:avLst/>
          </a:prstGeom>
        </p:spPr>
        <p:txBody>
          <a:bodyPr wrap="square" lIns="0" tIns="0" rIns="0" bIns="0" anchor="ctr" anchorCtr="0">
            <a:noAutofit/>
          </a:bodyPr>
          <a:p>
            <a:pPr indent="0" algn="ctr" defTabSz="266700" fontAlgn="auto">
              <a:lnSpc>
                <a:spcPct val="150000"/>
              </a:lnSpc>
              <a:spcBef>
                <a:spcPct val="0"/>
              </a:spcBef>
              <a:spcAft>
                <a:spcPct val="0"/>
              </a:spcAft>
            </a:pPr>
            <a:r>
              <a:rPr lang="zh-CN" altLang="en-US" sz="1600" b="1">
                <a:solidFill>
                  <a:srgbClr val="00A6C7"/>
                </a:solidFill>
                <a:latin typeface="微软雅黑" panose="020B0503020204020204" charset="-122"/>
                <a:ea typeface="微软雅黑" panose="020B0503020204020204" charset="-122"/>
              </a:rPr>
              <a:t>数字重庆建设推进会</a:t>
            </a:r>
            <a:endParaRPr lang="zh-CN" altLang="en-US" sz="1600" b="1">
              <a:solidFill>
                <a:srgbClr val="00A6C7"/>
              </a:solidFill>
              <a:latin typeface="微软雅黑" panose="020B0503020204020204" charset="-122"/>
              <a:ea typeface="微软雅黑" panose="020B050302020402020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775" name="圆角矩形 234"/>
          <p:cNvSpPr/>
          <p:nvPr/>
        </p:nvSpPr>
        <p:spPr bwMode="auto">
          <a:xfrm>
            <a:off x="1524000" y="2805430"/>
            <a:ext cx="9552305" cy="676275"/>
          </a:xfrm>
          <a:prstGeom prst="roundRect">
            <a:avLst>
              <a:gd name="adj" fmla="val 2331"/>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endParaRPr lang="zh-CN" altLang="en-US" sz="600" kern="100" dirty="0">
              <a:solidFill>
                <a:srgbClr val="CCECFF"/>
              </a:solidFill>
              <a:latin typeface="微软雅黑" panose="020B0503020204020204" charset="-122"/>
              <a:ea typeface="微软雅黑" panose="020B0503020204020204" charset="-122"/>
              <a:sym typeface="Calibri" panose="020F0502020204030204" charset="0"/>
            </a:endParaRPr>
          </a:p>
        </p:txBody>
      </p:sp>
      <p:grpSp>
        <p:nvGrpSpPr>
          <p:cNvPr id="776" name="组合 775"/>
          <p:cNvGrpSpPr/>
          <p:nvPr/>
        </p:nvGrpSpPr>
        <p:grpSpPr>
          <a:xfrm>
            <a:off x="1544955" y="1307465"/>
            <a:ext cx="9500870" cy="445135"/>
            <a:chOff x="2433" y="2125"/>
            <a:chExt cx="14962" cy="701"/>
          </a:xfrm>
        </p:grpSpPr>
        <p:sp>
          <p:nvSpPr>
            <p:cNvPr id="777" name="矩形: 圆角 114"/>
            <p:cNvSpPr/>
            <p:nvPr/>
          </p:nvSpPr>
          <p:spPr bwMode="auto">
            <a:xfrm rot="5400000">
              <a:off x="13967" y="2275"/>
              <a:ext cx="171" cy="904"/>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图书管理智能体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78" name="矩形: 圆角 114"/>
            <p:cNvSpPr/>
            <p:nvPr/>
          </p:nvSpPr>
          <p:spPr bwMode="auto">
            <a:xfrm rot="5400000">
              <a:off x="14981" y="2271"/>
              <a:ext cx="171" cy="904"/>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a:t>
              </a:r>
              <a:endPar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79" name="矩形: 圆角 114"/>
            <p:cNvSpPr/>
            <p:nvPr/>
          </p:nvSpPr>
          <p:spPr bwMode="auto">
            <a:xfrm rot="5400000">
              <a:off x="16862" y="2281"/>
              <a:ext cx="174" cy="89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智慧检务智能体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80" name="矩形: 圆角 114"/>
            <p:cNvSpPr/>
            <p:nvPr/>
          </p:nvSpPr>
          <p:spPr bwMode="auto">
            <a:xfrm rot="5400000">
              <a:off x="15933" y="2281"/>
              <a:ext cx="174" cy="89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矛盾纠纷防范智能体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81" name="矩形: 圆角 114"/>
            <p:cNvSpPr/>
            <p:nvPr/>
          </p:nvSpPr>
          <p:spPr bwMode="auto">
            <a:xfrm rot="5400000">
              <a:off x="10688" y="2320"/>
              <a:ext cx="276" cy="706"/>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餐饮安全在线智能体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82" name="矩形: 圆角 114"/>
            <p:cNvSpPr/>
            <p:nvPr/>
          </p:nvSpPr>
          <p:spPr bwMode="auto">
            <a:xfrm rot="5400000">
              <a:off x="11457" y="2320"/>
              <a:ext cx="276" cy="706"/>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就业智能体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83" name="矩形: 圆角 114"/>
            <p:cNvSpPr/>
            <p:nvPr/>
          </p:nvSpPr>
          <p:spPr bwMode="auto">
            <a:xfrm rot="5400000">
              <a:off x="12239" y="2320"/>
              <a:ext cx="276" cy="706"/>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信用</a:t>
              </a:r>
              <a:r>
                <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a:t>
              </a: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84" name="矩形: 圆角 114"/>
            <p:cNvSpPr/>
            <p:nvPr/>
          </p:nvSpPr>
          <p:spPr bwMode="auto">
            <a:xfrm rot="5400000">
              <a:off x="13011" y="2297"/>
              <a:ext cx="276" cy="758"/>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a:t>
              </a:r>
              <a:endPar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85" name="矩形: 圆角 114"/>
            <p:cNvSpPr/>
            <p:nvPr/>
          </p:nvSpPr>
          <p:spPr bwMode="auto">
            <a:xfrm rot="5400000">
              <a:off x="10688" y="1927"/>
              <a:ext cx="276" cy="706"/>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医检互认智能体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86" name="矩形: 圆角 114"/>
            <p:cNvSpPr/>
            <p:nvPr/>
          </p:nvSpPr>
          <p:spPr bwMode="auto">
            <a:xfrm rot="5400000">
              <a:off x="11464" y="1927"/>
              <a:ext cx="276" cy="706"/>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欠薪治理智能体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87" name="矩形: 圆角 114"/>
            <p:cNvSpPr/>
            <p:nvPr/>
          </p:nvSpPr>
          <p:spPr bwMode="auto">
            <a:xfrm rot="5400000">
              <a:off x="13009" y="1902"/>
              <a:ext cx="276" cy="757"/>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三医联动智能体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88" name="矩形: 圆角 114"/>
            <p:cNvSpPr/>
            <p:nvPr/>
          </p:nvSpPr>
          <p:spPr bwMode="auto">
            <a:xfrm rot="5400000">
              <a:off x="12237" y="1927"/>
              <a:ext cx="276" cy="706"/>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渝运安智能体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89" name="矩形: 圆角 114"/>
            <p:cNvSpPr/>
            <p:nvPr/>
          </p:nvSpPr>
          <p:spPr bwMode="auto">
            <a:xfrm rot="5400000">
              <a:off x="2739" y="2240"/>
              <a:ext cx="281" cy="893"/>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党员管理智能体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90" name="矩形: 圆角 114"/>
            <p:cNvSpPr/>
            <p:nvPr/>
          </p:nvSpPr>
          <p:spPr bwMode="auto">
            <a:xfrm rot="5400000">
              <a:off x="3732" y="2240"/>
              <a:ext cx="281" cy="893"/>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人才管理智能体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91" name="矩形: 圆角 114"/>
            <p:cNvSpPr/>
            <p:nvPr/>
          </p:nvSpPr>
          <p:spPr bwMode="auto">
            <a:xfrm rot="5400000">
              <a:off x="4725" y="2240"/>
              <a:ext cx="281" cy="893"/>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a:t>
              </a:r>
              <a:endPar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92" name="矩形: 圆角 114"/>
            <p:cNvSpPr/>
            <p:nvPr/>
          </p:nvSpPr>
          <p:spPr bwMode="auto">
            <a:xfrm rot="5400000">
              <a:off x="2739" y="1835"/>
              <a:ext cx="281" cy="893"/>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公务活动在线智能体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93" name="矩形: 圆角 114"/>
            <p:cNvSpPr/>
            <p:nvPr/>
          </p:nvSpPr>
          <p:spPr bwMode="auto">
            <a:xfrm rot="5400000">
              <a:off x="3738" y="1835"/>
              <a:ext cx="281" cy="893"/>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一表通智能体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94" name="矩形: 圆角 114"/>
            <p:cNvSpPr/>
            <p:nvPr/>
          </p:nvSpPr>
          <p:spPr bwMode="auto">
            <a:xfrm rot="5400000">
              <a:off x="4738" y="1835"/>
              <a:ext cx="281" cy="893"/>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文件融</a:t>
              </a:r>
              <a:r>
                <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e</a:t>
              </a: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查智能体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95" name="矩形: 圆角 114"/>
            <p:cNvSpPr/>
            <p:nvPr/>
          </p:nvSpPr>
          <p:spPr bwMode="auto">
            <a:xfrm rot="5400000">
              <a:off x="13963" y="2029"/>
              <a:ext cx="171" cy="904"/>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全媒体传播智能体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96" name="矩形: 圆角 114"/>
            <p:cNvSpPr/>
            <p:nvPr/>
          </p:nvSpPr>
          <p:spPr bwMode="auto">
            <a:xfrm rot="5400000">
              <a:off x="14977" y="2030"/>
              <a:ext cx="171" cy="904"/>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舆情管控智能体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97" name="矩形: 圆角 114"/>
            <p:cNvSpPr/>
            <p:nvPr/>
          </p:nvSpPr>
          <p:spPr bwMode="auto">
            <a:xfrm rot="5400000">
              <a:off x="16859" y="2022"/>
              <a:ext cx="174" cy="89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智慧执法智能体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98" name="矩形: 圆角 114"/>
            <p:cNvSpPr/>
            <p:nvPr/>
          </p:nvSpPr>
          <p:spPr bwMode="auto">
            <a:xfrm rot="5400000">
              <a:off x="15928" y="2033"/>
              <a:ext cx="174" cy="89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智慧戒毒智能体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799" name="矩形: 圆角 114"/>
            <p:cNvSpPr/>
            <p:nvPr/>
          </p:nvSpPr>
          <p:spPr bwMode="auto">
            <a:xfrm rot="5400000">
              <a:off x="5636" y="2122"/>
              <a:ext cx="173" cy="72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lstStyle/>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森林防火智能体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00" name="矩形: 圆角 114"/>
            <p:cNvSpPr/>
            <p:nvPr/>
          </p:nvSpPr>
          <p:spPr bwMode="auto">
            <a:xfrm rot="5400000">
              <a:off x="6423" y="2122"/>
              <a:ext cx="173" cy="72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lstStyle/>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网约房管理智能体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01" name="矩形: 圆角 114"/>
            <p:cNvSpPr/>
            <p:nvPr/>
          </p:nvSpPr>
          <p:spPr bwMode="auto">
            <a:xfrm rot="5400000">
              <a:off x="7211" y="2122"/>
              <a:ext cx="173" cy="72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lstStyle/>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民呼我为智能体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02" name="矩形: 圆角 114"/>
            <p:cNvSpPr/>
            <p:nvPr/>
          </p:nvSpPr>
          <p:spPr bwMode="auto">
            <a:xfrm rot="5400000">
              <a:off x="5633" y="2375"/>
              <a:ext cx="173" cy="72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lstStyle/>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城市内涝智能体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03" name="矩形: 圆角 114"/>
            <p:cNvSpPr/>
            <p:nvPr/>
          </p:nvSpPr>
          <p:spPr bwMode="auto">
            <a:xfrm rot="5400000">
              <a:off x="6420" y="2375"/>
              <a:ext cx="173" cy="72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lstStyle/>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高楼消防智能体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04" name="矩形: 圆角 114"/>
            <p:cNvSpPr/>
            <p:nvPr/>
          </p:nvSpPr>
          <p:spPr bwMode="auto">
            <a:xfrm rot="5400000">
              <a:off x="7211" y="2370"/>
              <a:ext cx="173" cy="72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a:t>
              </a:r>
              <a:endPar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05" name="矩形: 圆角 114"/>
            <p:cNvSpPr/>
            <p:nvPr/>
          </p:nvSpPr>
          <p:spPr bwMode="auto">
            <a:xfrm rot="5400000">
              <a:off x="7981" y="2263"/>
              <a:ext cx="282" cy="819"/>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数智金融智能体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06" name="矩形: 圆角 114"/>
            <p:cNvSpPr/>
            <p:nvPr/>
          </p:nvSpPr>
          <p:spPr bwMode="auto">
            <a:xfrm rot="5400000">
              <a:off x="9807" y="2254"/>
              <a:ext cx="282" cy="83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a:t>
              </a:r>
              <a:endPar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07" name="矩形: 圆角 114"/>
            <p:cNvSpPr/>
            <p:nvPr/>
          </p:nvSpPr>
          <p:spPr bwMode="auto">
            <a:xfrm rot="5400000">
              <a:off x="7981" y="1873"/>
              <a:ext cx="282" cy="819"/>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企业码上服务智能体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08" name="矩形: 圆角 114"/>
            <p:cNvSpPr/>
            <p:nvPr/>
          </p:nvSpPr>
          <p:spPr bwMode="auto">
            <a:xfrm rot="5400000">
              <a:off x="8874" y="1873"/>
              <a:ext cx="282" cy="819"/>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宏观经济运行监测智能体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09" name="矩形: 圆角 114"/>
            <p:cNvSpPr/>
            <p:nvPr/>
          </p:nvSpPr>
          <p:spPr bwMode="auto">
            <a:xfrm rot="5400000">
              <a:off x="9814" y="1873"/>
              <a:ext cx="282" cy="819"/>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国企监管智能体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10" name="矩形: 圆角 114"/>
            <p:cNvSpPr/>
            <p:nvPr/>
          </p:nvSpPr>
          <p:spPr bwMode="auto">
            <a:xfrm rot="5400000">
              <a:off x="8877" y="2258"/>
              <a:ext cx="282" cy="83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经济数据分析智能体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11" name="矩形: 圆角 114"/>
            <p:cNvSpPr/>
            <p:nvPr/>
          </p:nvSpPr>
          <p:spPr bwMode="auto">
            <a:xfrm rot="5400000">
              <a:off x="13963" y="1773"/>
              <a:ext cx="171" cy="904"/>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情感强度分析智能体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12" name="矩形: 圆角 114"/>
            <p:cNvSpPr/>
            <p:nvPr/>
          </p:nvSpPr>
          <p:spPr bwMode="auto">
            <a:xfrm rot="5400000">
              <a:off x="14977" y="1774"/>
              <a:ext cx="171" cy="904"/>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个人信息安全解答智能体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13" name="矩形: 圆角 114"/>
            <p:cNvSpPr/>
            <p:nvPr/>
          </p:nvSpPr>
          <p:spPr bwMode="auto">
            <a:xfrm rot="5400000">
              <a:off x="16859" y="1766"/>
              <a:ext cx="174" cy="89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刑法小助手智能体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14" name="矩形: 圆角 114"/>
            <p:cNvSpPr/>
            <p:nvPr/>
          </p:nvSpPr>
          <p:spPr bwMode="auto">
            <a:xfrm rot="5400000">
              <a:off x="15928" y="1776"/>
              <a:ext cx="174" cy="89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消防法律查询智能体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15" name="矩形: 圆角 114"/>
            <p:cNvSpPr/>
            <p:nvPr/>
          </p:nvSpPr>
          <p:spPr bwMode="auto">
            <a:xfrm rot="5400000">
              <a:off x="5636" y="1866"/>
              <a:ext cx="173" cy="72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防汛智能体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16" name="矩形: 圆角 114"/>
            <p:cNvSpPr/>
            <p:nvPr/>
          </p:nvSpPr>
          <p:spPr bwMode="auto">
            <a:xfrm rot="5400000">
              <a:off x="6423" y="1866"/>
              <a:ext cx="173" cy="72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化债智能体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817" name="矩形: 圆角 114"/>
            <p:cNvSpPr/>
            <p:nvPr/>
          </p:nvSpPr>
          <p:spPr bwMode="auto">
            <a:xfrm rot="5400000">
              <a:off x="7211" y="1866"/>
              <a:ext cx="173" cy="722"/>
            </a:xfrm>
            <a:prstGeom prst="roundRect">
              <a:avLst>
                <a:gd name="adj" fmla="val 0"/>
              </a:avLst>
            </a:prstGeom>
            <a:noFill/>
            <a:ln w="9525" cap="flat" cmpd="sng" algn="ctr">
              <a:solidFill>
                <a:srgbClr val="5B9BD5"/>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r>
                <a:rPr lang="en-US" altLang="zh-CN"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AI</a:t>
              </a:r>
              <a:r>
                <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rPr>
                <a:t>地灾防治智能体</a:t>
              </a:r>
              <a:endParaRPr lang="zh-CN" altLang="en-US" sz="400" kern="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mn-ea"/>
              </a:endParaRPr>
            </a:p>
          </p:txBody>
        </p:sp>
      </p:grpSp>
      <p:sp>
        <p:nvSpPr>
          <p:cNvPr id="818" name="矩形 817"/>
          <p:cNvSpPr/>
          <p:nvPr/>
        </p:nvSpPr>
        <p:spPr bwMode="auto">
          <a:xfrm>
            <a:off x="868045" y="2496820"/>
            <a:ext cx="349885" cy="29337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endParaRPr kumimoji="1" lang="zh-CN" altLang="en-US" sz="700" b="1" kern="0" dirty="0">
              <a:solidFill>
                <a:prstClr val="white"/>
              </a:solidFill>
              <a:latin typeface="微软雅黑" panose="020B0503020204020204" charset="-122"/>
              <a:cs typeface="+mn-ea"/>
              <a:sym typeface="微软雅黑" panose="020B0503020204020204" charset="-122"/>
            </a:endParaRPr>
          </a:p>
        </p:txBody>
      </p:sp>
      <p:grpSp>
        <p:nvGrpSpPr>
          <p:cNvPr id="819" name="组合 818"/>
          <p:cNvGrpSpPr/>
          <p:nvPr/>
        </p:nvGrpSpPr>
        <p:grpSpPr>
          <a:xfrm rot="0">
            <a:off x="11174730" y="448310"/>
            <a:ext cx="882015" cy="6339840"/>
            <a:chOff x="17647" y="700"/>
            <a:chExt cx="1356" cy="9071"/>
          </a:xfrm>
        </p:grpSpPr>
        <p:sp>
          <p:nvSpPr>
            <p:cNvPr id="820" name="圆角矩形 320"/>
            <p:cNvSpPr/>
            <p:nvPr/>
          </p:nvSpPr>
          <p:spPr bwMode="auto">
            <a:xfrm>
              <a:off x="17647" y="700"/>
              <a:ext cx="283" cy="9071"/>
            </a:xfrm>
            <a:prstGeom prst="roundRect">
              <a:avLst>
                <a:gd name="adj" fmla="val 0"/>
              </a:avLst>
            </a:prstGeom>
            <a:solidFill>
              <a:srgbClr val="5B9BD5">
                <a:lumMod val="75000"/>
              </a:srgbClr>
            </a:solidFill>
            <a:ln w="12700" cap="flat" cmpd="sng" algn="ctr">
              <a:noFill/>
              <a:prstDash val="solid"/>
              <a:miter lim="800000"/>
            </a:ln>
            <a:effectLst/>
          </p:spPr>
          <p:txBody>
            <a:bodyPr vert="horz" wrap="square"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标准规范体系</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p:txBody>
        </p:sp>
        <p:sp>
          <p:nvSpPr>
            <p:cNvPr id="821" name="圆角矩形 320"/>
            <p:cNvSpPr/>
            <p:nvPr/>
          </p:nvSpPr>
          <p:spPr bwMode="auto">
            <a:xfrm>
              <a:off x="18005" y="700"/>
              <a:ext cx="283" cy="9071"/>
            </a:xfrm>
            <a:prstGeom prst="roundRect">
              <a:avLst>
                <a:gd name="adj" fmla="val 0"/>
              </a:avLst>
            </a:prstGeom>
            <a:solidFill>
              <a:srgbClr val="5B9BD5">
                <a:lumMod val="75000"/>
              </a:srgbClr>
            </a:solidFill>
            <a:ln w="12700" cap="flat" cmpd="sng" algn="ctr">
              <a:noFill/>
              <a:prstDash val="solid"/>
              <a:miter lim="800000"/>
            </a:ln>
            <a:effectLst/>
          </p:spPr>
          <p:txBody>
            <a:bodyPr vert="horz" wrap="square"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制度规则体系</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p:txBody>
        </p:sp>
        <p:sp>
          <p:nvSpPr>
            <p:cNvPr id="822" name="圆角矩形 320"/>
            <p:cNvSpPr/>
            <p:nvPr/>
          </p:nvSpPr>
          <p:spPr bwMode="auto">
            <a:xfrm>
              <a:off x="18363" y="701"/>
              <a:ext cx="283" cy="9071"/>
            </a:xfrm>
            <a:prstGeom prst="roundRect">
              <a:avLst>
                <a:gd name="adj" fmla="val 0"/>
              </a:avLst>
            </a:prstGeom>
            <a:solidFill>
              <a:srgbClr val="5B9BD5">
                <a:lumMod val="75000"/>
              </a:srgbClr>
            </a:solidFill>
            <a:ln w="12700" cap="flat" cmpd="sng" algn="ctr">
              <a:noFill/>
              <a:prstDash val="solid"/>
              <a:miter lim="800000"/>
            </a:ln>
            <a:effectLst/>
          </p:spPr>
          <p:txBody>
            <a:bodyPr vert="horz" wrap="square"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安全防护体系</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p:txBody>
        </p:sp>
        <p:sp>
          <p:nvSpPr>
            <p:cNvPr id="823" name="圆角矩形 320"/>
            <p:cNvSpPr/>
            <p:nvPr/>
          </p:nvSpPr>
          <p:spPr bwMode="auto">
            <a:xfrm>
              <a:off x="18721" y="700"/>
              <a:ext cx="283" cy="9071"/>
            </a:xfrm>
            <a:prstGeom prst="roundRect">
              <a:avLst>
                <a:gd name="adj" fmla="val 0"/>
              </a:avLst>
            </a:prstGeom>
            <a:solidFill>
              <a:srgbClr val="5B9BD5">
                <a:lumMod val="75000"/>
              </a:srgbClr>
            </a:solidFill>
            <a:ln w="12700" cap="flat" cmpd="sng" algn="ctr">
              <a:noFill/>
              <a:prstDash val="solid"/>
              <a:miter lim="800000"/>
            </a:ln>
            <a:effectLst/>
          </p:spPr>
          <p:txBody>
            <a:bodyPr vert="horz" wrap="square"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工作推进体系</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p:txBody>
        </p:sp>
      </p:grpSp>
      <p:sp>
        <p:nvSpPr>
          <p:cNvPr id="824" name="矩形 823"/>
          <p:cNvSpPr/>
          <p:nvPr/>
        </p:nvSpPr>
        <p:spPr bwMode="auto">
          <a:xfrm>
            <a:off x="158115" y="432435"/>
            <a:ext cx="641985" cy="1332230"/>
          </a:xfrm>
          <a:prstGeom prst="rect">
            <a:avLst/>
          </a:prstGeom>
          <a:solidFill>
            <a:srgbClr val="5B9BD5">
              <a:lumMod val="75000"/>
            </a:srgbClr>
          </a:solidFill>
          <a:ln w="12700" cap="flat" cmpd="sng" algn="ctr">
            <a:noFill/>
            <a:prstDash val="solid"/>
            <a:miter lim="800000"/>
          </a:ln>
          <a:effectLst/>
        </p:spPr>
        <p:txBody>
          <a:bodyPr lIns="91440" tIns="45720" rIns="91440" bIns="45720" rtlCol="0" anchor="ctr">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六</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大</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应</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用</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系</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统</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p:txBody>
      </p:sp>
      <p:sp>
        <p:nvSpPr>
          <p:cNvPr id="825" name="矩形: 圆角 96"/>
          <p:cNvSpPr/>
          <p:nvPr/>
        </p:nvSpPr>
        <p:spPr bwMode="auto">
          <a:xfrm>
            <a:off x="859790" y="445453"/>
            <a:ext cx="629920" cy="180000"/>
          </a:xfrm>
          <a:prstGeom prst="roundRect">
            <a:avLst>
              <a:gd name="adj" fmla="val 0"/>
            </a:avLst>
          </a:prstGeom>
          <a:solidFill>
            <a:srgbClr val="5B9BD5">
              <a:lumMod val="75000"/>
            </a:srgbClr>
          </a:solidFill>
          <a:ln w="12700" cap="flat" cmpd="sng" algn="ctr">
            <a:noFill/>
            <a:prstDash val="solid"/>
            <a:miter lim="800000"/>
          </a:ln>
          <a:effectLst/>
        </p:spPr>
        <p:txBody>
          <a:bodyPr vert="horz" wrap="square" lIns="91440"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两端</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p:txBody>
      </p:sp>
      <p:sp>
        <p:nvSpPr>
          <p:cNvPr id="826" name="矩形: 圆角 98"/>
          <p:cNvSpPr/>
          <p:nvPr/>
        </p:nvSpPr>
        <p:spPr bwMode="auto">
          <a:xfrm>
            <a:off x="6381115" y="445453"/>
            <a:ext cx="4685030" cy="180000"/>
          </a:xfrm>
          <a:prstGeom prst="roundRect">
            <a:avLst>
              <a:gd name="adj" fmla="val 0"/>
            </a:avLst>
          </a:prstGeom>
          <a:solidFill>
            <a:srgbClr val="5B9BD5">
              <a:lumMod val="75000"/>
            </a:srgbClr>
          </a:solidFill>
          <a:ln w="12700" cap="flat" cmpd="sng" algn="ctr">
            <a:noFill/>
            <a:prstDash val="solid"/>
            <a:miter lim="800000"/>
          </a:ln>
          <a:effectLst/>
        </p:spPr>
        <p:txBody>
          <a:bodyPr lIns="91440" tIns="45720" rIns="91440" bIns="45720" anchor="ctr" anchorCtr="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283210">
              <a:spcBef>
                <a:spcPts val="0"/>
              </a:spcBef>
              <a:buClrTx/>
              <a:buSzTx/>
              <a:buFontTx/>
            </a:pPr>
            <a:r>
              <a:rPr lang="zh-CN" altLang="en-US" sz="900" kern="100" dirty="0">
                <a:solidFill>
                  <a:schemeClr val="bg1"/>
                </a:solidFill>
                <a:latin typeface="微软雅黑" panose="020B0503020204020204" charset="-122"/>
                <a:sym typeface="+mn-ea"/>
              </a:rPr>
              <a:t>渝快政（AI+办文、AI+办会、AI+办事）</a:t>
            </a:r>
            <a:endParaRPr lang="zh-CN" altLang="en-US" sz="900" kern="100" dirty="0">
              <a:solidFill>
                <a:schemeClr val="bg1"/>
              </a:solidFill>
              <a:latin typeface="微软雅黑" panose="020B0503020204020204" charset="-122"/>
              <a:sym typeface="+mn-ea"/>
            </a:endParaRPr>
          </a:p>
        </p:txBody>
      </p:sp>
      <p:sp>
        <p:nvSpPr>
          <p:cNvPr id="827" name="矩形: 圆角 97"/>
          <p:cNvSpPr/>
          <p:nvPr/>
        </p:nvSpPr>
        <p:spPr bwMode="auto">
          <a:xfrm>
            <a:off x="1524635" y="445453"/>
            <a:ext cx="4821555" cy="180000"/>
          </a:xfrm>
          <a:prstGeom prst="roundRect">
            <a:avLst>
              <a:gd name="adj" fmla="val 0"/>
            </a:avLst>
          </a:prstGeom>
          <a:solidFill>
            <a:srgbClr val="5B9BD5">
              <a:lumMod val="75000"/>
            </a:srgbClr>
          </a:solidFill>
          <a:ln w="12700" cap="flat" cmpd="sng" algn="ctr">
            <a:noFill/>
            <a:prstDash val="solid"/>
            <a:miter lim="800000"/>
          </a:ln>
          <a:effectLst/>
        </p:spPr>
        <p:txBody>
          <a:bodyPr lIns="91440" tIns="45720" rIns="91440" bIns="45720" anchor="ctr" anchorCtr="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283210">
              <a:spcBef>
                <a:spcPts val="0"/>
              </a:spcBef>
              <a:buClrTx/>
              <a:buSzTx/>
              <a:buFontTx/>
            </a:pPr>
            <a:r>
              <a:rPr lang="zh-CN" altLang="en-US" sz="900" kern="100" dirty="0">
                <a:solidFill>
                  <a:schemeClr val="bg1"/>
                </a:solidFill>
                <a:latin typeface="微软雅黑" panose="020B0503020204020204" charset="-122"/>
                <a:sym typeface="+mn-ea"/>
              </a:rPr>
              <a:t>渝快办（AI+政务服务、</a:t>
            </a:r>
            <a:r>
              <a:rPr lang="zh-CN" altLang="en-US" sz="900" kern="100" dirty="0">
                <a:solidFill>
                  <a:schemeClr val="bg1"/>
                </a:solidFill>
                <a:latin typeface="微软雅黑" panose="020B0503020204020204" charset="-122"/>
                <a:sym typeface="+mn-ea"/>
              </a:rPr>
              <a:t>AI+</a:t>
            </a:r>
            <a:r>
              <a:rPr lang="zh-CN" altLang="en-US" sz="900" kern="100" dirty="0">
                <a:solidFill>
                  <a:schemeClr val="bg1"/>
                </a:solidFill>
                <a:latin typeface="微软雅黑" panose="020B0503020204020204" charset="-122"/>
                <a:sym typeface="+mn-ea"/>
              </a:rPr>
              <a:t>企业服务、AI+便民服务、AI+政策问答）</a:t>
            </a:r>
            <a:endParaRPr lang="zh-CN" altLang="en-US" sz="900" kern="100" dirty="0">
              <a:solidFill>
                <a:schemeClr val="bg1"/>
              </a:solidFill>
              <a:latin typeface="微软雅黑" panose="020B0503020204020204" charset="-122"/>
              <a:sym typeface="+mn-ea"/>
            </a:endParaRPr>
          </a:p>
        </p:txBody>
      </p:sp>
      <p:sp>
        <p:nvSpPr>
          <p:cNvPr id="828" name="矩形: 圆角 11298"/>
          <p:cNvSpPr/>
          <p:nvPr/>
        </p:nvSpPr>
        <p:spPr bwMode="auto">
          <a:xfrm>
            <a:off x="859790" y="1278255"/>
            <a:ext cx="622935" cy="487045"/>
          </a:xfrm>
          <a:prstGeom prst="roundRect">
            <a:avLst>
              <a:gd name="adj" fmla="val 0"/>
            </a:avLst>
          </a:prstGeom>
          <a:solidFill>
            <a:srgbClr val="5B9BD5">
              <a:lumMod val="75000"/>
            </a:srgbClr>
          </a:solidFill>
          <a:ln w="12700" cap="flat" cmpd="sng" algn="ctr">
            <a:noFill/>
            <a:prstDash val="solid"/>
            <a:miter lim="800000"/>
          </a:ln>
          <a:effectLst/>
        </p:spPr>
        <p:txBody>
          <a:bodyPr vert="horz" wrap="square" lIns="91440"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Calibri" panose="020F0502020204030204" charset="0"/>
              </a:rPr>
              <a:t>AI</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Calibri" panose="020F0502020204030204" charset="0"/>
            </a:endParaRPr>
          </a:p>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Calibri" panose="020F0502020204030204" charset="0"/>
              </a:rPr>
              <a:t>赋能</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Calibri" panose="020F0502020204030204" charset="0"/>
            </a:endParaRPr>
          </a:p>
        </p:txBody>
      </p:sp>
      <p:sp>
        <p:nvSpPr>
          <p:cNvPr id="829" name="矩形: 圆角 100"/>
          <p:cNvSpPr/>
          <p:nvPr/>
        </p:nvSpPr>
        <p:spPr bwMode="auto">
          <a:xfrm>
            <a:off x="859790" y="661988"/>
            <a:ext cx="624840" cy="180000"/>
          </a:xfrm>
          <a:prstGeom prst="roundRect">
            <a:avLst>
              <a:gd name="adj" fmla="val 0"/>
            </a:avLst>
          </a:prstGeom>
          <a:solidFill>
            <a:srgbClr val="5B9BD5">
              <a:lumMod val="75000"/>
            </a:srgbClr>
          </a:solidFill>
          <a:ln w="12700" cap="flat" cmpd="sng" algn="ctr">
            <a:noFill/>
            <a:prstDash val="solid"/>
            <a:miter lim="800000"/>
          </a:ln>
          <a:effectLst/>
        </p:spPr>
        <p:txBody>
          <a:bodyPr vert="horz" wrap="square" lIns="91440"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系统</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p:txBody>
      </p:sp>
      <p:sp>
        <p:nvSpPr>
          <p:cNvPr id="830" name="矩形: 圆角 108"/>
          <p:cNvSpPr/>
          <p:nvPr/>
        </p:nvSpPr>
        <p:spPr bwMode="auto">
          <a:xfrm>
            <a:off x="4928235" y="661988"/>
            <a:ext cx="1696085" cy="180000"/>
          </a:xfrm>
          <a:prstGeom prst="roundRect">
            <a:avLst>
              <a:gd name="adj" fmla="val 0"/>
            </a:avLst>
          </a:prstGeom>
          <a:noFill/>
          <a:ln w="12700" cap="flat" cmpd="sng" algn="ctr">
            <a:solidFill>
              <a:srgbClr val="5B9BD5"/>
            </a:solidFill>
            <a:prstDash val="solid"/>
            <a:miter lim="800000"/>
          </a:ln>
          <a:effectLst/>
        </p:spPr>
        <p:txBody>
          <a:bodyPr lIns="0" tIns="0" rIns="0" bIns="0" anchor="ct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300" normalizeH="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rPr>
              <a:t>数字经济</a:t>
            </a:r>
            <a:endParaRPr kumimoji="0" lang="zh-CN" altLang="en-US" sz="900" b="1" i="0" u="none" strike="noStrike" kern="1200" cap="none" spc="300" normalizeH="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endParaRPr>
          </a:p>
        </p:txBody>
      </p:sp>
      <p:sp>
        <p:nvSpPr>
          <p:cNvPr id="831" name="矩形: 圆角 109"/>
          <p:cNvSpPr/>
          <p:nvPr/>
        </p:nvSpPr>
        <p:spPr bwMode="auto">
          <a:xfrm>
            <a:off x="6659880" y="661988"/>
            <a:ext cx="1944370" cy="180000"/>
          </a:xfrm>
          <a:prstGeom prst="roundRect">
            <a:avLst>
              <a:gd name="adj" fmla="val 0"/>
            </a:avLst>
          </a:prstGeom>
          <a:noFill/>
          <a:ln w="12700" cap="flat" cmpd="sng" algn="ctr">
            <a:solidFill>
              <a:srgbClr val="5B9BD5"/>
            </a:solidFill>
            <a:prstDash val="solid"/>
            <a:miter lim="800000"/>
          </a:ln>
          <a:effectLst/>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300" normalizeH="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rPr>
              <a:t>数字社会</a:t>
            </a:r>
            <a:endParaRPr kumimoji="0" lang="zh-CN" altLang="en-US" sz="900" b="1" i="0" u="none" strike="noStrike" kern="1200" cap="none" spc="300" normalizeH="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endParaRPr>
          </a:p>
        </p:txBody>
      </p:sp>
      <p:sp>
        <p:nvSpPr>
          <p:cNvPr id="832" name="矩形: 圆角 99"/>
          <p:cNvSpPr/>
          <p:nvPr/>
        </p:nvSpPr>
        <p:spPr bwMode="auto">
          <a:xfrm>
            <a:off x="1523365" y="661988"/>
            <a:ext cx="1882140" cy="180000"/>
          </a:xfrm>
          <a:prstGeom prst="roundRect">
            <a:avLst>
              <a:gd name="adj" fmla="val 0"/>
            </a:avLst>
          </a:prstGeom>
          <a:noFill/>
          <a:ln w="12700" cap="flat" cmpd="sng" algn="ctr">
            <a:solidFill>
              <a:srgbClr val="5B9BD5"/>
            </a:solidFill>
            <a:prstDash val="solid"/>
            <a:miter lim="800000"/>
          </a:ln>
          <a:effectLst/>
          <a:extLst>
            <a:ext uri="{909E8E84-426E-40DD-AFC4-6F175D3DCCD1}">
              <a14:hiddenFill xmlns:a14="http://schemas.microsoft.com/office/drawing/2010/main">
                <a:solidFill>
                  <a:srgbClr val="FF0000"/>
                </a:solidFill>
              </a14:hiddenFill>
            </a:ext>
          </a:extLst>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300" normalizeH="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rPr>
              <a:t>数字党建</a:t>
            </a:r>
            <a:endParaRPr kumimoji="0" lang="zh-CN" altLang="en-US" sz="900" b="1" i="0" u="none" strike="noStrike" kern="1200" cap="none" spc="300" normalizeH="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endParaRPr>
          </a:p>
        </p:txBody>
      </p:sp>
      <p:sp>
        <p:nvSpPr>
          <p:cNvPr id="833" name="矩形: 圆角 107"/>
          <p:cNvSpPr/>
          <p:nvPr/>
        </p:nvSpPr>
        <p:spPr bwMode="auto">
          <a:xfrm>
            <a:off x="3441065" y="661988"/>
            <a:ext cx="1451610" cy="180000"/>
          </a:xfrm>
          <a:prstGeom prst="roundRect">
            <a:avLst>
              <a:gd name="adj" fmla="val 0"/>
            </a:avLst>
          </a:prstGeom>
          <a:noFill/>
          <a:ln w="12700" cap="flat" cmpd="sng" algn="ctr">
            <a:solidFill>
              <a:srgbClr val="5B9BD5"/>
            </a:solidFill>
            <a:prstDash val="solid"/>
            <a:miter lim="800000"/>
          </a:ln>
          <a:effectLst/>
        </p:spPr>
        <p:txBody>
          <a:bodyPr vert="horz" lIns="0" tIns="0" rIns="0" bIns="0" anchor="ct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300" normalizeH="0" baseline="0" noProof="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rPr>
              <a:t>数字政务</a:t>
            </a:r>
            <a:endParaRPr kumimoji="0" lang="zh-CN" altLang="en-US" sz="900" b="1" i="0" u="none" strike="noStrike" kern="1200" cap="none" spc="300" normalizeH="0" baseline="0" noProof="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endParaRPr>
          </a:p>
        </p:txBody>
      </p:sp>
      <p:sp>
        <p:nvSpPr>
          <p:cNvPr id="834" name="矩形: 圆角 110"/>
          <p:cNvSpPr/>
          <p:nvPr/>
        </p:nvSpPr>
        <p:spPr bwMode="auto">
          <a:xfrm>
            <a:off x="8639810" y="661988"/>
            <a:ext cx="1230630" cy="180000"/>
          </a:xfrm>
          <a:prstGeom prst="roundRect">
            <a:avLst>
              <a:gd name="adj" fmla="val 0"/>
            </a:avLst>
          </a:prstGeom>
          <a:noFill/>
          <a:ln w="12700" cap="flat" cmpd="sng" algn="ctr">
            <a:solidFill>
              <a:srgbClr val="5B9BD5"/>
            </a:solidFill>
            <a:prstDash val="solid"/>
            <a:miter lim="800000"/>
          </a:ln>
          <a:effectLst/>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300" normalizeH="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rPr>
              <a:t>数字文化</a:t>
            </a:r>
            <a:endParaRPr kumimoji="0" lang="zh-CN" altLang="en-US" sz="900" b="1" i="0" u="none" strike="noStrike" kern="1200" cap="none" spc="300" normalizeH="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endParaRPr>
          </a:p>
        </p:txBody>
      </p:sp>
      <p:sp>
        <p:nvSpPr>
          <p:cNvPr id="835" name="矩形: 圆角 111"/>
          <p:cNvSpPr/>
          <p:nvPr/>
        </p:nvSpPr>
        <p:spPr bwMode="auto">
          <a:xfrm>
            <a:off x="9906000" y="661988"/>
            <a:ext cx="1165860" cy="180000"/>
          </a:xfrm>
          <a:prstGeom prst="roundRect">
            <a:avLst>
              <a:gd name="adj" fmla="val 0"/>
            </a:avLst>
          </a:prstGeom>
          <a:noFill/>
          <a:ln w="12700" cap="flat" cmpd="sng" algn="ctr">
            <a:solidFill>
              <a:srgbClr val="5B9BD5"/>
            </a:solidFill>
            <a:prstDash val="solid"/>
            <a:miter lim="800000"/>
          </a:ln>
          <a:effectLst/>
          <a:extLst>
            <a:ext uri="{909E8E84-426E-40DD-AFC4-6F175D3DCCD1}">
              <a14:hiddenFill xmlns:a14="http://schemas.microsoft.com/office/drawing/2010/main">
                <a:solidFill>
                  <a:srgbClr val="FF0000"/>
                </a:solidFill>
              </a14:hiddenFill>
            </a:ext>
          </a:extLst>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300" normalizeH="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rPr>
              <a:t>数字</a:t>
            </a:r>
            <a:r>
              <a:rPr kumimoji="0" lang="zh-CN" altLang="en-US" sz="900" b="1" i="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rPr>
              <a:t>法</a:t>
            </a:r>
            <a:r>
              <a:rPr kumimoji="0" lang="zh-CN" altLang="en-US" sz="900" b="1" i="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rPr>
              <a:t>治</a:t>
            </a:r>
            <a:endParaRPr kumimoji="0" lang="zh-CN" altLang="en-US" sz="900" b="1" i="0" baseline="0" noProof="0" dirty="0">
              <a:ln>
                <a:noFill/>
              </a:ln>
              <a:solidFill>
                <a:schemeClr val="bg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endParaRPr>
          </a:p>
        </p:txBody>
      </p:sp>
      <p:sp>
        <p:nvSpPr>
          <p:cNvPr id="836" name="矩形: 圆角 11296"/>
          <p:cNvSpPr/>
          <p:nvPr/>
        </p:nvSpPr>
        <p:spPr bwMode="auto">
          <a:xfrm>
            <a:off x="859790" y="881380"/>
            <a:ext cx="629285" cy="351790"/>
          </a:xfrm>
          <a:prstGeom prst="roundRect">
            <a:avLst>
              <a:gd name="adj" fmla="val 0"/>
            </a:avLst>
          </a:prstGeom>
          <a:solidFill>
            <a:srgbClr val="5B9BD5">
              <a:lumMod val="75000"/>
            </a:srgbClr>
          </a:solidFill>
          <a:ln w="12700" cap="flat" cmpd="sng" algn="ctr">
            <a:noFill/>
            <a:prstDash val="solid"/>
            <a:miter lim="800000"/>
          </a:ln>
          <a:effectLst/>
        </p:spPr>
        <p:txBody>
          <a:bodyPr vert="horz" wrap="square" lIns="91440"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跑道</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p:txBody>
      </p:sp>
      <p:grpSp>
        <p:nvGrpSpPr>
          <p:cNvPr id="837" name="组合 836"/>
          <p:cNvGrpSpPr/>
          <p:nvPr/>
        </p:nvGrpSpPr>
        <p:grpSpPr>
          <a:xfrm>
            <a:off x="1524000" y="881380"/>
            <a:ext cx="9531985" cy="351155"/>
            <a:chOff x="2400" y="1388"/>
            <a:chExt cx="15011" cy="553"/>
          </a:xfrm>
        </p:grpSpPr>
        <p:sp>
          <p:nvSpPr>
            <p:cNvPr id="838" name="矩形: 圆角 11275"/>
            <p:cNvSpPr/>
            <p:nvPr/>
          </p:nvSpPr>
          <p:spPr bwMode="auto">
            <a:xfrm>
              <a:off x="9775" y="1397"/>
              <a:ext cx="289"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开放合作</a:t>
              </a:r>
              <a:endParaRPr lang="zh-CN" altLang="en-US" sz="350" kern="0" spc="230" noProof="0" dirty="0">
                <a:ln>
                  <a:noFill/>
                </a:ln>
                <a:solidFill>
                  <a:schemeClr val="bg1"/>
                </a:solidFill>
                <a:effectLst/>
                <a:uLnTx/>
                <a:uFillTx/>
                <a:sym typeface="微软雅黑" panose="020B0503020204020204" charset="-122"/>
              </a:endParaRPr>
            </a:p>
          </p:txBody>
        </p:sp>
        <p:sp>
          <p:nvSpPr>
            <p:cNvPr id="839" name="矩形: 圆角 114"/>
            <p:cNvSpPr/>
            <p:nvPr/>
          </p:nvSpPr>
          <p:spPr bwMode="auto">
            <a:xfrm>
              <a:off x="7737" y="1397"/>
              <a:ext cx="289"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产业大脑</a:t>
              </a:r>
              <a:endParaRPr lang="zh-CN" altLang="en-US" sz="350" kern="0" spc="230" noProof="0" dirty="0">
                <a:ln>
                  <a:noFill/>
                </a:ln>
                <a:solidFill>
                  <a:schemeClr val="bg1"/>
                </a:solidFill>
                <a:effectLst/>
                <a:uLnTx/>
                <a:uFillTx/>
                <a:sym typeface="微软雅黑" panose="020B0503020204020204" charset="-122"/>
              </a:endParaRPr>
            </a:p>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a:t>
              </a:r>
              <a:endParaRPr lang="zh-CN" altLang="en-US" sz="350" kern="0" spc="230" noProof="0" dirty="0">
                <a:ln>
                  <a:noFill/>
                </a:ln>
                <a:solidFill>
                  <a:schemeClr val="bg1"/>
                </a:solidFill>
                <a:effectLst/>
                <a:uLnTx/>
                <a:uFillTx/>
                <a:sym typeface="微软雅黑" panose="020B0503020204020204" charset="-122"/>
              </a:endParaRPr>
            </a:p>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未来工厂</a:t>
              </a:r>
              <a:endParaRPr lang="zh-CN" altLang="en-US" sz="350" kern="0" spc="230" noProof="0" dirty="0">
                <a:ln>
                  <a:noFill/>
                </a:ln>
                <a:solidFill>
                  <a:schemeClr val="bg1"/>
                </a:solidFill>
                <a:effectLst/>
                <a:uLnTx/>
                <a:uFillTx/>
                <a:sym typeface="微软雅黑" panose="020B0503020204020204" charset="-122"/>
              </a:endParaRPr>
            </a:p>
          </p:txBody>
        </p:sp>
        <p:sp>
          <p:nvSpPr>
            <p:cNvPr id="840" name="矩形: 圆角 105"/>
            <p:cNvSpPr/>
            <p:nvPr/>
          </p:nvSpPr>
          <p:spPr bwMode="auto">
            <a:xfrm>
              <a:off x="8075" y="1397"/>
              <a:ext cx="289"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科技创新</a:t>
              </a:r>
              <a:endParaRPr lang="zh-CN" altLang="en-US" sz="350" kern="0" spc="230" noProof="0" dirty="0">
                <a:ln>
                  <a:noFill/>
                </a:ln>
                <a:solidFill>
                  <a:schemeClr val="bg1"/>
                </a:solidFill>
                <a:effectLst/>
                <a:uLnTx/>
                <a:uFillTx/>
                <a:sym typeface="微软雅黑" panose="020B0503020204020204" charset="-122"/>
              </a:endParaRPr>
            </a:p>
          </p:txBody>
        </p:sp>
        <p:sp>
          <p:nvSpPr>
            <p:cNvPr id="841" name="矩形 840"/>
            <p:cNvSpPr/>
            <p:nvPr/>
          </p:nvSpPr>
          <p:spPr bwMode="auto">
            <a:xfrm>
              <a:off x="8416" y="1397"/>
              <a:ext cx="288"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金融服务</a:t>
              </a:r>
              <a:endParaRPr lang="zh-CN" altLang="en-US" sz="350" kern="0" spc="230" noProof="0" dirty="0">
                <a:ln>
                  <a:noFill/>
                </a:ln>
                <a:solidFill>
                  <a:schemeClr val="bg1"/>
                </a:solidFill>
                <a:effectLst/>
                <a:uLnTx/>
                <a:uFillTx/>
                <a:sym typeface="微软雅黑" panose="020B0503020204020204" charset="-122"/>
              </a:endParaRPr>
            </a:p>
          </p:txBody>
        </p:sp>
        <p:sp>
          <p:nvSpPr>
            <p:cNvPr id="842" name="矩形 841"/>
            <p:cNvSpPr/>
            <p:nvPr/>
          </p:nvSpPr>
          <p:spPr bwMode="auto">
            <a:xfrm>
              <a:off x="8756" y="1397"/>
              <a:ext cx="288"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人才支撑</a:t>
              </a:r>
              <a:endParaRPr lang="zh-CN" altLang="en-US" sz="350" kern="0" spc="230" noProof="0" dirty="0">
                <a:ln>
                  <a:noFill/>
                </a:ln>
                <a:solidFill>
                  <a:schemeClr val="bg1"/>
                </a:solidFill>
                <a:effectLst/>
                <a:uLnTx/>
                <a:uFillTx/>
                <a:sym typeface="微软雅黑" panose="020B0503020204020204" charset="-122"/>
              </a:endParaRPr>
            </a:p>
          </p:txBody>
        </p:sp>
        <p:sp>
          <p:nvSpPr>
            <p:cNvPr id="843" name="矩形 842"/>
            <p:cNvSpPr/>
            <p:nvPr/>
          </p:nvSpPr>
          <p:spPr bwMode="auto">
            <a:xfrm>
              <a:off x="9095" y="1397"/>
              <a:ext cx="288"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转型升级</a:t>
              </a:r>
              <a:endParaRPr lang="zh-CN" altLang="en-US" sz="350" kern="0" spc="230" noProof="0" dirty="0">
                <a:ln>
                  <a:noFill/>
                </a:ln>
                <a:solidFill>
                  <a:schemeClr val="bg1"/>
                </a:solidFill>
                <a:effectLst/>
                <a:uLnTx/>
                <a:uFillTx/>
                <a:sym typeface="微软雅黑" panose="020B0503020204020204" charset="-122"/>
              </a:endParaRPr>
            </a:p>
          </p:txBody>
        </p:sp>
        <p:sp>
          <p:nvSpPr>
            <p:cNvPr id="844" name="矩形: 圆角 105"/>
            <p:cNvSpPr/>
            <p:nvPr/>
          </p:nvSpPr>
          <p:spPr bwMode="auto">
            <a:xfrm>
              <a:off x="9433" y="1397"/>
              <a:ext cx="289"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企业培育</a:t>
              </a:r>
              <a:endParaRPr lang="zh-CN" altLang="en-US" sz="350" kern="0" spc="230" noProof="0" dirty="0">
                <a:ln>
                  <a:noFill/>
                </a:ln>
                <a:solidFill>
                  <a:schemeClr val="bg1"/>
                </a:solidFill>
                <a:effectLst/>
                <a:uLnTx/>
                <a:uFillTx/>
                <a:sym typeface="微软雅黑" panose="020B0503020204020204" charset="-122"/>
              </a:endParaRPr>
            </a:p>
          </p:txBody>
        </p:sp>
        <p:sp>
          <p:nvSpPr>
            <p:cNvPr id="845" name="矩形: 圆角 11275"/>
            <p:cNvSpPr/>
            <p:nvPr/>
          </p:nvSpPr>
          <p:spPr bwMode="auto">
            <a:xfrm>
              <a:off x="10115" y="1397"/>
              <a:ext cx="289"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资源要素保障</a:t>
              </a:r>
              <a:endParaRPr lang="zh-CN" altLang="en-US" sz="350" kern="0" spc="230" noProof="0" dirty="0">
                <a:ln>
                  <a:noFill/>
                </a:ln>
                <a:solidFill>
                  <a:schemeClr val="bg1"/>
                </a:solidFill>
                <a:effectLst/>
                <a:uLnTx/>
                <a:uFillTx/>
                <a:sym typeface="微软雅黑" panose="020B0503020204020204" charset="-122"/>
              </a:endParaRPr>
            </a:p>
          </p:txBody>
        </p:sp>
        <p:sp>
          <p:nvSpPr>
            <p:cNvPr id="846" name="矩形: 圆角 105"/>
            <p:cNvSpPr/>
            <p:nvPr/>
          </p:nvSpPr>
          <p:spPr bwMode="auto">
            <a:xfrm>
              <a:off x="10719" y="1397"/>
              <a:ext cx="170"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就业</a:t>
              </a:r>
              <a:endParaRPr lang="zh-CN" altLang="en-US" sz="350" kern="0" spc="230" noProof="0" dirty="0">
                <a:ln>
                  <a:noFill/>
                </a:ln>
                <a:solidFill>
                  <a:schemeClr val="bg1"/>
                </a:solidFill>
                <a:effectLst/>
                <a:uLnTx/>
                <a:uFillTx/>
                <a:sym typeface="微软雅黑" panose="020B0503020204020204" charset="-122"/>
              </a:endParaRPr>
            </a:p>
          </p:txBody>
        </p:sp>
        <p:sp>
          <p:nvSpPr>
            <p:cNvPr id="847" name="矩形 846"/>
            <p:cNvSpPr/>
            <p:nvPr/>
          </p:nvSpPr>
          <p:spPr bwMode="auto">
            <a:xfrm>
              <a:off x="10940" y="1397"/>
              <a:ext cx="170"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医疗</a:t>
              </a:r>
              <a:endParaRPr lang="zh-CN" altLang="en-US" sz="350" kern="0" spc="230" noProof="0" dirty="0">
                <a:ln>
                  <a:noFill/>
                </a:ln>
                <a:solidFill>
                  <a:schemeClr val="bg1"/>
                </a:solidFill>
                <a:effectLst/>
                <a:uLnTx/>
                <a:uFillTx/>
                <a:sym typeface="微软雅黑" panose="020B0503020204020204" charset="-122"/>
              </a:endParaRPr>
            </a:p>
          </p:txBody>
        </p:sp>
        <p:sp>
          <p:nvSpPr>
            <p:cNvPr id="848" name="矩形 847"/>
            <p:cNvSpPr/>
            <p:nvPr/>
          </p:nvSpPr>
          <p:spPr bwMode="auto">
            <a:xfrm>
              <a:off x="11164" y="1397"/>
              <a:ext cx="170"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育儿</a:t>
              </a:r>
              <a:endParaRPr lang="zh-CN" altLang="en-US" sz="350" kern="0" spc="230" noProof="0" dirty="0">
                <a:ln>
                  <a:noFill/>
                </a:ln>
                <a:solidFill>
                  <a:schemeClr val="bg1"/>
                </a:solidFill>
                <a:effectLst/>
                <a:uLnTx/>
                <a:uFillTx/>
                <a:sym typeface="微软雅黑" panose="020B0503020204020204" charset="-122"/>
              </a:endParaRPr>
            </a:p>
          </p:txBody>
        </p:sp>
        <p:sp>
          <p:nvSpPr>
            <p:cNvPr id="849" name="矩形 848"/>
            <p:cNvSpPr/>
            <p:nvPr/>
          </p:nvSpPr>
          <p:spPr bwMode="auto">
            <a:xfrm>
              <a:off x="11384" y="1397"/>
              <a:ext cx="170"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养老</a:t>
              </a:r>
              <a:endParaRPr lang="zh-CN" altLang="en-US" sz="350" kern="0" spc="230" noProof="0" dirty="0">
                <a:ln>
                  <a:noFill/>
                </a:ln>
                <a:solidFill>
                  <a:schemeClr val="bg1"/>
                </a:solidFill>
                <a:effectLst/>
                <a:uLnTx/>
                <a:uFillTx/>
                <a:sym typeface="微软雅黑" panose="020B0503020204020204" charset="-122"/>
              </a:endParaRPr>
            </a:p>
          </p:txBody>
        </p:sp>
        <p:sp>
          <p:nvSpPr>
            <p:cNvPr id="850" name="矩形: 圆角 114"/>
            <p:cNvSpPr/>
            <p:nvPr/>
          </p:nvSpPr>
          <p:spPr bwMode="auto">
            <a:xfrm>
              <a:off x="10496" y="1397"/>
              <a:ext cx="170"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教育</a:t>
              </a:r>
              <a:endParaRPr lang="zh-CN" altLang="en-US" sz="350" kern="0" spc="230" noProof="0" dirty="0">
                <a:ln>
                  <a:noFill/>
                </a:ln>
                <a:solidFill>
                  <a:schemeClr val="bg1"/>
                </a:solidFill>
                <a:effectLst/>
                <a:uLnTx/>
                <a:uFillTx/>
                <a:sym typeface="微软雅黑" panose="020B0503020204020204" charset="-122"/>
              </a:endParaRPr>
            </a:p>
          </p:txBody>
        </p:sp>
        <p:sp>
          <p:nvSpPr>
            <p:cNvPr id="851" name="矩形: 圆角 11275"/>
            <p:cNvSpPr/>
            <p:nvPr/>
          </p:nvSpPr>
          <p:spPr bwMode="auto">
            <a:xfrm>
              <a:off x="13159" y="1397"/>
              <a:ext cx="170"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生活圈建设</a:t>
              </a:r>
              <a:endParaRPr lang="zh-CN" altLang="en-US" sz="350" kern="0" spc="230" noProof="0" dirty="0">
                <a:ln>
                  <a:noFill/>
                </a:ln>
                <a:solidFill>
                  <a:schemeClr val="bg1"/>
                </a:solidFill>
                <a:effectLst/>
                <a:uLnTx/>
                <a:uFillTx/>
                <a:sym typeface="微软雅黑" panose="020B0503020204020204" charset="-122"/>
              </a:endParaRPr>
            </a:p>
          </p:txBody>
        </p:sp>
        <p:sp>
          <p:nvSpPr>
            <p:cNvPr id="852" name="矩形: 圆角 11275"/>
            <p:cNvSpPr/>
            <p:nvPr/>
          </p:nvSpPr>
          <p:spPr bwMode="auto">
            <a:xfrm>
              <a:off x="13381" y="1397"/>
              <a:ext cx="170"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信用</a:t>
              </a:r>
              <a:endParaRPr lang="zh-CN" altLang="en-US" sz="350" kern="0" spc="230" noProof="0" dirty="0">
                <a:ln>
                  <a:noFill/>
                </a:ln>
                <a:solidFill>
                  <a:schemeClr val="bg1"/>
                </a:solidFill>
                <a:effectLst/>
                <a:uLnTx/>
                <a:uFillTx/>
                <a:sym typeface="微软雅黑" panose="020B0503020204020204" charset="-122"/>
              </a:endParaRPr>
            </a:p>
          </p:txBody>
        </p:sp>
        <p:sp>
          <p:nvSpPr>
            <p:cNvPr id="853" name="矩形 852"/>
            <p:cNvSpPr/>
            <p:nvPr/>
          </p:nvSpPr>
          <p:spPr bwMode="auto">
            <a:xfrm>
              <a:off x="12269" y="1397"/>
              <a:ext cx="170"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出行</a:t>
              </a:r>
              <a:endParaRPr lang="zh-CN" altLang="en-US" sz="350" kern="0" spc="230" noProof="0" dirty="0">
                <a:ln>
                  <a:noFill/>
                </a:ln>
                <a:solidFill>
                  <a:schemeClr val="bg1"/>
                </a:solidFill>
                <a:effectLst/>
                <a:uLnTx/>
                <a:uFillTx/>
                <a:sym typeface="微软雅黑" panose="020B0503020204020204" charset="-122"/>
              </a:endParaRPr>
            </a:p>
          </p:txBody>
        </p:sp>
        <p:sp>
          <p:nvSpPr>
            <p:cNvPr id="854" name="矩形 853"/>
            <p:cNvSpPr/>
            <p:nvPr/>
          </p:nvSpPr>
          <p:spPr bwMode="auto">
            <a:xfrm>
              <a:off x="12491" y="1397"/>
              <a:ext cx="170"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旅游</a:t>
              </a:r>
              <a:endParaRPr lang="zh-CN" altLang="en-US" sz="350" kern="0" spc="230" noProof="0" dirty="0">
                <a:ln>
                  <a:noFill/>
                </a:ln>
                <a:solidFill>
                  <a:schemeClr val="bg1"/>
                </a:solidFill>
                <a:effectLst/>
                <a:uLnTx/>
                <a:uFillTx/>
                <a:sym typeface="微软雅黑" panose="020B0503020204020204" charset="-122"/>
              </a:endParaRPr>
            </a:p>
          </p:txBody>
        </p:sp>
        <p:sp>
          <p:nvSpPr>
            <p:cNvPr id="855" name="矩形: 圆角 105"/>
            <p:cNvSpPr/>
            <p:nvPr/>
          </p:nvSpPr>
          <p:spPr bwMode="auto">
            <a:xfrm>
              <a:off x="12715" y="1397"/>
              <a:ext cx="170"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购物</a:t>
              </a:r>
              <a:endParaRPr lang="zh-CN" altLang="en-US" sz="350" kern="0" spc="230" noProof="0" dirty="0">
                <a:ln>
                  <a:noFill/>
                </a:ln>
                <a:solidFill>
                  <a:schemeClr val="bg1"/>
                </a:solidFill>
                <a:effectLst/>
                <a:uLnTx/>
                <a:uFillTx/>
                <a:sym typeface="微软雅黑" panose="020B0503020204020204" charset="-122"/>
              </a:endParaRPr>
            </a:p>
          </p:txBody>
        </p:sp>
        <p:sp>
          <p:nvSpPr>
            <p:cNvPr id="856" name="矩形: 圆角 11275"/>
            <p:cNvSpPr/>
            <p:nvPr/>
          </p:nvSpPr>
          <p:spPr bwMode="auto">
            <a:xfrm>
              <a:off x="12934" y="1397"/>
              <a:ext cx="170"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娱乐</a:t>
              </a:r>
              <a:endParaRPr lang="zh-CN" altLang="en-US" sz="350" kern="0" spc="230" noProof="0" dirty="0">
                <a:ln>
                  <a:noFill/>
                </a:ln>
                <a:solidFill>
                  <a:schemeClr val="bg1"/>
                </a:solidFill>
                <a:effectLst/>
                <a:uLnTx/>
                <a:uFillTx/>
                <a:sym typeface="微软雅黑" panose="020B0503020204020204" charset="-122"/>
              </a:endParaRPr>
            </a:p>
          </p:txBody>
        </p:sp>
        <p:sp>
          <p:nvSpPr>
            <p:cNvPr id="857" name="矩形: 圆角 11275"/>
            <p:cNvSpPr/>
            <p:nvPr/>
          </p:nvSpPr>
          <p:spPr bwMode="auto">
            <a:xfrm>
              <a:off x="11815" y="1397"/>
              <a:ext cx="170"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餐饮</a:t>
              </a:r>
              <a:endParaRPr lang="zh-CN" altLang="en-US" sz="350" kern="0" spc="230" noProof="0" dirty="0">
                <a:ln>
                  <a:noFill/>
                </a:ln>
                <a:solidFill>
                  <a:schemeClr val="bg1"/>
                </a:solidFill>
                <a:effectLst/>
                <a:uLnTx/>
                <a:uFillTx/>
                <a:sym typeface="微软雅黑" panose="020B0503020204020204" charset="-122"/>
              </a:endParaRPr>
            </a:p>
          </p:txBody>
        </p:sp>
        <p:sp>
          <p:nvSpPr>
            <p:cNvPr id="858" name="矩形: 圆角 11275"/>
            <p:cNvSpPr/>
            <p:nvPr/>
          </p:nvSpPr>
          <p:spPr bwMode="auto">
            <a:xfrm>
              <a:off x="12036" y="1397"/>
              <a:ext cx="170"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居住</a:t>
              </a:r>
              <a:endParaRPr lang="zh-CN" altLang="en-US" sz="350" kern="0" spc="230" noProof="0" dirty="0">
                <a:ln>
                  <a:noFill/>
                </a:ln>
                <a:solidFill>
                  <a:schemeClr val="bg1"/>
                </a:solidFill>
                <a:effectLst/>
                <a:uLnTx/>
                <a:uFillTx/>
                <a:sym typeface="微软雅黑" panose="020B0503020204020204" charset="-122"/>
              </a:endParaRPr>
            </a:p>
          </p:txBody>
        </p:sp>
        <p:sp>
          <p:nvSpPr>
            <p:cNvPr id="859" name="矩形: 圆角 105"/>
            <p:cNvSpPr/>
            <p:nvPr/>
          </p:nvSpPr>
          <p:spPr bwMode="auto">
            <a:xfrm>
              <a:off x="11590" y="1397"/>
              <a:ext cx="170"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社保</a:t>
              </a:r>
              <a:endParaRPr lang="zh-CN" altLang="en-US" sz="350" kern="0" spc="230" noProof="0" dirty="0">
                <a:ln>
                  <a:noFill/>
                </a:ln>
                <a:solidFill>
                  <a:schemeClr val="bg1"/>
                </a:solidFill>
                <a:effectLst/>
                <a:uLnTx/>
                <a:uFillTx/>
                <a:sym typeface="微软雅黑" panose="020B0503020204020204" charset="-122"/>
              </a:endParaRPr>
            </a:p>
          </p:txBody>
        </p:sp>
        <p:sp>
          <p:nvSpPr>
            <p:cNvPr id="860" name="矩形: 圆角 114"/>
            <p:cNvSpPr/>
            <p:nvPr/>
          </p:nvSpPr>
          <p:spPr bwMode="auto">
            <a:xfrm>
              <a:off x="2400" y="1397"/>
              <a:ext cx="284"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政治统领</a:t>
              </a:r>
              <a:endParaRPr lang="zh-CN" altLang="en-US" sz="350" kern="0" spc="230" noProof="0" dirty="0">
                <a:ln>
                  <a:noFill/>
                </a:ln>
                <a:solidFill>
                  <a:schemeClr val="bg1"/>
                </a:solidFill>
                <a:effectLst/>
                <a:uLnTx/>
                <a:uFillTx/>
                <a:sym typeface="微软雅黑" panose="020B0503020204020204" charset="-122"/>
              </a:endParaRPr>
            </a:p>
          </p:txBody>
        </p:sp>
        <p:sp>
          <p:nvSpPr>
            <p:cNvPr id="861" name="矩形: 圆角 105"/>
            <p:cNvSpPr/>
            <p:nvPr/>
          </p:nvSpPr>
          <p:spPr bwMode="auto">
            <a:xfrm>
              <a:off x="2735" y="1397"/>
              <a:ext cx="284"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Calibri" panose="020F0502020204030204" charset="0"/>
                </a:rPr>
                <a:t>组织人才</a:t>
              </a:r>
              <a:endParaRPr lang="zh-CN" altLang="en-US" sz="350" kern="0" spc="230" noProof="0" dirty="0">
                <a:ln>
                  <a:noFill/>
                </a:ln>
                <a:solidFill>
                  <a:schemeClr val="bg1"/>
                </a:solidFill>
                <a:effectLst/>
                <a:uLnTx/>
                <a:uFillTx/>
                <a:sym typeface="Calibri" panose="020F0502020204030204" charset="0"/>
              </a:endParaRPr>
            </a:p>
          </p:txBody>
        </p:sp>
        <p:sp>
          <p:nvSpPr>
            <p:cNvPr id="862" name="矩形 861"/>
            <p:cNvSpPr/>
            <p:nvPr/>
          </p:nvSpPr>
          <p:spPr bwMode="auto">
            <a:xfrm>
              <a:off x="3068" y="1397"/>
              <a:ext cx="283"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Calibri" panose="020F0502020204030204" charset="0"/>
                </a:rPr>
                <a:t>从严治党</a:t>
              </a:r>
              <a:endParaRPr lang="zh-CN" altLang="en-US" sz="350" kern="0" spc="230" noProof="0" dirty="0">
                <a:ln>
                  <a:noFill/>
                </a:ln>
                <a:solidFill>
                  <a:schemeClr val="bg1"/>
                </a:solidFill>
                <a:effectLst/>
                <a:uLnTx/>
                <a:uFillTx/>
                <a:sym typeface="Calibri" panose="020F0502020204030204" charset="0"/>
              </a:endParaRPr>
            </a:p>
          </p:txBody>
        </p:sp>
        <p:sp>
          <p:nvSpPr>
            <p:cNvPr id="863" name="矩形 862"/>
            <p:cNvSpPr/>
            <p:nvPr/>
          </p:nvSpPr>
          <p:spPr bwMode="auto">
            <a:xfrm>
              <a:off x="3401" y="1397"/>
              <a:ext cx="283"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宋体" panose="02010600030101010101" pitchFamily="2" charset="-122"/>
                </a:rPr>
                <a:t>数字人大</a:t>
              </a:r>
              <a:endParaRPr lang="zh-CN" altLang="en-US" sz="350" kern="0" spc="230" noProof="0" dirty="0">
                <a:ln>
                  <a:noFill/>
                </a:ln>
                <a:solidFill>
                  <a:schemeClr val="bg1"/>
                </a:solidFill>
                <a:effectLst/>
                <a:uLnTx/>
                <a:uFillTx/>
                <a:sym typeface="宋体" panose="02010600030101010101" pitchFamily="2" charset="-122"/>
              </a:endParaRPr>
            </a:p>
          </p:txBody>
        </p:sp>
        <p:sp>
          <p:nvSpPr>
            <p:cNvPr id="864" name="矩形 863"/>
            <p:cNvSpPr/>
            <p:nvPr/>
          </p:nvSpPr>
          <p:spPr bwMode="auto">
            <a:xfrm>
              <a:off x="3735" y="1397"/>
              <a:ext cx="283"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宋体" panose="02010600030101010101" pitchFamily="2" charset="-122"/>
                </a:rPr>
                <a:t>数字政协</a:t>
              </a:r>
              <a:endParaRPr lang="zh-CN" altLang="en-US" sz="350" kern="0" spc="230" noProof="0" dirty="0">
                <a:ln>
                  <a:noFill/>
                </a:ln>
                <a:solidFill>
                  <a:schemeClr val="bg1"/>
                </a:solidFill>
                <a:effectLst/>
                <a:uLnTx/>
                <a:uFillTx/>
                <a:sym typeface="宋体" panose="02010600030101010101" pitchFamily="2" charset="-122"/>
              </a:endParaRPr>
            </a:p>
          </p:txBody>
        </p:sp>
        <p:sp>
          <p:nvSpPr>
            <p:cNvPr id="865" name="矩形 864"/>
            <p:cNvSpPr/>
            <p:nvPr/>
          </p:nvSpPr>
          <p:spPr bwMode="auto">
            <a:xfrm>
              <a:off x="4068" y="1397"/>
              <a:ext cx="283"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宋体" panose="02010600030101010101" pitchFamily="2" charset="-122"/>
                </a:rPr>
                <a:t>数字统战</a:t>
              </a:r>
              <a:endParaRPr lang="zh-CN" altLang="en-US" sz="350" kern="0" spc="230" noProof="0" dirty="0">
                <a:ln>
                  <a:noFill/>
                </a:ln>
                <a:solidFill>
                  <a:schemeClr val="bg1"/>
                </a:solidFill>
                <a:effectLst/>
                <a:uLnTx/>
                <a:uFillTx/>
                <a:sym typeface="宋体" panose="02010600030101010101" pitchFamily="2" charset="-122"/>
              </a:endParaRPr>
            </a:p>
          </p:txBody>
        </p:sp>
        <p:sp>
          <p:nvSpPr>
            <p:cNvPr id="866" name="矩形 865"/>
            <p:cNvSpPr/>
            <p:nvPr/>
          </p:nvSpPr>
          <p:spPr bwMode="auto">
            <a:xfrm>
              <a:off x="4400" y="1397"/>
              <a:ext cx="283"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宋体" panose="02010600030101010101" pitchFamily="2" charset="-122"/>
                </a:rPr>
                <a:t>社会工作</a:t>
              </a:r>
              <a:endParaRPr lang="zh-CN" altLang="en-US" sz="350" kern="0" spc="230" noProof="0" dirty="0">
                <a:ln>
                  <a:noFill/>
                </a:ln>
                <a:solidFill>
                  <a:schemeClr val="bg1"/>
                </a:solidFill>
                <a:effectLst/>
                <a:uLnTx/>
                <a:uFillTx/>
                <a:sym typeface="宋体" panose="02010600030101010101" pitchFamily="2" charset="-122"/>
              </a:endParaRPr>
            </a:p>
          </p:txBody>
        </p:sp>
        <p:sp>
          <p:nvSpPr>
            <p:cNvPr id="867" name="矩形 866"/>
            <p:cNvSpPr/>
            <p:nvPr/>
          </p:nvSpPr>
          <p:spPr bwMode="auto">
            <a:xfrm>
              <a:off x="4732" y="1397"/>
              <a:ext cx="283"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Calibri" panose="020F0502020204030204" charset="0"/>
                </a:rPr>
                <a:t>群团建设</a:t>
              </a:r>
              <a:endParaRPr lang="zh-CN" altLang="en-US" sz="350" kern="0" spc="230" noProof="0" dirty="0">
                <a:ln>
                  <a:noFill/>
                </a:ln>
                <a:solidFill>
                  <a:schemeClr val="bg1"/>
                </a:solidFill>
                <a:effectLst/>
                <a:uLnTx/>
                <a:uFillTx/>
                <a:sym typeface="Calibri" panose="020F0502020204030204" charset="0"/>
              </a:endParaRPr>
            </a:p>
          </p:txBody>
        </p:sp>
        <p:sp>
          <p:nvSpPr>
            <p:cNvPr id="868" name="矩形 867"/>
            <p:cNvSpPr/>
            <p:nvPr/>
          </p:nvSpPr>
          <p:spPr bwMode="auto">
            <a:xfrm>
              <a:off x="5067" y="1397"/>
              <a:ext cx="283"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Calibri" panose="020F0502020204030204" charset="0"/>
                </a:rPr>
                <a:t>问题直报快响</a:t>
              </a:r>
              <a:endParaRPr lang="zh-CN" altLang="en-US" sz="350" kern="0" spc="230" noProof="0" dirty="0">
                <a:ln>
                  <a:noFill/>
                </a:ln>
                <a:solidFill>
                  <a:schemeClr val="bg1"/>
                </a:solidFill>
                <a:effectLst/>
                <a:uLnTx/>
                <a:uFillTx/>
                <a:sym typeface="Calibri" panose="020F0502020204030204" charset="0"/>
              </a:endParaRPr>
            </a:p>
          </p:txBody>
        </p:sp>
        <p:sp>
          <p:nvSpPr>
            <p:cNvPr id="869" name="矩形: 圆角 11275"/>
            <p:cNvSpPr/>
            <p:nvPr/>
          </p:nvSpPr>
          <p:spPr bwMode="auto">
            <a:xfrm>
              <a:off x="7401" y="1397"/>
              <a:ext cx="284"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mn-ea"/>
                </a:rPr>
                <a:t>政务运行</a:t>
              </a:r>
              <a:endParaRPr lang="zh-CN" altLang="en-US" sz="350" kern="0" spc="230" noProof="0" dirty="0">
                <a:ln>
                  <a:noFill/>
                </a:ln>
                <a:solidFill>
                  <a:schemeClr val="bg1"/>
                </a:solidFill>
                <a:effectLst/>
                <a:uLnTx/>
                <a:uFillTx/>
                <a:sym typeface="+mn-ea"/>
              </a:endParaRPr>
            </a:p>
          </p:txBody>
        </p:sp>
        <p:sp>
          <p:nvSpPr>
            <p:cNvPr id="870" name="矩形: 圆角 114"/>
            <p:cNvSpPr/>
            <p:nvPr/>
          </p:nvSpPr>
          <p:spPr bwMode="auto">
            <a:xfrm>
              <a:off x="5400" y="1397"/>
              <a:ext cx="284"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Arial" panose="020B0604020202020204" pitchFamily="34" charset="0"/>
                </a:rPr>
                <a:t>政务服务</a:t>
              </a:r>
              <a:endParaRPr lang="zh-CN" altLang="en-US" sz="350" kern="0" spc="230" noProof="0" dirty="0">
                <a:ln>
                  <a:noFill/>
                </a:ln>
                <a:solidFill>
                  <a:schemeClr val="bg1"/>
                </a:solidFill>
                <a:effectLst/>
                <a:uLnTx/>
                <a:uFillTx/>
                <a:sym typeface="Arial" panose="020B0604020202020204" pitchFamily="34" charset="0"/>
              </a:endParaRPr>
            </a:p>
          </p:txBody>
        </p:sp>
        <p:sp>
          <p:nvSpPr>
            <p:cNvPr id="871" name="矩形: 圆角 105"/>
            <p:cNvSpPr/>
            <p:nvPr/>
          </p:nvSpPr>
          <p:spPr bwMode="auto">
            <a:xfrm>
              <a:off x="5732" y="1397"/>
              <a:ext cx="284"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Arial" panose="020B0604020202020204" pitchFamily="34" charset="0"/>
                </a:rPr>
                <a:t>经济调节</a:t>
              </a:r>
              <a:endParaRPr lang="zh-CN" altLang="en-US" sz="350" kern="0" spc="230" noProof="0" dirty="0">
                <a:ln>
                  <a:noFill/>
                </a:ln>
                <a:solidFill>
                  <a:schemeClr val="bg1"/>
                </a:solidFill>
                <a:effectLst/>
                <a:uLnTx/>
                <a:uFillTx/>
                <a:sym typeface="Arial" panose="020B0604020202020204" pitchFamily="34" charset="0"/>
              </a:endParaRPr>
            </a:p>
          </p:txBody>
        </p:sp>
        <p:sp>
          <p:nvSpPr>
            <p:cNvPr id="872" name="矩形 871"/>
            <p:cNvSpPr/>
            <p:nvPr/>
          </p:nvSpPr>
          <p:spPr bwMode="auto">
            <a:xfrm>
              <a:off x="6067" y="1397"/>
              <a:ext cx="283"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市场监管</a:t>
              </a:r>
              <a:endParaRPr lang="zh-CN" altLang="en-US" sz="350" kern="0" spc="230" noProof="0" dirty="0">
                <a:ln>
                  <a:noFill/>
                </a:ln>
                <a:solidFill>
                  <a:schemeClr val="bg1"/>
                </a:solidFill>
                <a:effectLst/>
                <a:uLnTx/>
                <a:uFillTx/>
                <a:sym typeface="微软雅黑" panose="020B0503020204020204" charset="-122"/>
              </a:endParaRPr>
            </a:p>
          </p:txBody>
        </p:sp>
        <p:sp>
          <p:nvSpPr>
            <p:cNvPr id="873" name="矩形 872"/>
            <p:cNvSpPr/>
            <p:nvPr/>
          </p:nvSpPr>
          <p:spPr bwMode="auto">
            <a:xfrm>
              <a:off x="6401" y="1397"/>
              <a:ext cx="283"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城市治理</a:t>
              </a:r>
              <a:endParaRPr lang="zh-CN" altLang="en-US" sz="350" kern="0" spc="230" noProof="0" dirty="0">
                <a:ln>
                  <a:noFill/>
                </a:ln>
                <a:solidFill>
                  <a:schemeClr val="bg1"/>
                </a:solidFill>
                <a:effectLst/>
                <a:uLnTx/>
                <a:uFillTx/>
                <a:sym typeface="微软雅黑" panose="020B0503020204020204" charset="-122"/>
              </a:endParaRPr>
            </a:p>
          </p:txBody>
        </p:sp>
        <p:sp>
          <p:nvSpPr>
            <p:cNvPr id="874" name="矩形 873"/>
            <p:cNvSpPr/>
            <p:nvPr/>
          </p:nvSpPr>
          <p:spPr bwMode="auto">
            <a:xfrm>
              <a:off x="6733" y="1397"/>
              <a:ext cx="283"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应急管理</a:t>
              </a:r>
              <a:endParaRPr lang="zh-CN" altLang="en-US" sz="350" kern="0" spc="230" noProof="0" dirty="0">
                <a:ln>
                  <a:noFill/>
                </a:ln>
                <a:solidFill>
                  <a:schemeClr val="bg1"/>
                </a:solidFill>
                <a:effectLst/>
                <a:uLnTx/>
                <a:uFillTx/>
                <a:sym typeface="微软雅黑" panose="020B0503020204020204" charset="-122"/>
              </a:endParaRPr>
            </a:p>
          </p:txBody>
        </p:sp>
        <p:sp>
          <p:nvSpPr>
            <p:cNvPr id="875" name="矩形: 圆角 105"/>
            <p:cNvSpPr/>
            <p:nvPr/>
          </p:nvSpPr>
          <p:spPr bwMode="auto">
            <a:xfrm>
              <a:off x="7066" y="1397"/>
              <a:ext cx="284"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Arial" panose="020B0604020202020204" pitchFamily="34" charset="0"/>
                </a:rPr>
                <a:t>生态环保</a:t>
              </a:r>
              <a:endParaRPr lang="zh-CN" altLang="en-US" sz="350" kern="0" spc="230" noProof="0" dirty="0">
                <a:ln>
                  <a:noFill/>
                </a:ln>
                <a:solidFill>
                  <a:schemeClr val="bg1"/>
                </a:solidFill>
                <a:effectLst/>
                <a:uLnTx/>
                <a:uFillTx/>
                <a:sym typeface="Arial" panose="020B0604020202020204" pitchFamily="34" charset="0"/>
              </a:endParaRPr>
            </a:p>
          </p:txBody>
        </p:sp>
        <p:sp>
          <p:nvSpPr>
            <p:cNvPr id="876" name="矩形 875"/>
            <p:cNvSpPr/>
            <p:nvPr/>
          </p:nvSpPr>
          <p:spPr bwMode="auto">
            <a:xfrm>
              <a:off x="14239" y="1397"/>
              <a:ext cx="299"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理论和意识形态</a:t>
              </a:r>
              <a:endParaRPr lang="zh-CN" altLang="en-US" sz="350" kern="0" spc="230" noProof="0" dirty="0">
                <a:ln>
                  <a:noFill/>
                </a:ln>
                <a:solidFill>
                  <a:schemeClr val="bg1"/>
                </a:solidFill>
                <a:effectLst/>
                <a:uLnTx/>
                <a:uFillTx/>
                <a:sym typeface="微软雅黑" panose="020B0503020204020204" charset="-122"/>
              </a:endParaRPr>
            </a:p>
          </p:txBody>
        </p:sp>
        <p:sp>
          <p:nvSpPr>
            <p:cNvPr id="877" name="矩形 876"/>
            <p:cNvSpPr/>
            <p:nvPr/>
          </p:nvSpPr>
          <p:spPr bwMode="auto">
            <a:xfrm>
              <a:off x="14581" y="1397"/>
              <a:ext cx="299"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等线" panose="02010600030101010101" charset="-122"/>
                </a:rPr>
                <a:t>文明形态</a:t>
              </a:r>
              <a:endParaRPr lang="zh-CN" altLang="en-US" sz="350" kern="0" spc="230" noProof="0" dirty="0">
                <a:ln>
                  <a:noFill/>
                </a:ln>
                <a:solidFill>
                  <a:schemeClr val="bg1"/>
                </a:solidFill>
                <a:effectLst/>
                <a:uLnTx/>
                <a:uFillTx/>
                <a:sym typeface="等线" panose="02010600030101010101" charset="-122"/>
              </a:endParaRPr>
            </a:p>
          </p:txBody>
        </p:sp>
        <p:sp>
          <p:nvSpPr>
            <p:cNvPr id="878" name="矩形 877"/>
            <p:cNvSpPr/>
            <p:nvPr/>
          </p:nvSpPr>
          <p:spPr bwMode="auto">
            <a:xfrm>
              <a:off x="14927" y="1397"/>
              <a:ext cx="299"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等线" panose="02010600030101010101" charset="-122"/>
                </a:rPr>
                <a:t>文化生态</a:t>
              </a:r>
              <a:endParaRPr lang="zh-CN" altLang="en-US" sz="350" kern="0" spc="230" noProof="0" dirty="0">
                <a:ln>
                  <a:noFill/>
                </a:ln>
                <a:solidFill>
                  <a:schemeClr val="bg1"/>
                </a:solidFill>
                <a:effectLst/>
                <a:uLnTx/>
                <a:uFillTx/>
                <a:sym typeface="等线" panose="02010600030101010101" charset="-122"/>
              </a:endParaRPr>
            </a:p>
          </p:txBody>
        </p:sp>
        <p:sp>
          <p:nvSpPr>
            <p:cNvPr id="879" name="矩形: 圆角 11275"/>
            <p:cNvSpPr/>
            <p:nvPr/>
          </p:nvSpPr>
          <p:spPr bwMode="auto">
            <a:xfrm>
              <a:off x="13921" y="1397"/>
              <a:ext cx="275"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等线" panose="02010600030101010101" charset="-122"/>
                </a:rPr>
                <a:t>网络生态</a:t>
              </a:r>
              <a:endParaRPr lang="zh-CN" altLang="en-US" sz="350" kern="0" spc="230" noProof="0" dirty="0">
                <a:ln>
                  <a:noFill/>
                </a:ln>
                <a:solidFill>
                  <a:schemeClr val="bg1"/>
                </a:solidFill>
                <a:effectLst/>
                <a:uLnTx/>
                <a:uFillTx/>
                <a:sym typeface="等线" panose="02010600030101010101" charset="-122"/>
              </a:endParaRPr>
            </a:p>
          </p:txBody>
        </p:sp>
        <p:sp>
          <p:nvSpPr>
            <p:cNvPr id="880" name="矩形: 圆角 11275"/>
            <p:cNvSpPr/>
            <p:nvPr/>
          </p:nvSpPr>
          <p:spPr bwMode="auto">
            <a:xfrm>
              <a:off x="13615" y="1397"/>
              <a:ext cx="260"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等线" panose="02010600030101010101" charset="-122"/>
                </a:rPr>
                <a:t>舆论生态</a:t>
              </a:r>
              <a:endParaRPr lang="zh-CN" altLang="en-US" sz="350" kern="0" spc="230" noProof="0" dirty="0">
                <a:ln>
                  <a:noFill/>
                </a:ln>
                <a:solidFill>
                  <a:schemeClr val="bg1"/>
                </a:solidFill>
                <a:effectLst/>
                <a:uLnTx/>
                <a:uFillTx/>
                <a:sym typeface="等线" panose="02010600030101010101" charset="-122"/>
              </a:endParaRPr>
            </a:p>
          </p:txBody>
        </p:sp>
        <p:sp>
          <p:nvSpPr>
            <p:cNvPr id="881" name="矩形: 圆角 11275"/>
            <p:cNvSpPr/>
            <p:nvPr/>
          </p:nvSpPr>
          <p:spPr bwMode="auto">
            <a:xfrm>
              <a:off x="15269" y="1397"/>
              <a:ext cx="275"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等线" panose="02010600030101010101" charset="-122"/>
                </a:rPr>
                <a:t>文产业态</a:t>
              </a:r>
              <a:endParaRPr lang="zh-CN" altLang="en-US" sz="350" kern="0" spc="230" noProof="0" dirty="0">
                <a:ln>
                  <a:noFill/>
                </a:ln>
                <a:solidFill>
                  <a:schemeClr val="bg1"/>
                </a:solidFill>
                <a:effectLst/>
                <a:uLnTx/>
                <a:uFillTx/>
                <a:sym typeface="等线" panose="02010600030101010101" charset="-122"/>
              </a:endParaRPr>
            </a:p>
          </p:txBody>
        </p:sp>
        <p:sp>
          <p:nvSpPr>
            <p:cNvPr id="882" name="矩形: 圆角 114"/>
            <p:cNvSpPr/>
            <p:nvPr/>
          </p:nvSpPr>
          <p:spPr bwMode="auto">
            <a:xfrm>
              <a:off x="15610" y="1388"/>
              <a:ext cx="412"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文明执法</a:t>
              </a:r>
              <a:endParaRPr lang="zh-CN" altLang="en-US" sz="350" kern="0" spc="230" noProof="0" dirty="0">
                <a:ln>
                  <a:noFill/>
                </a:ln>
                <a:solidFill>
                  <a:schemeClr val="bg1"/>
                </a:solidFill>
                <a:effectLst/>
                <a:uLnTx/>
                <a:uFillTx/>
                <a:sym typeface="微软雅黑" panose="020B0503020204020204" charset="-122"/>
              </a:endParaRPr>
            </a:p>
          </p:txBody>
        </p:sp>
        <p:sp>
          <p:nvSpPr>
            <p:cNvPr id="883" name="矩形: 圆角 105"/>
            <p:cNvSpPr/>
            <p:nvPr/>
          </p:nvSpPr>
          <p:spPr bwMode="auto">
            <a:xfrm>
              <a:off x="16089" y="1388"/>
              <a:ext cx="412" cy="544"/>
            </a:xfrm>
            <a:prstGeom prst="roundRect">
              <a:avLst>
                <a:gd name="adj" fmla="val 0"/>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公正司法</a:t>
              </a:r>
              <a:endParaRPr lang="zh-CN" altLang="en-US" sz="350" kern="0" spc="230" noProof="0" dirty="0">
                <a:ln>
                  <a:noFill/>
                </a:ln>
                <a:solidFill>
                  <a:schemeClr val="bg1"/>
                </a:solidFill>
                <a:effectLst/>
                <a:uLnTx/>
                <a:uFillTx/>
                <a:sym typeface="微软雅黑" panose="020B0503020204020204" charset="-122"/>
              </a:endParaRPr>
            </a:p>
          </p:txBody>
        </p:sp>
        <p:sp>
          <p:nvSpPr>
            <p:cNvPr id="884" name="矩形 883"/>
            <p:cNvSpPr/>
            <p:nvPr/>
          </p:nvSpPr>
          <p:spPr bwMode="auto">
            <a:xfrm>
              <a:off x="16571" y="1388"/>
              <a:ext cx="390"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普法服务</a:t>
              </a:r>
              <a:endParaRPr lang="zh-CN" altLang="en-US" sz="350" kern="0" spc="230" noProof="0" dirty="0">
                <a:ln>
                  <a:noFill/>
                </a:ln>
                <a:solidFill>
                  <a:schemeClr val="bg1"/>
                </a:solidFill>
                <a:effectLst/>
                <a:uLnTx/>
                <a:uFillTx/>
                <a:sym typeface="微软雅黑" panose="020B0503020204020204" charset="-122"/>
              </a:endParaRPr>
            </a:p>
          </p:txBody>
        </p:sp>
        <p:sp>
          <p:nvSpPr>
            <p:cNvPr id="885" name="矩形 884"/>
            <p:cNvSpPr/>
            <p:nvPr/>
          </p:nvSpPr>
          <p:spPr bwMode="auto">
            <a:xfrm>
              <a:off x="17021" y="1388"/>
              <a:ext cx="390" cy="544"/>
            </a:xfrm>
            <a:prstGeom prst="rect">
              <a:avLst/>
            </a:prstGeom>
            <a:noFill/>
            <a:ln w="9525" cap="flat" cmpd="sng" algn="ctr">
              <a:solidFill>
                <a:srgbClr val="8FAADC"/>
              </a:solidFill>
              <a:prstDash val="solid"/>
              <a:miter lim="800000"/>
            </a:ln>
            <a:effectLst/>
          </p:spPr>
          <p:txBody>
            <a:bodyPr vertOverflow="overflow" horzOverflow="overflow" vert="mongolianVert" wrap="square" lIns="0" tIns="0" rIns="0" bIns="0" numCol="1" spcCol="0" rtlCol="0" fromWordArt="0" anchor="ctr" anchorCtr="0" forceAA="0" compatLnSpc="1">
              <a:noAutofit/>
            </a:bodyPr>
            <a:lstStyle>
              <a:lvl1pPr>
                <a:defRPr>
                  <a:solidFill>
                    <a:sysClr val="windowText" lastClr="000000"/>
                  </a:solidFill>
                  <a:latin typeface="Calibri" panose="020F0502020204030204" charset="0"/>
                  <a:ea typeface="微软雅黑" panose="020B0503020204020204" charset="-122"/>
                </a:defRPr>
              </a:lvl1pPr>
              <a:lvl2pPr marL="742950" indent="-285750">
                <a:defRPr>
                  <a:solidFill>
                    <a:sysClr val="windowText" lastClr="000000"/>
                  </a:solidFill>
                  <a:latin typeface="Calibri" panose="020F0502020204030204" charset="0"/>
                  <a:ea typeface="微软雅黑" panose="020B0503020204020204" charset="-122"/>
                </a:defRPr>
              </a:lvl2pPr>
              <a:lvl3pPr marL="1143000" indent="-228600">
                <a:defRPr>
                  <a:solidFill>
                    <a:sysClr val="windowText" lastClr="000000"/>
                  </a:solidFill>
                  <a:latin typeface="Calibri" panose="020F0502020204030204" charset="0"/>
                  <a:ea typeface="微软雅黑" panose="020B0503020204020204" charset="-122"/>
                </a:defRPr>
              </a:lvl3pPr>
              <a:lvl4pPr marL="1600200" indent="-228600">
                <a:defRPr>
                  <a:solidFill>
                    <a:sysClr val="windowText" lastClr="000000"/>
                  </a:solidFill>
                  <a:latin typeface="Calibri" panose="020F0502020204030204" charset="0"/>
                  <a:ea typeface="微软雅黑" panose="020B0503020204020204" charset="-122"/>
                </a:defRPr>
              </a:lvl4pPr>
              <a:lvl5pPr marL="2057400" indent="-228600">
                <a:defRPr>
                  <a:solidFill>
                    <a:sysClr val="windowText" lastClr="000000"/>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ysClr val="windowText" lastClr="000000"/>
                  </a:solidFill>
                  <a:latin typeface="Calibri" panose="020F0502020204030204" charset="0"/>
                  <a:ea typeface="微软雅黑" panose="020B0503020204020204" charset="-122"/>
                </a:defRPr>
              </a:lvl9pPr>
            </a:lstStyle>
            <a:p>
              <a:pPr lvl="0" algn="ctr">
                <a:lnSpc>
                  <a:spcPct val="90000"/>
                </a:lnSpc>
                <a:spcBef>
                  <a:spcPts val="0"/>
                </a:spcBef>
                <a:spcAft>
                  <a:spcPts val="0"/>
                </a:spcAft>
                <a:buClrTx/>
                <a:buSzTx/>
                <a:buFontTx/>
                <a:defRPr/>
              </a:pPr>
              <a:r>
                <a:rPr lang="zh-CN" altLang="en-US" sz="350" kern="0" spc="230" noProof="0" dirty="0">
                  <a:ln>
                    <a:noFill/>
                  </a:ln>
                  <a:solidFill>
                    <a:schemeClr val="bg1"/>
                  </a:solidFill>
                  <a:effectLst/>
                  <a:uLnTx/>
                  <a:uFillTx/>
                  <a:sym typeface="微软雅黑" panose="020B0503020204020204" charset="-122"/>
                </a:rPr>
                <a:t>平安稳定</a:t>
              </a:r>
              <a:endParaRPr lang="zh-CN" altLang="en-US" sz="350" kern="0" spc="230" noProof="0" dirty="0">
                <a:ln>
                  <a:noFill/>
                </a:ln>
                <a:solidFill>
                  <a:schemeClr val="bg1"/>
                </a:solidFill>
                <a:effectLst/>
                <a:uLnTx/>
                <a:uFillTx/>
                <a:sym typeface="微软雅黑" panose="020B0503020204020204" charset="-122"/>
              </a:endParaRPr>
            </a:p>
          </p:txBody>
        </p:sp>
      </p:grpSp>
      <p:sp>
        <p:nvSpPr>
          <p:cNvPr id="886" name="圆角矩形 234"/>
          <p:cNvSpPr/>
          <p:nvPr/>
        </p:nvSpPr>
        <p:spPr bwMode="auto">
          <a:xfrm>
            <a:off x="1512570" y="1270635"/>
            <a:ext cx="9558020" cy="513080"/>
          </a:xfrm>
          <a:prstGeom prst="roundRect">
            <a:avLst>
              <a:gd name="adj" fmla="val 2331"/>
            </a:avLst>
          </a:prstGeom>
          <a:noFill/>
          <a:ln w="28575" cap="flat" cmpd="sng" algn="ctr">
            <a:solidFill>
              <a:srgbClr val="7E0000"/>
            </a:solidFill>
            <a:prstDash val="solid"/>
            <a:miter lim="800000"/>
          </a:ln>
          <a:effectLst/>
        </p:spPr>
        <p:txBody>
          <a:bodyPr vertOverflow="overflow" horzOverflow="overflow" vert="vert270" wrap="square" lIns="0" tIns="0" rIns="0" bIns="0" numCol="1" spcCol="0" rtlCol="0" fromWordArt="0" anchor="ctr" anchorCtr="0" forceAA="0" compatLnSpc="1">
            <a:noAutofit/>
          </a:bodyPr>
          <a:lstStyle/>
          <a:p>
            <a:pPr lvl="0" algn="ctr">
              <a:lnSpc>
                <a:spcPts val="500"/>
              </a:lnSpc>
              <a:spcBef>
                <a:spcPts val="0"/>
              </a:spcBef>
              <a:spcAft>
                <a:spcPts val="0"/>
              </a:spcAft>
              <a:buClrTx/>
              <a:buSzTx/>
              <a:buFontTx/>
              <a:defRPr/>
            </a:pPr>
            <a:endParaRPr lang="zh-CN" altLang="en-US" sz="500" kern="0" noProof="0" dirty="0">
              <a:ln>
                <a:noFill/>
              </a:ln>
              <a:effectLst/>
              <a:uLnTx/>
              <a:uFillTx/>
              <a:latin typeface="微软雅黑" panose="020B0503020204020204" charset="-122"/>
              <a:ea typeface="微软雅黑" panose="020B0503020204020204" charset="-122"/>
              <a:cs typeface="Times New Roman" panose="02020603050405020304" charset="0"/>
              <a:sym typeface="Calibri" panose="020F0502020204030204" charset="0"/>
            </a:endParaRPr>
          </a:p>
        </p:txBody>
      </p:sp>
      <p:grpSp>
        <p:nvGrpSpPr>
          <p:cNvPr id="887" name="组合 886"/>
          <p:cNvGrpSpPr/>
          <p:nvPr/>
        </p:nvGrpSpPr>
        <p:grpSpPr>
          <a:xfrm rot="0">
            <a:off x="158750" y="1847215"/>
            <a:ext cx="646430" cy="1602740"/>
            <a:chOff x="-890" y="4424"/>
            <a:chExt cx="408" cy="3938"/>
          </a:xfrm>
          <a:solidFill>
            <a:srgbClr val="5B9BD5">
              <a:lumMod val="75000"/>
            </a:srgbClr>
          </a:solidFill>
        </p:grpSpPr>
        <p:sp>
          <p:nvSpPr>
            <p:cNvPr id="888" name="矩形 887"/>
            <p:cNvSpPr/>
            <p:nvPr/>
          </p:nvSpPr>
          <p:spPr bwMode="auto">
            <a:xfrm>
              <a:off x="-890" y="4424"/>
              <a:ext cx="409" cy="3938"/>
            </a:xfrm>
            <a:prstGeom prst="rect">
              <a:avLst/>
            </a:prstGeom>
            <a:grpFill/>
            <a:ln w="12700" cap="flat" cmpd="sng" algn="ctr">
              <a:noFill/>
              <a:prstDash val="solid"/>
              <a:miter lim="800000"/>
            </a:ln>
            <a:effectLst/>
          </p:spPr>
          <p:txBody>
            <a:bodyPr vert="horz" wrap="square" lIns="91440"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微软雅黑" panose="020B0503020204020204" charset="-122"/>
              </a:endParaRPr>
            </a:p>
          </p:txBody>
        </p:sp>
        <p:sp>
          <p:nvSpPr>
            <p:cNvPr id="889" name="矩形 888"/>
            <p:cNvSpPr/>
            <p:nvPr/>
          </p:nvSpPr>
          <p:spPr bwMode="auto">
            <a:xfrm>
              <a:off x="-856" y="6014"/>
              <a:ext cx="375" cy="920"/>
            </a:xfrm>
            <a:prstGeom prst="rect">
              <a:avLst/>
            </a:prstGeom>
            <a:grpFill/>
            <a:ln w="12700" cap="flat" cmpd="sng" algn="ctr">
              <a:noFill/>
              <a:prstDash val="solid"/>
              <a:miter lim="800000"/>
            </a:ln>
            <a:effectLst/>
          </p:spPr>
          <p:txBody>
            <a:bodyPr vert="horz" wrap="square" lIns="91440"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微软雅黑" panose="020B0503020204020204" charset="-122"/>
                </a:rPr>
                <a:t>三级治理中心</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微软雅黑" panose="020B0503020204020204" charset="-122"/>
              </a:endParaRPr>
            </a:p>
          </p:txBody>
        </p:sp>
      </p:grpSp>
      <p:sp>
        <p:nvSpPr>
          <p:cNvPr id="890" name="文本框 889"/>
          <p:cNvSpPr txBox="1"/>
          <p:nvPr/>
        </p:nvSpPr>
        <p:spPr>
          <a:xfrm>
            <a:off x="808990" y="2458085"/>
            <a:ext cx="483870" cy="328930"/>
          </a:xfrm>
          <a:prstGeom prst="rect">
            <a:avLst/>
          </a:prstGeom>
          <a:noFill/>
        </p:spPr>
        <p:txBody>
          <a:bodyPr wrap="square">
            <a:noAutofit/>
          </a:bodyPr>
          <a:p>
            <a:pPr marR="0" lvl="0" indent="0" algn="ctr" defTabSz="914400" rtl="0" fontAlgn="auto">
              <a:lnSpc>
                <a:spcPct val="100000"/>
              </a:lnSpc>
              <a:spcBef>
                <a:spcPts val="0"/>
              </a:spcBef>
              <a:spcAft>
                <a:spcPts val="0"/>
              </a:spcAft>
              <a:buClrTx/>
              <a:buSzTx/>
              <a:buFontTx/>
              <a:buNone/>
              <a:defRPr/>
            </a:pPr>
            <a:r>
              <a:rPr lang="zh-CN" altLang="en-US" sz="600" b="1" kern="0" spc="3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微软雅黑" panose="020B0503020204020204" charset="-122"/>
              </a:rPr>
              <a:t>基层智治体系</a:t>
            </a:r>
            <a:endParaRPr kumimoji="0" lang="zh-CN" altLang="en-US" sz="600" b="1" i="0" u="none" strike="noStrike" kern="0" cap="none" spc="300" normalizeH="0" baseline="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微软雅黑" panose="020B0503020204020204" charset="-122"/>
            </a:endParaRPr>
          </a:p>
        </p:txBody>
      </p:sp>
      <p:sp>
        <p:nvSpPr>
          <p:cNvPr id="891" name="矩形: 圆角 132"/>
          <p:cNvSpPr/>
          <p:nvPr/>
        </p:nvSpPr>
        <p:spPr bwMode="auto">
          <a:xfrm>
            <a:off x="1246505" y="1855470"/>
            <a:ext cx="238760" cy="135255"/>
          </a:xfrm>
          <a:prstGeom prst="roundRect">
            <a:avLst>
              <a:gd name="adj" fmla="val 0"/>
            </a:avLst>
          </a:prstGeom>
          <a:solidFill>
            <a:srgbClr val="5B9BD5">
              <a:lumMod val="75000"/>
            </a:srgbClr>
          </a:solidFill>
          <a:ln w="12700" cap="flat" cmpd="sng" algn="ctr">
            <a:noFill/>
            <a:prstDash val="solid"/>
            <a:miter lim="800000"/>
          </a:ln>
          <a:effectLst/>
        </p:spPr>
        <p:txBody>
          <a:bodyPr vert="horz" wrap="square" lIns="0" tIns="45720" rIns="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mn-ea"/>
              </a:rPr>
              <a:t>板块</a:t>
            </a:r>
            <a:endParaRPr kumimoji="1" lang="zh-CN" altLang="en-US" sz="700" b="1" kern="0" dirty="0">
              <a:solidFill>
                <a:prstClr val="white"/>
              </a:solidFill>
              <a:latin typeface="微软雅黑" panose="020B0503020204020204" charset="-122"/>
              <a:cs typeface="+mn-ea"/>
              <a:sym typeface="+mn-ea"/>
            </a:endParaRPr>
          </a:p>
        </p:txBody>
      </p:sp>
      <p:sp>
        <p:nvSpPr>
          <p:cNvPr id="892" name="圆角矩形 417"/>
          <p:cNvSpPr/>
          <p:nvPr/>
        </p:nvSpPr>
        <p:spPr bwMode="auto">
          <a:xfrm>
            <a:off x="6379210" y="1851660"/>
            <a:ext cx="558165" cy="13335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Arial" panose="020B0604020202020204" pitchFamily="34" charset="0"/>
              </a:rPr>
              <a:t>应急动员</a:t>
            </a:r>
            <a:endParaRPr kumimoji="1" lang="zh-CN" altLang="en-US" sz="700" b="1" kern="0" dirty="0">
              <a:solidFill>
                <a:prstClr val="white"/>
              </a:solidFill>
              <a:latin typeface="微软雅黑" panose="020B0503020204020204" charset="-122"/>
              <a:cs typeface="+mn-ea"/>
              <a:sym typeface="Arial" panose="020B0604020202020204" pitchFamily="34" charset="0"/>
            </a:endParaRPr>
          </a:p>
        </p:txBody>
      </p:sp>
      <p:sp>
        <p:nvSpPr>
          <p:cNvPr id="893" name="圆角矩形 417"/>
          <p:cNvSpPr/>
          <p:nvPr/>
        </p:nvSpPr>
        <p:spPr bwMode="auto">
          <a:xfrm>
            <a:off x="5490845" y="1847215"/>
            <a:ext cx="852805" cy="135255"/>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Arial" panose="020B0604020202020204" pitchFamily="34" charset="0"/>
              </a:rPr>
              <a:t>社会治理</a:t>
            </a:r>
            <a:endParaRPr kumimoji="1" lang="zh-CN" altLang="en-US" sz="700" b="1" kern="0" dirty="0">
              <a:solidFill>
                <a:prstClr val="white"/>
              </a:solidFill>
              <a:latin typeface="微软雅黑" panose="020B0503020204020204" charset="-122"/>
              <a:cs typeface="+mn-ea"/>
              <a:sym typeface="Arial" panose="020B0604020202020204" pitchFamily="34" charset="0"/>
            </a:endParaRPr>
          </a:p>
        </p:txBody>
      </p:sp>
      <p:sp>
        <p:nvSpPr>
          <p:cNvPr id="894" name="圆角矩形 417"/>
          <p:cNvSpPr/>
          <p:nvPr/>
        </p:nvSpPr>
        <p:spPr bwMode="auto">
          <a:xfrm>
            <a:off x="7923530" y="1847215"/>
            <a:ext cx="1520190" cy="13716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Arial" panose="020B0604020202020204" pitchFamily="34" charset="0"/>
              </a:rPr>
              <a:t>生态景观</a:t>
            </a:r>
            <a:endParaRPr kumimoji="1" lang="zh-CN" altLang="en-US" sz="700" b="1" kern="0" dirty="0">
              <a:solidFill>
                <a:prstClr val="white"/>
              </a:solidFill>
              <a:latin typeface="微软雅黑" panose="020B0503020204020204" charset="-122"/>
              <a:cs typeface="+mn-ea"/>
              <a:sym typeface="Arial" panose="020B0604020202020204" pitchFamily="34" charset="0"/>
            </a:endParaRPr>
          </a:p>
        </p:txBody>
      </p:sp>
      <p:sp>
        <p:nvSpPr>
          <p:cNvPr id="895" name="圆角矩形 417"/>
          <p:cNvSpPr/>
          <p:nvPr/>
        </p:nvSpPr>
        <p:spPr bwMode="auto">
          <a:xfrm>
            <a:off x="4164965" y="1857375"/>
            <a:ext cx="1285240" cy="122555"/>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Arial" panose="020B0604020202020204" pitchFamily="34" charset="0"/>
              </a:rPr>
              <a:t>设施运行</a:t>
            </a:r>
            <a:endParaRPr kumimoji="1" lang="zh-CN" altLang="en-US" sz="700" b="1" kern="0" dirty="0">
              <a:solidFill>
                <a:prstClr val="white"/>
              </a:solidFill>
              <a:latin typeface="微软雅黑" panose="020B0503020204020204" charset="-122"/>
              <a:cs typeface="+mn-ea"/>
              <a:sym typeface="Arial" panose="020B0604020202020204" pitchFamily="34" charset="0"/>
            </a:endParaRPr>
          </a:p>
        </p:txBody>
      </p:sp>
      <p:sp>
        <p:nvSpPr>
          <p:cNvPr id="896" name="圆角矩形 417"/>
          <p:cNvSpPr/>
          <p:nvPr/>
        </p:nvSpPr>
        <p:spPr bwMode="auto">
          <a:xfrm>
            <a:off x="1503680" y="1857375"/>
            <a:ext cx="1443355" cy="13462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Arial" panose="020B0604020202020204" pitchFamily="34" charset="0"/>
              </a:rPr>
              <a:t>党建统领</a:t>
            </a:r>
            <a:endParaRPr kumimoji="1" lang="zh-CN" altLang="en-US" sz="700" b="1" kern="0" dirty="0">
              <a:solidFill>
                <a:prstClr val="white"/>
              </a:solidFill>
              <a:latin typeface="微软雅黑" panose="020B0503020204020204" charset="-122"/>
              <a:cs typeface="+mn-ea"/>
              <a:sym typeface="Arial" panose="020B0604020202020204" pitchFamily="34" charset="0"/>
            </a:endParaRPr>
          </a:p>
        </p:txBody>
      </p:sp>
      <p:sp>
        <p:nvSpPr>
          <p:cNvPr id="897" name="圆角矩形 417"/>
          <p:cNvSpPr/>
          <p:nvPr/>
        </p:nvSpPr>
        <p:spPr bwMode="auto">
          <a:xfrm>
            <a:off x="6986270" y="1851660"/>
            <a:ext cx="847090" cy="13335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Arial" panose="020B0604020202020204" pitchFamily="34" charset="0"/>
              </a:rPr>
              <a:t>文明创建</a:t>
            </a:r>
            <a:endParaRPr kumimoji="1" lang="zh-CN" altLang="en-US" sz="700" b="1" kern="0" dirty="0">
              <a:solidFill>
                <a:prstClr val="white"/>
              </a:solidFill>
              <a:latin typeface="微软雅黑" panose="020B0503020204020204" charset="-122"/>
              <a:cs typeface="+mn-ea"/>
              <a:sym typeface="Arial" panose="020B0604020202020204" pitchFamily="34" charset="0"/>
            </a:endParaRPr>
          </a:p>
        </p:txBody>
      </p:sp>
      <p:sp>
        <p:nvSpPr>
          <p:cNvPr id="898" name="圆角矩形 417"/>
          <p:cNvSpPr/>
          <p:nvPr/>
        </p:nvSpPr>
        <p:spPr bwMode="auto">
          <a:xfrm>
            <a:off x="9538335" y="1847215"/>
            <a:ext cx="1537970" cy="13462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Arial" panose="020B0604020202020204" pitchFamily="34" charset="0"/>
              </a:rPr>
              <a:t>生产生活服务</a:t>
            </a:r>
            <a:endParaRPr kumimoji="1" lang="zh-CN" altLang="en-US" sz="700" b="1" kern="0" dirty="0">
              <a:solidFill>
                <a:prstClr val="white"/>
              </a:solidFill>
              <a:latin typeface="微软雅黑" panose="020B0503020204020204" charset="-122"/>
              <a:cs typeface="+mn-ea"/>
              <a:sym typeface="Arial" panose="020B0604020202020204" pitchFamily="34" charset="0"/>
            </a:endParaRPr>
          </a:p>
        </p:txBody>
      </p:sp>
      <p:sp>
        <p:nvSpPr>
          <p:cNvPr id="899" name="圆角矩形 417"/>
          <p:cNvSpPr/>
          <p:nvPr/>
        </p:nvSpPr>
        <p:spPr bwMode="auto">
          <a:xfrm>
            <a:off x="2981325" y="1856740"/>
            <a:ext cx="1148715" cy="12573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Arial" panose="020B0604020202020204" pitchFamily="34" charset="0"/>
              </a:rPr>
              <a:t>经济发展</a:t>
            </a:r>
            <a:endParaRPr kumimoji="1" lang="zh-CN" altLang="en-US" sz="700" b="1" kern="0" dirty="0">
              <a:solidFill>
                <a:prstClr val="white"/>
              </a:solidFill>
              <a:latin typeface="微软雅黑" panose="020B0503020204020204" charset="-122"/>
              <a:cs typeface="+mn-ea"/>
              <a:sym typeface="Arial" panose="020B0604020202020204" pitchFamily="34" charset="0"/>
            </a:endParaRPr>
          </a:p>
        </p:txBody>
      </p:sp>
      <p:grpSp>
        <p:nvGrpSpPr>
          <p:cNvPr id="900" name="组合 899"/>
          <p:cNvGrpSpPr/>
          <p:nvPr/>
        </p:nvGrpSpPr>
        <p:grpSpPr>
          <a:xfrm rot="0">
            <a:off x="1246505" y="2005965"/>
            <a:ext cx="9817100" cy="466725"/>
            <a:chOff x="2130" y="3132"/>
            <a:chExt cx="15093" cy="844"/>
          </a:xfrm>
        </p:grpSpPr>
        <p:sp>
          <p:nvSpPr>
            <p:cNvPr id="901" name="矩形: 圆角 132"/>
            <p:cNvSpPr/>
            <p:nvPr/>
          </p:nvSpPr>
          <p:spPr bwMode="auto">
            <a:xfrm>
              <a:off x="2130" y="3132"/>
              <a:ext cx="370" cy="844"/>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跑道</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02" name="矩形: 圆角 105"/>
            <p:cNvSpPr/>
            <p:nvPr/>
          </p:nvSpPr>
          <p:spPr bwMode="auto">
            <a:xfrm>
              <a:off x="10355" y="3135"/>
              <a:ext cx="20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消防安全</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03" name="矩形: 圆角 105"/>
            <p:cNvSpPr/>
            <p:nvPr/>
          </p:nvSpPr>
          <p:spPr bwMode="auto">
            <a:xfrm>
              <a:off x="10617" y="3135"/>
              <a:ext cx="20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国防动员</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04" name="矩形: 圆角 105"/>
            <p:cNvSpPr/>
            <p:nvPr/>
          </p:nvSpPr>
          <p:spPr bwMode="auto">
            <a:xfrm>
              <a:off x="10091" y="3135"/>
              <a:ext cx="20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应急管理</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05" name="矩形: 圆角 105"/>
            <p:cNvSpPr/>
            <p:nvPr>
              <p:custDataLst>
                <p:tags r:id="rId1"/>
              </p:custDataLst>
            </p:nvPr>
          </p:nvSpPr>
          <p:spPr bwMode="auto">
            <a:xfrm>
              <a:off x="12609" y="3135"/>
              <a:ext cx="17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水环境</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06" name="矩形: 圆角 105"/>
            <p:cNvSpPr/>
            <p:nvPr>
              <p:custDataLst>
                <p:tags r:id="rId2"/>
              </p:custDataLst>
            </p:nvPr>
          </p:nvSpPr>
          <p:spPr bwMode="auto">
            <a:xfrm>
              <a:off x="12826" y="3135"/>
              <a:ext cx="17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声环境</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07" name="矩形: 圆角 105"/>
            <p:cNvSpPr/>
            <p:nvPr>
              <p:custDataLst>
                <p:tags r:id="rId3"/>
              </p:custDataLst>
            </p:nvPr>
          </p:nvSpPr>
          <p:spPr bwMode="auto">
            <a:xfrm>
              <a:off x="13046" y="3135"/>
              <a:ext cx="17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400" kern="100" dirty="0">
                  <a:solidFill>
                    <a:srgbClr val="CCECFF"/>
                  </a:solidFill>
                  <a:latin typeface="微软雅黑" panose="020B0503020204020204" charset="-122"/>
                  <a:ea typeface="微软雅黑" panose="020B0503020204020204" charset="-122"/>
                  <a:sym typeface="+mn-ea"/>
                </a:rPr>
                <a:t>固废与土壤环境</a:t>
              </a:r>
              <a:endParaRPr lang="zh-CN" altLang="en-US" sz="400" kern="100" dirty="0">
                <a:solidFill>
                  <a:srgbClr val="CCECFF"/>
                </a:solidFill>
                <a:latin typeface="微软雅黑" panose="020B0503020204020204" charset="-122"/>
                <a:ea typeface="微软雅黑" panose="020B0503020204020204" charset="-122"/>
                <a:sym typeface="+mn-ea"/>
              </a:endParaRPr>
            </a:p>
          </p:txBody>
        </p:sp>
        <p:sp>
          <p:nvSpPr>
            <p:cNvPr id="908" name="矩形: 圆角 105"/>
            <p:cNvSpPr/>
            <p:nvPr>
              <p:custDataLst>
                <p:tags r:id="rId4"/>
              </p:custDataLst>
            </p:nvPr>
          </p:nvSpPr>
          <p:spPr bwMode="auto">
            <a:xfrm>
              <a:off x="13265" y="3135"/>
              <a:ext cx="17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400" kern="100" dirty="0">
                  <a:solidFill>
                    <a:srgbClr val="CCECFF"/>
                  </a:solidFill>
                  <a:latin typeface="微软雅黑" panose="020B0503020204020204" charset="-122"/>
                  <a:ea typeface="微软雅黑" panose="020B0503020204020204" charset="-122"/>
                  <a:sym typeface="+mn-lt"/>
                </a:rPr>
                <a:t>生态环境保护督察</a:t>
              </a:r>
              <a:endParaRPr lang="zh-CN" altLang="en-US" sz="400" kern="100" dirty="0">
                <a:solidFill>
                  <a:srgbClr val="CCECFF"/>
                </a:solidFill>
                <a:latin typeface="微软雅黑" panose="020B0503020204020204" charset="-122"/>
                <a:ea typeface="微软雅黑" panose="020B0503020204020204" charset="-122"/>
                <a:sym typeface="+mn-lt"/>
              </a:endParaRPr>
            </a:p>
          </p:txBody>
        </p:sp>
        <p:sp>
          <p:nvSpPr>
            <p:cNvPr id="909" name="矩形: 圆角 105"/>
            <p:cNvSpPr/>
            <p:nvPr>
              <p:custDataLst>
                <p:tags r:id="rId5"/>
              </p:custDataLst>
            </p:nvPr>
          </p:nvSpPr>
          <p:spPr bwMode="auto">
            <a:xfrm>
              <a:off x="12391" y="3135"/>
              <a:ext cx="17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空气环境</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10" name="矩形: 圆角 105"/>
            <p:cNvSpPr/>
            <p:nvPr>
              <p:custDataLst>
                <p:tags r:id="rId6"/>
              </p:custDataLst>
            </p:nvPr>
          </p:nvSpPr>
          <p:spPr bwMode="auto">
            <a:xfrm>
              <a:off x="13484" y="3135"/>
              <a:ext cx="17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400" kern="100" dirty="0">
                  <a:solidFill>
                    <a:srgbClr val="CCECFF"/>
                  </a:solidFill>
                  <a:latin typeface="微软雅黑" panose="020B0503020204020204" charset="-122"/>
                  <a:ea typeface="微软雅黑" panose="020B0503020204020204" charset="-122"/>
                  <a:sym typeface="+mn-ea"/>
                </a:rPr>
                <a:t>环境保护执法应急</a:t>
              </a:r>
              <a:endParaRPr lang="zh-CN" altLang="en-US" sz="400" kern="100" dirty="0">
                <a:solidFill>
                  <a:srgbClr val="CCECFF"/>
                </a:solidFill>
                <a:latin typeface="微软雅黑" panose="020B0503020204020204" charset="-122"/>
                <a:ea typeface="微软雅黑" panose="020B0503020204020204" charset="-122"/>
                <a:sym typeface="+mn-ea"/>
              </a:endParaRPr>
            </a:p>
          </p:txBody>
        </p:sp>
        <p:sp>
          <p:nvSpPr>
            <p:cNvPr id="911" name="矩形: 圆角 105"/>
            <p:cNvSpPr/>
            <p:nvPr>
              <p:custDataLst>
                <p:tags r:id="rId7"/>
              </p:custDataLst>
            </p:nvPr>
          </p:nvSpPr>
          <p:spPr bwMode="auto">
            <a:xfrm>
              <a:off x="13700" y="3135"/>
              <a:ext cx="17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国土空间</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12" name="矩形: 圆角 105"/>
            <p:cNvSpPr/>
            <p:nvPr>
              <p:custDataLst>
                <p:tags r:id="rId8"/>
              </p:custDataLst>
            </p:nvPr>
          </p:nvSpPr>
          <p:spPr bwMode="auto">
            <a:xfrm>
              <a:off x="13919" y="3135"/>
              <a:ext cx="17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河湖管理保护</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13" name="矩形: 圆角 105"/>
            <p:cNvSpPr/>
            <p:nvPr>
              <p:custDataLst>
                <p:tags r:id="rId9"/>
              </p:custDataLst>
            </p:nvPr>
          </p:nvSpPr>
          <p:spPr bwMode="auto">
            <a:xfrm>
              <a:off x="14138" y="3135"/>
              <a:ext cx="17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400" kern="100" dirty="0">
                  <a:solidFill>
                    <a:srgbClr val="CCECFF"/>
                  </a:solidFill>
                  <a:latin typeface="微软雅黑" panose="020B0503020204020204" charset="-122"/>
                  <a:ea typeface="微软雅黑" panose="020B0503020204020204" charset="-122"/>
                  <a:sym typeface="+mn-lt"/>
                </a:rPr>
                <a:t>林草湿管理保护</a:t>
              </a:r>
              <a:endParaRPr lang="zh-CN" altLang="en-US" sz="400" kern="100" dirty="0">
                <a:solidFill>
                  <a:srgbClr val="CCECFF"/>
                </a:solidFill>
                <a:latin typeface="微软雅黑" panose="020B0503020204020204" charset="-122"/>
                <a:ea typeface="微软雅黑" panose="020B0503020204020204" charset="-122"/>
                <a:sym typeface="+mn-lt"/>
              </a:endParaRPr>
            </a:p>
          </p:txBody>
        </p:sp>
        <p:sp>
          <p:nvSpPr>
            <p:cNvPr id="914" name="矩形: 圆角 105"/>
            <p:cNvSpPr/>
            <p:nvPr>
              <p:custDataLst>
                <p:tags r:id="rId10"/>
              </p:custDataLst>
            </p:nvPr>
          </p:nvSpPr>
          <p:spPr bwMode="auto">
            <a:xfrm>
              <a:off x="14356" y="3135"/>
              <a:ext cx="17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自然资源</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15" name="矩形: 圆角 105"/>
            <p:cNvSpPr/>
            <p:nvPr>
              <p:custDataLst>
                <p:tags r:id="rId11"/>
              </p:custDataLst>
            </p:nvPr>
          </p:nvSpPr>
          <p:spPr bwMode="auto">
            <a:xfrm>
              <a:off x="14573" y="3135"/>
              <a:ext cx="17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两江四岸</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16" name="矩形: 圆角 105"/>
            <p:cNvSpPr/>
            <p:nvPr/>
          </p:nvSpPr>
          <p:spPr bwMode="auto">
            <a:xfrm>
              <a:off x="11168" y="3136"/>
              <a:ext cx="193" cy="835"/>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网络生态</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17" name="矩形: 圆角 105"/>
            <p:cNvSpPr/>
            <p:nvPr/>
          </p:nvSpPr>
          <p:spPr bwMode="auto">
            <a:xfrm>
              <a:off x="11393" y="3136"/>
              <a:ext cx="193" cy="836"/>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意识形态</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18" name="矩形: 圆角 105"/>
            <p:cNvSpPr/>
            <p:nvPr/>
          </p:nvSpPr>
          <p:spPr bwMode="auto">
            <a:xfrm>
              <a:off x="11619" y="3136"/>
              <a:ext cx="193" cy="835"/>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文明形态</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19" name="矩形: 圆角 105"/>
            <p:cNvSpPr/>
            <p:nvPr/>
          </p:nvSpPr>
          <p:spPr bwMode="auto">
            <a:xfrm>
              <a:off x="11844" y="3136"/>
              <a:ext cx="193" cy="835"/>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文化生态</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20" name="矩形: 圆角 105"/>
            <p:cNvSpPr/>
            <p:nvPr/>
          </p:nvSpPr>
          <p:spPr bwMode="auto">
            <a:xfrm>
              <a:off x="10944" y="3135"/>
              <a:ext cx="193"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舆论生态</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21" name="矩形: 圆角 105"/>
            <p:cNvSpPr/>
            <p:nvPr/>
          </p:nvSpPr>
          <p:spPr bwMode="auto">
            <a:xfrm>
              <a:off x="12069" y="3136"/>
              <a:ext cx="193" cy="835"/>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文产业态</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22" name="圆角矩形 921"/>
            <p:cNvSpPr/>
            <p:nvPr>
              <p:custDataLst>
                <p:tags r:id="rId12"/>
              </p:custDataLst>
            </p:nvPr>
          </p:nvSpPr>
          <p:spPr bwMode="auto">
            <a:xfrm>
              <a:off x="4806" y="3135"/>
              <a:ext cx="16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rPr>
                <a:t>国家重大战略</a:t>
              </a:r>
              <a:endPar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923" name="圆角矩形 922"/>
            <p:cNvSpPr/>
            <p:nvPr>
              <p:custDataLst>
                <p:tags r:id="rId13"/>
              </p:custDataLst>
            </p:nvPr>
          </p:nvSpPr>
          <p:spPr bwMode="auto">
            <a:xfrm>
              <a:off x="5005" y="3135"/>
              <a:ext cx="16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rPr>
                <a:t>经济调节</a:t>
              </a:r>
              <a:endPar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924" name="圆角矩形 923"/>
            <p:cNvSpPr/>
            <p:nvPr>
              <p:custDataLst>
                <p:tags r:id="rId14"/>
              </p:custDataLst>
            </p:nvPr>
          </p:nvSpPr>
          <p:spPr bwMode="auto">
            <a:xfrm>
              <a:off x="5403" y="3135"/>
              <a:ext cx="16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rPr>
                <a:t>产业生态</a:t>
              </a:r>
              <a:endPar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925" name="圆角矩形 924"/>
            <p:cNvSpPr/>
            <p:nvPr>
              <p:custDataLst>
                <p:tags r:id="rId15"/>
              </p:custDataLst>
            </p:nvPr>
          </p:nvSpPr>
          <p:spPr bwMode="auto">
            <a:xfrm>
              <a:off x="5604" y="3135"/>
              <a:ext cx="16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rPr>
                <a:t>科技创新</a:t>
              </a:r>
              <a:endPar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926" name="圆角矩形 925"/>
            <p:cNvSpPr/>
            <p:nvPr>
              <p:custDataLst>
                <p:tags r:id="rId16"/>
              </p:custDataLst>
            </p:nvPr>
          </p:nvSpPr>
          <p:spPr bwMode="auto">
            <a:xfrm>
              <a:off x="5205" y="3135"/>
              <a:ext cx="16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rPr>
                <a:t>产业发展</a:t>
              </a:r>
              <a:endPar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927" name="圆角矩形 926"/>
            <p:cNvSpPr/>
            <p:nvPr>
              <p:custDataLst>
                <p:tags r:id="rId17"/>
              </p:custDataLst>
            </p:nvPr>
          </p:nvSpPr>
          <p:spPr bwMode="auto">
            <a:xfrm>
              <a:off x="5800" y="3135"/>
              <a:ext cx="16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rPr>
                <a:t>人才支撑</a:t>
              </a:r>
              <a:endPar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928" name="圆角矩形 927"/>
            <p:cNvSpPr/>
            <p:nvPr>
              <p:custDataLst>
                <p:tags r:id="rId18"/>
              </p:custDataLst>
            </p:nvPr>
          </p:nvSpPr>
          <p:spPr bwMode="auto">
            <a:xfrm>
              <a:off x="5998" y="3135"/>
              <a:ext cx="16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rPr>
                <a:t>金融服务</a:t>
              </a:r>
              <a:endPar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929" name="圆角矩形 928"/>
            <p:cNvSpPr/>
            <p:nvPr>
              <p:custDataLst>
                <p:tags r:id="rId19"/>
              </p:custDataLst>
            </p:nvPr>
          </p:nvSpPr>
          <p:spPr bwMode="auto">
            <a:xfrm>
              <a:off x="6197" y="3135"/>
              <a:ext cx="16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rPr>
                <a:t>开放合作</a:t>
              </a:r>
              <a:endPar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930" name="圆角矩形 929"/>
            <p:cNvSpPr/>
            <p:nvPr>
              <p:custDataLst>
                <p:tags r:id="rId20"/>
              </p:custDataLst>
            </p:nvPr>
          </p:nvSpPr>
          <p:spPr bwMode="auto">
            <a:xfrm>
              <a:off x="6397" y="3135"/>
              <a:ext cx="162"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rPr>
                <a:t>要素保障</a:t>
              </a:r>
              <a:endParaRPr lang="zh-CN" altLang="en-US" sz="5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931" name="矩形: 圆角 105"/>
            <p:cNvSpPr/>
            <p:nvPr/>
          </p:nvSpPr>
          <p:spPr bwMode="auto">
            <a:xfrm>
              <a:off x="14880" y="3135"/>
              <a:ext cx="128"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餐饮</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32" name="矩形: 圆角 105"/>
            <p:cNvSpPr/>
            <p:nvPr/>
          </p:nvSpPr>
          <p:spPr bwMode="auto">
            <a:xfrm>
              <a:off x="15053"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居住</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33" name="矩形: 圆角 105"/>
            <p:cNvSpPr/>
            <p:nvPr/>
          </p:nvSpPr>
          <p:spPr bwMode="auto">
            <a:xfrm>
              <a:off x="15224"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出行</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34" name="矩形: 圆角 105"/>
            <p:cNvSpPr/>
            <p:nvPr/>
          </p:nvSpPr>
          <p:spPr bwMode="auto">
            <a:xfrm>
              <a:off x="15395" y="3132"/>
              <a:ext cx="115" cy="843"/>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旅游</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35" name="矩形: 圆角 105"/>
            <p:cNvSpPr/>
            <p:nvPr/>
          </p:nvSpPr>
          <p:spPr bwMode="auto">
            <a:xfrm>
              <a:off x="15555"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购物</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36" name="矩形: 圆角 105"/>
            <p:cNvSpPr/>
            <p:nvPr/>
          </p:nvSpPr>
          <p:spPr bwMode="auto">
            <a:xfrm>
              <a:off x="15897"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医疗</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37" name="矩形: 圆角 105"/>
            <p:cNvSpPr/>
            <p:nvPr/>
          </p:nvSpPr>
          <p:spPr bwMode="auto">
            <a:xfrm>
              <a:off x="16068"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养老</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38" name="矩形: 圆角 105"/>
            <p:cNvSpPr/>
            <p:nvPr/>
          </p:nvSpPr>
          <p:spPr bwMode="auto">
            <a:xfrm>
              <a:off x="15726"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娱乐</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39" name="矩形: 圆角 105"/>
            <p:cNvSpPr/>
            <p:nvPr/>
          </p:nvSpPr>
          <p:spPr bwMode="auto">
            <a:xfrm>
              <a:off x="16240"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婚育</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40" name="矩形: 圆角 105"/>
            <p:cNvSpPr/>
            <p:nvPr/>
          </p:nvSpPr>
          <p:spPr bwMode="auto">
            <a:xfrm>
              <a:off x="16411"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教育</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41" name="矩形: 圆角 105"/>
            <p:cNvSpPr/>
            <p:nvPr/>
          </p:nvSpPr>
          <p:spPr bwMode="auto">
            <a:xfrm>
              <a:off x="16582"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就业</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42" name="矩形: 圆角 105"/>
            <p:cNvSpPr/>
            <p:nvPr/>
          </p:nvSpPr>
          <p:spPr bwMode="auto">
            <a:xfrm>
              <a:off x="16754"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社保</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43" name="矩形: 圆角 105"/>
            <p:cNvSpPr/>
            <p:nvPr/>
          </p:nvSpPr>
          <p:spPr bwMode="auto">
            <a:xfrm>
              <a:off x="16925"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政务服务</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44" name="矩形: 圆角 105"/>
            <p:cNvSpPr/>
            <p:nvPr/>
          </p:nvSpPr>
          <p:spPr bwMode="auto">
            <a:xfrm>
              <a:off x="17097" y="3135"/>
              <a:ext cx="126"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生活圈</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45" name="矩形: 圆角 105"/>
            <p:cNvSpPr/>
            <p:nvPr/>
          </p:nvSpPr>
          <p:spPr bwMode="auto">
            <a:xfrm>
              <a:off x="6606"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供排水</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46" name="矩形: 圆角 105"/>
            <p:cNvSpPr/>
            <p:nvPr/>
          </p:nvSpPr>
          <p:spPr bwMode="auto">
            <a:xfrm>
              <a:off x="6845"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供电</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47" name="矩形: 圆角 105"/>
            <p:cNvSpPr/>
            <p:nvPr/>
          </p:nvSpPr>
          <p:spPr bwMode="auto">
            <a:xfrm>
              <a:off x="7068"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燃气</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48" name="矩形: 圆角 105"/>
            <p:cNvSpPr/>
            <p:nvPr/>
          </p:nvSpPr>
          <p:spPr bwMode="auto">
            <a:xfrm>
              <a:off x="7515"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交通</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49" name="矩形: 圆角 105"/>
            <p:cNvSpPr/>
            <p:nvPr/>
          </p:nvSpPr>
          <p:spPr bwMode="auto">
            <a:xfrm>
              <a:off x="7292"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通讯</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50" name="矩形: 圆角 105"/>
            <p:cNvSpPr/>
            <p:nvPr/>
          </p:nvSpPr>
          <p:spPr bwMode="auto">
            <a:xfrm>
              <a:off x="7741"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管线管廊</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51" name="矩形: 圆角 105"/>
            <p:cNvSpPr/>
            <p:nvPr/>
          </p:nvSpPr>
          <p:spPr bwMode="auto">
            <a:xfrm>
              <a:off x="7964"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污水垃圾处理</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52" name="矩形: 圆角 105"/>
            <p:cNvSpPr/>
            <p:nvPr/>
          </p:nvSpPr>
          <p:spPr bwMode="auto">
            <a:xfrm>
              <a:off x="8188"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城市照明</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53" name="矩形: 圆角 105"/>
            <p:cNvSpPr/>
            <p:nvPr/>
          </p:nvSpPr>
          <p:spPr bwMode="auto">
            <a:xfrm>
              <a:off x="8412"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园林绿化</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54" name="矩形: 圆角 105"/>
            <p:cNvSpPr/>
            <p:nvPr/>
          </p:nvSpPr>
          <p:spPr bwMode="auto">
            <a:xfrm>
              <a:off x="2538"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政治统领</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55" name="矩形: 圆角 105"/>
            <p:cNvSpPr/>
            <p:nvPr/>
          </p:nvSpPr>
          <p:spPr bwMode="auto">
            <a:xfrm>
              <a:off x="2764"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组织人才</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56" name="矩形: 圆角 105"/>
            <p:cNvSpPr/>
            <p:nvPr/>
          </p:nvSpPr>
          <p:spPr bwMode="auto">
            <a:xfrm>
              <a:off x="2990"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从严治党</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57" name="矩形: 圆角 105"/>
            <p:cNvSpPr/>
            <p:nvPr/>
          </p:nvSpPr>
          <p:spPr bwMode="auto">
            <a:xfrm>
              <a:off x="3443"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数字政协</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58" name="矩形: 圆角 105"/>
            <p:cNvSpPr/>
            <p:nvPr/>
          </p:nvSpPr>
          <p:spPr bwMode="auto">
            <a:xfrm>
              <a:off x="3217"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数字人大</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59" name="矩形: 圆角 105"/>
            <p:cNvSpPr/>
            <p:nvPr/>
          </p:nvSpPr>
          <p:spPr bwMode="auto">
            <a:xfrm>
              <a:off x="3667"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数字统战</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60" name="矩形: 圆角 105"/>
            <p:cNvSpPr/>
            <p:nvPr/>
          </p:nvSpPr>
          <p:spPr bwMode="auto">
            <a:xfrm>
              <a:off x="3893"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社会工作</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61" name="矩形: 圆角 105"/>
            <p:cNvSpPr/>
            <p:nvPr/>
          </p:nvSpPr>
          <p:spPr bwMode="auto">
            <a:xfrm>
              <a:off x="4120"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群团建设</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62" name="矩形: 圆角 105"/>
            <p:cNvSpPr/>
            <p:nvPr/>
          </p:nvSpPr>
          <p:spPr bwMode="auto">
            <a:xfrm>
              <a:off x="4345" y="3135"/>
              <a:ext cx="169"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问题直报快响</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63" name="矩形: 圆角 105"/>
            <p:cNvSpPr/>
            <p:nvPr/>
          </p:nvSpPr>
          <p:spPr bwMode="auto">
            <a:xfrm>
              <a:off x="9569" y="3135"/>
              <a:ext cx="180"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公共安全</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64" name="矩形: 圆角 105"/>
            <p:cNvSpPr/>
            <p:nvPr/>
          </p:nvSpPr>
          <p:spPr bwMode="auto">
            <a:xfrm>
              <a:off x="9108" y="3135"/>
              <a:ext cx="180"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矛盾纠纷化解</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65" name="矩形: 圆角 105"/>
            <p:cNvSpPr/>
            <p:nvPr/>
          </p:nvSpPr>
          <p:spPr bwMode="auto">
            <a:xfrm>
              <a:off x="8878" y="3135"/>
              <a:ext cx="180"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城市治理</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66" name="矩形: 圆角 105"/>
            <p:cNvSpPr/>
            <p:nvPr/>
          </p:nvSpPr>
          <p:spPr bwMode="auto">
            <a:xfrm>
              <a:off x="9338" y="3135"/>
              <a:ext cx="180"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普法服务</a:t>
              </a:r>
              <a:endParaRPr lang="zh-CN" altLang="en-US" sz="500" kern="100" dirty="0">
                <a:solidFill>
                  <a:srgbClr val="CCECFF"/>
                </a:solidFill>
                <a:latin typeface="微软雅黑" panose="020B0503020204020204" charset="-122"/>
                <a:ea typeface="微软雅黑" panose="020B0503020204020204" charset="-122"/>
                <a:sym typeface="+mn-ea"/>
              </a:endParaRPr>
            </a:p>
          </p:txBody>
        </p:sp>
        <p:sp>
          <p:nvSpPr>
            <p:cNvPr id="967" name="矩形: 圆角 105"/>
            <p:cNvSpPr/>
            <p:nvPr/>
          </p:nvSpPr>
          <p:spPr bwMode="auto">
            <a:xfrm>
              <a:off x="8648" y="3135"/>
              <a:ext cx="180"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执法司法</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968" name="矩形: 圆角 105"/>
            <p:cNvSpPr/>
            <p:nvPr/>
          </p:nvSpPr>
          <p:spPr bwMode="auto">
            <a:xfrm>
              <a:off x="9799" y="3135"/>
              <a:ext cx="180" cy="837"/>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ea"/>
                </a:rPr>
                <a:t>市场监管</a:t>
              </a:r>
              <a:endParaRPr lang="zh-CN" altLang="en-US" sz="500" kern="100" dirty="0">
                <a:solidFill>
                  <a:srgbClr val="CCECFF"/>
                </a:solidFill>
                <a:latin typeface="微软雅黑" panose="020B0503020204020204" charset="-122"/>
                <a:ea typeface="微软雅黑" panose="020B0503020204020204" charset="-122"/>
                <a:sym typeface="+mn-ea"/>
              </a:endParaRPr>
            </a:p>
          </p:txBody>
        </p:sp>
      </p:grpSp>
      <p:sp>
        <p:nvSpPr>
          <p:cNvPr id="969" name="矩形 968"/>
          <p:cNvSpPr/>
          <p:nvPr/>
        </p:nvSpPr>
        <p:spPr bwMode="auto">
          <a:xfrm>
            <a:off x="859790" y="1847215"/>
            <a:ext cx="349250" cy="59182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endParaRPr kumimoji="1" lang="zh-CN" altLang="en-US" sz="700" b="1" kern="0" dirty="0">
              <a:solidFill>
                <a:prstClr val="white"/>
              </a:solidFill>
              <a:latin typeface="微软雅黑" panose="020B0503020204020204" charset="-122"/>
              <a:cs typeface="+mn-ea"/>
              <a:sym typeface="微软雅黑" panose="020B0503020204020204" charset="-122"/>
            </a:endParaRPr>
          </a:p>
        </p:txBody>
      </p:sp>
      <p:sp>
        <p:nvSpPr>
          <p:cNvPr id="970" name="矩形 969"/>
          <p:cNvSpPr/>
          <p:nvPr/>
        </p:nvSpPr>
        <p:spPr bwMode="auto">
          <a:xfrm>
            <a:off x="916940" y="1969770"/>
            <a:ext cx="248920" cy="369570"/>
          </a:xfrm>
          <a:prstGeom prst="rect">
            <a:avLst/>
          </a:prstGeom>
          <a:noFill/>
          <a:ln w="12700" cap="flat" cmpd="sng" algn="ctr">
            <a:noFill/>
            <a:prstDash val="solid"/>
            <a:miter lim="800000"/>
          </a:ln>
          <a:effectLst/>
          <a:extLst>
            <a:ext uri="{909E8E84-426E-40DD-AFC4-6F175D3DCCD1}">
              <a14:hiddenFill xmlns:a14="http://schemas.microsoft.com/office/drawing/2010/main">
                <a:solidFill>
                  <a:srgbClr val="5B9BD5">
                    <a:lumMod val="75000"/>
                  </a:srgbClr>
                </a:solidFill>
              </a14:hiddenFill>
            </a:ext>
          </a:extLst>
        </p:spPr>
        <p:txBody>
          <a:bodyPr vert="horz" wrap="square" lIns="0" tIns="45720" rIns="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600" b="1" kern="0" spc="300" noProof="0" dirty="0">
                <a:ln>
                  <a:noFill/>
                </a:ln>
                <a:solidFill>
                  <a:prstClr val="white"/>
                </a:solidFill>
                <a:effectLst/>
                <a:uLnTx/>
                <a:uFillTx/>
                <a:latin typeface="微软雅黑" panose="020B0503020204020204" charset="-122"/>
                <a:cs typeface="Times New Roman" panose="02020603050405020304" charset="0"/>
                <a:sym typeface="微软雅黑" panose="020B0503020204020204" charset="-122"/>
              </a:rPr>
              <a:t>市区治理中心</a:t>
            </a:r>
            <a:endParaRPr lang="zh-CN" altLang="en-US" sz="600" b="1" kern="0" spc="300" noProof="0" dirty="0">
              <a:ln>
                <a:noFill/>
              </a:ln>
              <a:solidFill>
                <a:prstClr val="white"/>
              </a:solidFill>
              <a:effectLst/>
              <a:uLnTx/>
              <a:uFillTx/>
              <a:latin typeface="微软雅黑" panose="020B0503020204020204" charset="-122"/>
              <a:cs typeface="Times New Roman" panose="02020603050405020304" charset="0"/>
              <a:sym typeface="微软雅黑" panose="020B0503020204020204" charset="-122"/>
            </a:endParaRPr>
          </a:p>
        </p:txBody>
      </p:sp>
      <p:sp>
        <p:nvSpPr>
          <p:cNvPr id="971" name="矩形: 圆角 132"/>
          <p:cNvSpPr/>
          <p:nvPr/>
        </p:nvSpPr>
        <p:spPr bwMode="auto">
          <a:xfrm>
            <a:off x="1249045" y="2496820"/>
            <a:ext cx="237490" cy="86400"/>
          </a:xfrm>
          <a:prstGeom prst="roundRect">
            <a:avLst>
              <a:gd name="adj" fmla="val 0"/>
            </a:avLst>
          </a:prstGeom>
          <a:solidFill>
            <a:srgbClr val="5B9BD5">
              <a:lumMod val="75000"/>
            </a:srgbClr>
          </a:solidFill>
          <a:ln w="12700" cap="flat" cmpd="sng" algn="ctr">
            <a:noFill/>
            <a:prstDash val="solid"/>
            <a:miter lim="800000"/>
          </a:ln>
          <a:effectLst/>
        </p:spPr>
        <p:txBody>
          <a:bodyPr vert="horz" wrap="square" lIns="0" tIns="45720" rIns="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mn-ea"/>
              </a:rPr>
              <a:t>板块</a:t>
            </a:r>
            <a:endParaRPr kumimoji="1" lang="zh-CN" altLang="en-US" sz="700" b="1" kern="0" dirty="0">
              <a:solidFill>
                <a:prstClr val="white"/>
              </a:solidFill>
              <a:latin typeface="微软雅黑" panose="020B0503020204020204" charset="-122"/>
              <a:cs typeface="+mn-ea"/>
              <a:sym typeface="+mn-ea"/>
            </a:endParaRPr>
          </a:p>
        </p:txBody>
      </p:sp>
      <p:sp>
        <p:nvSpPr>
          <p:cNvPr id="972" name="矩形 971"/>
          <p:cNvSpPr/>
          <p:nvPr/>
        </p:nvSpPr>
        <p:spPr bwMode="auto">
          <a:xfrm>
            <a:off x="1503045" y="2502535"/>
            <a:ext cx="3228340" cy="8640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微软雅黑" panose="020B0503020204020204" charset="-122"/>
              </a:rPr>
              <a:t>党的建设</a:t>
            </a:r>
            <a:endParaRPr kumimoji="1" lang="zh-CN" altLang="en-US" sz="700" b="1" kern="0" dirty="0">
              <a:solidFill>
                <a:prstClr val="white"/>
              </a:solidFill>
              <a:latin typeface="微软雅黑" panose="020B0503020204020204" charset="-122"/>
              <a:cs typeface="+mn-ea"/>
              <a:sym typeface="微软雅黑" panose="020B0503020204020204" charset="-122"/>
            </a:endParaRPr>
          </a:p>
        </p:txBody>
      </p:sp>
      <p:sp>
        <p:nvSpPr>
          <p:cNvPr id="973" name="矩形 972"/>
          <p:cNvSpPr/>
          <p:nvPr/>
        </p:nvSpPr>
        <p:spPr bwMode="auto">
          <a:xfrm>
            <a:off x="4853305" y="2502535"/>
            <a:ext cx="1692910" cy="8640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微软雅黑" panose="020B0503020204020204" charset="-122"/>
              </a:rPr>
              <a:t>经济发展</a:t>
            </a:r>
            <a:endParaRPr kumimoji="1" lang="zh-CN" altLang="en-US" sz="700" b="1" kern="0" dirty="0">
              <a:solidFill>
                <a:prstClr val="white"/>
              </a:solidFill>
              <a:latin typeface="微软雅黑" panose="020B0503020204020204" charset="-122"/>
              <a:cs typeface="+mn-ea"/>
              <a:sym typeface="微软雅黑" panose="020B0503020204020204" charset="-122"/>
            </a:endParaRPr>
          </a:p>
        </p:txBody>
      </p:sp>
      <p:sp>
        <p:nvSpPr>
          <p:cNvPr id="974" name="矩形 973"/>
          <p:cNvSpPr/>
          <p:nvPr/>
        </p:nvSpPr>
        <p:spPr bwMode="auto">
          <a:xfrm>
            <a:off x="6676390" y="2502218"/>
            <a:ext cx="2069465" cy="8640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微软雅黑" panose="020B0503020204020204" charset="-122"/>
              </a:rPr>
              <a:t>民生服务</a:t>
            </a:r>
            <a:endParaRPr kumimoji="1" lang="zh-CN" altLang="en-US" sz="700" b="1" kern="0" dirty="0">
              <a:solidFill>
                <a:prstClr val="white"/>
              </a:solidFill>
              <a:latin typeface="微软雅黑" panose="020B0503020204020204" charset="-122"/>
              <a:cs typeface="+mn-ea"/>
              <a:sym typeface="微软雅黑" panose="020B0503020204020204" charset="-122"/>
            </a:endParaRPr>
          </a:p>
        </p:txBody>
      </p:sp>
      <p:sp>
        <p:nvSpPr>
          <p:cNvPr id="975" name="矩形 974"/>
          <p:cNvSpPr/>
          <p:nvPr/>
        </p:nvSpPr>
        <p:spPr bwMode="auto">
          <a:xfrm>
            <a:off x="8809355" y="2502853"/>
            <a:ext cx="2233295" cy="8640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微软雅黑" panose="020B0503020204020204" charset="-122"/>
              </a:rPr>
              <a:t>平安法治</a:t>
            </a:r>
            <a:endParaRPr kumimoji="1" lang="zh-CN" altLang="en-US" sz="700" b="1" kern="0" dirty="0">
              <a:solidFill>
                <a:prstClr val="white"/>
              </a:solidFill>
              <a:latin typeface="微软雅黑" panose="020B0503020204020204" charset="-122"/>
              <a:cs typeface="+mn-ea"/>
              <a:sym typeface="微软雅黑" panose="020B0503020204020204" charset="-122"/>
            </a:endParaRPr>
          </a:p>
        </p:txBody>
      </p:sp>
      <p:grpSp>
        <p:nvGrpSpPr>
          <p:cNvPr id="976" name="组合 975"/>
          <p:cNvGrpSpPr/>
          <p:nvPr/>
        </p:nvGrpSpPr>
        <p:grpSpPr>
          <a:xfrm rot="0">
            <a:off x="1249045" y="2620645"/>
            <a:ext cx="9754870" cy="170815"/>
            <a:chOff x="2134" y="4073"/>
            <a:chExt cx="14997" cy="261"/>
          </a:xfrm>
        </p:grpSpPr>
        <p:sp>
          <p:nvSpPr>
            <p:cNvPr id="977" name="矩形: 圆角 131"/>
            <p:cNvSpPr/>
            <p:nvPr/>
          </p:nvSpPr>
          <p:spPr bwMode="auto">
            <a:xfrm>
              <a:off x="2134" y="4073"/>
              <a:ext cx="364" cy="260"/>
            </a:xfrm>
            <a:prstGeom prst="roundRect">
              <a:avLst>
                <a:gd name="adj" fmla="val 0"/>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跑道</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78" name="矩形: 圆角 25"/>
            <p:cNvSpPr/>
            <p:nvPr>
              <p:custDataLst>
                <p:tags r:id="rId21"/>
              </p:custDataLst>
            </p:nvPr>
          </p:nvSpPr>
          <p:spPr bwMode="auto">
            <a:xfrm>
              <a:off x="2548" y="4074"/>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目标</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管理</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79" name="矩形: 圆角 3146"/>
            <p:cNvSpPr/>
            <p:nvPr>
              <p:custDataLst>
                <p:tags r:id="rId22"/>
              </p:custDataLst>
            </p:nvPr>
          </p:nvSpPr>
          <p:spPr bwMode="auto">
            <a:xfrm>
              <a:off x="3094" y="4074"/>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问题</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管控</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80" name="矩形: 圆角 3147"/>
            <p:cNvSpPr/>
            <p:nvPr>
              <p:custDataLst>
                <p:tags r:id="rId23"/>
              </p:custDataLst>
            </p:nvPr>
          </p:nvSpPr>
          <p:spPr bwMode="auto">
            <a:xfrm>
              <a:off x="3638" y="4074"/>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赛马</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比拼</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81" name="矩形: 圆角 3148"/>
            <p:cNvSpPr/>
            <p:nvPr>
              <p:custDataLst>
                <p:tags r:id="rId24"/>
              </p:custDataLst>
            </p:nvPr>
          </p:nvSpPr>
          <p:spPr bwMode="auto">
            <a:xfrm>
              <a:off x="4185" y="4074"/>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监督</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执纪</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82" name="矩形: 圆角 3166"/>
            <p:cNvSpPr/>
            <p:nvPr>
              <p:custDataLst>
                <p:tags r:id="rId25"/>
              </p:custDataLst>
            </p:nvPr>
          </p:nvSpPr>
          <p:spPr bwMode="auto">
            <a:xfrm>
              <a:off x="4731" y="4074"/>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支部</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建设</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83" name="矩形: 圆角 3168"/>
            <p:cNvSpPr/>
            <p:nvPr>
              <p:custDataLst>
                <p:tags r:id="rId26"/>
              </p:custDataLst>
            </p:nvPr>
          </p:nvSpPr>
          <p:spPr bwMode="auto">
            <a:xfrm>
              <a:off x="5275" y="4074"/>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宣传</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统战</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84" name="矩形: 圆角 3169"/>
            <p:cNvSpPr/>
            <p:nvPr>
              <p:custDataLst>
                <p:tags r:id="rId27"/>
              </p:custDataLst>
            </p:nvPr>
          </p:nvSpPr>
          <p:spPr bwMode="auto">
            <a:xfrm>
              <a:off x="5822" y="4074"/>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共建</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共治</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85" name="矩形: 圆角 3177"/>
            <p:cNvSpPr/>
            <p:nvPr>
              <p:custDataLst>
                <p:tags r:id="rId28"/>
              </p:custDataLst>
            </p:nvPr>
          </p:nvSpPr>
          <p:spPr bwMode="auto">
            <a:xfrm>
              <a:off x="8790" y="4074"/>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城市更新</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86" name="矩形: 圆角 3178"/>
            <p:cNvSpPr/>
            <p:nvPr>
              <p:custDataLst>
                <p:tags r:id="rId29"/>
              </p:custDataLst>
            </p:nvPr>
          </p:nvSpPr>
          <p:spPr bwMode="auto">
            <a:xfrm>
              <a:off x="8293" y="4074"/>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企业</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服务</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87" name="矩形: 圆角 3179"/>
            <p:cNvSpPr/>
            <p:nvPr>
              <p:custDataLst>
                <p:tags r:id="rId30"/>
              </p:custDataLst>
            </p:nvPr>
          </p:nvSpPr>
          <p:spPr bwMode="auto">
            <a:xfrm>
              <a:off x="7761"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经济运行</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88" name="矩形: 圆角 3180"/>
            <p:cNvSpPr/>
            <p:nvPr>
              <p:custDataLst>
                <p:tags r:id="rId31"/>
              </p:custDataLst>
            </p:nvPr>
          </p:nvSpPr>
          <p:spPr bwMode="auto">
            <a:xfrm>
              <a:off x="9295" y="4074"/>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生态</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环保</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89" name="矩形: 圆角 3181"/>
            <p:cNvSpPr/>
            <p:nvPr>
              <p:custDataLst>
                <p:tags r:id="rId32"/>
              </p:custDataLst>
            </p:nvPr>
          </p:nvSpPr>
          <p:spPr bwMode="auto">
            <a:xfrm>
              <a:off x="9842"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乡村</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振兴</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90" name="矩形: 圆角 3185"/>
            <p:cNvSpPr/>
            <p:nvPr>
              <p:custDataLst>
                <p:tags r:id="rId33"/>
              </p:custDataLst>
            </p:nvPr>
          </p:nvSpPr>
          <p:spPr bwMode="auto">
            <a:xfrm>
              <a:off x="11018"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一老</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一小</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91" name="矩形: 圆角 3186"/>
            <p:cNvSpPr/>
            <p:nvPr>
              <p:custDataLst>
                <p:tags r:id="rId34"/>
              </p:custDataLst>
            </p:nvPr>
          </p:nvSpPr>
          <p:spPr bwMode="auto">
            <a:xfrm>
              <a:off x="11575"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保障</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救助</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92" name="矩形: 圆角 3188"/>
            <p:cNvSpPr/>
            <p:nvPr>
              <p:custDataLst>
                <p:tags r:id="rId35"/>
              </p:custDataLst>
            </p:nvPr>
          </p:nvSpPr>
          <p:spPr bwMode="auto">
            <a:xfrm>
              <a:off x="12133"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卫生</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健康</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93" name="矩形: 圆角 3189"/>
            <p:cNvSpPr/>
            <p:nvPr>
              <p:custDataLst>
                <p:tags r:id="rId36"/>
              </p:custDataLst>
            </p:nvPr>
          </p:nvSpPr>
          <p:spPr bwMode="auto">
            <a:xfrm>
              <a:off x="12665"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退役军人服务</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94" name="矩形: 圆角 3198"/>
            <p:cNvSpPr/>
            <p:nvPr>
              <p:custDataLst>
                <p:tags r:id="rId37"/>
              </p:custDataLst>
            </p:nvPr>
          </p:nvSpPr>
          <p:spPr bwMode="auto">
            <a:xfrm>
              <a:off x="13246"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公共</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服务</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95" name="矩形: 圆角 11263"/>
            <p:cNvSpPr/>
            <p:nvPr>
              <p:custDataLst>
                <p:tags r:id="rId38"/>
              </p:custDataLst>
            </p:nvPr>
          </p:nvSpPr>
          <p:spPr bwMode="auto">
            <a:xfrm>
              <a:off x="13849"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重点</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人员</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96" name="矩形: 圆角 11264"/>
            <p:cNvSpPr/>
            <p:nvPr>
              <p:custDataLst>
                <p:tags r:id="rId39"/>
              </p:custDataLst>
            </p:nvPr>
          </p:nvSpPr>
          <p:spPr bwMode="auto">
            <a:xfrm>
              <a:off x="14598"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执法</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普法</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97" name="矩形: 圆角 11266"/>
            <p:cNvSpPr/>
            <p:nvPr>
              <p:custDataLst>
                <p:tags r:id="rId40"/>
              </p:custDataLst>
            </p:nvPr>
          </p:nvSpPr>
          <p:spPr bwMode="auto">
            <a:xfrm>
              <a:off x="15368"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应急</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管理</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98" name="矩形: 圆角 11275"/>
            <p:cNvSpPr/>
            <p:nvPr>
              <p:custDataLst>
                <p:tags r:id="rId41"/>
              </p:custDataLst>
            </p:nvPr>
          </p:nvSpPr>
          <p:spPr bwMode="auto">
            <a:xfrm>
              <a:off x="16020"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公共</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安全</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999" name="矩形: 圆角 11277"/>
            <p:cNvSpPr/>
            <p:nvPr>
              <p:custDataLst>
                <p:tags r:id="rId42"/>
              </p:custDataLst>
            </p:nvPr>
          </p:nvSpPr>
          <p:spPr bwMode="auto">
            <a:xfrm>
              <a:off x="16687"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综治</a:t>
              </a:r>
              <a:endParaRPr lang="zh-CN" altLang="en-US" sz="600" kern="100" dirty="0">
                <a:solidFill>
                  <a:schemeClr val="bg1"/>
                </a:solidFill>
                <a:latin typeface="微软雅黑" panose="020B0503020204020204" charset="-122"/>
                <a:ea typeface="微软雅黑" panose="020B0503020204020204" charset="-122"/>
                <a:sym typeface="+mn-ea"/>
              </a:endParaRPr>
            </a:p>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工作</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1000" name="矩形: 圆角 3185"/>
            <p:cNvSpPr/>
            <p:nvPr>
              <p:custDataLst>
                <p:tags r:id="rId43"/>
              </p:custDataLst>
            </p:nvPr>
          </p:nvSpPr>
          <p:spPr bwMode="auto">
            <a:xfrm>
              <a:off x="10499" y="4073"/>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就业创业</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1001" name="矩形: 圆角 3169"/>
            <p:cNvSpPr/>
            <p:nvPr>
              <p:custDataLst>
                <p:tags r:id="rId44"/>
              </p:custDataLst>
            </p:nvPr>
          </p:nvSpPr>
          <p:spPr bwMode="auto">
            <a:xfrm>
              <a:off x="6368" y="4074"/>
              <a:ext cx="634"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学习贯彻三中全会精神</a:t>
              </a:r>
              <a:endParaRPr lang="zh-CN" altLang="en-US" sz="600" kern="100" dirty="0">
                <a:solidFill>
                  <a:schemeClr val="bg1"/>
                </a:solidFill>
                <a:latin typeface="微软雅黑" panose="020B0503020204020204" charset="-122"/>
                <a:ea typeface="微软雅黑" panose="020B0503020204020204" charset="-122"/>
                <a:sym typeface="+mn-ea"/>
              </a:endParaRPr>
            </a:p>
          </p:txBody>
        </p:sp>
        <p:sp>
          <p:nvSpPr>
            <p:cNvPr id="1002" name="矩形: 圆角 3169"/>
            <p:cNvSpPr/>
            <p:nvPr>
              <p:custDataLst>
                <p:tags r:id="rId45"/>
              </p:custDataLst>
            </p:nvPr>
          </p:nvSpPr>
          <p:spPr bwMode="auto">
            <a:xfrm>
              <a:off x="7103" y="4074"/>
              <a:ext cx="445" cy="260"/>
            </a:xfrm>
            <a:prstGeom prst="roundRect">
              <a:avLst>
                <a:gd name="adj" fmla="val 7081"/>
              </a:avLst>
            </a:prstGeom>
            <a:solidFill>
              <a:srgbClr val="0070C0">
                <a:alpha val="44000"/>
              </a:srgbClr>
            </a:solidFill>
            <a:ln w="3175" cap="flat" cmpd="sng" algn="ctr">
              <a:solidFill>
                <a:srgbClr val="2F5597"/>
              </a:solidFill>
              <a:prstDash val="solid"/>
              <a:miter lim="800000"/>
            </a:ln>
            <a:effectLst/>
          </p:spPr>
          <p:txBody>
            <a:bodyPr vert="horz" wrap="square" lIns="0" tIns="0" rIns="0" bIns="0" numCol="1" spcCol="0" rtlCol="0" fromWordArt="0" anchor="ctr" anchorCtr="0" forceAA="0" compatLnSpc="0">
              <a:noAutofit/>
            </a:bodyPr>
            <a:lstStyle/>
            <a:p>
              <a:pPr lvl="0" algn="ctr">
                <a:buClrTx/>
                <a:buSzTx/>
                <a:buFontTx/>
              </a:pPr>
              <a:r>
                <a:rPr lang="zh-CN" altLang="en-US" sz="600" kern="100" dirty="0">
                  <a:solidFill>
                    <a:schemeClr val="bg1"/>
                  </a:solidFill>
                  <a:latin typeface="微软雅黑" panose="020B0503020204020204" charset="-122"/>
                  <a:ea typeface="微软雅黑" panose="020B0503020204020204" charset="-122"/>
                  <a:sym typeface="+mn-ea"/>
                </a:rPr>
                <a:t>社会工作</a:t>
              </a:r>
              <a:endParaRPr lang="zh-CN" altLang="en-US" sz="600" kern="100" dirty="0">
                <a:solidFill>
                  <a:schemeClr val="bg1"/>
                </a:solidFill>
                <a:latin typeface="微软雅黑" panose="020B0503020204020204" charset="-122"/>
                <a:ea typeface="微软雅黑" panose="020B0503020204020204" charset="-122"/>
                <a:sym typeface="+mn-ea"/>
              </a:endParaRPr>
            </a:p>
          </p:txBody>
        </p:sp>
      </p:grpSp>
      <p:sp>
        <p:nvSpPr>
          <p:cNvPr id="1003" name="矩形 1002"/>
          <p:cNvSpPr/>
          <p:nvPr/>
        </p:nvSpPr>
        <p:spPr bwMode="auto">
          <a:xfrm>
            <a:off x="859790" y="2806065"/>
            <a:ext cx="615315" cy="649605"/>
          </a:xfrm>
          <a:prstGeom prst="rect">
            <a:avLst/>
          </a:prstGeom>
          <a:solidFill>
            <a:srgbClr val="5B9BD5">
              <a:lumMod val="75000"/>
              <a:alpha val="80000"/>
            </a:srgbClr>
          </a:solidFill>
          <a:ln w="12700" cap="flat" cmpd="sng" algn="ctr">
            <a:noFill/>
            <a:prstDash val="solid"/>
            <a:miter lim="800000"/>
          </a:ln>
          <a:effectLst/>
        </p:spPr>
        <p:txBody>
          <a:bodyPr vertOverflow="overflow" horzOverflow="overflow" vert="horz" wrap="square" lIns="0" tIns="45720" rIns="0" bIns="45720" numCol="1" spcCol="0" rtlCol="0" fromWordArt="0" anchor="ctr" anchorCtr="0" forceAA="0" compatLnSpc="1">
            <a:noAutofit/>
          </a:bodyPr>
          <a:lstStyle/>
          <a:p>
            <a:pPr lvl="0" algn="ctr">
              <a:spcBef>
                <a:spcPts val="0"/>
              </a:spcBef>
              <a:spcAft>
                <a:spcPts val="0"/>
              </a:spcAft>
              <a:buClrTx/>
              <a:buSzTx/>
              <a:buFontTx/>
              <a:defRPr/>
            </a:pP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微软雅黑" panose="020B0503020204020204" charset="-122"/>
            </a:endParaRPr>
          </a:p>
        </p:txBody>
      </p:sp>
      <p:sp>
        <p:nvSpPr>
          <p:cNvPr id="1004" name="矩形 1003"/>
          <p:cNvSpPr/>
          <p:nvPr/>
        </p:nvSpPr>
        <p:spPr bwMode="auto">
          <a:xfrm>
            <a:off x="969010" y="2969895"/>
            <a:ext cx="483870" cy="286385"/>
          </a:xfrm>
          <a:prstGeom prst="rect">
            <a:avLst/>
          </a:prstGeom>
          <a:noFill/>
          <a:ln w="12700" cap="flat" cmpd="sng" algn="ctr">
            <a:noFill/>
            <a:prstDash val="solid"/>
            <a:miter lim="800000"/>
          </a:ln>
          <a:effectLst/>
          <a:extLst>
            <a:ext uri="{909E8E84-426E-40DD-AFC4-6F175D3DCCD1}">
              <a14:hiddenFill xmlns:a14="http://schemas.microsoft.com/office/drawing/2010/main">
                <a:solidFill>
                  <a:srgbClr val="5B9BD5">
                    <a:lumMod val="75000"/>
                    <a:alpha val="80000"/>
                  </a:srgbClr>
                </a:solidFill>
              </a14:hiddenFill>
            </a:ext>
          </a:extLst>
        </p:spPr>
        <p:txBody>
          <a:bodyPr vertOverflow="overflow" horzOverflow="overflow" vert="horz" wrap="square" lIns="0" tIns="45720" rIns="0" bIns="45720" numCol="1" spcCol="0" rtlCol="0" fromWordArt="0" anchor="ctr" anchorCtr="0" forceAA="0" compatLnSpc="1">
            <a:noAutofit/>
          </a:bodyPr>
          <a:lstStyle/>
          <a:p>
            <a:pPr lvl="0" algn="ctr">
              <a:spcBef>
                <a:spcPts val="0"/>
              </a:spcBef>
              <a:spcAft>
                <a:spcPts val="0"/>
              </a:spcAft>
              <a:buClrTx/>
              <a:buSzTx/>
              <a:buFontTx/>
              <a:defRPr/>
            </a:pPr>
            <a:r>
              <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微软雅黑" panose="020B0503020204020204" charset="-122"/>
              </a:rPr>
              <a:t>AI</a:t>
            </a: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微软雅黑" panose="020B0503020204020204" charset="-122"/>
            </a:endParaRPr>
          </a:p>
          <a:p>
            <a:pPr lvl="0" algn="ctr">
              <a:spcBef>
                <a:spcPts val="0"/>
              </a:spcBef>
              <a:spcAft>
                <a:spcPts val="0"/>
              </a:spcAft>
              <a:buClrTx/>
              <a:buSzTx/>
              <a:buFontTx/>
              <a:defRPr/>
            </a:pPr>
            <a:r>
              <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微软雅黑" panose="020B0503020204020204" charset="-122"/>
              </a:rPr>
              <a:t>赋能</a:t>
            </a: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微软雅黑" panose="020B0503020204020204" charset="-122"/>
            </a:endParaRPr>
          </a:p>
        </p:txBody>
      </p:sp>
      <p:sp>
        <p:nvSpPr>
          <p:cNvPr id="1005" name="矩形 1004">
            <a:hlinkClick r:id="" action="ppaction://noaction"/>
          </p:cNvPr>
          <p:cNvSpPr/>
          <p:nvPr/>
        </p:nvSpPr>
        <p:spPr bwMode="auto">
          <a:xfrm>
            <a:off x="8430895" y="3256280"/>
            <a:ext cx="1238250" cy="8382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决策分析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06" name="矩形 1005">
            <a:hlinkClick r:id="" action="ppaction://noaction"/>
          </p:cNvPr>
          <p:cNvSpPr/>
          <p:nvPr/>
        </p:nvSpPr>
        <p:spPr bwMode="auto">
          <a:xfrm>
            <a:off x="1575435" y="3252470"/>
            <a:ext cx="1238250" cy="8318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智能搜索</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07" name="矩形 1006">
            <a:hlinkClick r:id="" action="ppaction://noaction"/>
          </p:cNvPr>
          <p:cNvSpPr/>
          <p:nvPr/>
        </p:nvSpPr>
        <p:spPr bwMode="auto">
          <a:xfrm>
            <a:off x="2954020" y="3256280"/>
            <a:ext cx="1238250" cy="8318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智能客服</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08" name="矩形 1007">
            <a:hlinkClick r:id="" action="ppaction://noaction"/>
          </p:cNvPr>
          <p:cNvSpPr/>
          <p:nvPr/>
        </p:nvSpPr>
        <p:spPr bwMode="auto">
          <a:xfrm>
            <a:off x="4339590" y="3256280"/>
            <a:ext cx="1238250" cy="8318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智能推荐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09" name="矩形 1008">
            <a:hlinkClick r:id="" action="ppaction://noaction"/>
          </p:cNvPr>
          <p:cNvSpPr/>
          <p:nvPr/>
        </p:nvSpPr>
        <p:spPr bwMode="auto">
          <a:xfrm>
            <a:off x="5688965" y="3256280"/>
            <a:ext cx="1238250" cy="8382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智能预警</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10" name="矩形 1009">
            <a:hlinkClick r:id="" action="ppaction://noaction"/>
          </p:cNvPr>
          <p:cNvSpPr/>
          <p:nvPr/>
        </p:nvSpPr>
        <p:spPr bwMode="auto">
          <a:xfrm>
            <a:off x="7046595" y="3256280"/>
            <a:ext cx="1238250" cy="8382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智能办公</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11" name="矩形 1010">
            <a:hlinkClick r:id="" action="ppaction://noaction"/>
          </p:cNvPr>
          <p:cNvSpPr/>
          <p:nvPr/>
        </p:nvSpPr>
        <p:spPr bwMode="auto">
          <a:xfrm>
            <a:off x="9804400" y="3256280"/>
            <a:ext cx="1238250" cy="8382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视频分析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12" name="矩形 1011">
            <a:hlinkClick r:id="" action="ppaction://noaction"/>
          </p:cNvPr>
          <p:cNvSpPr/>
          <p:nvPr/>
        </p:nvSpPr>
        <p:spPr bwMode="auto">
          <a:xfrm>
            <a:off x="1577975" y="3352165"/>
            <a:ext cx="1238250" cy="9715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生成式驾驶舱</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13" name="矩形 1012">
            <a:hlinkClick r:id="" action="ppaction://noaction"/>
          </p:cNvPr>
          <p:cNvSpPr/>
          <p:nvPr/>
        </p:nvSpPr>
        <p:spPr bwMode="auto">
          <a:xfrm>
            <a:off x="2958465" y="3359785"/>
            <a:ext cx="1238250" cy="8318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生成式预案</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14" name="矩形 1013">
            <a:hlinkClick r:id="" action="ppaction://noaction"/>
          </p:cNvPr>
          <p:cNvSpPr/>
          <p:nvPr/>
        </p:nvSpPr>
        <p:spPr bwMode="auto">
          <a:xfrm>
            <a:off x="4339590" y="3359785"/>
            <a:ext cx="1238250" cy="8318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生成式风险提示</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15" name="矩形 1014">
            <a:hlinkClick r:id="" action="ppaction://noaction"/>
          </p:cNvPr>
          <p:cNvSpPr/>
          <p:nvPr/>
        </p:nvSpPr>
        <p:spPr bwMode="auto">
          <a:xfrm>
            <a:off x="5688965" y="3359785"/>
            <a:ext cx="1238250" cy="8382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生成式问题清单</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16" name="矩形 1015">
            <a:hlinkClick r:id="" action="ppaction://noaction"/>
          </p:cNvPr>
          <p:cNvSpPr/>
          <p:nvPr/>
        </p:nvSpPr>
        <p:spPr bwMode="auto">
          <a:xfrm>
            <a:off x="7044690" y="3359785"/>
            <a:ext cx="1238250" cy="8382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知识构建</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17" name="矩形 1016">
            <a:hlinkClick r:id="" action="ppaction://noaction"/>
          </p:cNvPr>
          <p:cNvSpPr/>
          <p:nvPr/>
        </p:nvSpPr>
        <p:spPr bwMode="auto">
          <a:xfrm>
            <a:off x="8430895" y="3359785"/>
            <a:ext cx="1238250" cy="8382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三维可视化交互</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18" name="矩形 1017">
            <a:hlinkClick r:id="" action="ppaction://noaction"/>
          </p:cNvPr>
          <p:cNvSpPr/>
          <p:nvPr/>
        </p:nvSpPr>
        <p:spPr bwMode="auto">
          <a:xfrm>
            <a:off x="9804400" y="3359785"/>
            <a:ext cx="1238250" cy="8382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视频融合算法</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19" name="矩形 1018"/>
          <p:cNvSpPr/>
          <p:nvPr/>
        </p:nvSpPr>
        <p:spPr bwMode="auto">
          <a:xfrm>
            <a:off x="2957830" y="2826385"/>
            <a:ext cx="1238250" cy="9525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感知设备管理</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20" name="矩形 1019"/>
          <p:cNvSpPr/>
          <p:nvPr/>
        </p:nvSpPr>
        <p:spPr bwMode="auto">
          <a:xfrm>
            <a:off x="5688965" y="2943860"/>
            <a:ext cx="1238250" cy="8572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智能预案推荐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21" name="矩形 1020"/>
          <p:cNvSpPr/>
          <p:nvPr/>
        </p:nvSpPr>
        <p:spPr bwMode="auto">
          <a:xfrm>
            <a:off x="8430895" y="2827655"/>
            <a:ext cx="1238250" cy="9525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问题风险预警</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22" name="矩形 1021"/>
          <p:cNvSpPr/>
          <p:nvPr/>
        </p:nvSpPr>
        <p:spPr bwMode="auto">
          <a:xfrm>
            <a:off x="5688965" y="283337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风险点管理</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23" name="矩形 1022"/>
          <p:cNvSpPr/>
          <p:nvPr/>
        </p:nvSpPr>
        <p:spPr bwMode="auto">
          <a:xfrm>
            <a:off x="1574165" y="304292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AI监督评价</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24" name="矩形 1023"/>
          <p:cNvSpPr/>
          <p:nvPr/>
        </p:nvSpPr>
        <p:spPr bwMode="auto">
          <a:xfrm>
            <a:off x="4339590" y="283337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体征指标管理</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25" name="矩形 1024"/>
          <p:cNvSpPr/>
          <p:nvPr/>
        </p:nvSpPr>
        <p:spPr bwMode="auto">
          <a:xfrm>
            <a:off x="4339590" y="2943860"/>
            <a:ext cx="1238250" cy="8572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政策服务</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26" name="矩形 1025"/>
          <p:cNvSpPr/>
          <p:nvPr/>
        </p:nvSpPr>
        <p:spPr bwMode="auto">
          <a:xfrm>
            <a:off x="1572895" y="3147695"/>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AI复盘改进</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27" name="矩形 1026"/>
          <p:cNvSpPr/>
          <p:nvPr/>
        </p:nvSpPr>
        <p:spPr bwMode="auto">
          <a:xfrm>
            <a:off x="2957830" y="2943860"/>
            <a:ext cx="1238250" cy="8509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AI拍照识别分析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28" name="矩形 1027"/>
          <p:cNvSpPr/>
          <p:nvPr/>
        </p:nvSpPr>
        <p:spPr bwMode="auto">
          <a:xfrm>
            <a:off x="1574800" y="283337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AI感知预警</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29" name="矩形 1028"/>
          <p:cNvSpPr/>
          <p:nvPr/>
        </p:nvSpPr>
        <p:spPr bwMode="auto">
          <a:xfrm>
            <a:off x="1575435" y="293878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AI决策处置</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30" name="矩形 1029"/>
          <p:cNvSpPr/>
          <p:nvPr/>
        </p:nvSpPr>
        <p:spPr bwMode="auto">
          <a:xfrm>
            <a:off x="7044690" y="2940685"/>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AI相似事件自动办理</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31" name="矩形 1030"/>
          <p:cNvSpPr/>
          <p:nvPr/>
        </p:nvSpPr>
        <p:spPr bwMode="auto">
          <a:xfrm>
            <a:off x="2958465" y="304673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AI事件单质量抽查</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32" name="矩形 1031"/>
          <p:cNvSpPr/>
          <p:nvPr/>
        </p:nvSpPr>
        <p:spPr bwMode="auto">
          <a:xfrm>
            <a:off x="4339590" y="304292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AI视联网抽查</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33" name="矩形 1032"/>
          <p:cNvSpPr/>
          <p:nvPr/>
        </p:nvSpPr>
        <p:spPr bwMode="auto">
          <a:xfrm>
            <a:off x="5688965" y="3042920"/>
            <a:ext cx="1238250" cy="8572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AI值班电话抽查</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34" name="矩形 1033"/>
          <p:cNvSpPr/>
          <p:nvPr/>
        </p:nvSpPr>
        <p:spPr bwMode="auto">
          <a:xfrm>
            <a:off x="7044690" y="304292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AI重大事件跟踪督办</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35" name="矩形 1034"/>
          <p:cNvSpPr/>
          <p:nvPr/>
        </p:nvSpPr>
        <p:spPr bwMode="auto">
          <a:xfrm>
            <a:off x="8430895" y="2943225"/>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AI智能分拨</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36" name="矩形 1035"/>
          <p:cNvSpPr/>
          <p:nvPr/>
        </p:nvSpPr>
        <p:spPr bwMode="auto">
          <a:xfrm>
            <a:off x="2954020" y="314833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AI重大事件复盘分析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37" name="矩形 1036"/>
          <p:cNvSpPr/>
          <p:nvPr/>
        </p:nvSpPr>
        <p:spPr bwMode="auto">
          <a:xfrm>
            <a:off x="9804400" y="283337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AI人员画像智能分析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38" name="矩形 1037"/>
          <p:cNvSpPr/>
          <p:nvPr/>
        </p:nvSpPr>
        <p:spPr bwMode="auto">
          <a:xfrm>
            <a:off x="9804400" y="2936875"/>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AI网格助手</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39" name="矩形 1038"/>
          <p:cNvSpPr/>
          <p:nvPr/>
        </p:nvSpPr>
        <p:spPr bwMode="auto">
          <a:xfrm>
            <a:off x="8425815" y="304292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AI高频事件跟踪分析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40" name="矩形 1039"/>
          <p:cNvSpPr/>
          <p:nvPr/>
        </p:nvSpPr>
        <p:spPr bwMode="auto">
          <a:xfrm>
            <a:off x="9804400" y="3046730"/>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AI指标异常跟踪分析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41" name="矩形 1040"/>
          <p:cNvSpPr/>
          <p:nvPr/>
        </p:nvSpPr>
        <p:spPr bwMode="auto">
          <a:xfrm>
            <a:off x="4339590" y="3156585"/>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AI高频事件复盘分析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42" name="矩形 1041"/>
          <p:cNvSpPr/>
          <p:nvPr/>
        </p:nvSpPr>
        <p:spPr bwMode="auto">
          <a:xfrm>
            <a:off x="5688965" y="3156585"/>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AI热点区域复盘分析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43" name="矩形 1042"/>
          <p:cNvSpPr/>
          <p:nvPr/>
        </p:nvSpPr>
        <p:spPr bwMode="auto">
          <a:xfrm>
            <a:off x="7044690" y="3156585"/>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AI事件单质量复盘分析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44" name="矩形 1043"/>
          <p:cNvSpPr/>
          <p:nvPr/>
        </p:nvSpPr>
        <p:spPr bwMode="auto">
          <a:xfrm>
            <a:off x="8430895" y="3147695"/>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AI综合场景复盘分析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45" name="矩形 1044"/>
          <p:cNvSpPr/>
          <p:nvPr/>
        </p:nvSpPr>
        <p:spPr bwMode="auto">
          <a:xfrm>
            <a:off x="9804400" y="3156585"/>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AI典型应用复盘分析</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46" name="矩形 1045"/>
          <p:cNvSpPr/>
          <p:nvPr/>
        </p:nvSpPr>
        <p:spPr bwMode="auto">
          <a:xfrm>
            <a:off x="7044690" y="2826385"/>
            <a:ext cx="1238250" cy="889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600" kern="100" dirty="0">
                <a:solidFill>
                  <a:srgbClr val="CCECFF"/>
                </a:solidFill>
                <a:latin typeface="微软雅黑" panose="020B0503020204020204" charset="-122"/>
                <a:ea typeface="微软雅黑" panose="020B0503020204020204" charset="-122"/>
                <a:sym typeface="+mn-ea"/>
              </a:rPr>
              <a:t>KPI管理</a:t>
            </a:r>
            <a:endParaRPr lang="zh-CN" altLang="en-US" sz="600" kern="100" dirty="0">
              <a:solidFill>
                <a:srgbClr val="CCECFF"/>
              </a:solidFill>
              <a:latin typeface="微软雅黑" panose="020B0503020204020204" charset="-122"/>
              <a:ea typeface="微软雅黑" panose="020B0503020204020204" charset="-122"/>
              <a:sym typeface="+mn-ea"/>
            </a:endParaRPr>
          </a:p>
        </p:txBody>
      </p:sp>
      <p:sp>
        <p:nvSpPr>
          <p:cNvPr id="1047" name="矩形 1046"/>
          <p:cNvSpPr/>
          <p:nvPr/>
        </p:nvSpPr>
        <p:spPr bwMode="auto">
          <a:xfrm>
            <a:off x="158115" y="3550285"/>
            <a:ext cx="647065" cy="3237865"/>
          </a:xfrm>
          <a:prstGeom prst="rect">
            <a:avLst/>
          </a:prstGeom>
          <a:solidFill>
            <a:srgbClr val="5B9BD5">
              <a:lumMod val="75000"/>
            </a:srgbClr>
          </a:solidFill>
          <a:ln w="12700" cap="flat" cmpd="sng" algn="ctr">
            <a:noFill/>
            <a:prstDash val="solid"/>
            <a:miter lim="800000"/>
          </a:ln>
          <a:effectLst/>
        </p:spPr>
        <p:txBody>
          <a:bodyPr lIns="91440" tIns="45720" rIns="91440" bIns="45720" rtlCol="0" anchor="ctr">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rPr>
              <a:t>一体化智能化公共数据平台</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mn-ea"/>
            </a:endParaRPr>
          </a:p>
        </p:txBody>
      </p:sp>
      <p:sp>
        <p:nvSpPr>
          <p:cNvPr id="1048" name="矩形 1047"/>
          <p:cNvSpPr/>
          <p:nvPr/>
        </p:nvSpPr>
        <p:spPr bwMode="auto">
          <a:xfrm>
            <a:off x="859790" y="3550285"/>
            <a:ext cx="617855" cy="3237865"/>
          </a:xfrm>
          <a:prstGeom prst="rect">
            <a:avLst/>
          </a:prstGeom>
          <a:solidFill>
            <a:srgbClr val="5B9BD5">
              <a:lumMod val="75000"/>
            </a:srgbClr>
          </a:solidFill>
          <a:ln w="12700" cap="flat" cmpd="sng" algn="ctr">
            <a:noFill/>
            <a:prstDash val="solid"/>
            <a:miter lim="800000"/>
          </a:ln>
          <a:effectLst/>
        </p:spPr>
        <p:txBody>
          <a:bodyPr vert="horz" wrap="square" lIns="91440"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微软雅黑" panose="020B0503020204020204" charset="-122"/>
              </a:rPr>
              <a:t>平台</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微软雅黑" panose="020B0503020204020204" charset="-122"/>
            </a:endParaRPr>
          </a:p>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微软雅黑" panose="020B0503020204020204" charset="-122"/>
              </a:rPr>
              <a:t>+</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微软雅黑" panose="020B0503020204020204" charset="-122"/>
            </a:endParaRPr>
          </a:p>
          <a:p>
            <a:pPr lvl="0" algn="ctr">
              <a:spcBef>
                <a:spcPts val="0"/>
              </a:spcBef>
              <a:spcAft>
                <a:spcPts val="0"/>
              </a:spcAft>
              <a:buClrTx/>
              <a:buSzTx/>
              <a:buFontTx/>
              <a:defRPr/>
            </a:pPr>
            <a:r>
              <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微软雅黑" panose="020B0503020204020204" charset="-122"/>
              </a:rPr>
              <a:t>大脑</a:t>
            </a:r>
            <a:endParaRPr lang="zh-CN" altLang="en-US" sz="1200" b="1" kern="0" spc="300" noProof="0" dirty="0">
              <a:ln>
                <a:noFill/>
              </a:ln>
              <a:solidFill>
                <a:prstClr val="white"/>
              </a:solidFill>
              <a:effectLst/>
              <a:uLnTx/>
              <a:uFillTx/>
              <a:latin typeface="微软雅黑" panose="020B0503020204020204" charset="-122"/>
              <a:cs typeface="Times New Roman" panose="02020603050405020304" charset="0"/>
              <a:sym typeface="微软雅黑" panose="020B0503020204020204" charset="-122"/>
            </a:endParaRPr>
          </a:p>
        </p:txBody>
      </p:sp>
      <p:sp>
        <p:nvSpPr>
          <p:cNvPr id="1049" name="矩形 1048"/>
          <p:cNvSpPr/>
          <p:nvPr/>
        </p:nvSpPr>
        <p:spPr bwMode="auto">
          <a:xfrm>
            <a:off x="1537970" y="3550285"/>
            <a:ext cx="9518015" cy="1617980"/>
          </a:xfrm>
          <a:prstGeom prst="rect">
            <a:avLst/>
          </a:prstGeom>
          <a:solidFill>
            <a:srgbClr val="5B9BD5">
              <a:lumMod val="75000"/>
              <a:alpha val="80000"/>
            </a:srgbClr>
          </a:solidFill>
          <a:ln w="12700" cap="flat" cmpd="sng" algn="ctr">
            <a:noFill/>
            <a:prstDash val="solid"/>
            <a:miter lim="800000"/>
          </a:ln>
          <a:effectLst/>
        </p:spPr>
        <p:txBody>
          <a:bodyPr vertOverflow="overflow" horzOverflow="overflow" vert="horz" wrap="square" lIns="0" tIns="45720" rIns="0" bIns="45720" numCol="1" spcCol="0" rtlCol="0" fromWordArt="0" anchor="ctr" anchorCtr="0" forceAA="0" compatLnSpc="1">
            <a:noAutofit/>
          </a:bodyPr>
          <a:lstStyle/>
          <a:p>
            <a:pPr lvl="0" algn="ctr">
              <a:spcBef>
                <a:spcPts val="0"/>
              </a:spcBef>
              <a:spcAft>
                <a:spcPts val="0"/>
              </a:spcAft>
              <a:buClrTx/>
              <a:buSzTx/>
              <a:buFontTx/>
              <a:defRPr/>
            </a:pP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050" name="矩形 1049"/>
          <p:cNvSpPr/>
          <p:nvPr/>
        </p:nvSpPr>
        <p:spPr bwMode="auto">
          <a:xfrm>
            <a:off x="1608455" y="3798570"/>
            <a:ext cx="231140" cy="937260"/>
          </a:xfrm>
          <a:prstGeom prst="rect">
            <a:avLst/>
          </a:prstGeom>
          <a:noFill/>
          <a:ln w="12700" cap="flat" cmpd="sng" algn="ctr">
            <a:noFill/>
            <a:prstDash val="solid"/>
            <a:miter lim="800000"/>
          </a:ln>
          <a:effectLst/>
          <a:extLst>
            <a:ext uri="{909E8E84-426E-40DD-AFC4-6F175D3DCCD1}">
              <a14:hiddenFill xmlns:a14="http://schemas.microsoft.com/office/drawing/2010/main">
                <a:solidFill>
                  <a:srgbClr val="5B9BD5">
                    <a:lumMod val="75000"/>
                    <a:alpha val="80000"/>
                  </a:srgbClr>
                </a:solidFill>
              </a14:hiddenFill>
            </a:ext>
          </a:extLst>
        </p:spPr>
        <p:txBody>
          <a:bodyPr vertOverflow="overflow" horzOverflow="overflow" vert="horz" wrap="square" lIns="0" tIns="45720" rIns="0" bIns="45720" numCol="1" spcCol="0" rtlCol="0" fromWordArt="0" anchor="ctr" anchorCtr="0" forceAA="0" compatLnSpc="1">
            <a:noAutofit/>
          </a:bodyPr>
          <a:lstStyle/>
          <a:p>
            <a:pPr lvl="0" algn="ctr">
              <a:spcBef>
                <a:spcPts val="0"/>
              </a:spcBef>
              <a:spcAft>
                <a:spcPts val="0"/>
              </a:spcAft>
              <a:buClrTx/>
              <a:buSzTx/>
              <a:buFontTx/>
              <a:defRPr/>
            </a:pPr>
            <a:r>
              <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能</a:t>
            </a: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力</a:t>
            </a: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组</a:t>
            </a: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件</a:t>
            </a: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体</a:t>
            </a: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系</a:t>
            </a: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051" name="矩形 1050">
            <a:hlinkClick r:id="" action="ppaction://noaction"/>
          </p:cNvPr>
          <p:cNvSpPr/>
          <p:nvPr/>
        </p:nvSpPr>
        <p:spPr bwMode="auto">
          <a:xfrm>
            <a:off x="1915160" y="3569970"/>
            <a:ext cx="9141460" cy="160655"/>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mn-ea"/>
              </a:rPr>
              <a:t>一体化数字资源系统（数字资源智能搜索智能体、数字资源智能推荐智能体）</a:t>
            </a:r>
            <a:endParaRPr kumimoji="1" lang="zh-CN" altLang="en-US" sz="700" b="1" kern="0" dirty="0">
              <a:solidFill>
                <a:prstClr val="white"/>
              </a:solidFill>
              <a:latin typeface="微软雅黑" panose="020B0503020204020204" charset="-122"/>
              <a:cs typeface="+mn-ea"/>
              <a:sym typeface="+mn-ea"/>
            </a:endParaRPr>
          </a:p>
        </p:txBody>
      </p:sp>
      <p:sp>
        <p:nvSpPr>
          <p:cNvPr id="1052" name="矩形 1051"/>
          <p:cNvSpPr/>
          <p:nvPr/>
        </p:nvSpPr>
        <p:spPr bwMode="auto">
          <a:xfrm>
            <a:off x="1917700" y="3745230"/>
            <a:ext cx="476250" cy="1379220"/>
          </a:xfrm>
          <a:prstGeom prst="rect">
            <a:avLst/>
          </a:prstGeom>
          <a:solidFill>
            <a:srgbClr val="5B9BD5">
              <a:lumMod val="75000"/>
              <a:alpha val="80000"/>
            </a:srgbClr>
          </a:solidFill>
          <a:ln w="12700" cap="flat" cmpd="sng" algn="ctr">
            <a:noFill/>
            <a:prstDash val="solid"/>
            <a:miter lim="800000"/>
          </a:ln>
          <a:effectLst/>
        </p:spPr>
        <p:txBody>
          <a:bodyPr vertOverflow="overflow" horzOverflow="overflow" vert="horz" wrap="square" lIns="0" tIns="45720" rIns="0" bIns="45720" numCol="1" spcCol="0" rtlCol="0" fromWordArt="0" anchor="ctr" anchorCtr="0" forceAA="0" compatLnSpc="1">
            <a:noAutofit/>
          </a:bodyPr>
          <a:p>
            <a:pPr lvl="0" algn="ctr">
              <a:spcBef>
                <a:spcPts val="0"/>
              </a:spcBef>
              <a:spcAft>
                <a:spcPts val="0"/>
              </a:spcAft>
              <a:buClrTx/>
              <a:buSzTx/>
              <a:buFontTx/>
              <a:defRPr/>
            </a:pPr>
            <a:r>
              <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AI</a:t>
            </a:r>
            <a:endPar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底</a:t>
            </a:r>
            <a:endPar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座</a:t>
            </a:r>
            <a:endPar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053" name="矩形 1052"/>
          <p:cNvSpPr/>
          <p:nvPr/>
        </p:nvSpPr>
        <p:spPr bwMode="auto">
          <a:xfrm>
            <a:off x="2447290" y="3745230"/>
            <a:ext cx="8638540" cy="302895"/>
          </a:xfrm>
          <a:prstGeom prst="rect">
            <a:avLst/>
          </a:prstGeom>
          <a:solidFill>
            <a:srgbClr val="0B2B62"/>
          </a:solidFill>
          <a:ln w="12700" cap="flat" cmpd="sng" algn="ctr">
            <a:solidFill>
              <a:schemeClr val="tx1">
                <a:alpha val="45000"/>
              </a:schemeClr>
            </a:solidFill>
            <a:prstDash val="solid"/>
            <a:miter lim="800000"/>
          </a:ln>
          <a:effectLst/>
        </p:spPr>
        <p:txBody>
          <a:bodyPr vertOverflow="overflow" horzOverflow="overflow" vert="horz" wrap="square" lIns="0" tIns="0" rIns="0" bIns="0" numCol="1" spcCol="0" rtlCol="0" fromWordArt="0" anchor="ctr" anchorCtr="0" forceAA="0" compatLnSpc="1">
            <a:noAutofit/>
          </a:bodyPr>
          <a:p>
            <a:pPr lvl="0" algn="ctr" defTabSz="283210">
              <a:spcBef>
                <a:spcPts val="0"/>
              </a:spcBef>
              <a:spcAft>
                <a:spcPts val="0"/>
              </a:spcAft>
              <a:buClrTx/>
              <a:buSzTx/>
              <a:buFontTx/>
              <a:defRPr/>
            </a:pPr>
            <a:endParaRPr lang="zh-CN" altLang="en-US" sz="440" kern="1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054" name="矩形 1053"/>
          <p:cNvSpPr/>
          <p:nvPr/>
        </p:nvSpPr>
        <p:spPr bwMode="auto">
          <a:xfrm>
            <a:off x="3340735" y="3770630"/>
            <a:ext cx="7667625" cy="12065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AI资源查询、申请、审批及资源管理…</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55" name="矩形 1054"/>
          <p:cNvSpPr/>
          <p:nvPr/>
        </p:nvSpPr>
        <p:spPr bwMode="auto">
          <a:xfrm>
            <a:off x="2505075" y="3891915"/>
            <a:ext cx="720000" cy="10800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600" b="1" kern="0" dirty="0">
                <a:solidFill>
                  <a:prstClr val="white"/>
                </a:solidFill>
                <a:latin typeface="微软雅黑" panose="020B0503020204020204" charset="-122"/>
                <a:cs typeface="+mn-ea"/>
                <a:sym typeface="+mn-ea"/>
              </a:rPr>
              <a:t>智能体</a:t>
            </a:r>
            <a:endParaRPr kumimoji="1" lang="zh-CN" altLang="en-US" sz="600" b="1" kern="0" dirty="0">
              <a:solidFill>
                <a:prstClr val="white"/>
              </a:solidFill>
              <a:latin typeface="微软雅黑" panose="020B0503020204020204" charset="-122"/>
              <a:cs typeface="+mn-ea"/>
              <a:sym typeface="+mn-ea"/>
            </a:endParaRPr>
          </a:p>
        </p:txBody>
      </p:sp>
      <p:sp>
        <p:nvSpPr>
          <p:cNvPr id="1056" name="矩形 1055"/>
          <p:cNvSpPr/>
          <p:nvPr/>
        </p:nvSpPr>
        <p:spPr bwMode="auto">
          <a:xfrm>
            <a:off x="2505075" y="3762375"/>
            <a:ext cx="720000" cy="11557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600" b="1" kern="0" dirty="0">
                <a:solidFill>
                  <a:prstClr val="white"/>
                </a:solidFill>
                <a:latin typeface="微软雅黑" panose="020B0503020204020204" charset="-122"/>
                <a:cs typeface="+mn-ea"/>
                <a:sym typeface="+mn-ea"/>
              </a:rPr>
              <a:t>AI资源管理系统</a:t>
            </a:r>
            <a:endParaRPr kumimoji="1" lang="zh-CN" altLang="en-US" sz="600" b="1" kern="0" dirty="0">
              <a:solidFill>
                <a:prstClr val="white"/>
              </a:solidFill>
              <a:latin typeface="微软雅黑" panose="020B0503020204020204" charset="-122"/>
              <a:cs typeface="+mn-ea"/>
              <a:sym typeface="+mn-ea"/>
            </a:endParaRPr>
          </a:p>
        </p:txBody>
      </p:sp>
      <p:sp>
        <p:nvSpPr>
          <p:cNvPr id="1057" name="矩形 1056"/>
          <p:cNvSpPr/>
          <p:nvPr/>
        </p:nvSpPr>
        <p:spPr bwMode="auto">
          <a:xfrm>
            <a:off x="2449195" y="4757420"/>
            <a:ext cx="8642985" cy="366395"/>
          </a:xfrm>
          <a:prstGeom prst="rect">
            <a:avLst/>
          </a:prstGeom>
          <a:solidFill>
            <a:srgbClr val="0B2B62"/>
          </a:solidFill>
          <a:ln w="12700" cap="flat" cmpd="sng" algn="ctr">
            <a:solidFill>
              <a:schemeClr val="tx1">
                <a:alpha val="45000"/>
              </a:schemeClr>
            </a:solidFill>
            <a:prstDash val="solid"/>
            <a:miter lim="800000"/>
          </a:ln>
          <a:effectLst/>
        </p:spPr>
        <p:txBody>
          <a:bodyPr vertOverflow="overflow" horzOverflow="overflow" vert="horz" wrap="square" lIns="0" tIns="0" rIns="0" bIns="0" numCol="1" spcCol="0" rtlCol="0" fromWordArt="0" anchor="ctr" anchorCtr="0" forceAA="0" compatLnSpc="1">
            <a:noAutofit/>
          </a:bodyPr>
          <a:p>
            <a:pPr lvl="0" algn="ctr" defTabSz="283210">
              <a:spcBef>
                <a:spcPts val="0"/>
              </a:spcBef>
              <a:spcAft>
                <a:spcPts val="0"/>
              </a:spcAft>
              <a:buClrTx/>
              <a:buSzTx/>
              <a:buFontTx/>
              <a:defRPr/>
            </a:pPr>
            <a:endParaRPr lang="zh-CN" altLang="en-US" sz="440" kern="1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058" name="矩形 1057"/>
          <p:cNvSpPr/>
          <p:nvPr/>
        </p:nvSpPr>
        <p:spPr bwMode="auto">
          <a:xfrm>
            <a:off x="2505075" y="4956175"/>
            <a:ext cx="720000" cy="128905"/>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600" b="1" kern="0" dirty="0">
                <a:solidFill>
                  <a:prstClr val="white"/>
                </a:solidFill>
                <a:latin typeface="微软雅黑" panose="020B0503020204020204" charset="-122"/>
                <a:cs typeface="+mn-ea"/>
                <a:sym typeface="+mn-ea"/>
              </a:rPr>
              <a:t>通用大模型</a:t>
            </a:r>
            <a:endParaRPr kumimoji="1" lang="zh-CN" altLang="en-US" sz="600" b="1" kern="0" dirty="0">
              <a:solidFill>
                <a:prstClr val="white"/>
              </a:solidFill>
              <a:latin typeface="微软雅黑" panose="020B0503020204020204" charset="-122"/>
              <a:cs typeface="+mn-ea"/>
              <a:sym typeface="+mn-ea"/>
            </a:endParaRPr>
          </a:p>
        </p:txBody>
      </p:sp>
      <p:sp>
        <p:nvSpPr>
          <p:cNvPr id="1059" name="矩形 1058"/>
          <p:cNvSpPr/>
          <p:nvPr/>
        </p:nvSpPr>
        <p:spPr bwMode="auto">
          <a:xfrm>
            <a:off x="2505075" y="4785995"/>
            <a:ext cx="720000" cy="13462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600" b="1" kern="0" dirty="0">
                <a:solidFill>
                  <a:prstClr val="white"/>
                </a:solidFill>
                <a:latin typeface="微软雅黑" panose="020B0503020204020204" charset="-122"/>
                <a:cs typeface="+mn-ea"/>
                <a:sym typeface="+mn-ea"/>
              </a:rPr>
              <a:t>垂直</a:t>
            </a:r>
            <a:r>
              <a:rPr kumimoji="1" lang="zh-CN" altLang="en-US" sz="600" b="1" kern="0" dirty="0">
                <a:solidFill>
                  <a:prstClr val="white"/>
                </a:solidFill>
                <a:latin typeface="微软雅黑" panose="020B0503020204020204" charset="-122"/>
                <a:cs typeface="+mn-ea"/>
                <a:sym typeface="+mn-ea"/>
              </a:rPr>
              <a:t>大模型</a:t>
            </a:r>
            <a:endParaRPr kumimoji="1" lang="zh-CN" altLang="en-US" sz="600" b="1" kern="0" dirty="0">
              <a:solidFill>
                <a:prstClr val="white"/>
              </a:solidFill>
              <a:latin typeface="微软雅黑" panose="020B0503020204020204" charset="-122"/>
              <a:cs typeface="+mn-ea"/>
              <a:sym typeface="+mn-ea"/>
            </a:endParaRPr>
          </a:p>
        </p:txBody>
      </p:sp>
      <p:sp>
        <p:nvSpPr>
          <p:cNvPr id="1060" name="矩形 1059">
            <a:hlinkClick r:id="" action="ppaction://noaction"/>
          </p:cNvPr>
          <p:cNvSpPr/>
          <p:nvPr/>
        </p:nvSpPr>
        <p:spPr bwMode="auto">
          <a:xfrm>
            <a:off x="3339465" y="4956175"/>
            <a:ext cx="7671435" cy="12954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通义千问、</a:t>
            </a:r>
            <a:r>
              <a:rPr lang="zh-CN" altLang="en-US" sz="800" kern="100" dirty="0">
                <a:solidFill>
                  <a:srgbClr val="CCECFF"/>
                </a:solidFill>
                <a:latin typeface="微软雅黑" panose="020B0503020204020204" charset="-122"/>
                <a:ea typeface="微软雅黑" panose="020B0503020204020204" charset="-122"/>
                <a:sym typeface="+mn-ea"/>
              </a:rPr>
              <a:t>D</a:t>
            </a:r>
            <a:r>
              <a:rPr lang="zh-CN" altLang="en-US" sz="800" kern="100" dirty="0">
                <a:solidFill>
                  <a:srgbClr val="CCECFF"/>
                </a:solidFill>
                <a:latin typeface="微软雅黑" panose="020B0503020204020204" charset="-122"/>
                <a:ea typeface="微软雅黑" panose="020B0503020204020204" charset="-122"/>
                <a:sym typeface="+mn-ea"/>
              </a:rPr>
              <a:t>eepSeek</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61" name="矩形 1060"/>
          <p:cNvSpPr/>
          <p:nvPr/>
        </p:nvSpPr>
        <p:spPr bwMode="auto">
          <a:xfrm>
            <a:off x="3329305" y="4785995"/>
            <a:ext cx="1739265" cy="13525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城市治理大模型</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62" name="矩形 1061"/>
          <p:cNvSpPr/>
          <p:nvPr/>
        </p:nvSpPr>
        <p:spPr bwMode="auto">
          <a:xfrm>
            <a:off x="7476490" y="4786630"/>
            <a:ext cx="1718945" cy="13462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气象行业大模型</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63" name="矩形 1062"/>
          <p:cNvSpPr/>
          <p:nvPr/>
        </p:nvSpPr>
        <p:spPr bwMode="auto">
          <a:xfrm>
            <a:off x="5163185" y="4786630"/>
            <a:ext cx="2218055" cy="13462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汽车行业大模型</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64" name="矩形 1063"/>
          <p:cNvSpPr/>
          <p:nvPr/>
        </p:nvSpPr>
        <p:spPr bwMode="auto">
          <a:xfrm>
            <a:off x="9291955" y="4786630"/>
            <a:ext cx="1718945" cy="13462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65" name="矩形 1064"/>
          <p:cNvSpPr/>
          <p:nvPr/>
        </p:nvSpPr>
        <p:spPr bwMode="auto">
          <a:xfrm>
            <a:off x="2447290" y="4088765"/>
            <a:ext cx="8638540" cy="624205"/>
          </a:xfrm>
          <a:prstGeom prst="rect">
            <a:avLst/>
          </a:prstGeom>
          <a:solidFill>
            <a:srgbClr val="0B2B62"/>
          </a:solidFill>
          <a:ln w="12700" cap="flat" cmpd="sng" algn="ctr">
            <a:solidFill>
              <a:schemeClr val="tx1">
                <a:alpha val="45000"/>
              </a:schemeClr>
            </a:solidFill>
            <a:prstDash val="solid"/>
            <a:miter lim="800000"/>
          </a:ln>
          <a:effectLst/>
        </p:spPr>
        <p:txBody>
          <a:bodyPr vertOverflow="overflow" horzOverflow="overflow" vert="horz" wrap="square" lIns="0" tIns="0" rIns="0" bIns="0" numCol="1" spcCol="0" rtlCol="0" fromWordArt="0" anchor="ctr" anchorCtr="0" forceAA="0" compatLnSpc="1">
            <a:noAutofit/>
          </a:bodyPr>
          <a:p>
            <a:pPr lvl="0" algn="ctr" defTabSz="283210">
              <a:spcBef>
                <a:spcPts val="0"/>
              </a:spcBef>
              <a:spcAft>
                <a:spcPts val="0"/>
              </a:spcAft>
              <a:buClrTx/>
              <a:buSzTx/>
              <a:buFontTx/>
              <a:defRPr/>
            </a:pPr>
            <a:endParaRPr lang="zh-CN" altLang="en-US" sz="440" kern="1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066" name="矩形 1065"/>
          <p:cNvSpPr/>
          <p:nvPr/>
        </p:nvSpPr>
        <p:spPr bwMode="auto">
          <a:xfrm>
            <a:off x="2505075" y="4538345"/>
            <a:ext cx="720000" cy="13081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600" b="1" kern="0" dirty="0">
                <a:solidFill>
                  <a:prstClr val="white"/>
                </a:solidFill>
                <a:latin typeface="微软雅黑" panose="020B0503020204020204" charset="-122"/>
                <a:cs typeface="+mn-ea"/>
                <a:sym typeface="+mn-ea"/>
              </a:rPr>
              <a:t>模型服务</a:t>
            </a:r>
            <a:endParaRPr kumimoji="1" lang="zh-CN" altLang="en-US" sz="600" b="1" kern="0" dirty="0">
              <a:solidFill>
                <a:prstClr val="white"/>
              </a:solidFill>
              <a:latin typeface="微软雅黑" panose="020B0503020204020204" charset="-122"/>
              <a:cs typeface="+mn-ea"/>
              <a:sym typeface="+mn-ea"/>
            </a:endParaRPr>
          </a:p>
        </p:txBody>
      </p:sp>
      <p:sp>
        <p:nvSpPr>
          <p:cNvPr id="1067" name="矩形 1066">
            <a:hlinkClick r:id="" action="ppaction://noaction"/>
          </p:cNvPr>
          <p:cNvSpPr/>
          <p:nvPr/>
        </p:nvSpPr>
        <p:spPr bwMode="auto">
          <a:xfrm>
            <a:off x="3342640" y="4538345"/>
            <a:ext cx="1471930" cy="13017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模型训练</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68" name="矩形 1067">
            <a:hlinkClick r:id="" action="ppaction://noaction"/>
          </p:cNvPr>
          <p:cNvSpPr/>
          <p:nvPr/>
        </p:nvSpPr>
        <p:spPr bwMode="auto">
          <a:xfrm>
            <a:off x="4952365" y="4538345"/>
            <a:ext cx="1421765" cy="13017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模型推理</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69" name="矩形 1068">
            <a:hlinkClick r:id="" action="ppaction://noaction"/>
          </p:cNvPr>
          <p:cNvSpPr/>
          <p:nvPr/>
        </p:nvSpPr>
        <p:spPr bwMode="auto">
          <a:xfrm>
            <a:off x="6513195" y="4538345"/>
            <a:ext cx="1421130" cy="13017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模型评测</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70" name="矩形 1069">
            <a:hlinkClick r:id="" action="ppaction://noaction"/>
          </p:cNvPr>
          <p:cNvSpPr/>
          <p:nvPr/>
        </p:nvSpPr>
        <p:spPr bwMode="auto">
          <a:xfrm>
            <a:off x="8074660" y="4538345"/>
            <a:ext cx="1421130" cy="13017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模型部署</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71" name="矩形 1070">
            <a:hlinkClick r:id="" action="ppaction://noaction"/>
          </p:cNvPr>
          <p:cNvSpPr/>
          <p:nvPr/>
        </p:nvSpPr>
        <p:spPr bwMode="auto">
          <a:xfrm>
            <a:off x="9587230" y="4538345"/>
            <a:ext cx="1423670" cy="13017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模型实验室</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72" name="矩形 1071"/>
          <p:cNvSpPr/>
          <p:nvPr/>
        </p:nvSpPr>
        <p:spPr bwMode="auto">
          <a:xfrm>
            <a:off x="2505075" y="4097020"/>
            <a:ext cx="720000" cy="412750"/>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600" b="1" kern="0" dirty="0">
                <a:solidFill>
                  <a:prstClr val="white"/>
                </a:solidFill>
                <a:latin typeface="微软雅黑" panose="020B0503020204020204" charset="-122"/>
                <a:cs typeface="+mn-ea"/>
                <a:sym typeface="+mn-ea"/>
              </a:rPr>
              <a:t>智能体</a:t>
            </a:r>
            <a:endParaRPr kumimoji="1" lang="zh-CN" altLang="en-US" sz="600" b="1" kern="0" dirty="0">
              <a:solidFill>
                <a:prstClr val="white"/>
              </a:solidFill>
              <a:latin typeface="微软雅黑" panose="020B0503020204020204" charset="-122"/>
              <a:cs typeface="+mn-ea"/>
              <a:sym typeface="+mn-ea"/>
            </a:endParaRPr>
          </a:p>
          <a:p>
            <a:pPr lvl="0" algn="ctr" defTabSz="1619250">
              <a:spcBef>
                <a:spcPts val="0"/>
              </a:spcBef>
              <a:buClrTx/>
              <a:buSzTx/>
              <a:buFontTx/>
            </a:pPr>
            <a:r>
              <a:rPr kumimoji="1" lang="zh-CN" altLang="en-US" sz="600" b="1" kern="0" dirty="0">
                <a:solidFill>
                  <a:prstClr val="white"/>
                </a:solidFill>
                <a:latin typeface="微软雅黑" panose="020B0503020204020204" charset="-122"/>
                <a:cs typeface="+mn-ea"/>
                <a:sym typeface="+mn-ea"/>
              </a:rPr>
              <a:t>开发服务</a:t>
            </a:r>
            <a:endParaRPr kumimoji="1" lang="zh-CN" altLang="en-US" sz="600" b="1" kern="0" dirty="0">
              <a:solidFill>
                <a:prstClr val="white"/>
              </a:solidFill>
              <a:latin typeface="微软雅黑" panose="020B0503020204020204" charset="-122"/>
              <a:cs typeface="+mn-ea"/>
              <a:sym typeface="+mn-ea"/>
            </a:endParaRPr>
          </a:p>
        </p:txBody>
      </p:sp>
      <p:sp>
        <p:nvSpPr>
          <p:cNvPr id="1073" name="矩形 1072">
            <a:hlinkClick r:id="" action="ppaction://noaction"/>
          </p:cNvPr>
          <p:cNvSpPr/>
          <p:nvPr/>
        </p:nvSpPr>
        <p:spPr bwMode="auto">
          <a:xfrm>
            <a:off x="3342640" y="4393565"/>
            <a:ext cx="1472565" cy="11684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知识检索</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74" name="矩形 1073">
            <a:hlinkClick r:id="" action="ppaction://noaction"/>
          </p:cNvPr>
          <p:cNvSpPr/>
          <p:nvPr/>
        </p:nvSpPr>
        <p:spPr bwMode="auto">
          <a:xfrm>
            <a:off x="4953000" y="4393565"/>
            <a:ext cx="1421765" cy="11684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MCP</a:t>
            </a:r>
            <a:r>
              <a:rPr lang="zh-CN" altLang="en-US" sz="800" kern="100" dirty="0">
                <a:solidFill>
                  <a:srgbClr val="CCECFF"/>
                </a:solidFill>
                <a:latin typeface="微软雅黑" panose="020B0503020204020204" charset="-122"/>
                <a:ea typeface="微软雅黑" panose="020B0503020204020204" charset="-122"/>
                <a:sym typeface="+mn-ea"/>
              </a:rPr>
              <a:t>工具调用</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75" name="矩形 1074">
            <a:hlinkClick r:id="" action="ppaction://noaction"/>
          </p:cNvPr>
          <p:cNvSpPr/>
          <p:nvPr/>
        </p:nvSpPr>
        <p:spPr bwMode="auto">
          <a:xfrm>
            <a:off x="6513830" y="4393565"/>
            <a:ext cx="1421765" cy="11684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智能体编排</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76" name="矩形 1075">
            <a:hlinkClick r:id="" action="ppaction://noaction"/>
          </p:cNvPr>
          <p:cNvSpPr/>
          <p:nvPr/>
        </p:nvSpPr>
        <p:spPr bwMode="auto">
          <a:xfrm>
            <a:off x="8074660" y="4393565"/>
            <a:ext cx="1421765" cy="11684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智能体评测</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77" name="矩形 1076">
            <a:hlinkClick r:id="" action="ppaction://noaction"/>
          </p:cNvPr>
          <p:cNvSpPr/>
          <p:nvPr/>
        </p:nvSpPr>
        <p:spPr bwMode="auto">
          <a:xfrm>
            <a:off x="9589135" y="4393565"/>
            <a:ext cx="1421765" cy="11684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智能体发布</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78" name="矩形 1077"/>
          <p:cNvSpPr/>
          <p:nvPr/>
        </p:nvSpPr>
        <p:spPr bwMode="auto">
          <a:xfrm>
            <a:off x="7188835" y="4088130"/>
            <a:ext cx="3871595" cy="304165"/>
          </a:xfrm>
          <a:prstGeom prst="rect">
            <a:avLst/>
          </a:prstGeom>
          <a:solidFill>
            <a:srgbClr val="000000">
              <a:alpha val="0"/>
            </a:srgbClr>
          </a:solidFill>
          <a:ln w="28575">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endParaRPr lang="zh-CN" altLang="en-US" sz="700" kern="100" dirty="0">
              <a:solidFill>
                <a:schemeClr val="tx1"/>
              </a:solidFill>
              <a:latin typeface="微软雅黑" panose="020B0503020204020204" charset="-122"/>
              <a:ea typeface="微软雅黑" panose="020B0503020204020204" charset="-122"/>
              <a:sym typeface="+mn-ea"/>
            </a:endParaRPr>
          </a:p>
        </p:txBody>
      </p:sp>
      <p:sp>
        <p:nvSpPr>
          <p:cNvPr id="1079" name="矩形 1078"/>
          <p:cNvSpPr/>
          <p:nvPr/>
        </p:nvSpPr>
        <p:spPr bwMode="auto">
          <a:xfrm>
            <a:off x="3340735" y="4088130"/>
            <a:ext cx="3820160" cy="305435"/>
          </a:xfrm>
          <a:prstGeom prst="rect">
            <a:avLst/>
          </a:prstGeom>
          <a:solidFill>
            <a:srgbClr val="000000">
              <a:alpha val="0"/>
            </a:srgbClr>
          </a:solidFill>
          <a:ln w="28575">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endParaRPr lang="zh-CN" altLang="en-US" sz="700" kern="100" dirty="0">
              <a:solidFill>
                <a:schemeClr val="tx1"/>
              </a:solidFill>
              <a:latin typeface="微软雅黑" panose="020B0503020204020204" charset="-122"/>
              <a:ea typeface="微软雅黑" panose="020B0503020204020204" charset="-122"/>
              <a:sym typeface="+mn-ea"/>
            </a:endParaRPr>
          </a:p>
        </p:txBody>
      </p:sp>
      <p:sp>
        <p:nvSpPr>
          <p:cNvPr id="1080" name="矩形 1079">
            <a:hlinkClick r:id="" action="ppaction://noaction"/>
          </p:cNvPr>
          <p:cNvSpPr/>
          <p:nvPr/>
        </p:nvSpPr>
        <p:spPr bwMode="auto">
          <a:xfrm>
            <a:off x="3340735" y="4251960"/>
            <a:ext cx="878205" cy="11239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决策分析</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81" name="矩形 1080">
            <a:hlinkClick r:id="" action="ppaction://noaction"/>
          </p:cNvPr>
          <p:cNvSpPr/>
          <p:nvPr/>
        </p:nvSpPr>
        <p:spPr bwMode="auto">
          <a:xfrm>
            <a:off x="4350385" y="4251960"/>
            <a:ext cx="855980" cy="11049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智能推荐</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82" name="矩形 1081">
            <a:hlinkClick r:id="" action="ppaction://noaction"/>
          </p:cNvPr>
          <p:cNvSpPr/>
          <p:nvPr/>
        </p:nvSpPr>
        <p:spPr bwMode="auto">
          <a:xfrm>
            <a:off x="5336540" y="4251960"/>
            <a:ext cx="855980" cy="11049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知识构建</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83" name="矩形 1082">
            <a:hlinkClick r:id="" action="ppaction://noaction"/>
          </p:cNvPr>
          <p:cNvSpPr/>
          <p:nvPr/>
        </p:nvSpPr>
        <p:spPr bwMode="auto">
          <a:xfrm>
            <a:off x="6323965" y="4251960"/>
            <a:ext cx="816610" cy="11049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视频分析</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84" name="矩形 1083">
            <a:hlinkClick r:id="" action="ppaction://noaction"/>
          </p:cNvPr>
          <p:cNvSpPr/>
          <p:nvPr/>
        </p:nvSpPr>
        <p:spPr bwMode="auto">
          <a:xfrm>
            <a:off x="7741920" y="4259580"/>
            <a:ext cx="1405255" cy="11049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时空数据管理</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85" name="矩形 1084">
            <a:hlinkClick r:id="" action="ppaction://noaction"/>
          </p:cNvPr>
          <p:cNvSpPr/>
          <p:nvPr/>
        </p:nvSpPr>
        <p:spPr bwMode="auto">
          <a:xfrm>
            <a:off x="7741920" y="4114800"/>
            <a:ext cx="1405255" cy="11049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三维可视化交互</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86" name="矩形 1085">
            <a:hlinkClick r:id="" action="ppaction://noaction"/>
          </p:cNvPr>
          <p:cNvSpPr/>
          <p:nvPr/>
        </p:nvSpPr>
        <p:spPr bwMode="auto">
          <a:xfrm>
            <a:off x="10782300" y="4107180"/>
            <a:ext cx="228600" cy="25844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87" name="矩形 1086">
            <a:hlinkClick r:id="" action="ppaction://noaction"/>
          </p:cNvPr>
          <p:cNvSpPr/>
          <p:nvPr/>
        </p:nvSpPr>
        <p:spPr bwMode="auto">
          <a:xfrm>
            <a:off x="9248140" y="4259580"/>
            <a:ext cx="1405255" cy="11049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场景构建与渲染…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88" name="矩形 1087">
            <a:hlinkClick r:id="" action="ppaction://noaction"/>
          </p:cNvPr>
          <p:cNvSpPr/>
          <p:nvPr/>
        </p:nvSpPr>
        <p:spPr bwMode="auto">
          <a:xfrm>
            <a:off x="9248140" y="4114800"/>
            <a:ext cx="1405255" cy="11049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视频融合算法</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89" name="矩形 1088">
            <a:hlinkClick r:id="" action="ppaction://noaction"/>
          </p:cNvPr>
          <p:cNvSpPr/>
          <p:nvPr/>
        </p:nvSpPr>
        <p:spPr bwMode="auto">
          <a:xfrm>
            <a:off x="3341370" y="4107180"/>
            <a:ext cx="877570" cy="11239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智能办公</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90" name="矩形 1089">
            <a:hlinkClick r:id="" action="ppaction://noaction"/>
          </p:cNvPr>
          <p:cNvSpPr/>
          <p:nvPr/>
        </p:nvSpPr>
        <p:spPr bwMode="auto">
          <a:xfrm>
            <a:off x="4350385" y="4107180"/>
            <a:ext cx="855980" cy="11112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智能客服</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91" name="矩形 1090">
            <a:hlinkClick r:id="" action="ppaction://noaction"/>
          </p:cNvPr>
          <p:cNvSpPr/>
          <p:nvPr/>
        </p:nvSpPr>
        <p:spPr bwMode="auto">
          <a:xfrm>
            <a:off x="5337175" y="4107180"/>
            <a:ext cx="855980" cy="11112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智能搜索</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92" name="矩形 1091">
            <a:hlinkClick r:id="" action="ppaction://noaction"/>
          </p:cNvPr>
          <p:cNvSpPr/>
          <p:nvPr/>
        </p:nvSpPr>
        <p:spPr bwMode="auto">
          <a:xfrm>
            <a:off x="6323965" y="4107180"/>
            <a:ext cx="817245" cy="11112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智能预警</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93" name="矩形 1092"/>
          <p:cNvSpPr/>
          <p:nvPr/>
        </p:nvSpPr>
        <p:spPr bwMode="auto">
          <a:xfrm>
            <a:off x="7196455" y="4098290"/>
            <a:ext cx="3488055" cy="2921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l" defTabSz="283210">
              <a:buClrTx/>
              <a:buSzTx/>
              <a:buFontTx/>
            </a:pPr>
            <a:r>
              <a:rPr lang="zh-CN" altLang="en-US" sz="800" kern="100" dirty="0">
                <a:solidFill>
                  <a:schemeClr val="bg1"/>
                </a:solidFill>
                <a:latin typeface="微软雅黑" panose="020B0503020204020204" charset="-122"/>
                <a:ea typeface="微软雅黑" panose="020B0503020204020204" charset="-122"/>
                <a:sym typeface="+mn-ea"/>
              </a:rPr>
              <a:t>视频孪生</a:t>
            </a:r>
            <a:endParaRPr lang="zh-CN" altLang="en-US" sz="800" kern="100" dirty="0">
              <a:solidFill>
                <a:schemeClr val="bg1"/>
              </a:solidFill>
              <a:latin typeface="微软雅黑" panose="020B0503020204020204" charset="-122"/>
              <a:ea typeface="微软雅黑" panose="020B0503020204020204" charset="-122"/>
              <a:sym typeface="+mn-ea"/>
            </a:endParaRPr>
          </a:p>
        </p:txBody>
      </p:sp>
      <p:sp>
        <p:nvSpPr>
          <p:cNvPr id="1094" name="矩形 1093">
            <a:hlinkClick r:id="" action="ppaction://noaction"/>
          </p:cNvPr>
          <p:cNvSpPr/>
          <p:nvPr/>
        </p:nvSpPr>
        <p:spPr bwMode="auto">
          <a:xfrm>
            <a:off x="3342640" y="3891915"/>
            <a:ext cx="792480" cy="108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数据治理</a:t>
            </a:r>
            <a:r>
              <a:rPr lang="zh-CN" altLang="en-US" sz="800" kern="100" dirty="0">
                <a:solidFill>
                  <a:srgbClr val="CCECFF"/>
                </a:solidFill>
                <a:latin typeface="微软雅黑" panose="020B0503020204020204" charset="-122"/>
                <a:ea typeface="微软雅黑" panose="020B0503020204020204" charset="-122"/>
                <a:sym typeface="+mn-ea"/>
              </a:rPr>
              <a:t>智能体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95" name="矩形 1094">
            <a:hlinkClick r:id="" action="ppaction://noaction"/>
          </p:cNvPr>
          <p:cNvSpPr/>
          <p:nvPr/>
        </p:nvSpPr>
        <p:spPr bwMode="auto">
          <a:xfrm>
            <a:off x="4236720" y="3891915"/>
            <a:ext cx="772795" cy="108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感知预警智能体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96" name="矩形 1095">
            <a:hlinkClick r:id="" action="ppaction://noaction"/>
          </p:cNvPr>
          <p:cNvSpPr/>
          <p:nvPr/>
        </p:nvSpPr>
        <p:spPr bwMode="auto">
          <a:xfrm>
            <a:off x="5111750" y="3891915"/>
            <a:ext cx="772795" cy="108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智能预案智能体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97" name="矩形 1096">
            <a:hlinkClick r:id="" action="ppaction://noaction"/>
          </p:cNvPr>
          <p:cNvSpPr/>
          <p:nvPr/>
        </p:nvSpPr>
        <p:spPr bwMode="auto">
          <a:xfrm>
            <a:off x="5986145" y="3891915"/>
            <a:ext cx="737870" cy="108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监督评价智能体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98" name="矩形 1097">
            <a:hlinkClick r:id="" action="ppaction://noaction"/>
          </p:cNvPr>
          <p:cNvSpPr/>
          <p:nvPr/>
        </p:nvSpPr>
        <p:spPr bwMode="auto">
          <a:xfrm>
            <a:off x="6826250" y="3891915"/>
            <a:ext cx="792480" cy="108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复盘改进智能体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099" name="矩形 1098">
            <a:hlinkClick r:id="" action="ppaction://noaction"/>
          </p:cNvPr>
          <p:cNvSpPr/>
          <p:nvPr/>
        </p:nvSpPr>
        <p:spPr bwMode="auto">
          <a:xfrm>
            <a:off x="7720330" y="3891915"/>
            <a:ext cx="772795" cy="108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国资小智</a:t>
            </a:r>
            <a:r>
              <a:rPr lang="zh-CN" altLang="en-US" sz="800" kern="100" dirty="0">
                <a:solidFill>
                  <a:srgbClr val="CCECFF"/>
                </a:solidFill>
                <a:latin typeface="微软雅黑" panose="020B0503020204020204" charset="-122"/>
                <a:ea typeface="微软雅黑" panose="020B0503020204020204" charset="-122"/>
                <a:sym typeface="+mn-ea"/>
              </a:rPr>
              <a:t>智能体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00" name="矩形 1099">
            <a:hlinkClick r:id="" action="ppaction://noaction"/>
          </p:cNvPr>
          <p:cNvSpPr/>
          <p:nvPr/>
        </p:nvSpPr>
        <p:spPr bwMode="auto">
          <a:xfrm>
            <a:off x="8595360" y="3891915"/>
            <a:ext cx="772795" cy="108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民呼我为智能体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01" name="矩形 1100">
            <a:hlinkClick r:id="" action="ppaction://noaction"/>
          </p:cNvPr>
          <p:cNvSpPr/>
          <p:nvPr/>
        </p:nvSpPr>
        <p:spPr bwMode="auto">
          <a:xfrm>
            <a:off x="9469755" y="3891915"/>
            <a:ext cx="1214755" cy="108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基层事件上报</a:t>
            </a:r>
            <a:r>
              <a:rPr lang="zh-CN" altLang="en-US" sz="800" kern="100" dirty="0">
                <a:solidFill>
                  <a:srgbClr val="CCECFF"/>
                </a:solidFill>
                <a:latin typeface="微软雅黑" panose="020B0503020204020204" charset="-122"/>
                <a:ea typeface="微软雅黑" panose="020B0503020204020204" charset="-122"/>
                <a:sym typeface="+mn-ea"/>
              </a:rPr>
              <a:t>智能体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02" name="矩形 1101">
            <a:hlinkClick r:id="" action="ppaction://noaction"/>
          </p:cNvPr>
          <p:cNvSpPr/>
          <p:nvPr/>
        </p:nvSpPr>
        <p:spPr bwMode="auto">
          <a:xfrm>
            <a:off x="10768965" y="3891915"/>
            <a:ext cx="241935" cy="108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03" name="圆角矩形 234"/>
          <p:cNvSpPr/>
          <p:nvPr/>
        </p:nvSpPr>
        <p:spPr bwMode="auto">
          <a:xfrm>
            <a:off x="1524635" y="448945"/>
            <a:ext cx="9558020" cy="177165"/>
          </a:xfrm>
          <a:prstGeom prst="roundRect">
            <a:avLst>
              <a:gd name="adj" fmla="val 2331"/>
            </a:avLst>
          </a:prstGeom>
          <a:noFill/>
          <a:ln w="28575" cap="flat" cmpd="sng" algn="ctr">
            <a:solidFill>
              <a:srgbClr val="7E0000"/>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endParaRPr lang="zh-CN" altLang="en-US" sz="500" kern="0" noProof="0" dirty="0">
              <a:ln>
                <a:noFill/>
              </a:ln>
              <a:solidFill>
                <a:schemeClr val="tx1"/>
              </a:solidFill>
              <a:effectLst/>
              <a:uLnTx/>
              <a:uFillTx/>
              <a:latin typeface="微软雅黑" panose="020B0503020204020204" charset="-122"/>
              <a:ea typeface="微软雅黑" panose="020B0503020204020204" charset="-122"/>
              <a:cs typeface="Times New Roman" panose="02020603050405020304" charset="0"/>
              <a:sym typeface="Calibri" panose="020F0502020204030204" charset="0"/>
            </a:endParaRPr>
          </a:p>
        </p:txBody>
      </p:sp>
      <p:sp>
        <p:nvSpPr>
          <p:cNvPr id="1104" name="矩形: 圆角 105"/>
          <p:cNvSpPr/>
          <p:nvPr/>
        </p:nvSpPr>
        <p:spPr bwMode="auto">
          <a:xfrm>
            <a:off x="2831629" y="2005412"/>
            <a:ext cx="109924" cy="465066"/>
          </a:xfrm>
          <a:prstGeom prst="roundRect">
            <a:avLst>
              <a:gd name="adj" fmla="val 0"/>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defTabSz="283210">
              <a:buClrTx/>
              <a:buSzTx/>
              <a:buFontTx/>
            </a:pPr>
            <a:r>
              <a:rPr lang="zh-CN" altLang="en-US" sz="500" kern="100" dirty="0">
                <a:solidFill>
                  <a:srgbClr val="CCECFF"/>
                </a:solidFill>
                <a:latin typeface="微软雅黑" panose="020B0503020204020204" charset="-122"/>
                <a:ea typeface="微软雅黑" panose="020B0503020204020204" charset="-122"/>
                <a:sym typeface="+mn-lt"/>
              </a:rPr>
              <a:t>政务运行</a:t>
            </a:r>
            <a:endParaRPr lang="zh-CN" altLang="en-US" sz="500" kern="100" dirty="0">
              <a:solidFill>
                <a:srgbClr val="CCECFF"/>
              </a:solidFill>
              <a:latin typeface="微软雅黑" panose="020B0503020204020204" charset="-122"/>
              <a:ea typeface="微软雅黑" panose="020B0503020204020204" charset="-122"/>
              <a:sym typeface="+mn-lt"/>
            </a:endParaRPr>
          </a:p>
        </p:txBody>
      </p:sp>
      <p:sp>
        <p:nvSpPr>
          <p:cNvPr id="1105" name="矩形 1104"/>
          <p:cNvSpPr/>
          <p:nvPr/>
        </p:nvSpPr>
        <p:spPr bwMode="auto">
          <a:xfrm>
            <a:off x="1544955" y="3550285"/>
            <a:ext cx="9521825" cy="1617980"/>
          </a:xfrm>
          <a:prstGeom prst="rect">
            <a:avLst/>
          </a:prstGeom>
          <a:noFill/>
          <a:ln w="28575" cap="flat" cmpd="sng" algn="ctr">
            <a:solidFill>
              <a:srgbClr val="7E0000"/>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endParaRPr lang="zh-CN" altLang="en-US" sz="500" kern="0" noProof="0" dirty="0">
              <a:ln>
                <a:noFill/>
              </a:ln>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106" name="矩形 1105"/>
          <p:cNvSpPr/>
          <p:nvPr/>
        </p:nvSpPr>
        <p:spPr bwMode="auto">
          <a:xfrm>
            <a:off x="1549400" y="6280150"/>
            <a:ext cx="9514205" cy="508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endPar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1107" name="矩形 1106"/>
          <p:cNvSpPr/>
          <p:nvPr/>
        </p:nvSpPr>
        <p:spPr bwMode="auto">
          <a:xfrm>
            <a:off x="1839595" y="6309995"/>
            <a:ext cx="9164320" cy="167005"/>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mn-ea"/>
              </a:rPr>
              <a:t>云算力系统（资源监测、算力调度）</a:t>
            </a:r>
            <a:endParaRPr kumimoji="1" lang="zh-CN" altLang="en-US" sz="700" b="1" kern="0" dirty="0">
              <a:solidFill>
                <a:prstClr val="white"/>
              </a:solidFill>
              <a:latin typeface="微软雅黑" panose="020B0503020204020204" charset="-122"/>
              <a:cs typeface="+mn-ea"/>
              <a:sym typeface="+mn-ea"/>
            </a:endParaRPr>
          </a:p>
        </p:txBody>
      </p:sp>
      <p:sp>
        <p:nvSpPr>
          <p:cNvPr id="1108" name="矩形 1107"/>
          <p:cNvSpPr/>
          <p:nvPr/>
        </p:nvSpPr>
        <p:spPr bwMode="auto">
          <a:xfrm>
            <a:off x="1849120" y="6490970"/>
            <a:ext cx="603885" cy="271145"/>
          </a:xfrm>
          <a:prstGeom prst="rect">
            <a:avLst/>
          </a:prstGeom>
          <a:solidFill>
            <a:srgbClr val="5B9BD5">
              <a:lumMod val="75000"/>
              <a:alpha val="80000"/>
            </a:srgbClr>
          </a:solidFill>
          <a:ln w="12700" cap="flat" cmpd="sng" algn="ctr">
            <a:noFill/>
            <a:prstDash val="solid"/>
            <a:miter lim="800000"/>
          </a:ln>
          <a:effectLst/>
        </p:spPr>
        <p:txBody>
          <a:bodyPr vertOverflow="overflow" horzOverflow="overflow" vert="horz" wrap="square" lIns="0" tIns="45720" rIns="0" bIns="45720" numCol="1" spcCol="0" rtlCol="0" fromWordArt="0" anchor="ctr" anchorCtr="0" forceAA="0" compatLnSpc="1">
            <a:noAutofit/>
          </a:bodyPr>
          <a:p>
            <a:pPr lvl="0" algn="ctr">
              <a:spcBef>
                <a:spcPts val="0"/>
              </a:spcBef>
              <a:spcAft>
                <a:spcPts val="0"/>
              </a:spcAft>
              <a:buClrTx/>
              <a:buSzTx/>
              <a:buFontTx/>
              <a:defRPr/>
            </a:pPr>
            <a:r>
              <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疆算入渝</a:t>
            </a:r>
            <a:endPar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109" name="矩形 1108"/>
          <p:cNvSpPr/>
          <p:nvPr/>
        </p:nvSpPr>
        <p:spPr bwMode="auto">
          <a:xfrm>
            <a:off x="1553210" y="6309360"/>
            <a:ext cx="254000" cy="453390"/>
          </a:xfrm>
          <a:prstGeom prst="rect">
            <a:avLst/>
          </a:prstGeom>
          <a:solidFill>
            <a:srgbClr val="5B9BD5">
              <a:lumMod val="75000"/>
              <a:alpha val="80000"/>
            </a:srgbClr>
          </a:solidFill>
          <a:ln w="12700" cap="flat" cmpd="sng" algn="ctr">
            <a:noFill/>
            <a:prstDash val="solid"/>
            <a:miter lim="800000"/>
          </a:ln>
          <a:effectLst/>
        </p:spPr>
        <p:txBody>
          <a:bodyPr vertOverflow="overflow" horzOverflow="overflow" vert="horz" wrap="square" lIns="0" tIns="45720" rIns="0" bIns="45720" numCol="1" spcCol="0" rtlCol="0" fromWordArt="0" anchor="ctr" anchorCtr="0" forceAA="0" compatLnSpc="1">
            <a:noAutofit/>
          </a:bodyPr>
          <a:lstStyle/>
          <a:p>
            <a:pPr lvl="0" algn="ctr">
              <a:spcBef>
                <a:spcPts val="0"/>
              </a:spcBef>
              <a:spcAft>
                <a:spcPts val="0"/>
              </a:spcAft>
              <a:buClrTx/>
              <a:buSzTx/>
              <a:buFontTx/>
              <a:defRPr/>
            </a:pPr>
            <a:r>
              <a:rPr lang="en-US" altLang="zh-CN" sz="6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基础设</a:t>
            </a:r>
            <a:endParaRPr lang="en-US" altLang="zh-CN" sz="6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en-US" altLang="zh-CN" sz="6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施体系</a:t>
            </a:r>
            <a:endParaRPr lang="en-US" altLang="zh-CN" sz="6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110" name="矩形 1109"/>
          <p:cNvSpPr/>
          <p:nvPr/>
        </p:nvSpPr>
        <p:spPr bwMode="auto">
          <a:xfrm>
            <a:off x="2486025" y="6529705"/>
            <a:ext cx="4139565" cy="23304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前店</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国产化智算算力服务</a:t>
            </a:r>
            <a:endPar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endParaRPr>
          </a:p>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计算</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存储</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网络</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安全</a:t>
            </a:r>
            <a:endPar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1111" name="矩形 1110"/>
          <p:cNvSpPr/>
          <p:nvPr/>
        </p:nvSpPr>
        <p:spPr bwMode="auto">
          <a:xfrm>
            <a:off x="6955155" y="6529705"/>
            <a:ext cx="4102100" cy="23304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后厂</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国产化智算算力集群</a:t>
            </a:r>
            <a:endPar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endParaRPr>
          </a:p>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计算</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存储</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网络</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a:t>
            </a:r>
            <a:r>
              <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rPr>
              <a:t>安全</a:t>
            </a:r>
            <a:endParaRPr lang="zh-CN" altLang="en-US" sz="8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1112" name="矩形 1111"/>
          <p:cNvSpPr/>
          <p:nvPr/>
        </p:nvSpPr>
        <p:spPr bwMode="auto">
          <a:xfrm>
            <a:off x="1554480" y="5204460"/>
            <a:ext cx="9509125" cy="104711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endParaRPr lang="zh-CN" altLang="en-US" sz="700" kern="100" dirty="0">
              <a:solidFill>
                <a:srgbClr val="CCECFF"/>
              </a:solidFill>
              <a:latin typeface="微软雅黑" panose="020B0503020204020204" charset="-122"/>
              <a:ea typeface="微软雅黑" panose="020B0503020204020204" charset="-122"/>
              <a:sym typeface="微软雅黑" panose="020B0503020204020204" charset="-122"/>
            </a:endParaRPr>
          </a:p>
        </p:txBody>
      </p:sp>
      <p:sp>
        <p:nvSpPr>
          <p:cNvPr id="1113" name="矩形 1112"/>
          <p:cNvSpPr/>
          <p:nvPr/>
        </p:nvSpPr>
        <p:spPr bwMode="auto">
          <a:xfrm>
            <a:off x="1560195" y="5215890"/>
            <a:ext cx="240665" cy="1000125"/>
          </a:xfrm>
          <a:prstGeom prst="rect">
            <a:avLst/>
          </a:prstGeom>
          <a:solidFill>
            <a:srgbClr val="5B9BD5">
              <a:lumMod val="75000"/>
              <a:alpha val="80000"/>
            </a:srgbClr>
          </a:solidFill>
          <a:ln w="12700" cap="flat" cmpd="sng" algn="ctr">
            <a:noFill/>
            <a:prstDash val="solid"/>
            <a:miter lim="800000"/>
          </a:ln>
          <a:effectLst/>
        </p:spPr>
        <p:txBody>
          <a:bodyPr vertOverflow="overflow" horzOverflow="overflow" vert="horz" wrap="square" lIns="0" tIns="45720" rIns="0" bIns="45720" numCol="1" spcCol="0" rtlCol="0" fromWordArt="0" anchor="ctr" anchorCtr="0" forceAA="0" compatLnSpc="1">
            <a:noAutofit/>
          </a:bodyPr>
          <a:lstStyle/>
          <a:p>
            <a:pPr lvl="0" algn="ctr">
              <a:spcBef>
                <a:spcPts val="0"/>
              </a:spcBef>
              <a:spcAft>
                <a:spcPts val="0"/>
              </a:spcAft>
              <a:buClrTx/>
              <a:buSzTx/>
              <a:buFontTx/>
              <a:buNone/>
              <a:defRPr/>
            </a:pPr>
            <a:r>
              <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数据</a:t>
            </a: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a:p>
            <a:pPr lvl="0" algn="ctr">
              <a:spcBef>
                <a:spcPts val="0"/>
              </a:spcBef>
              <a:spcAft>
                <a:spcPts val="0"/>
              </a:spcAft>
              <a:buClrTx/>
              <a:buSzTx/>
              <a:buFontTx/>
              <a:buNone/>
              <a:defRPr/>
            </a:pPr>
            <a:r>
              <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资源</a:t>
            </a: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a:p>
            <a:pPr lvl="0" algn="ctr">
              <a:spcBef>
                <a:spcPts val="0"/>
              </a:spcBef>
              <a:spcAft>
                <a:spcPts val="0"/>
              </a:spcAft>
              <a:buClrTx/>
              <a:buSzTx/>
              <a:buFontTx/>
              <a:buNone/>
              <a:defRPr/>
            </a:pPr>
            <a:r>
              <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体系</a:t>
            </a:r>
            <a:endParaRPr lang="en-US" altLang="zh-CN" sz="10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114" name="矩形 1113"/>
          <p:cNvSpPr/>
          <p:nvPr/>
        </p:nvSpPr>
        <p:spPr bwMode="auto">
          <a:xfrm>
            <a:off x="1839595" y="5215890"/>
            <a:ext cx="9175750" cy="144145"/>
          </a:xfrm>
          <a:prstGeom prst="rect">
            <a:avLst/>
          </a:prstGeom>
          <a:solidFill>
            <a:srgbClr val="5B9BD5">
              <a:lumMod val="75000"/>
            </a:srgbClr>
          </a:solidFill>
          <a:ln w="12700" cap="flat" cmpd="sng" algn="ctr">
            <a:noFill/>
            <a:prstDash val="solid"/>
            <a:miter lim="800000"/>
          </a:ln>
          <a:effectLst/>
        </p:spPr>
        <p:txBody>
          <a:bodyPr vert="horz" wrap="square" lIns="71755" tIns="45720" rIns="91440" bIns="45720" numCol="1" spcCol="0" rtlCol="0" fromWordArt="0" anchor="ctr" anchorCtr="0" forceAA="0" compatLnSpc="0">
            <a:noAutofit/>
          </a:bodyPr>
          <a:lstStyle>
            <a:lvl1pPr>
              <a:defRPr>
                <a:solidFill>
                  <a:schemeClr val="tx1"/>
                </a:solidFill>
                <a:latin typeface="Calibri" panose="020F0502020204030204" charset="0"/>
                <a:ea typeface="微软雅黑" panose="020B0503020204020204" charset="-122"/>
              </a:defRPr>
            </a:lvl1pPr>
            <a:lvl2pPr marL="742950" indent="-285750">
              <a:defRPr>
                <a:solidFill>
                  <a:schemeClr val="tx1"/>
                </a:solidFill>
                <a:latin typeface="Calibri" panose="020F0502020204030204" charset="0"/>
                <a:ea typeface="微软雅黑" panose="020B0503020204020204" charset="-122"/>
              </a:defRPr>
            </a:lvl2pPr>
            <a:lvl3pPr marL="1143000" indent="-228600">
              <a:defRPr>
                <a:solidFill>
                  <a:schemeClr val="tx1"/>
                </a:solidFill>
                <a:latin typeface="Calibri" panose="020F0502020204030204" charset="0"/>
                <a:ea typeface="微软雅黑" panose="020B0503020204020204" charset="-122"/>
              </a:defRPr>
            </a:lvl3pPr>
            <a:lvl4pPr marL="1600200" indent="-228600">
              <a:defRPr>
                <a:solidFill>
                  <a:schemeClr val="tx1"/>
                </a:solidFill>
                <a:latin typeface="Calibri" panose="020F0502020204030204" charset="0"/>
                <a:ea typeface="微软雅黑" panose="020B0503020204020204" charset="-122"/>
              </a:defRPr>
            </a:lvl4pPr>
            <a:lvl5pPr marL="2057400" indent="-228600">
              <a:defRPr>
                <a:solidFill>
                  <a:schemeClr val="tx1"/>
                </a:solidFill>
                <a:latin typeface="Calibri" panose="020F050202020403020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charset="0"/>
                <a:ea typeface="微软雅黑" panose="020B0503020204020204" charset="-122"/>
              </a:defRPr>
            </a:lvl9pPr>
          </a:lstStyle>
          <a:p>
            <a:pPr lvl="0" algn="ctr" defTabSz="1619250">
              <a:spcBef>
                <a:spcPts val="0"/>
              </a:spcBef>
              <a:buClrTx/>
              <a:buSzTx/>
              <a:buFontTx/>
            </a:pPr>
            <a:r>
              <a:rPr kumimoji="1" lang="zh-CN" altLang="en-US" sz="700" b="1" kern="0" dirty="0">
                <a:solidFill>
                  <a:prstClr val="white"/>
                </a:solidFill>
                <a:latin typeface="微软雅黑" panose="020B0503020204020204" charset="-122"/>
                <a:cs typeface="+mn-ea"/>
                <a:sym typeface="+mn-ea"/>
              </a:rPr>
              <a:t>知识</a:t>
            </a:r>
            <a:r>
              <a:rPr kumimoji="1" lang="zh-CN" altLang="en-US" sz="700" b="1" kern="0" dirty="0">
                <a:solidFill>
                  <a:prstClr val="white"/>
                </a:solidFill>
                <a:latin typeface="微软雅黑" panose="020B0503020204020204" charset="-122"/>
                <a:cs typeface="+mn-ea"/>
                <a:sym typeface="+mn-ea"/>
              </a:rPr>
              <a:t>语料管理系统</a:t>
            </a:r>
            <a:endParaRPr kumimoji="1" lang="zh-CN" altLang="en-US" sz="700" b="1" kern="0" dirty="0">
              <a:solidFill>
                <a:prstClr val="white"/>
              </a:solidFill>
              <a:latin typeface="微软雅黑" panose="020B0503020204020204" charset="-122"/>
              <a:cs typeface="+mn-ea"/>
              <a:sym typeface="+mn-ea"/>
            </a:endParaRPr>
          </a:p>
        </p:txBody>
      </p:sp>
      <p:sp>
        <p:nvSpPr>
          <p:cNvPr id="1115" name="矩形 1114"/>
          <p:cNvSpPr/>
          <p:nvPr/>
        </p:nvSpPr>
        <p:spPr bwMode="auto">
          <a:xfrm>
            <a:off x="2514600" y="5939155"/>
            <a:ext cx="1327150" cy="11811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业务事项数据库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16" name="矩形 1115"/>
          <p:cNvSpPr/>
          <p:nvPr/>
        </p:nvSpPr>
        <p:spPr bwMode="auto">
          <a:xfrm>
            <a:off x="5368290" y="5939155"/>
            <a:ext cx="1327150" cy="12763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体征指标</a:t>
            </a:r>
            <a:r>
              <a:rPr lang="zh-CN" altLang="en-US" sz="800" kern="100" dirty="0">
                <a:solidFill>
                  <a:srgbClr val="CCECFF"/>
                </a:solidFill>
                <a:latin typeface="微软雅黑" panose="020B0503020204020204" charset="-122"/>
                <a:ea typeface="微软雅黑" panose="020B0503020204020204" charset="-122"/>
                <a:sym typeface="+mn-ea"/>
              </a:rPr>
              <a:t>/KPI</a:t>
            </a:r>
            <a:r>
              <a:rPr lang="zh-CN" altLang="en-US" sz="800" kern="100" dirty="0">
                <a:solidFill>
                  <a:srgbClr val="CCECFF"/>
                </a:solidFill>
                <a:latin typeface="微软雅黑" panose="020B0503020204020204" charset="-122"/>
                <a:ea typeface="微软雅黑" panose="020B0503020204020204" charset="-122"/>
                <a:sym typeface="+mn-ea"/>
              </a:rPr>
              <a:t>数据库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17" name="矩形 1116"/>
          <p:cNvSpPr/>
          <p:nvPr/>
        </p:nvSpPr>
        <p:spPr bwMode="auto">
          <a:xfrm>
            <a:off x="3933190" y="5939155"/>
            <a:ext cx="1327150" cy="11811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智能预案数据库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18" name="矩形 1117"/>
          <p:cNvSpPr/>
          <p:nvPr/>
        </p:nvSpPr>
        <p:spPr bwMode="auto">
          <a:xfrm>
            <a:off x="6774815" y="5941060"/>
            <a:ext cx="1327150" cy="12763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风险点、风险提示数据库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19" name="矩形 1118"/>
          <p:cNvSpPr/>
          <p:nvPr/>
        </p:nvSpPr>
        <p:spPr bwMode="auto">
          <a:xfrm>
            <a:off x="9683750" y="5939790"/>
            <a:ext cx="1327150" cy="12763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感知数据库</a:t>
            </a:r>
            <a:r>
              <a:rPr lang="zh-CN" altLang="en-US" sz="800" kern="100" dirty="0">
                <a:solidFill>
                  <a:srgbClr val="CCECFF"/>
                </a:solidFill>
                <a:latin typeface="微软雅黑" panose="020B0503020204020204" charset="-122"/>
                <a:ea typeface="微软雅黑" panose="020B0503020204020204" charset="-122"/>
                <a:sym typeface="+mn-ea"/>
              </a:rPr>
              <a:t>......</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20" name="矩形 1119"/>
          <p:cNvSpPr/>
          <p:nvPr/>
        </p:nvSpPr>
        <p:spPr bwMode="auto">
          <a:xfrm>
            <a:off x="8190230" y="5939790"/>
            <a:ext cx="1327150" cy="11811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事件数据库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21" name="矩形 1120"/>
          <p:cNvSpPr/>
          <p:nvPr/>
        </p:nvSpPr>
        <p:spPr bwMode="auto">
          <a:xfrm>
            <a:off x="2514600" y="6095365"/>
            <a:ext cx="4180840" cy="12763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基础数据库（自然人库、法人库、信用库、电子证照库、自然资源和空间地理库、时空库）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22" name="矩形 1121"/>
          <p:cNvSpPr/>
          <p:nvPr/>
        </p:nvSpPr>
        <p:spPr bwMode="auto">
          <a:xfrm>
            <a:off x="6776085" y="6096000"/>
            <a:ext cx="1328420" cy="13081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部门数据仓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23" name="矩形 1122"/>
          <p:cNvSpPr/>
          <p:nvPr/>
        </p:nvSpPr>
        <p:spPr bwMode="auto">
          <a:xfrm>
            <a:off x="9682480" y="6095365"/>
            <a:ext cx="1328420" cy="13081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镇街数据仓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24" name="矩形 1123"/>
          <p:cNvSpPr/>
          <p:nvPr/>
        </p:nvSpPr>
        <p:spPr bwMode="auto">
          <a:xfrm>
            <a:off x="8192770" y="6095365"/>
            <a:ext cx="1328420" cy="12001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区县数据仓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25" name="矩形 1124"/>
          <p:cNvSpPr/>
          <p:nvPr/>
        </p:nvSpPr>
        <p:spPr bwMode="auto">
          <a:xfrm>
            <a:off x="2514600" y="5779135"/>
            <a:ext cx="4735830" cy="11874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金融</a:t>
            </a:r>
            <a:r>
              <a:rPr lang="en-US" altLang="zh-CN" sz="800" kern="100" dirty="0">
                <a:solidFill>
                  <a:srgbClr val="CCECFF"/>
                </a:solidFill>
                <a:latin typeface="微软雅黑" panose="020B0503020204020204" charset="-122"/>
                <a:ea typeface="微软雅黑" panose="020B0503020204020204" charset="-122"/>
                <a:sym typeface="+mn-ea"/>
              </a:rPr>
              <a:t>/</a:t>
            </a:r>
            <a:r>
              <a:rPr lang="zh-CN" altLang="en-US" sz="800" kern="100" dirty="0">
                <a:solidFill>
                  <a:srgbClr val="CCECFF"/>
                </a:solidFill>
                <a:latin typeface="微软雅黑" panose="020B0503020204020204" charset="-122"/>
                <a:ea typeface="微软雅黑" panose="020B0503020204020204" charset="-122"/>
                <a:sym typeface="+mn-ea"/>
              </a:rPr>
              <a:t>教育/医疗/科技/国企领域数据仓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26" name="矩形 1125"/>
          <p:cNvSpPr/>
          <p:nvPr/>
        </p:nvSpPr>
        <p:spPr bwMode="auto">
          <a:xfrm>
            <a:off x="7446010" y="5779135"/>
            <a:ext cx="3564890" cy="118745"/>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可信数据空间（城市、行业、企业）</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27" name="矩形 1126"/>
          <p:cNvSpPr/>
          <p:nvPr/>
        </p:nvSpPr>
        <p:spPr bwMode="auto">
          <a:xfrm>
            <a:off x="2514600" y="5567204"/>
            <a:ext cx="1440000" cy="180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政务领域基础语料库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28" name="矩形 1127"/>
          <p:cNvSpPr/>
          <p:nvPr/>
        </p:nvSpPr>
        <p:spPr bwMode="auto">
          <a:xfrm>
            <a:off x="4049850" y="5567204"/>
            <a:ext cx="1439545" cy="180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城市治理基础语料库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29" name="矩形 1128"/>
          <p:cNvSpPr/>
          <p:nvPr/>
        </p:nvSpPr>
        <p:spPr bwMode="auto">
          <a:xfrm>
            <a:off x="5582105" y="5567204"/>
            <a:ext cx="1439545" cy="180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部门语料库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30" name="矩形 1129"/>
          <p:cNvSpPr/>
          <p:nvPr/>
        </p:nvSpPr>
        <p:spPr bwMode="auto">
          <a:xfrm>
            <a:off x="7114360" y="5567204"/>
            <a:ext cx="1439545" cy="180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区县语料库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31" name="矩形 1130"/>
          <p:cNvSpPr/>
          <p:nvPr/>
        </p:nvSpPr>
        <p:spPr bwMode="auto">
          <a:xfrm>
            <a:off x="8702040" y="5567204"/>
            <a:ext cx="2308860" cy="180000"/>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金融/教育/医疗/科技/国企</a:t>
            </a:r>
            <a:r>
              <a:rPr lang="zh-CN" altLang="en-US" sz="800" kern="100" dirty="0">
                <a:solidFill>
                  <a:srgbClr val="CCECFF"/>
                </a:solidFill>
                <a:latin typeface="微软雅黑" panose="020B0503020204020204" charset="-122"/>
                <a:ea typeface="微软雅黑" panose="020B0503020204020204" charset="-122"/>
                <a:sym typeface="+mn-ea"/>
              </a:rPr>
              <a:t>领域语料库</a:t>
            </a:r>
            <a:endParaRPr lang="zh-CN" altLang="en-US" sz="800" kern="100" dirty="0">
              <a:solidFill>
                <a:srgbClr val="CCECFF"/>
              </a:solidFill>
              <a:latin typeface="微软雅黑" panose="020B0503020204020204" charset="-122"/>
              <a:ea typeface="微软雅黑" panose="020B0503020204020204" charset="-122"/>
              <a:sym typeface="+mn-ea"/>
            </a:endParaRPr>
          </a:p>
        </p:txBody>
      </p:sp>
      <p:grpSp>
        <p:nvGrpSpPr>
          <p:cNvPr id="1132" name="组合 1131"/>
          <p:cNvGrpSpPr/>
          <p:nvPr/>
        </p:nvGrpSpPr>
        <p:grpSpPr>
          <a:xfrm>
            <a:off x="2514600" y="5370195"/>
            <a:ext cx="8500110" cy="179070"/>
            <a:chOff x="3960" y="8457"/>
            <a:chExt cx="10588" cy="282"/>
          </a:xfrm>
        </p:grpSpPr>
        <p:sp>
          <p:nvSpPr>
            <p:cNvPr id="1133" name="矩形 1132"/>
            <p:cNvSpPr/>
            <p:nvPr/>
          </p:nvSpPr>
          <p:spPr bwMode="auto">
            <a:xfrm>
              <a:off x="3960" y="8457"/>
              <a:ext cx="2518" cy="283"/>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公共知识库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34" name="矩形 1133"/>
            <p:cNvSpPr/>
            <p:nvPr/>
          </p:nvSpPr>
          <p:spPr bwMode="auto">
            <a:xfrm>
              <a:off x="6646" y="8457"/>
              <a:ext cx="2525" cy="283"/>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部门知识库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35" name="矩形 1134"/>
            <p:cNvSpPr/>
            <p:nvPr/>
          </p:nvSpPr>
          <p:spPr bwMode="auto">
            <a:xfrm>
              <a:off x="9333" y="8457"/>
              <a:ext cx="2528" cy="283"/>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区县知识库</a:t>
              </a:r>
              <a:endParaRPr lang="zh-CN" altLang="en-US" sz="800" kern="100" dirty="0">
                <a:solidFill>
                  <a:srgbClr val="CCECFF"/>
                </a:solidFill>
                <a:latin typeface="微软雅黑" panose="020B0503020204020204" charset="-122"/>
                <a:ea typeface="微软雅黑" panose="020B0503020204020204" charset="-122"/>
                <a:sym typeface="+mn-ea"/>
              </a:endParaRPr>
            </a:p>
          </p:txBody>
        </p:sp>
        <p:sp>
          <p:nvSpPr>
            <p:cNvPr id="1136" name="矩形 1135"/>
            <p:cNvSpPr/>
            <p:nvPr/>
          </p:nvSpPr>
          <p:spPr bwMode="auto">
            <a:xfrm>
              <a:off x="12024" y="8457"/>
              <a:ext cx="2525" cy="283"/>
            </a:xfrm>
            <a:prstGeom prst="rect">
              <a:avLst/>
            </a:prstGeom>
            <a:solidFill>
              <a:srgbClr val="0070C0">
                <a:alpha val="10000"/>
              </a:srgbClr>
            </a:solidFill>
            <a:ln w="6350">
              <a:solidFill>
                <a:srgbClr val="9FC5E6">
                  <a:alpha val="45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defTabSz="283210">
                <a:buClrTx/>
                <a:buSzTx/>
                <a:buFontTx/>
              </a:pPr>
              <a:r>
                <a:rPr lang="zh-CN" altLang="en-US" sz="800" kern="100" dirty="0">
                  <a:solidFill>
                    <a:srgbClr val="CCECFF"/>
                  </a:solidFill>
                  <a:latin typeface="微软雅黑" panose="020B0503020204020204" charset="-122"/>
                  <a:ea typeface="微软雅黑" panose="020B0503020204020204" charset="-122"/>
                  <a:sym typeface="+mn-ea"/>
                </a:rPr>
                <a:t>个人知识库</a:t>
              </a:r>
              <a:endParaRPr lang="zh-CN" altLang="en-US" sz="800" kern="100" dirty="0">
                <a:solidFill>
                  <a:srgbClr val="CCECFF"/>
                </a:solidFill>
                <a:latin typeface="微软雅黑" panose="020B0503020204020204" charset="-122"/>
                <a:ea typeface="微软雅黑" panose="020B0503020204020204" charset="-122"/>
                <a:sym typeface="+mn-ea"/>
              </a:endParaRPr>
            </a:p>
          </p:txBody>
        </p:sp>
      </p:grpSp>
      <p:sp>
        <p:nvSpPr>
          <p:cNvPr id="1137" name="矩形 1136"/>
          <p:cNvSpPr/>
          <p:nvPr/>
        </p:nvSpPr>
        <p:spPr bwMode="auto">
          <a:xfrm>
            <a:off x="1839595" y="5370195"/>
            <a:ext cx="611505" cy="179705"/>
          </a:xfrm>
          <a:prstGeom prst="rect">
            <a:avLst/>
          </a:prstGeom>
          <a:solidFill>
            <a:srgbClr val="5B9BD5">
              <a:lumMod val="75000"/>
              <a:alpha val="80000"/>
            </a:srgbClr>
          </a:solidFill>
          <a:ln w="12700" cap="flat" cmpd="sng" algn="ctr">
            <a:noFill/>
            <a:prstDash val="solid"/>
            <a:miter lim="800000"/>
          </a:ln>
          <a:effectLst/>
        </p:spPr>
        <p:txBody>
          <a:bodyPr vertOverflow="overflow" horzOverflow="overflow" vert="horz" wrap="square" lIns="0" tIns="45720" rIns="0" bIns="45720" numCol="1" spcCol="0" rtlCol="0" fromWordArt="0" anchor="ctr" anchorCtr="0" forceAA="0" compatLnSpc="1">
            <a:noAutofit/>
          </a:bodyPr>
          <a:p>
            <a:pPr lvl="0" algn="ctr">
              <a:spcBef>
                <a:spcPts val="0"/>
              </a:spcBef>
              <a:spcAft>
                <a:spcPts val="0"/>
              </a:spcAft>
              <a:buClrTx/>
              <a:buSzTx/>
              <a:buFontTx/>
              <a:defRPr/>
            </a:pPr>
            <a:r>
              <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知识库</a:t>
            </a:r>
            <a:endPar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138" name="矩形 1137"/>
          <p:cNvSpPr/>
          <p:nvPr/>
        </p:nvSpPr>
        <p:spPr bwMode="auto">
          <a:xfrm>
            <a:off x="1840865" y="5567045"/>
            <a:ext cx="608330" cy="179705"/>
          </a:xfrm>
          <a:prstGeom prst="rect">
            <a:avLst/>
          </a:prstGeom>
          <a:solidFill>
            <a:srgbClr val="5B9BD5">
              <a:lumMod val="75000"/>
              <a:alpha val="80000"/>
            </a:srgbClr>
          </a:solidFill>
          <a:ln w="12700" cap="flat" cmpd="sng" algn="ctr">
            <a:noFill/>
            <a:prstDash val="solid"/>
            <a:miter lim="800000"/>
          </a:ln>
          <a:effectLst/>
        </p:spPr>
        <p:txBody>
          <a:bodyPr vertOverflow="overflow" horzOverflow="overflow" vert="horz" wrap="square" lIns="0" tIns="45720" rIns="0" bIns="45720" numCol="1" spcCol="0" rtlCol="0" fromWordArt="0" anchor="ctr" anchorCtr="0" forceAA="0" compatLnSpc="1">
            <a:noAutofit/>
          </a:bodyPr>
          <a:p>
            <a:pPr lvl="0" algn="ctr">
              <a:spcBef>
                <a:spcPts val="0"/>
              </a:spcBef>
              <a:spcAft>
                <a:spcPts val="0"/>
              </a:spcAft>
              <a:buClrTx/>
              <a:buSzTx/>
              <a:buFontTx/>
              <a:defRPr/>
            </a:pPr>
            <a:r>
              <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语料库</a:t>
            </a:r>
            <a:endPar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139" name="矩形 1138"/>
          <p:cNvSpPr/>
          <p:nvPr/>
        </p:nvSpPr>
        <p:spPr bwMode="auto">
          <a:xfrm>
            <a:off x="1849120" y="5779135"/>
            <a:ext cx="608330" cy="436245"/>
          </a:xfrm>
          <a:prstGeom prst="rect">
            <a:avLst/>
          </a:prstGeom>
          <a:solidFill>
            <a:srgbClr val="5B9BD5">
              <a:lumMod val="75000"/>
              <a:alpha val="80000"/>
            </a:srgbClr>
          </a:solidFill>
          <a:ln w="12700" cap="flat" cmpd="sng" algn="ctr">
            <a:noFill/>
            <a:prstDash val="solid"/>
            <a:miter lim="800000"/>
          </a:ln>
          <a:effectLst/>
        </p:spPr>
        <p:txBody>
          <a:bodyPr vertOverflow="overflow" horzOverflow="overflow" vert="horz" wrap="square" lIns="0" tIns="45720" rIns="0" bIns="45720" numCol="1" spcCol="0" rtlCol="0" fromWordArt="0" anchor="ctr" anchorCtr="0" forceAA="0" compatLnSpc="1">
            <a:noAutofit/>
          </a:bodyPr>
          <a:p>
            <a:pPr lvl="0" algn="ctr">
              <a:spcBef>
                <a:spcPts val="0"/>
              </a:spcBef>
              <a:spcAft>
                <a:spcPts val="0"/>
              </a:spcAft>
              <a:buClrTx/>
              <a:buSzTx/>
              <a:buFontTx/>
              <a:defRPr/>
            </a:pPr>
            <a:r>
              <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基础</a:t>
            </a:r>
            <a:endPar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a:p>
            <a:pPr lvl="0" algn="ctr">
              <a:spcBef>
                <a:spcPts val="0"/>
              </a:spcBef>
              <a:spcAft>
                <a:spcPts val="0"/>
              </a:spcAft>
              <a:buClrTx/>
              <a:buSzTx/>
              <a:buFontTx/>
              <a:defRPr/>
            </a:pPr>
            <a:r>
              <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rPr>
              <a:t>数据</a:t>
            </a:r>
            <a:endParaRPr lang="en-US" altLang="zh-CN" sz="700" b="1" kern="10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140" name="矩形 1139"/>
          <p:cNvSpPr/>
          <p:nvPr/>
        </p:nvSpPr>
        <p:spPr bwMode="auto">
          <a:xfrm>
            <a:off x="2486025" y="6510020"/>
            <a:ext cx="4140200" cy="271780"/>
          </a:xfrm>
          <a:prstGeom prst="rect">
            <a:avLst/>
          </a:prstGeom>
          <a:noFill/>
          <a:ln w="28575" cap="flat" cmpd="sng" algn="ctr">
            <a:solidFill>
              <a:srgbClr val="7E0000"/>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endParaRPr lang="zh-CN" altLang="en-US" sz="500" kern="0" noProof="0" dirty="0">
              <a:ln>
                <a:noFill/>
              </a:ln>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141" name="矩形 1140"/>
          <p:cNvSpPr/>
          <p:nvPr/>
        </p:nvSpPr>
        <p:spPr bwMode="auto">
          <a:xfrm>
            <a:off x="6955155" y="6510020"/>
            <a:ext cx="4111625" cy="271780"/>
          </a:xfrm>
          <a:prstGeom prst="rect">
            <a:avLst/>
          </a:prstGeom>
          <a:noFill/>
          <a:ln w="28575" cap="flat" cmpd="sng" algn="ctr">
            <a:solidFill>
              <a:srgbClr val="7E0000"/>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endParaRPr lang="zh-CN" altLang="en-US" sz="500" kern="0" noProof="0" dirty="0">
              <a:ln>
                <a:noFill/>
              </a:ln>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142" name="矩形 1141"/>
          <p:cNvSpPr/>
          <p:nvPr/>
        </p:nvSpPr>
        <p:spPr bwMode="auto">
          <a:xfrm>
            <a:off x="1849120" y="5204460"/>
            <a:ext cx="9217660" cy="542925"/>
          </a:xfrm>
          <a:prstGeom prst="rect">
            <a:avLst/>
          </a:prstGeom>
          <a:noFill/>
          <a:ln w="28575" cap="flat" cmpd="sng" algn="ctr">
            <a:solidFill>
              <a:srgbClr val="7E0000"/>
            </a:solidFill>
            <a:prstDash val="solid"/>
            <a:miter lim="800000"/>
          </a:ln>
          <a:effectLst/>
        </p:spPr>
        <p:txBody>
          <a:bodyPr vertOverflow="overflow" horzOverflow="overflow" vert="vert270" wrap="square" lIns="0" tIns="0" rIns="0" bIns="0" numCol="1" spcCol="0" rtlCol="0" fromWordArt="0" anchor="ctr" anchorCtr="0" forceAA="0" compatLnSpc="1">
            <a:noAutofit/>
          </a:bodyPr>
          <a:lstStyle/>
          <a:p>
            <a:pPr lvl="0" algn="ctr">
              <a:lnSpc>
                <a:spcPts val="500"/>
              </a:lnSpc>
              <a:spcBef>
                <a:spcPts val="0"/>
              </a:spcBef>
              <a:spcAft>
                <a:spcPts val="0"/>
              </a:spcAft>
              <a:buClrTx/>
              <a:buSzTx/>
              <a:buFontTx/>
              <a:defRPr/>
            </a:pPr>
            <a:endParaRPr lang="zh-CN" altLang="en-US" sz="500" kern="0" noProof="0" dirty="0">
              <a:ln>
                <a:noFill/>
              </a:ln>
              <a:effectLst/>
              <a:uLnTx/>
              <a:uFillTx/>
              <a:latin typeface="微软雅黑" panose="020B0503020204020204" charset="-122"/>
              <a:ea typeface="微软雅黑" panose="020B0503020204020204" charset="-122"/>
              <a:cs typeface="Times New Roman" panose="02020603050405020304" charset="0"/>
              <a:sym typeface="+mn-ea"/>
            </a:endParaRPr>
          </a:p>
        </p:txBody>
      </p:sp>
      <p:sp>
        <p:nvSpPr>
          <p:cNvPr id="1143" name="矩形 1142"/>
          <p:cNvSpPr/>
          <p:nvPr>
            <p:custDataLst>
              <p:tags r:id="rId46"/>
            </p:custDataLst>
          </p:nvPr>
        </p:nvSpPr>
        <p:spPr>
          <a:xfrm>
            <a:off x="2364423" y="-1905"/>
            <a:ext cx="7463155" cy="470535"/>
          </a:xfrm>
          <a:prstGeom prst="rect">
            <a:avLst/>
          </a:prstGeom>
          <a:noFill/>
          <a:ln w="12700" cap="flat" cmpd="sng" algn="ctr">
            <a:noFill/>
            <a:prstDash val="solid"/>
            <a:miter lim="800000"/>
          </a:ln>
          <a:effectLst/>
        </p:spPr>
        <p:txBody>
          <a:bodyPr wrap="square" rtlCol="0" anchor="ctr">
            <a:noAutofit/>
          </a:bodyPr>
          <a:p>
            <a:pPr lvl="0" algn="ctr" defTabSz="914400">
              <a:buClrTx/>
              <a:buSzTx/>
              <a:buFontTx/>
              <a:defRPr/>
            </a:pPr>
            <a:r>
              <a:rPr lang="en-US" altLang="zh-CN" sz="2135" b="1" kern="0" dirty="0">
                <a:solidFill>
                  <a:schemeClr val="bg1"/>
                </a:solidFill>
                <a:latin typeface="微软雅黑" panose="020B0503020204020204" charset="-122"/>
                <a:ea typeface="微软雅黑" panose="020B0503020204020204" charset="-122"/>
                <a:cs typeface="微软雅黑" panose="020B0503020204020204" charset="-122"/>
                <a:sym typeface="+mn-ea"/>
              </a:rPr>
              <a:t>AI</a:t>
            </a:r>
            <a:r>
              <a:rPr lang="zh-CN" altLang="en-US" sz="2135" b="1" kern="0" dirty="0">
                <a:solidFill>
                  <a:schemeClr val="bg1"/>
                </a:solidFill>
                <a:latin typeface="微软雅黑" panose="020B0503020204020204" charset="-122"/>
                <a:ea typeface="微软雅黑" panose="020B0503020204020204" charset="-122"/>
                <a:cs typeface="微软雅黑" panose="020B0503020204020204" charset="-122"/>
                <a:sym typeface="+mn-ea"/>
              </a:rPr>
              <a:t>赋能迭代</a:t>
            </a:r>
            <a:r>
              <a:rPr lang="en-US" altLang="zh-CN" sz="2135" b="1" kern="0" dirty="0">
                <a:solidFill>
                  <a:schemeClr val="bg1"/>
                </a:solidFill>
                <a:latin typeface="微软雅黑" panose="020B0503020204020204" charset="-122"/>
                <a:ea typeface="微软雅黑" panose="020B0503020204020204" charset="-122"/>
                <a:cs typeface="微软雅黑" panose="020B0503020204020204" charset="-122"/>
                <a:sym typeface="+mn-ea"/>
              </a:rPr>
              <a:t>“1361”</a:t>
            </a:r>
            <a:r>
              <a:rPr lang="zh-CN" altLang="en-US" sz="2135" b="1" kern="0" dirty="0">
                <a:solidFill>
                  <a:schemeClr val="bg1"/>
                </a:solidFill>
                <a:latin typeface="微软雅黑" panose="020B0503020204020204" charset="-122"/>
                <a:ea typeface="微软雅黑" panose="020B0503020204020204" charset="-122"/>
                <a:cs typeface="微软雅黑" panose="020B0503020204020204" charset="-122"/>
                <a:sym typeface="+mn-ea"/>
              </a:rPr>
              <a:t>体系构架</a:t>
            </a:r>
            <a:endParaRPr lang="zh-CN" altLang="en-US" sz="2135" b="1" kern="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144" name="圆角矩形 234"/>
          <p:cNvSpPr/>
          <p:nvPr/>
        </p:nvSpPr>
        <p:spPr bwMode="auto">
          <a:xfrm>
            <a:off x="1512570" y="2804795"/>
            <a:ext cx="9558020" cy="676910"/>
          </a:xfrm>
          <a:prstGeom prst="roundRect">
            <a:avLst>
              <a:gd name="adj" fmla="val 2331"/>
            </a:avLst>
          </a:prstGeom>
          <a:noFill/>
          <a:ln w="28575" cap="flat" cmpd="sng" algn="ctr">
            <a:solidFill>
              <a:srgbClr val="7E0000"/>
            </a:solidFill>
            <a:prstDash val="solid"/>
            <a:miter lim="800000"/>
          </a:ln>
          <a:effectLst/>
        </p:spPr>
        <p:txBody>
          <a:bodyPr vertOverflow="overflow" horzOverflow="overflow" vert="vert270" wrap="square" lIns="0" tIns="0" rIns="0" bIns="0" numCol="1" spcCol="0" rtlCol="0" fromWordArt="0" anchor="ctr" anchorCtr="0" forceAA="0" compatLnSpc="1">
            <a:noAutofit/>
          </a:bodyPr>
          <a:p>
            <a:pPr lvl="0" algn="ctr">
              <a:lnSpc>
                <a:spcPts val="500"/>
              </a:lnSpc>
              <a:spcBef>
                <a:spcPts val="0"/>
              </a:spcBef>
              <a:spcAft>
                <a:spcPts val="0"/>
              </a:spcAft>
              <a:buClrTx/>
              <a:buSzTx/>
              <a:buFontTx/>
              <a:defRPr/>
            </a:pPr>
            <a:endParaRPr lang="zh-CN" altLang="en-US" sz="500" kern="0" noProof="0" dirty="0">
              <a:ln>
                <a:noFill/>
              </a:ln>
              <a:effectLst/>
              <a:uLnTx/>
              <a:uFillTx/>
              <a:latin typeface="微软雅黑" panose="020B0503020204020204" charset="-122"/>
              <a:ea typeface="微软雅黑" panose="020B0503020204020204" charset="-122"/>
              <a:cs typeface="Times New Roman" panose="02020603050405020304" charset="0"/>
              <a:sym typeface="Calibri" panose="020F0502020204030204" charset="0"/>
            </a:endParaRPr>
          </a:p>
        </p:txBody>
      </p:sp>
    </p:spTree>
    <p:custDataLst>
      <p:tags r:id="rId47"/>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336803" y="144012"/>
            <a:ext cx="8493516" cy="521970"/>
          </a:xfrm>
          <a:prstGeom prst="rect">
            <a:avLst/>
          </a:prstGeom>
        </p:spPr>
        <p:txBody>
          <a:bodyPr wrap="square">
            <a:spAutoFit/>
          </a:bodyPr>
          <a:p>
            <a:r>
              <a:rPr lang="zh-CN" altLang="en-US" sz="2795" b="1" dirty="0">
                <a:solidFill>
                  <a:srgbClr val="00A6C7"/>
                </a:solidFill>
                <a:latin typeface="+mn-ea"/>
                <a:ea typeface="微软雅黑" panose="020B0503020204020204" charset="-122"/>
                <a:cs typeface="微软雅黑" panose="020B0503020204020204" charset="-122"/>
                <a:sym typeface="+mn-ea"/>
              </a:rPr>
              <a:t>数字重庆</a:t>
            </a:r>
            <a:r>
              <a:rPr lang="en-US" sz="2795" b="1" dirty="0">
                <a:solidFill>
                  <a:srgbClr val="00A6C7"/>
                </a:solidFill>
                <a:latin typeface="+mn-ea"/>
                <a:ea typeface="微软雅黑" panose="020B0503020204020204" charset="-122"/>
                <a:cs typeface="微软雅黑" panose="020B0503020204020204" charset="-122"/>
                <a:sym typeface="+mn-ea"/>
              </a:rPr>
              <a:t>AI</a:t>
            </a:r>
            <a:r>
              <a:rPr lang="zh-CN" altLang="en-US" sz="2795" b="1" dirty="0">
                <a:solidFill>
                  <a:srgbClr val="00A6C7"/>
                </a:solidFill>
                <a:latin typeface="+mn-ea"/>
                <a:ea typeface="微软雅黑" panose="020B0503020204020204" charset="-122"/>
                <a:cs typeface="微软雅黑" panose="020B0503020204020204" charset="-122"/>
                <a:sym typeface="+mn-ea"/>
              </a:rPr>
              <a:t>底座主要组成</a:t>
            </a:r>
            <a:endParaRPr lang="zh-CN" altLang="en-US" sz="2795" b="1" dirty="0">
              <a:solidFill>
                <a:srgbClr val="00A6C7"/>
              </a:solidFill>
              <a:latin typeface="+mn-ea"/>
              <a:ea typeface="微软雅黑" panose="020B0503020204020204" charset="-122"/>
              <a:cs typeface="微软雅黑" panose="020B0503020204020204" charset="-122"/>
              <a:sym typeface="+mn-ea"/>
            </a:endParaRPr>
          </a:p>
        </p:txBody>
      </p:sp>
      <p:sp>
        <p:nvSpPr>
          <p:cNvPr id="94" name="文本框 93"/>
          <p:cNvSpPr txBox="1"/>
          <p:nvPr/>
        </p:nvSpPr>
        <p:spPr>
          <a:xfrm>
            <a:off x="389890" y="824865"/>
            <a:ext cx="11252200" cy="737235"/>
          </a:xfrm>
          <a:prstGeom prst="rect">
            <a:avLst/>
          </a:prstGeom>
          <a:noFill/>
        </p:spPr>
        <p:txBody>
          <a:bodyPr wrap="square" rtlCol="0" anchor="t">
            <a:spAutoFit/>
          </a:bodyPr>
          <a:p>
            <a:pPr>
              <a:lnSpc>
                <a:spcPct val="150000"/>
              </a:lnSpc>
            </a:pPr>
            <a:r>
              <a:rPr lang="zh-CN" altLang="en-US" sz="1400">
                <a:solidFill>
                  <a:srgbClr val="00A6C7"/>
                </a:solidFill>
                <a:sym typeface="+mn-ea"/>
              </a:rPr>
              <a:t>打造全市统一的</a:t>
            </a:r>
            <a:r>
              <a:rPr sz="1400" b="1"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sym typeface="+mn-ea"/>
              </a:rPr>
              <a:t>数字重庆AI底座</a:t>
            </a:r>
            <a:r>
              <a:rPr lang="zh-CN" altLang="en-US" sz="1400">
                <a:solidFill>
                  <a:srgbClr val="00A6C7"/>
                </a:solidFill>
                <a:sym typeface="+mn-ea"/>
              </a:rPr>
              <a:t>，</a:t>
            </a:r>
            <a:r>
              <a:rPr lang="zh-CN" altLang="en-US" sz="1400">
                <a:solidFill>
                  <a:srgbClr val="00A6C7"/>
                </a:solidFill>
                <a:sym typeface="+mn-ea"/>
              </a:rPr>
              <a:t>一体化建设人工智能多源异构算力基础设施体系，数据资源体系，大模型、智能体等能力组件体系，实现底座</a:t>
            </a:r>
            <a:r>
              <a:rPr sz="1400" b="1" noProof="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sym typeface="+mn-ea"/>
              </a:rPr>
              <a:t>系统集约化、模型集约化、算力集约化、数据集约化</a:t>
            </a:r>
            <a:r>
              <a:rPr lang="zh-CN" altLang="en-US" sz="1400">
                <a:solidFill>
                  <a:srgbClr val="00A6C7"/>
                </a:solidFill>
                <a:sym typeface="+mn-ea"/>
              </a:rPr>
              <a:t>。</a:t>
            </a:r>
            <a:endParaRPr lang="zh-CN" altLang="en-US" sz="1400">
              <a:solidFill>
                <a:srgbClr val="00A6C7"/>
              </a:solidFill>
              <a:sym typeface="+mn-ea"/>
            </a:endParaRPr>
          </a:p>
        </p:txBody>
      </p:sp>
      <p:sp>
        <p:nvSpPr>
          <p:cNvPr id="115" name="圆角矩形 114"/>
          <p:cNvSpPr/>
          <p:nvPr/>
        </p:nvSpPr>
        <p:spPr>
          <a:xfrm>
            <a:off x="227965" y="5565140"/>
            <a:ext cx="1000125" cy="386715"/>
          </a:xfrm>
          <a:prstGeom prst="roundRect">
            <a:avLst>
              <a:gd name="adj" fmla="val 5000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rPr>
              <a:t>疆算入渝</a:t>
            </a:r>
            <a:endParaRPr lang="zh-CN" altLang="en-US" sz="1000">
              <a:solidFill>
                <a:schemeClr val="tx1"/>
              </a:solidFill>
            </a:endParaRPr>
          </a:p>
        </p:txBody>
      </p:sp>
      <p:sp>
        <p:nvSpPr>
          <p:cNvPr id="116" name="圆角矩形 115"/>
          <p:cNvSpPr/>
          <p:nvPr/>
        </p:nvSpPr>
        <p:spPr>
          <a:xfrm>
            <a:off x="1209040" y="5565140"/>
            <a:ext cx="999490" cy="386715"/>
          </a:xfrm>
          <a:prstGeom prst="roundRect">
            <a:avLst>
              <a:gd name="adj" fmla="val 5000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rPr>
              <a:t>政务专区</a:t>
            </a:r>
            <a:endParaRPr lang="zh-CN" altLang="en-US" sz="1000">
              <a:solidFill>
                <a:schemeClr val="tx1"/>
              </a:solidFill>
            </a:endParaRPr>
          </a:p>
        </p:txBody>
      </p:sp>
      <p:sp>
        <p:nvSpPr>
          <p:cNvPr id="117" name="圆角矩形 116"/>
          <p:cNvSpPr/>
          <p:nvPr/>
        </p:nvSpPr>
        <p:spPr>
          <a:xfrm>
            <a:off x="2189480" y="5565140"/>
            <a:ext cx="999490" cy="386715"/>
          </a:xfrm>
          <a:prstGeom prst="roundRect">
            <a:avLst>
              <a:gd name="adj" fmla="val 5000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rPr>
              <a:t>本地算力</a:t>
            </a:r>
            <a:endParaRPr lang="zh-CN" altLang="en-US" sz="1000">
              <a:solidFill>
                <a:schemeClr val="tx1"/>
              </a:solidFill>
            </a:endParaRPr>
          </a:p>
        </p:txBody>
      </p:sp>
      <p:sp>
        <p:nvSpPr>
          <p:cNvPr id="118" name="圆角矩形 117"/>
          <p:cNvSpPr/>
          <p:nvPr/>
        </p:nvSpPr>
        <p:spPr>
          <a:xfrm>
            <a:off x="3747770" y="5951855"/>
            <a:ext cx="1000125" cy="386715"/>
          </a:xfrm>
          <a:prstGeom prst="roundRect">
            <a:avLst>
              <a:gd name="adj" fmla="val 5000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000">
                <a:solidFill>
                  <a:schemeClr val="tx1"/>
                </a:solidFill>
              </a:rPr>
              <a:t>语料管理库</a:t>
            </a:r>
            <a:endParaRPr lang="zh-CN" sz="1000">
              <a:solidFill>
                <a:schemeClr val="tx1"/>
              </a:solidFill>
            </a:endParaRPr>
          </a:p>
        </p:txBody>
      </p:sp>
      <p:sp>
        <p:nvSpPr>
          <p:cNvPr id="119" name="圆角矩形 118"/>
          <p:cNvSpPr/>
          <p:nvPr/>
        </p:nvSpPr>
        <p:spPr>
          <a:xfrm>
            <a:off x="4838700" y="5951855"/>
            <a:ext cx="999490" cy="386715"/>
          </a:xfrm>
          <a:prstGeom prst="roundRect">
            <a:avLst>
              <a:gd name="adj" fmla="val 5000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000">
                <a:solidFill>
                  <a:schemeClr val="tx1"/>
                </a:solidFill>
              </a:rPr>
              <a:t>知识管理库</a:t>
            </a:r>
            <a:endParaRPr lang="zh-CN" sz="1000">
              <a:solidFill>
                <a:schemeClr val="tx1"/>
              </a:solidFill>
            </a:endParaRPr>
          </a:p>
        </p:txBody>
      </p:sp>
      <p:sp>
        <p:nvSpPr>
          <p:cNvPr id="125" name="圆角矩形 124"/>
          <p:cNvSpPr/>
          <p:nvPr/>
        </p:nvSpPr>
        <p:spPr>
          <a:xfrm>
            <a:off x="8919845" y="5565140"/>
            <a:ext cx="1000125" cy="386715"/>
          </a:xfrm>
          <a:prstGeom prst="roundRect">
            <a:avLst>
              <a:gd name="adj" fmla="val 5000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rPr>
              <a:t>全生命周期管理</a:t>
            </a:r>
            <a:endParaRPr lang="zh-CN" altLang="en-US" sz="1000">
              <a:solidFill>
                <a:schemeClr val="tx1"/>
              </a:solidFill>
            </a:endParaRPr>
          </a:p>
        </p:txBody>
      </p:sp>
      <p:sp>
        <p:nvSpPr>
          <p:cNvPr id="126" name="圆角矩形 125"/>
          <p:cNvSpPr/>
          <p:nvPr/>
        </p:nvSpPr>
        <p:spPr>
          <a:xfrm>
            <a:off x="9900920" y="5565140"/>
            <a:ext cx="999490" cy="386715"/>
          </a:xfrm>
          <a:prstGeom prst="roundRect">
            <a:avLst>
              <a:gd name="adj" fmla="val 5000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zh-CN" altLang="en-US" sz="1000">
                <a:solidFill>
                  <a:schemeClr val="tx1"/>
                </a:solidFill>
              </a:rPr>
              <a:t>工具插件</a:t>
            </a:r>
            <a:endParaRPr lang="zh-CN" altLang="en-US" sz="1000">
              <a:solidFill>
                <a:schemeClr val="tx1"/>
              </a:solidFill>
            </a:endParaRPr>
          </a:p>
          <a:p>
            <a:pPr algn="ctr">
              <a:buClrTx/>
              <a:buSzTx/>
              <a:buFontTx/>
            </a:pPr>
            <a:r>
              <a:rPr lang="zh-CN" altLang="en-US" sz="1000">
                <a:solidFill>
                  <a:schemeClr val="tx1"/>
                </a:solidFill>
              </a:rPr>
              <a:t>丰富</a:t>
            </a:r>
            <a:endParaRPr lang="zh-CN" altLang="en-US" sz="1000">
              <a:solidFill>
                <a:schemeClr val="tx1"/>
              </a:solidFill>
            </a:endParaRPr>
          </a:p>
        </p:txBody>
      </p:sp>
      <p:sp>
        <p:nvSpPr>
          <p:cNvPr id="127" name="圆角矩形 126"/>
          <p:cNvSpPr/>
          <p:nvPr/>
        </p:nvSpPr>
        <p:spPr>
          <a:xfrm>
            <a:off x="10881360" y="5565140"/>
            <a:ext cx="999490" cy="386715"/>
          </a:xfrm>
          <a:prstGeom prst="roundRect">
            <a:avLst>
              <a:gd name="adj" fmla="val 5000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sym typeface="+mn-ea"/>
              </a:rPr>
              <a:t>智能体开发</a:t>
            </a:r>
            <a:endParaRPr lang="zh-CN" altLang="en-US" sz="1000">
              <a:solidFill>
                <a:schemeClr val="tx1"/>
              </a:solidFill>
              <a:sym typeface="+mn-ea"/>
            </a:endParaRPr>
          </a:p>
          <a:p>
            <a:pPr algn="ctr"/>
            <a:r>
              <a:rPr lang="zh-CN" altLang="en-US" sz="1000">
                <a:solidFill>
                  <a:schemeClr val="tx1"/>
                </a:solidFill>
                <a:sym typeface="+mn-ea"/>
              </a:rPr>
              <a:t>可视化</a:t>
            </a:r>
            <a:endParaRPr lang="zh-CN" altLang="en-US" sz="1000">
              <a:solidFill>
                <a:schemeClr val="tx1"/>
              </a:solidFill>
              <a:sym typeface="+mn-ea"/>
            </a:endParaRPr>
          </a:p>
        </p:txBody>
      </p:sp>
      <p:sp>
        <p:nvSpPr>
          <p:cNvPr id="128" name="圆角矩形 127"/>
          <p:cNvSpPr/>
          <p:nvPr/>
        </p:nvSpPr>
        <p:spPr>
          <a:xfrm>
            <a:off x="6503670" y="5949950"/>
            <a:ext cx="1000125" cy="386715"/>
          </a:xfrm>
          <a:prstGeom prst="roundRect">
            <a:avLst>
              <a:gd name="adj" fmla="val 5000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solidFill>
                  <a:schemeClr val="tx1"/>
                </a:solidFill>
              </a:rPr>
              <a:t>deepseek</a:t>
            </a:r>
            <a:endParaRPr lang="en-US" altLang="zh-CN" sz="1000">
              <a:solidFill>
                <a:schemeClr val="tx1"/>
              </a:solidFill>
            </a:endParaRPr>
          </a:p>
        </p:txBody>
      </p:sp>
      <p:sp>
        <p:nvSpPr>
          <p:cNvPr id="129" name="圆角矩形 128"/>
          <p:cNvSpPr/>
          <p:nvPr/>
        </p:nvSpPr>
        <p:spPr>
          <a:xfrm>
            <a:off x="7594600" y="5949950"/>
            <a:ext cx="999490" cy="386715"/>
          </a:xfrm>
          <a:prstGeom prst="roundRect">
            <a:avLst>
              <a:gd name="adj" fmla="val 5000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000">
                <a:solidFill>
                  <a:schemeClr val="tx1"/>
                </a:solidFill>
              </a:rPr>
              <a:t>通义千问</a:t>
            </a:r>
            <a:endParaRPr lang="zh-CN" sz="1000">
              <a:solidFill>
                <a:schemeClr val="tx1"/>
              </a:solidFill>
            </a:endParaRPr>
          </a:p>
        </p:txBody>
      </p:sp>
      <p:sp>
        <p:nvSpPr>
          <p:cNvPr id="314" name="矩形 313"/>
          <p:cNvSpPr/>
          <p:nvPr>
            <p:custDataLst>
              <p:tags r:id="rId2"/>
            </p:custDataLst>
          </p:nvPr>
        </p:nvSpPr>
        <p:spPr>
          <a:xfrm>
            <a:off x="9120492" y="4198730"/>
            <a:ext cx="2386785" cy="1061860"/>
          </a:xfrm>
          <a:prstGeom prst="rect">
            <a:avLst/>
          </a:prstGeom>
          <a:noFill/>
        </p:spPr>
        <p:txBody>
          <a:bodyPr wrap="square" lIns="0" tIns="0" rIns="0" bIns="0" rtlCol="0" anchor="t" anchorCtr="0">
            <a:noAutofit/>
          </a:bodyPr>
          <a:lstStyle/>
          <a:p>
            <a:pPr algn="ctr">
              <a:lnSpc>
                <a:spcPct val="130000"/>
              </a:lnSpc>
              <a:buClrTx/>
              <a:buSzTx/>
              <a:buFontTx/>
            </a:pPr>
            <a:r>
              <a:rPr lang="zh-CN" altLang="en-US" sz="1400" b="1" dirty="0">
                <a:solidFill>
                  <a:srgbClr val="00A6C7"/>
                </a:solidFill>
                <a:latin typeface="+mn-ea"/>
                <a:cs typeface="+mn-ea"/>
                <a:sym typeface="+mn-ea"/>
              </a:rPr>
              <a:t>智能体开发系统</a:t>
            </a:r>
            <a:endParaRPr lang="zh-CN" altLang="en-US" sz="1400" b="1" dirty="0">
              <a:solidFill>
                <a:srgbClr val="00A6C7"/>
              </a:solidFill>
              <a:latin typeface="+mn-ea"/>
              <a:cs typeface="+mn-ea"/>
              <a:sym typeface="+mn-ea"/>
            </a:endParaRPr>
          </a:p>
          <a:p>
            <a:pPr algn="ctr">
              <a:lnSpc>
                <a:spcPct val="130000"/>
              </a:lnSpc>
              <a:spcBef>
                <a:spcPct val="0"/>
              </a:spcBef>
              <a:spcAft>
                <a:spcPct val="0"/>
              </a:spcAft>
            </a:pPr>
            <a:r>
              <a:rPr lang="zh-CN" altLang="zh-CN" sz="1400" dirty="0">
                <a:solidFill>
                  <a:schemeClr val="tx1">
                    <a:lumMod val="85000"/>
                    <a:lumOff val="15000"/>
                  </a:schemeClr>
                </a:solidFill>
                <a:latin typeface="+mn-ea"/>
                <a:cs typeface="+mn-ea"/>
                <a:sym typeface="+mn-ea"/>
              </a:rPr>
              <a:t>提供易用的智能体开发、管理、配置等工具，实现智能体的开发部署</a:t>
            </a:r>
            <a:endParaRPr lang="zh-CN" altLang="zh-CN" sz="1400" dirty="0">
              <a:solidFill>
                <a:schemeClr val="tx1">
                  <a:lumMod val="85000"/>
                  <a:lumOff val="15000"/>
                </a:schemeClr>
              </a:solidFill>
              <a:latin typeface="+mn-ea"/>
              <a:cs typeface="+mn-ea"/>
              <a:sym typeface="+mn-ea"/>
            </a:endParaRPr>
          </a:p>
        </p:txBody>
      </p:sp>
      <p:sp>
        <p:nvSpPr>
          <p:cNvPr id="315" name="矩形 314"/>
          <p:cNvSpPr/>
          <p:nvPr>
            <p:custDataLst>
              <p:tags r:id="rId3"/>
            </p:custDataLst>
          </p:nvPr>
        </p:nvSpPr>
        <p:spPr>
          <a:xfrm>
            <a:off x="6347824" y="4661362"/>
            <a:ext cx="2386785" cy="1061860"/>
          </a:xfrm>
          <a:prstGeom prst="rect">
            <a:avLst/>
          </a:prstGeom>
          <a:noFill/>
        </p:spPr>
        <p:txBody>
          <a:bodyPr wrap="square" lIns="0" tIns="0" rIns="0" bIns="0" rtlCol="0" anchor="t" anchorCtr="0">
            <a:noAutofit/>
          </a:bodyPr>
          <a:lstStyle/>
          <a:p>
            <a:pPr algn="ctr">
              <a:lnSpc>
                <a:spcPct val="130000"/>
              </a:lnSpc>
              <a:buClrTx/>
              <a:buSzTx/>
              <a:buFontTx/>
            </a:pPr>
            <a:r>
              <a:rPr lang="zh-CN" altLang="en-US" sz="1400" b="1" dirty="0">
                <a:solidFill>
                  <a:srgbClr val="00A6C7"/>
                </a:solidFill>
                <a:latin typeface="+mn-ea"/>
                <a:cs typeface="+mn-ea"/>
                <a:sym typeface="+mn-ea"/>
              </a:rPr>
              <a:t>模型服务平台</a:t>
            </a:r>
            <a:endParaRPr lang="zh-CN" altLang="en-US" sz="1400" b="1" dirty="0">
              <a:solidFill>
                <a:srgbClr val="00A6C7"/>
              </a:solidFill>
              <a:latin typeface="+mn-ea"/>
              <a:cs typeface="+mn-ea"/>
              <a:sym typeface="+mn-ea"/>
            </a:endParaRPr>
          </a:p>
          <a:p>
            <a:pPr algn="ctr">
              <a:lnSpc>
                <a:spcPct val="130000"/>
              </a:lnSpc>
              <a:spcBef>
                <a:spcPct val="0"/>
              </a:spcBef>
              <a:spcAft>
                <a:spcPct val="0"/>
              </a:spcAft>
            </a:pPr>
            <a:r>
              <a:rPr lang="zh-CN" altLang="zh-CN" sz="1400" dirty="0">
                <a:solidFill>
                  <a:schemeClr val="tx1">
                    <a:lumMod val="85000"/>
                    <a:lumOff val="15000"/>
                  </a:schemeClr>
                </a:solidFill>
                <a:latin typeface="+mn-ea"/>
                <a:cs typeface="+mn-ea"/>
                <a:sym typeface="+mn-ea"/>
              </a:rPr>
              <a:t>提供模型训练、推理、部署的全链路功能服务，支持模型共享与发布。</a:t>
            </a:r>
            <a:endParaRPr lang="zh-CN" altLang="zh-CN" sz="1400" dirty="0">
              <a:solidFill>
                <a:schemeClr val="tx1">
                  <a:lumMod val="85000"/>
                  <a:lumOff val="15000"/>
                </a:schemeClr>
              </a:solidFill>
              <a:latin typeface="+mn-ea"/>
              <a:cs typeface="+mn-ea"/>
              <a:sym typeface="+mn-ea"/>
            </a:endParaRPr>
          </a:p>
        </p:txBody>
      </p:sp>
      <p:sp>
        <p:nvSpPr>
          <p:cNvPr id="316" name="矩形 315"/>
          <p:cNvSpPr/>
          <p:nvPr>
            <p:custDataLst>
              <p:tags r:id="rId4"/>
            </p:custDataLst>
          </p:nvPr>
        </p:nvSpPr>
        <p:spPr>
          <a:xfrm>
            <a:off x="3575156" y="4650748"/>
            <a:ext cx="2386785" cy="1061860"/>
          </a:xfrm>
          <a:prstGeom prst="rect">
            <a:avLst/>
          </a:prstGeom>
          <a:noFill/>
        </p:spPr>
        <p:txBody>
          <a:bodyPr wrap="square" lIns="0" tIns="0" rIns="0" bIns="0" rtlCol="0" anchor="t" anchorCtr="0">
            <a:noAutofit/>
          </a:bodyPr>
          <a:lstStyle/>
          <a:p>
            <a:pPr algn="ctr">
              <a:lnSpc>
                <a:spcPct val="130000"/>
              </a:lnSpc>
              <a:buClrTx/>
              <a:buSzTx/>
              <a:buFontTx/>
            </a:pPr>
            <a:r>
              <a:rPr lang="zh-CN" altLang="en-US" sz="1400" b="1" dirty="0">
                <a:solidFill>
                  <a:srgbClr val="00A6C7"/>
                </a:solidFill>
                <a:latin typeface="+mn-ea"/>
                <a:cs typeface="+mn-ea"/>
                <a:sym typeface="+mn-ea"/>
              </a:rPr>
              <a:t>知识语料管理系统</a:t>
            </a:r>
            <a:endParaRPr lang="zh-CN" altLang="en-US" sz="1400" b="1" dirty="0">
              <a:solidFill>
                <a:srgbClr val="00A6C7"/>
              </a:solidFill>
              <a:latin typeface="+mn-ea"/>
              <a:cs typeface="+mn-ea"/>
              <a:sym typeface="+mn-ea"/>
            </a:endParaRPr>
          </a:p>
          <a:p>
            <a:pPr algn="ctr">
              <a:lnSpc>
                <a:spcPct val="130000"/>
              </a:lnSpc>
              <a:spcBef>
                <a:spcPct val="0"/>
              </a:spcBef>
              <a:spcAft>
                <a:spcPct val="0"/>
              </a:spcAft>
            </a:pPr>
            <a:r>
              <a:rPr lang="zh-CN" altLang="zh-CN" sz="1400" dirty="0">
                <a:solidFill>
                  <a:schemeClr val="tx1">
                    <a:lumMod val="85000"/>
                    <a:lumOff val="15000"/>
                  </a:schemeClr>
                </a:solidFill>
                <a:latin typeface="+mn-ea"/>
                <a:cs typeface="+mn-ea"/>
                <a:sym typeface="+mn-ea"/>
              </a:rPr>
              <a:t>提供数据归集清洗、标注、转换等处理功能，形成模型训练使用的语料。</a:t>
            </a:r>
            <a:endParaRPr lang="zh-CN" altLang="zh-CN" sz="1400" dirty="0">
              <a:solidFill>
                <a:schemeClr val="tx1">
                  <a:lumMod val="85000"/>
                  <a:lumOff val="15000"/>
                </a:schemeClr>
              </a:solidFill>
              <a:latin typeface="+mn-ea"/>
              <a:cs typeface="+mn-ea"/>
              <a:sym typeface="+mn-ea"/>
            </a:endParaRPr>
          </a:p>
        </p:txBody>
      </p:sp>
      <p:sp>
        <p:nvSpPr>
          <p:cNvPr id="317" name="弧形 316"/>
          <p:cNvSpPr/>
          <p:nvPr>
            <p:custDataLst>
              <p:tags r:id="rId5"/>
            </p:custDataLst>
          </p:nvPr>
        </p:nvSpPr>
        <p:spPr>
          <a:xfrm rot="10800000">
            <a:off x="1406219" y="1270603"/>
            <a:ext cx="9497608" cy="3041378"/>
          </a:xfrm>
          <a:prstGeom prst="arc">
            <a:avLst>
              <a:gd name="adj1" fmla="val 9452879"/>
              <a:gd name="adj2" fmla="val 1362437"/>
            </a:avLst>
          </a:prstGeom>
          <a:noFill/>
          <a:ln w="31750">
            <a:gradFill>
              <a:gsLst>
                <a:gs pos="0">
                  <a:schemeClr val="accent5">
                    <a:alpha val="0"/>
                  </a:schemeClr>
                </a:gs>
                <a:gs pos="73000">
                  <a:schemeClr val="accent5">
                    <a:alpha val="25000"/>
                  </a:schemeClr>
                </a:gs>
                <a:gs pos="100000">
                  <a:schemeClr val="accent5">
                    <a:alpha val="40000"/>
                  </a:schemeClr>
                </a:gs>
                <a:gs pos="57000">
                  <a:schemeClr val="accent5">
                    <a:alpha val="20000"/>
                  </a:schemeClr>
                </a:gs>
                <a:gs pos="44000">
                  <a:schemeClr val="accent5">
                    <a:alpha val="5000"/>
                  </a:schemeClr>
                </a:gs>
              </a:gsLst>
              <a:lin ang="16200000" scaled="0"/>
            </a:gradFill>
          </a:ln>
          <a:effectLst>
            <a:outerShdw blurRad="901700" dist="317500" dir="2700000" algn="tl" rotWithShape="0">
              <a:schemeClr val="accent5">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318" name="矩形 317"/>
          <p:cNvSpPr/>
          <p:nvPr>
            <p:custDataLst>
              <p:tags r:id="rId6"/>
            </p:custDataLst>
          </p:nvPr>
        </p:nvSpPr>
        <p:spPr>
          <a:xfrm>
            <a:off x="759408" y="4190614"/>
            <a:ext cx="2386785" cy="1061860"/>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sz="1400" b="1" dirty="0">
                <a:solidFill>
                  <a:srgbClr val="00A6C7"/>
                </a:solidFill>
                <a:latin typeface="+mn-ea"/>
                <a:cs typeface="+mn-ea"/>
                <a:sym typeface="+mn-ea"/>
              </a:rPr>
              <a:t>算力调度系统</a:t>
            </a:r>
            <a:endParaRPr lang="en-US" altLang="zh-CN" sz="1400" b="1" dirty="0">
              <a:solidFill>
                <a:srgbClr val="00A6C7"/>
              </a:solidFill>
              <a:latin typeface="+mn-ea"/>
              <a:cs typeface="+mn-ea"/>
              <a:sym typeface="+mn-ea"/>
            </a:endParaRPr>
          </a:p>
          <a:p>
            <a:pPr algn="ctr">
              <a:lnSpc>
                <a:spcPct val="130000"/>
              </a:lnSpc>
              <a:spcBef>
                <a:spcPct val="0"/>
              </a:spcBef>
              <a:spcAft>
                <a:spcPct val="0"/>
              </a:spcAft>
            </a:pPr>
            <a:r>
              <a:rPr lang="zh-CN" altLang="zh-CN" sz="1400" dirty="0">
                <a:solidFill>
                  <a:schemeClr val="tx1">
                    <a:lumMod val="85000"/>
                    <a:lumOff val="15000"/>
                  </a:schemeClr>
                </a:solidFill>
                <a:latin typeface="+mn-ea"/>
                <a:cs typeface="+mn-ea"/>
                <a:sym typeface="+mn-ea"/>
              </a:rPr>
              <a:t>实现多源异构算力纳管、编排调度与高效利用，统一运营计量，精准计费。</a:t>
            </a:r>
            <a:endParaRPr lang="zh-CN" altLang="zh-CN" sz="1400" dirty="0">
              <a:solidFill>
                <a:schemeClr val="tx1">
                  <a:lumMod val="85000"/>
                  <a:lumOff val="15000"/>
                </a:schemeClr>
              </a:solidFill>
              <a:latin typeface="+mn-ea"/>
              <a:cs typeface="+mn-ea"/>
              <a:sym typeface="+mn-ea"/>
            </a:endParaRPr>
          </a:p>
        </p:txBody>
      </p:sp>
      <p:sp>
        <p:nvSpPr>
          <p:cNvPr id="319" name="椭圆 318"/>
          <p:cNvSpPr/>
          <p:nvPr>
            <p:custDataLst>
              <p:tags r:id="rId7"/>
            </p:custDataLst>
          </p:nvPr>
        </p:nvSpPr>
        <p:spPr>
          <a:xfrm>
            <a:off x="7227510" y="3876574"/>
            <a:ext cx="628014" cy="628014"/>
          </a:xfrm>
          <a:prstGeom prst="ellipse">
            <a:avLst/>
          </a:prstGeom>
          <a:gradFill>
            <a:gsLst>
              <a:gs pos="1000">
                <a:schemeClr val="accent5">
                  <a:lumMod val="90000"/>
                  <a:lumOff val="10000"/>
                  <a:alpha val="100000"/>
                </a:schemeClr>
              </a:gs>
              <a:gs pos="86000">
                <a:schemeClr val="accent5">
                  <a:lumMod val="30000"/>
                  <a:lumOff val="70000"/>
                  <a:alpha val="100000"/>
                </a:schemeClr>
              </a:gs>
            </a:gsLst>
            <a:lin ang="16200000" scaled="0"/>
          </a:gradFill>
          <a:ln>
            <a:noFill/>
          </a:ln>
          <a:effectLst>
            <a:outerShdw blurRad="127000" dir="5400000" sx="90000" sy="-19000"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400" b="1">
              <a:solidFill>
                <a:schemeClr val="lt1"/>
              </a:solidFill>
              <a:latin typeface="+mn-ea"/>
              <a:sym typeface="+mn-ea"/>
            </a:endParaRPr>
          </a:p>
        </p:txBody>
      </p:sp>
      <p:sp>
        <p:nvSpPr>
          <p:cNvPr id="320" name="椭圆 319"/>
          <p:cNvSpPr/>
          <p:nvPr>
            <p:custDataLst>
              <p:tags r:id="rId8"/>
            </p:custDataLst>
          </p:nvPr>
        </p:nvSpPr>
        <p:spPr>
          <a:xfrm>
            <a:off x="4454842" y="3876574"/>
            <a:ext cx="628014" cy="628014"/>
          </a:xfrm>
          <a:prstGeom prst="ellipse">
            <a:avLst/>
          </a:prstGeom>
          <a:gradFill>
            <a:gsLst>
              <a:gs pos="1000">
                <a:schemeClr val="accent5">
                  <a:lumMod val="90000"/>
                  <a:lumOff val="10000"/>
                  <a:alpha val="100000"/>
                </a:schemeClr>
              </a:gs>
              <a:gs pos="86000">
                <a:schemeClr val="accent5">
                  <a:lumMod val="30000"/>
                  <a:lumOff val="70000"/>
                  <a:alpha val="100000"/>
                </a:schemeClr>
              </a:gs>
            </a:gsLst>
            <a:lin ang="16200000" scaled="0"/>
          </a:gradFill>
          <a:ln>
            <a:noFill/>
          </a:ln>
          <a:effectLst>
            <a:outerShdw blurRad="127000" dir="5400000" sx="90000" sy="-19000"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321" name="椭圆 320"/>
          <p:cNvSpPr/>
          <p:nvPr>
            <p:custDataLst>
              <p:tags r:id="rId9"/>
            </p:custDataLst>
          </p:nvPr>
        </p:nvSpPr>
        <p:spPr>
          <a:xfrm>
            <a:off x="1682174" y="3164209"/>
            <a:ext cx="628014" cy="628014"/>
          </a:xfrm>
          <a:prstGeom prst="ellipse">
            <a:avLst/>
          </a:prstGeom>
          <a:gradFill>
            <a:gsLst>
              <a:gs pos="1000">
                <a:schemeClr val="accent5">
                  <a:lumMod val="90000"/>
                  <a:lumOff val="10000"/>
                  <a:alpha val="100000"/>
                </a:schemeClr>
              </a:gs>
              <a:gs pos="86000">
                <a:schemeClr val="accent5">
                  <a:lumMod val="30000"/>
                  <a:lumOff val="70000"/>
                  <a:alpha val="100000"/>
                </a:schemeClr>
              </a:gs>
            </a:gsLst>
            <a:lin ang="16200000" scaled="0"/>
          </a:gradFill>
          <a:ln>
            <a:noFill/>
          </a:ln>
          <a:effectLst>
            <a:outerShdw blurRad="127000" dir="5400000" sx="90000" sy="-19000"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400" b="1">
              <a:solidFill>
                <a:schemeClr val="lt1"/>
              </a:solidFill>
              <a:latin typeface="+mn-ea"/>
              <a:sym typeface="+mn-ea"/>
            </a:endParaRPr>
          </a:p>
        </p:txBody>
      </p:sp>
      <p:sp>
        <p:nvSpPr>
          <p:cNvPr id="322" name="椭圆 321"/>
          <p:cNvSpPr/>
          <p:nvPr>
            <p:custDataLst>
              <p:tags r:id="rId10"/>
            </p:custDataLst>
          </p:nvPr>
        </p:nvSpPr>
        <p:spPr>
          <a:xfrm>
            <a:off x="10000178" y="3164209"/>
            <a:ext cx="628014" cy="628014"/>
          </a:xfrm>
          <a:prstGeom prst="ellipse">
            <a:avLst/>
          </a:prstGeom>
          <a:gradFill>
            <a:gsLst>
              <a:gs pos="1000">
                <a:schemeClr val="accent5">
                  <a:lumMod val="90000"/>
                  <a:lumOff val="10000"/>
                  <a:alpha val="100000"/>
                </a:schemeClr>
              </a:gs>
              <a:gs pos="86000">
                <a:schemeClr val="accent5">
                  <a:lumMod val="30000"/>
                  <a:lumOff val="70000"/>
                  <a:alpha val="100000"/>
                </a:schemeClr>
              </a:gs>
            </a:gsLst>
            <a:lin ang="16200000" scaled="0"/>
          </a:gradFill>
          <a:ln>
            <a:noFill/>
          </a:ln>
          <a:effectLst>
            <a:outerShdw blurRad="127000" dir="5400000" sx="90000" sy="-19000"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400" b="1">
              <a:solidFill>
                <a:schemeClr val="lt1"/>
              </a:solidFill>
              <a:latin typeface="+mn-ea"/>
              <a:sym typeface="+mn-ea"/>
            </a:endParaRPr>
          </a:p>
        </p:txBody>
      </p:sp>
      <p:pic>
        <p:nvPicPr>
          <p:cNvPr id="323" name="图片 5" descr="C:\Users\Administrator\AppData\Roaming\Kingsoft\office6\templates\download\kaiwpp\icon21579735WPSMBID21579735"/>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rcRect/>
          <a:stretch>
            <a:fillRect/>
          </a:stretch>
        </p:blipFill>
        <p:spPr>
          <a:xfrm>
            <a:off x="1865159" y="3347763"/>
            <a:ext cx="260985" cy="261095"/>
          </a:xfrm>
          <a:prstGeom prst="rect">
            <a:avLst/>
          </a:prstGeom>
        </p:spPr>
      </p:pic>
      <p:pic>
        <p:nvPicPr>
          <p:cNvPr id="324" name="图片 12" descr="C:\Users\Administrator\AppData\Roaming\Kingsoft\office6\templates\download\kaiwpp\icon50027737VCG41N118091954080098"/>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rcRect/>
          <a:stretch>
            <a:fillRect/>
          </a:stretch>
        </p:blipFill>
        <p:spPr>
          <a:xfrm>
            <a:off x="7412601" y="4061377"/>
            <a:ext cx="257810" cy="258386"/>
          </a:xfrm>
          <a:prstGeom prst="rect">
            <a:avLst/>
          </a:prstGeom>
        </p:spPr>
      </p:pic>
      <p:pic>
        <p:nvPicPr>
          <p:cNvPr id="325" name="图片 15" descr="C:\Users\Administrator\AppData\Roaming\Kingsoft\office6\templates\download\kaiwpp\icon4632372WPSMBID4632372"/>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a:stretch>
            <a:fillRect/>
          </a:stretch>
        </p:blipFill>
        <p:spPr>
          <a:xfrm>
            <a:off x="4654111" y="4075737"/>
            <a:ext cx="229235" cy="229448"/>
          </a:xfrm>
          <a:prstGeom prst="rect">
            <a:avLst/>
          </a:prstGeom>
        </p:spPr>
      </p:pic>
      <p:pic>
        <p:nvPicPr>
          <p:cNvPr id="326" name="图片 19" descr="C:\Users\Administrator\AppData\Roaming\Kingsoft\office6\templates\download\kaiwpp\icon20281290WPSMBID20281290"/>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rcRect/>
          <a:stretch>
            <a:fillRect/>
          </a:stretch>
        </p:blipFill>
        <p:spPr>
          <a:xfrm>
            <a:off x="10198952" y="3363371"/>
            <a:ext cx="226060" cy="226530"/>
          </a:xfrm>
          <a:prstGeom prst="rect">
            <a:avLst/>
          </a:prstGeom>
        </p:spPr>
      </p:pic>
      <p:sp>
        <p:nvSpPr>
          <p:cNvPr id="327" name="椭圆 326"/>
          <p:cNvSpPr/>
          <p:nvPr>
            <p:custDataLst>
              <p:tags r:id="rId23"/>
            </p:custDataLst>
          </p:nvPr>
        </p:nvSpPr>
        <p:spPr>
          <a:xfrm>
            <a:off x="4381171" y="2182131"/>
            <a:ext cx="3528120" cy="1097467"/>
          </a:xfrm>
          <a:prstGeom prst="ellipse">
            <a:avLst/>
          </a:prstGeom>
          <a:gradFill>
            <a:gsLst>
              <a:gs pos="4000">
                <a:schemeClr val="accent5">
                  <a:lumMod val="60000"/>
                  <a:lumOff val="40000"/>
                  <a:alpha val="100000"/>
                </a:schemeClr>
              </a:gs>
              <a:gs pos="45000">
                <a:schemeClr val="bg1">
                  <a:lumMod val="98000"/>
                  <a:alpha val="25000"/>
                </a:schemeClr>
              </a:gs>
              <a:gs pos="100000">
                <a:schemeClr val="accent5">
                  <a:lumMod val="60000"/>
                  <a:lumOff val="40000"/>
                  <a:alpha val="100000"/>
                </a:schemeClr>
              </a:gs>
            </a:gsLst>
            <a:lin ang="16800000" scaled="0"/>
          </a:gradFill>
          <a:ln w="12700">
            <a:gradFill>
              <a:gsLst>
                <a:gs pos="0">
                  <a:schemeClr val="accent5">
                    <a:alpha val="0"/>
                  </a:schemeClr>
                </a:gs>
                <a:gs pos="73000">
                  <a:schemeClr val="accent5">
                    <a:alpha val="50000"/>
                  </a:schemeClr>
                </a:gs>
                <a:gs pos="100000">
                  <a:schemeClr val="accent5">
                    <a:alpha val="40000"/>
                  </a:schemeClr>
                </a:gs>
                <a:gs pos="57000">
                  <a:schemeClr val="accent5">
                    <a:alpha val="20000"/>
                  </a:schemeClr>
                </a:gs>
                <a:gs pos="44000">
                  <a:schemeClr val="accent5">
                    <a:alpha val="0"/>
                  </a:schemeClr>
                </a:gs>
              </a:gsLst>
              <a:lin ang="5760000" scaled="0"/>
            </a:gradFill>
          </a:ln>
          <a:effectLst>
            <a:outerShdw blurRad="901700" dist="317500" dir="2700000" algn="tl" rotWithShape="0">
              <a:schemeClr val="accent5">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328" name="弧形 327"/>
          <p:cNvSpPr/>
          <p:nvPr>
            <p:custDataLst>
              <p:tags r:id="rId24"/>
            </p:custDataLst>
          </p:nvPr>
        </p:nvSpPr>
        <p:spPr>
          <a:xfrm rot="10800000">
            <a:off x="3854857" y="2130936"/>
            <a:ext cx="4578138" cy="1466351"/>
          </a:xfrm>
          <a:prstGeom prst="arc">
            <a:avLst>
              <a:gd name="adj1" fmla="val 9688906"/>
              <a:gd name="adj2" fmla="val 1102107"/>
            </a:avLst>
          </a:prstGeom>
          <a:ln w="1905">
            <a:gradFill>
              <a:gsLst>
                <a:gs pos="100000">
                  <a:schemeClr val="accent5">
                    <a:alpha val="0"/>
                  </a:schemeClr>
                </a:gs>
                <a:gs pos="20000">
                  <a:schemeClr val="accent5">
                    <a:alpha val="41000"/>
                  </a:schemeClr>
                </a:gs>
                <a:gs pos="0">
                  <a:schemeClr val="accent5">
                    <a:alpha val="65000"/>
                  </a:schemeClr>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latin typeface="+mn-ea"/>
            </a:endParaRPr>
          </a:p>
        </p:txBody>
      </p:sp>
      <p:sp>
        <p:nvSpPr>
          <p:cNvPr id="329" name="任意多边形 15"/>
          <p:cNvSpPr/>
          <p:nvPr>
            <p:custDataLst>
              <p:tags r:id="rId25"/>
            </p:custDataLst>
          </p:nvPr>
        </p:nvSpPr>
        <p:spPr>
          <a:xfrm>
            <a:off x="4830692" y="2172766"/>
            <a:ext cx="2627237" cy="40638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433" h="531">
                <a:moveTo>
                  <a:pt x="1716" y="0"/>
                </a:moveTo>
                <a:cubicBezTo>
                  <a:pt x="2424" y="0"/>
                  <a:pt x="3048" y="102"/>
                  <a:pt x="3416" y="258"/>
                </a:cubicBezTo>
                <a:lnTo>
                  <a:pt x="3433" y="266"/>
                </a:lnTo>
                <a:lnTo>
                  <a:pt x="3416" y="273"/>
                </a:lnTo>
                <a:cubicBezTo>
                  <a:pt x="3048" y="429"/>
                  <a:pt x="2424" y="531"/>
                  <a:pt x="1716" y="531"/>
                </a:cubicBezTo>
                <a:cubicBezTo>
                  <a:pt x="1009" y="531"/>
                  <a:pt x="385" y="429"/>
                  <a:pt x="17" y="273"/>
                </a:cubicBezTo>
                <a:lnTo>
                  <a:pt x="0" y="266"/>
                </a:lnTo>
                <a:lnTo>
                  <a:pt x="17" y="258"/>
                </a:lnTo>
                <a:cubicBezTo>
                  <a:pt x="385" y="102"/>
                  <a:pt x="1009" y="0"/>
                  <a:pt x="1716" y="0"/>
                </a:cubicBezTo>
                <a:close/>
              </a:path>
            </a:pathLst>
          </a:custGeom>
          <a:solidFill>
            <a:schemeClr val="accent5">
              <a:lumMod val="20000"/>
              <a:lumOff val="80000"/>
              <a:alpha val="44000"/>
            </a:schemeClr>
          </a:solidFill>
          <a:ln w="6350">
            <a:noFill/>
          </a:ln>
          <a:effectLst>
            <a:outerShdw blurRad="901700" dist="317500" dir="2700000" algn="tl" rotWithShape="0">
              <a:schemeClr val="accent5">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330" name="任意多边形 3"/>
          <p:cNvSpPr/>
          <p:nvPr>
            <p:custDataLst>
              <p:tags r:id="rId26"/>
            </p:custDataLst>
          </p:nvPr>
        </p:nvSpPr>
        <p:spPr>
          <a:xfrm>
            <a:off x="4575963" y="2131560"/>
            <a:ext cx="3137042" cy="937516"/>
          </a:xfrm>
          <a:custGeom>
            <a:avLst/>
            <a:gdLst/>
            <a:ahLst/>
            <a:cxnLst>
              <a:cxn ang="3">
                <a:pos x="hc" y="t"/>
              </a:cxn>
              <a:cxn ang="cd2">
                <a:pos x="l" y="vc"/>
              </a:cxn>
              <a:cxn ang="cd4">
                <a:pos x="hc" y="b"/>
              </a:cxn>
              <a:cxn ang="0">
                <a:pos x="r" y="vc"/>
              </a:cxn>
            </a:cxnLst>
            <a:rect l="l" t="t" r="r" b="b"/>
            <a:pathLst>
              <a:path w="4099" h="1225">
                <a:moveTo>
                  <a:pt x="0" y="0"/>
                </a:moveTo>
                <a:lnTo>
                  <a:pt x="0" y="0"/>
                </a:lnTo>
                <a:lnTo>
                  <a:pt x="1" y="15"/>
                </a:lnTo>
                <a:cubicBezTo>
                  <a:pt x="29" y="331"/>
                  <a:pt x="935" y="585"/>
                  <a:pt x="2050" y="585"/>
                </a:cubicBezTo>
                <a:cubicBezTo>
                  <a:pt x="3164" y="585"/>
                  <a:pt x="4070" y="331"/>
                  <a:pt x="4098" y="15"/>
                </a:cubicBezTo>
                <a:lnTo>
                  <a:pt x="4099" y="0"/>
                </a:lnTo>
                <a:lnTo>
                  <a:pt x="4099" y="0"/>
                </a:lnTo>
                <a:lnTo>
                  <a:pt x="4099" y="640"/>
                </a:lnTo>
                <a:lnTo>
                  <a:pt x="4099" y="642"/>
                </a:lnTo>
                <a:lnTo>
                  <a:pt x="4099" y="642"/>
                </a:lnTo>
                <a:lnTo>
                  <a:pt x="4098" y="655"/>
                </a:lnTo>
                <a:cubicBezTo>
                  <a:pt x="4070" y="971"/>
                  <a:pt x="3164" y="1225"/>
                  <a:pt x="2050" y="1225"/>
                </a:cubicBezTo>
                <a:cubicBezTo>
                  <a:pt x="935" y="1225"/>
                  <a:pt x="29" y="971"/>
                  <a:pt x="1" y="655"/>
                </a:cubicBezTo>
                <a:lnTo>
                  <a:pt x="0" y="642"/>
                </a:lnTo>
                <a:lnTo>
                  <a:pt x="0" y="642"/>
                </a:lnTo>
                <a:lnTo>
                  <a:pt x="0" y="640"/>
                </a:lnTo>
                <a:lnTo>
                  <a:pt x="0" y="0"/>
                </a:lnTo>
                <a:close/>
              </a:path>
            </a:pathLst>
          </a:custGeom>
          <a:gradFill>
            <a:gsLst>
              <a:gs pos="0">
                <a:schemeClr val="accent5">
                  <a:lumMod val="80000"/>
                  <a:lumOff val="20000"/>
                  <a:alpha val="60000"/>
                </a:schemeClr>
              </a:gs>
              <a:gs pos="77000">
                <a:schemeClr val="accent5">
                  <a:lumMod val="30000"/>
                  <a:lumOff val="70000"/>
                  <a:alpha val="50000"/>
                </a:schemeClr>
              </a:gs>
              <a:gs pos="100000">
                <a:schemeClr val="accent5">
                  <a:lumMod val="62000"/>
                  <a:lumOff val="38000"/>
                  <a:alpha val="50000"/>
                </a:schemeClr>
              </a:gs>
            </a:gsLst>
            <a:lin ang="16800000" scaled="0"/>
          </a:gradFill>
          <a:ln w="9525">
            <a:gradFill>
              <a:gsLst>
                <a:gs pos="0">
                  <a:schemeClr val="accent5">
                    <a:alpha val="0"/>
                  </a:schemeClr>
                </a:gs>
                <a:gs pos="73000">
                  <a:schemeClr val="accent5">
                    <a:alpha val="25000"/>
                  </a:schemeClr>
                </a:gs>
                <a:gs pos="100000">
                  <a:schemeClr val="accent5">
                    <a:alpha val="40000"/>
                  </a:schemeClr>
                </a:gs>
                <a:gs pos="57000">
                  <a:schemeClr val="accent5">
                    <a:alpha val="20000"/>
                  </a:schemeClr>
                </a:gs>
                <a:gs pos="44000">
                  <a:schemeClr val="accent5">
                    <a:alpha val="0"/>
                  </a:schemeClr>
                </a:gs>
              </a:gsLst>
              <a:lin ang="5400000" scaled="1"/>
            </a:gradFill>
          </a:ln>
          <a:effectLst>
            <a:outerShdw blurRad="901700" dist="317500" dir="2700000" algn="tl" rotWithShape="0">
              <a:schemeClr val="accent5">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331" name="椭圆 330"/>
          <p:cNvSpPr/>
          <p:nvPr>
            <p:custDataLst>
              <p:tags r:id="rId27"/>
            </p:custDataLst>
          </p:nvPr>
        </p:nvSpPr>
        <p:spPr>
          <a:xfrm>
            <a:off x="4575963" y="2172766"/>
            <a:ext cx="3137042" cy="896188"/>
          </a:xfrm>
          <a:prstGeom prst="ellipse">
            <a:avLst/>
          </a:prstGeom>
          <a:noFill/>
          <a:ln w="6350">
            <a:gradFill>
              <a:gsLst>
                <a:gs pos="0">
                  <a:schemeClr val="accent5">
                    <a:alpha val="5000"/>
                  </a:schemeClr>
                </a:gs>
                <a:gs pos="64000">
                  <a:schemeClr val="accent5">
                    <a:alpha val="25000"/>
                  </a:schemeClr>
                </a:gs>
                <a:gs pos="100000">
                  <a:schemeClr val="accent5">
                    <a:alpha val="0"/>
                  </a:schemeClr>
                </a:gs>
                <a:gs pos="57000">
                  <a:schemeClr val="accent5">
                    <a:alpha val="20000"/>
                  </a:schemeClr>
                </a:gs>
                <a:gs pos="44000">
                  <a:schemeClr val="accent5">
                    <a:alpha val="5000"/>
                  </a:schemeClr>
                </a:gs>
              </a:gsLst>
              <a:lin ang="21060000" scaled="1"/>
            </a:gradFill>
          </a:ln>
          <a:effectLst>
            <a:outerShdw blurRad="901700" dist="317500" dir="2700000" algn="tl" rotWithShape="0">
              <a:schemeClr val="accent5">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latin typeface="+mn-ea"/>
              <a:sym typeface="+mn-ea"/>
            </a:endParaRPr>
          </a:p>
        </p:txBody>
      </p:sp>
      <p:sp>
        <p:nvSpPr>
          <p:cNvPr id="332" name="椭圆 331"/>
          <p:cNvSpPr/>
          <p:nvPr>
            <p:custDataLst>
              <p:tags r:id="rId28"/>
            </p:custDataLst>
          </p:nvPr>
        </p:nvSpPr>
        <p:spPr>
          <a:xfrm>
            <a:off x="4575963" y="1683288"/>
            <a:ext cx="3137042" cy="896188"/>
          </a:xfrm>
          <a:prstGeom prst="ellipse">
            <a:avLst/>
          </a:prstGeom>
          <a:gradFill>
            <a:gsLst>
              <a:gs pos="0">
                <a:schemeClr val="accent5">
                  <a:alpha val="0"/>
                </a:schemeClr>
              </a:gs>
              <a:gs pos="37000">
                <a:schemeClr val="bg2"/>
              </a:gs>
              <a:gs pos="81000">
                <a:schemeClr val="bg2"/>
              </a:gs>
              <a:gs pos="100000">
                <a:schemeClr val="accent5">
                  <a:lumMod val="60000"/>
                  <a:lumOff val="40000"/>
                  <a:alpha val="100000"/>
                </a:schemeClr>
              </a:gs>
            </a:gsLst>
            <a:lin ang="4620000" scaled="0"/>
          </a:gradFill>
          <a:ln w="6350">
            <a:gradFill>
              <a:gsLst>
                <a:gs pos="0">
                  <a:schemeClr val="accent5">
                    <a:alpha val="20000"/>
                  </a:schemeClr>
                </a:gs>
                <a:gs pos="73000">
                  <a:schemeClr val="accent5">
                    <a:alpha val="25000"/>
                  </a:schemeClr>
                </a:gs>
                <a:gs pos="100000">
                  <a:schemeClr val="accent5">
                    <a:alpha val="40000"/>
                  </a:schemeClr>
                </a:gs>
                <a:gs pos="57000">
                  <a:schemeClr val="accent5">
                    <a:alpha val="20000"/>
                  </a:schemeClr>
                </a:gs>
                <a:gs pos="44000">
                  <a:schemeClr val="accent5">
                    <a:alpha val="5000"/>
                  </a:schemeClr>
                </a:gs>
              </a:gsLst>
              <a:lin ang="21060000" scaled="1"/>
            </a:gradFill>
          </a:ln>
          <a:effectLst>
            <a:outerShdw blurRad="901700" dist="317500" dir="2700000" algn="tl" rotWithShape="0">
              <a:schemeClr val="accent5">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tLang="zh-CN">
              <a:solidFill>
                <a:schemeClr val="lt1"/>
              </a:solidFill>
              <a:latin typeface="+mn-ea"/>
              <a:sym typeface="+mn-ea"/>
            </a:endParaRPr>
          </a:p>
        </p:txBody>
      </p:sp>
      <p:sp>
        <p:nvSpPr>
          <p:cNvPr id="333" name="椭圆 332"/>
          <p:cNvSpPr/>
          <p:nvPr>
            <p:custDataLst>
              <p:tags r:id="rId29"/>
            </p:custDataLst>
          </p:nvPr>
        </p:nvSpPr>
        <p:spPr>
          <a:xfrm>
            <a:off x="4829443" y="2061010"/>
            <a:ext cx="2629636" cy="244136"/>
          </a:xfrm>
          <a:prstGeom prst="ellipse">
            <a:avLst/>
          </a:prstGeom>
          <a:gradFill>
            <a:gsLst>
              <a:gs pos="0">
                <a:schemeClr val="accent5">
                  <a:alpha val="53000"/>
                </a:schemeClr>
              </a:gs>
              <a:gs pos="66000">
                <a:schemeClr val="bg1">
                  <a:alpha val="19000"/>
                </a:schemeClr>
              </a:gs>
              <a:gs pos="25000">
                <a:schemeClr val="accent5">
                  <a:alpha val="31000"/>
                </a:schemeClr>
              </a:gs>
            </a:gsLst>
            <a:path path="circle">
              <a:fillToRect l="50000" t="50000" r="50000" b="50000"/>
            </a:path>
            <a:tileRect/>
          </a:gra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latin typeface="+mn-ea"/>
            </a:endParaRPr>
          </a:p>
        </p:txBody>
      </p:sp>
      <p:sp>
        <p:nvSpPr>
          <p:cNvPr id="334" name="弧形 333"/>
          <p:cNvSpPr/>
          <p:nvPr>
            <p:custDataLst>
              <p:tags r:id="rId30"/>
            </p:custDataLst>
          </p:nvPr>
        </p:nvSpPr>
        <p:spPr>
          <a:xfrm rot="10800000">
            <a:off x="3553304" y="1938016"/>
            <a:ext cx="5181210" cy="1659211"/>
          </a:xfrm>
          <a:prstGeom prst="arc">
            <a:avLst>
              <a:gd name="adj1" fmla="val 9741748"/>
              <a:gd name="adj2" fmla="val 1074510"/>
            </a:avLst>
          </a:prstGeom>
          <a:ln w="9525">
            <a:gradFill>
              <a:gsLst>
                <a:gs pos="100000">
                  <a:schemeClr val="bg2"/>
                </a:gs>
                <a:gs pos="39000">
                  <a:schemeClr val="accent5">
                    <a:alpha val="62000"/>
                  </a:schemeClr>
                </a:gs>
                <a:gs pos="20000">
                  <a:schemeClr val="accent5">
                    <a:alpha val="54000"/>
                  </a:schemeClr>
                </a:gs>
                <a:gs pos="0">
                  <a:schemeClr val="accent5">
                    <a:lumMod val="50000"/>
                    <a:lumOff val="50000"/>
                    <a:alpha val="100000"/>
                  </a:schemeClr>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latin typeface="+mn-ea"/>
            </a:endParaRPr>
          </a:p>
        </p:txBody>
      </p:sp>
      <p:sp>
        <p:nvSpPr>
          <p:cNvPr id="335" name="等腰三角形 334"/>
          <p:cNvSpPr/>
          <p:nvPr>
            <p:custDataLst>
              <p:tags r:id="rId31"/>
            </p:custDataLst>
          </p:nvPr>
        </p:nvSpPr>
        <p:spPr>
          <a:xfrm rot="4080000">
            <a:off x="3803662" y="2263919"/>
            <a:ext cx="132400" cy="242606"/>
          </a:xfrm>
          <a:prstGeom prst="triangle">
            <a:avLst>
              <a:gd name="adj" fmla="val 29196"/>
            </a:avLst>
          </a:prstGeom>
          <a:gradFill>
            <a:gsLst>
              <a:gs pos="1000">
                <a:schemeClr val="accent5">
                  <a:lumMod val="40000"/>
                  <a:lumOff val="60000"/>
                  <a:alpha val="100000"/>
                </a:schemeClr>
              </a:gs>
              <a:gs pos="86000">
                <a:schemeClr val="accent5">
                  <a:lumMod val="10000"/>
                  <a:lumOff val="90000"/>
                  <a:alpha val="73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336" name="等腰三角形 335"/>
          <p:cNvSpPr/>
          <p:nvPr>
            <p:custDataLst>
              <p:tags r:id="rId32"/>
            </p:custDataLst>
          </p:nvPr>
        </p:nvSpPr>
        <p:spPr>
          <a:xfrm rot="16680000">
            <a:off x="4974288" y="3402704"/>
            <a:ext cx="132400" cy="242606"/>
          </a:xfrm>
          <a:prstGeom prst="triangle">
            <a:avLst>
              <a:gd name="adj" fmla="val 62096"/>
            </a:avLst>
          </a:prstGeom>
          <a:gradFill>
            <a:gsLst>
              <a:gs pos="1000">
                <a:schemeClr val="accent5">
                  <a:lumMod val="60000"/>
                  <a:lumOff val="40000"/>
                  <a:alpha val="100000"/>
                </a:schemeClr>
              </a:gs>
              <a:gs pos="86000">
                <a:schemeClr val="accent5">
                  <a:lumMod val="30000"/>
                  <a:lumOff val="70000"/>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337" name="等腰三角形 336"/>
          <p:cNvSpPr/>
          <p:nvPr>
            <p:custDataLst>
              <p:tags r:id="rId33"/>
            </p:custDataLst>
          </p:nvPr>
        </p:nvSpPr>
        <p:spPr>
          <a:xfrm rot="15600000">
            <a:off x="7014612" y="3425180"/>
            <a:ext cx="132400" cy="242606"/>
          </a:xfrm>
          <a:prstGeom prst="triangle">
            <a:avLst>
              <a:gd name="adj" fmla="val 60926"/>
            </a:avLst>
          </a:prstGeom>
          <a:gradFill>
            <a:gsLst>
              <a:gs pos="1000">
                <a:schemeClr val="accent5">
                  <a:lumMod val="60000"/>
                  <a:lumOff val="40000"/>
                  <a:alpha val="100000"/>
                </a:schemeClr>
              </a:gs>
              <a:gs pos="86000">
                <a:schemeClr val="accent5">
                  <a:lumMod val="30000"/>
                  <a:lumOff val="70000"/>
                  <a:alpha val="100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338" name="等腰三角形 337"/>
          <p:cNvSpPr/>
          <p:nvPr>
            <p:custDataLst>
              <p:tags r:id="rId34"/>
            </p:custDataLst>
          </p:nvPr>
        </p:nvSpPr>
        <p:spPr>
          <a:xfrm rot="19080000" flipV="1">
            <a:off x="8431227" y="2329474"/>
            <a:ext cx="132400" cy="242606"/>
          </a:xfrm>
          <a:prstGeom prst="triangle">
            <a:avLst>
              <a:gd name="adj" fmla="val 83002"/>
            </a:avLst>
          </a:prstGeom>
          <a:gradFill>
            <a:gsLst>
              <a:gs pos="1000">
                <a:schemeClr val="accent5">
                  <a:lumMod val="40000"/>
                  <a:lumOff val="60000"/>
                  <a:alpha val="100000"/>
                </a:schemeClr>
              </a:gs>
              <a:gs pos="86000">
                <a:schemeClr val="accent5">
                  <a:lumMod val="10000"/>
                  <a:lumOff val="90000"/>
                  <a:alpha val="7300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latin typeface="+mn-ea"/>
              <a:sym typeface="+mn-ea"/>
            </a:endParaRPr>
          </a:p>
        </p:txBody>
      </p:sp>
      <p:sp>
        <p:nvSpPr>
          <p:cNvPr id="339" name="矩形 338"/>
          <p:cNvSpPr/>
          <p:nvPr>
            <p:custDataLst>
              <p:tags r:id="rId35"/>
            </p:custDataLst>
          </p:nvPr>
        </p:nvSpPr>
        <p:spPr>
          <a:xfrm>
            <a:off x="4778770" y="1221486"/>
            <a:ext cx="2815747" cy="1209960"/>
          </a:xfrm>
          <a:prstGeom prst="rect">
            <a:avLst/>
          </a:prstGeom>
          <a:noFill/>
        </p:spPr>
        <p:txBody>
          <a:bodyPr wrap="square" rtlCol="0" anchor="b" anchorCtr="0">
            <a:noAutofit/>
          </a:bodyPr>
          <a:lstStyle/>
          <a:p>
            <a:pPr algn="ctr">
              <a:spcBef>
                <a:spcPct val="0"/>
              </a:spcBef>
              <a:spcAft>
                <a:spcPct val="0"/>
              </a:spcAft>
            </a:pPr>
            <a:r>
              <a:rPr lang="zh-CN" altLang="en-US" sz="2400" b="1" dirty="0">
                <a:ln w="0">
                  <a:noFill/>
                </a:ln>
                <a:solidFill>
                  <a:schemeClr val="accent5"/>
                </a:solidFill>
                <a:latin typeface="+mn-ea"/>
                <a:cs typeface="+mn-ea"/>
                <a:sym typeface="+mn-ea"/>
              </a:rPr>
              <a:t>数字重庆</a:t>
            </a:r>
            <a:r>
              <a:rPr lang="en-US" altLang="zh-CN" sz="2400" b="1" dirty="0">
                <a:ln w="0">
                  <a:noFill/>
                </a:ln>
                <a:solidFill>
                  <a:schemeClr val="accent5"/>
                </a:solidFill>
                <a:latin typeface="+mn-ea"/>
                <a:cs typeface="+mn-ea"/>
                <a:sym typeface="+mn-ea"/>
              </a:rPr>
              <a:t>AI</a:t>
            </a:r>
            <a:r>
              <a:rPr lang="zh-CN" altLang="en-US" sz="2400" b="1" dirty="0">
                <a:ln w="0">
                  <a:noFill/>
                </a:ln>
                <a:solidFill>
                  <a:schemeClr val="accent5"/>
                </a:solidFill>
                <a:latin typeface="+mn-ea"/>
                <a:cs typeface="+mn-ea"/>
                <a:sym typeface="+mn-ea"/>
              </a:rPr>
              <a:t>底座</a:t>
            </a:r>
            <a:endParaRPr lang="zh-CN" altLang="en-US" sz="2400" b="1" dirty="0">
              <a:ln w="0">
                <a:noFill/>
              </a:ln>
              <a:solidFill>
                <a:schemeClr val="accent5"/>
              </a:solidFill>
              <a:latin typeface="+mn-ea"/>
              <a:cs typeface="+mn-ea"/>
              <a:sym typeface="+mn-ea"/>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1" hidden="1"/>
          <p:cNvSpPr txBox="1"/>
          <p:nvPr/>
        </p:nvSpPr>
        <p:spPr>
          <a:xfrm>
            <a:off x="6239" y="3172"/>
            <a:ext cx="0" cy="0"/>
          </a:xfrm>
          <a:prstGeom prst="rect">
            <a:avLst/>
          </a:prstGeom>
          <a:solidFill>
            <a:srgbClr val="FFFFFF"/>
          </a:solidFill>
        </p:spPr>
        <p:txBody>
          <a:bodyPr rtlCol="0" anchor="t"/>
          <a:lstStyle/>
          <a:p>
            <a:pPr algn="l"/>
            <a:endParaRPr lang="en-US" sz="550">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buClr>
                <a:srgbClr val="FFFFFF"/>
              </a:buClr>
            </a:pPr>
            <a:r>
              <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E6636BC20180234D78A0072836F0B3B062B9B207100DDB20A0D98F39B16C2BA34B43BC38C168AB0122592F0838465CEB921921FAF1D0ABC11BBFC26B7F4E1ADA24FB2EADD526949754C728F767A2439F9FD0E9157C626057A81A5197EE01DCA8DD06229F4E3</a:t>
            </a:r>
            <a:endPar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文本框 2" hidden="1"/>
          <p:cNvSpPr txBox="1"/>
          <p:nvPr/>
        </p:nvSpPr>
        <p:spPr>
          <a:xfrm>
            <a:off x="6239" y="3172"/>
            <a:ext cx="0" cy="0"/>
          </a:xfrm>
          <a:prstGeom prst="rect">
            <a:avLst/>
          </a:prstGeom>
          <a:solidFill>
            <a:srgbClr val="FFFFFF"/>
          </a:solidFill>
        </p:spPr>
        <p:txBody>
          <a:bodyPr rtlCol="0" anchor="t"/>
          <a:lstStyle/>
          <a:p>
            <a:pPr algn="l"/>
            <a:endParaRPr lang="en-US" sz="550">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buClr>
                <a:srgbClr val="FFFFFF"/>
              </a:buClr>
            </a:pPr>
            <a:r>
              <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E6636BC20180234D78A0072836F0B99012B9B2041CBB0BD0AED9843CB1E92B759B4BB3387161DB0A22092008384687EBAD09218A11D00BB11BBFC253752E1BD324F50EAD8127E48704882AE76E224046D963E4B175990FA048DEA195FADFAC88D9862B9F9E3</a:t>
            </a:r>
            <a:endPar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文本框 3" hidden="1"/>
          <p:cNvSpPr txBox="1"/>
          <p:nvPr/>
        </p:nvSpPr>
        <p:spPr>
          <a:xfrm>
            <a:off x="6239" y="3172"/>
            <a:ext cx="0" cy="0"/>
          </a:xfrm>
          <a:prstGeom prst="rect">
            <a:avLst/>
          </a:prstGeom>
          <a:solidFill>
            <a:srgbClr val="FFFFFF"/>
          </a:solidFill>
        </p:spPr>
        <p:txBody>
          <a:bodyPr rtlCol="0" anchor="t"/>
          <a:lstStyle/>
          <a:p>
            <a:pPr algn="l"/>
            <a:endParaRPr lang="en-US" sz="550">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buClr>
                <a:srgbClr val="FFFFFF"/>
              </a:buClr>
            </a:pPr>
            <a:r>
              <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E6636BC20180234D78A0072836F0BE8092B9B20C1995FBB0AAD98B33B1032B25BB4EBB387163FB0F22C92E08384670EB2809215AC1D0FBA11BBFC2437A1E1FD724F5F8AD632564B7B4FF2ED7684240538A9CE0BE76481F81688BF19F28E95C98DFE620900E3</a:t>
            </a:r>
            <a:endParaRPr lang="en-US" sz="9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10157" y="231561"/>
            <a:ext cx="2083411" cy="261378"/>
          </a:xfrm>
          <a:prstGeom prst="rect">
            <a:avLst/>
          </a:prstGeom>
        </p:spPr>
      </p:pic>
      <p:sp>
        <p:nvSpPr>
          <p:cNvPr id="2" name="文本框 1"/>
          <p:cNvSpPr txBox="1"/>
          <p:nvPr/>
        </p:nvSpPr>
        <p:spPr>
          <a:xfrm>
            <a:off x="569595" y="2839085"/>
            <a:ext cx="11052810" cy="706755"/>
          </a:xfrm>
          <a:prstGeom prst="rect">
            <a:avLst/>
          </a:prstGeom>
        </p:spPr>
        <p:txBody>
          <a:bodyPr wrap="square">
            <a:spAutoFit/>
          </a:bodyPr>
          <a:p>
            <a:pPr algn="ctr">
              <a:buSzTx/>
            </a:pPr>
            <a:r>
              <a:rPr lang="zh-CN" altLang="en-US" sz="3995" b="1">
                <a:solidFill>
                  <a:srgbClr val="00A6C7"/>
                </a:solidFill>
                <a:latin typeface="微软雅黑" panose="020B0503020204020204" charset="-122"/>
                <a:ea typeface="微软雅黑" panose="020B0503020204020204" charset="-122"/>
                <a:cs typeface="微软雅黑" panose="020B0503020204020204" charset="-122"/>
                <a:sym typeface="+mn-ea"/>
              </a:rPr>
              <a:t>二、</a:t>
            </a:r>
            <a:r>
              <a:rPr lang="en-US" sz="3995" b="1">
                <a:solidFill>
                  <a:srgbClr val="00A6C7"/>
                </a:solidFill>
                <a:latin typeface="微软雅黑" panose="020B0503020204020204" charset="-122"/>
                <a:ea typeface="微软雅黑" panose="020B0503020204020204" charset="-122"/>
                <a:cs typeface="微软雅黑" panose="020B0503020204020204" charset="-122"/>
                <a:sym typeface="+mn-ea"/>
              </a:rPr>
              <a:t>AI+</a:t>
            </a:r>
            <a:r>
              <a:rPr lang="zh-CN" altLang="en-US" sz="3995" b="1">
                <a:solidFill>
                  <a:srgbClr val="00A6C7"/>
                </a:solidFill>
                <a:latin typeface="微软雅黑" panose="020B0503020204020204" charset="-122"/>
                <a:ea typeface="微软雅黑" panose="020B0503020204020204" charset="-122"/>
                <a:cs typeface="微软雅黑" panose="020B0503020204020204" charset="-122"/>
                <a:sym typeface="+mn-ea"/>
              </a:rPr>
              <a:t>综合场景建设</a:t>
            </a:r>
            <a:endParaRPr lang="zh-CN" altLang="en-US" sz="3995" b="1">
              <a:solidFill>
                <a:srgbClr val="00A6C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0" y="4019550"/>
            <a:ext cx="12191365" cy="2842895"/>
          </a:xfrm>
          <a:prstGeom prst="rect">
            <a:avLst/>
          </a:prstGeom>
          <a:solidFill>
            <a:srgbClr val="27ADCB">
              <a:alpha val="18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矩形 1"/>
          <p:cNvSpPr/>
          <p:nvPr>
            <p:custDataLst>
              <p:tags r:id="rId1"/>
            </p:custDataLst>
          </p:nvPr>
        </p:nvSpPr>
        <p:spPr>
          <a:xfrm>
            <a:off x="336803" y="144012"/>
            <a:ext cx="8493516" cy="521970"/>
          </a:xfrm>
          <a:prstGeom prst="rect">
            <a:avLst/>
          </a:prstGeom>
        </p:spPr>
        <p:txBody>
          <a:bodyPr wrap="square">
            <a:spAutoFit/>
          </a:bodyPr>
          <a:p>
            <a:r>
              <a:rPr lang="zh-CN" altLang="en-US" sz="2795" b="1" dirty="0">
                <a:solidFill>
                  <a:srgbClr val="00A6C7"/>
                </a:solidFill>
                <a:latin typeface="+mn-ea"/>
                <a:ea typeface="微软雅黑" panose="020B0503020204020204" charset="-122"/>
                <a:cs typeface="微软雅黑" panose="020B0503020204020204" charset="-122"/>
                <a:sym typeface="+mn-ea"/>
              </a:rPr>
              <a:t>基础概念</a:t>
            </a:r>
            <a:endParaRPr lang="en-US" altLang="zh-CN" sz="2795" b="1" dirty="0">
              <a:solidFill>
                <a:srgbClr val="00A6C7"/>
              </a:solidFill>
              <a:latin typeface="+mn-ea"/>
              <a:ea typeface="微软雅黑" panose="020B0503020204020204" charset="-122"/>
              <a:cs typeface="微软雅黑" panose="020B0503020204020204" charset="-122"/>
              <a:sym typeface="+mn-ea"/>
            </a:endParaRPr>
          </a:p>
        </p:txBody>
      </p:sp>
      <p:sp useBgFill="1">
        <p:nvSpPr>
          <p:cNvPr id="69" name="îśḻíḋé"/>
          <p:cNvSpPr/>
          <p:nvPr/>
        </p:nvSpPr>
        <p:spPr>
          <a:xfrm>
            <a:off x="455295" y="1233805"/>
            <a:ext cx="2136775" cy="2196465"/>
          </a:xfrm>
          <a:prstGeom prst="roundRect">
            <a:avLst>
              <a:gd name="adj" fmla="val 0"/>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sz="1600" b="1" noProof="0" dirty="0">
              <a:solidFill>
                <a:srgbClr val="00A6C7"/>
              </a:solidFill>
              <a:latin typeface="微软雅黑" panose="020B0503020204020204" charset="-122"/>
              <a:ea typeface="微软雅黑" panose="020B0503020204020204" charset="-122"/>
              <a:sym typeface="+mn-ea"/>
            </a:endParaRPr>
          </a:p>
        </p:txBody>
      </p:sp>
      <p:sp>
        <p:nvSpPr>
          <p:cNvPr id="70" name="文本框 69"/>
          <p:cNvSpPr txBox="1"/>
          <p:nvPr/>
        </p:nvSpPr>
        <p:spPr>
          <a:xfrm>
            <a:off x="506730" y="1294130"/>
            <a:ext cx="2065655" cy="1910080"/>
          </a:xfrm>
          <a:prstGeom prst="rect">
            <a:avLst/>
          </a:prstGeom>
          <a:noFill/>
        </p:spPr>
        <p:txBody>
          <a:bodyPr wrap="square">
            <a:noAutofit/>
          </a:bodyPr>
          <a:lstStyle/>
          <a:p>
            <a:pPr algn="l">
              <a:lnSpc>
                <a:spcPct val="114000"/>
              </a:lnSpc>
            </a:pPr>
            <a:r>
              <a:rPr lang="zh-CN" altLang="en-US" sz="1600" b="1" dirty="0">
                <a:solidFill>
                  <a:srgbClr val="00A4C5"/>
                </a:solidFill>
                <a:latin typeface="微软雅黑" panose="020B0503020204020204" charset="-122"/>
              </a:rPr>
              <a:t>场景</a:t>
            </a:r>
            <a:endParaRPr lang="en-US" altLang="zh-CN" sz="1400" b="1" dirty="0">
              <a:solidFill>
                <a:srgbClr val="00A4C5"/>
              </a:solidFill>
              <a:latin typeface="微软雅黑" panose="020B0503020204020204" charset="-122"/>
            </a:endParaRPr>
          </a:p>
          <a:p>
            <a:pPr indent="0" algn="just" fontAlgn="ctr">
              <a:lnSpc>
                <a:spcPct val="150000"/>
              </a:lnSpc>
              <a:spcBef>
                <a:spcPts val="0"/>
              </a:spcBef>
              <a:spcAft>
                <a:spcPts val="0"/>
              </a:spcAft>
            </a:pPr>
            <a:r>
              <a:rPr lang="zh-CN" altLang="en-US" sz="1400" dirty="0">
                <a:solidFill>
                  <a:srgbClr val="000000"/>
                </a:solidFill>
                <a:latin typeface="微软雅黑" panose="020B0503020204020204" charset="-122"/>
                <a:ea typeface="微软雅黑" panose="020B0503020204020204" charset="-122"/>
                <a:sym typeface="+mn-ea"/>
              </a:rPr>
              <a:t>指在特定时间空间内发生的活动，通常包括环境、人物、氛围和活动。它是数字化应用的基础单元。</a:t>
            </a:r>
            <a:endParaRPr lang="zh-CN" altLang="en-US" sz="1400" dirty="0">
              <a:latin typeface="微软雅黑" panose="020B0503020204020204" charset="-122"/>
            </a:endParaRPr>
          </a:p>
        </p:txBody>
      </p:sp>
      <p:sp useBgFill="1">
        <p:nvSpPr>
          <p:cNvPr id="71" name="îśḻíḋé"/>
          <p:cNvSpPr/>
          <p:nvPr/>
        </p:nvSpPr>
        <p:spPr>
          <a:xfrm>
            <a:off x="3395345" y="1233805"/>
            <a:ext cx="2136775" cy="2196465"/>
          </a:xfrm>
          <a:prstGeom prst="roundRect">
            <a:avLst>
              <a:gd name="adj" fmla="val 0"/>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sz="1600" b="1" noProof="0" dirty="0">
              <a:solidFill>
                <a:srgbClr val="00A6C7"/>
              </a:solidFill>
              <a:latin typeface="微软雅黑" panose="020B0503020204020204" charset="-122"/>
              <a:ea typeface="微软雅黑" panose="020B0503020204020204" charset="-122"/>
              <a:sym typeface="+mn-ea"/>
            </a:endParaRPr>
          </a:p>
        </p:txBody>
      </p:sp>
      <p:sp>
        <p:nvSpPr>
          <p:cNvPr id="72" name="文本框 71"/>
          <p:cNvSpPr txBox="1"/>
          <p:nvPr/>
        </p:nvSpPr>
        <p:spPr>
          <a:xfrm>
            <a:off x="3426460" y="1294130"/>
            <a:ext cx="2065655" cy="1910080"/>
          </a:xfrm>
          <a:prstGeom prst="rect">
            <a:avLst/>
          </a:prstGeom>
          <a:noFill/>
        </p:spPr>
        <p:txBody>
          <a:bodyPr wrap="square">
            <a:noAutofit/>
          </a:bodyPr>
          <a:p>
            <a:pPr algn="l">
              <a:lnSpc>
                <a:spcPct val="114000"/>
              </a:lnSpc>
            </a:pPr>
            <a:r>
              <a:rPr lang="zh-CN" altLang="en-US" sz="1600" b="1" dirty="0">
                <a:solidFill>
                  <a:srgbClr val="00A4C5"/>
                </a:solidFill>
                <a:latin typeface="微软雅黑" panose="020B0503020204020204" charset="-122"/>
              </a:rPr>
              <a:t>多跨场景</a:t>
            </a:r>
            <a:endParaRPr lang="en-US" altLang="zh-CN" sz="1600" b="1" dirty="0">
              <a:solidFill>
                <a:srgbClr val="00A4C5"/>
              </a:solidFill>
              <a:latin typeface="微软雅黑" panose="020B0503020204020204" charset="-122"/>
            </a:endParaRPr>
          </a:p>
          <a:p>
            <a:pPr indent="0" algn="just" fontAlgn="ctr">
              <a:lnSpc>
                <a:spcPct val="150000"/>
              </a:lnSpc>
              <a:spcBef>
                <a:spcPts val="0"/>
              </a:spcBef>
              <a:spcAft>
                <a:spcPts val="0"/>
              </a:spcAft>
            </a:pPr>
            <a:r>
              <a:rPr lang="zh-CN" altLang="en-US" sz="1400" dirty="0">
                <a:latin typeface="微软雅黑" panose="020B0503020204020204" charset="-122"/>
              </a:rPr>
              <a:t>是跨层级、跨地域、跨系统、跨部门和跨业务应用场景的简称，是建设数字中国的核心要求。</a:t>
            </a:r>
            <a:endParaRPr lang="zh-CN" altLang="en-US" sz="1400" dirty="0">
              <a:latin typeface="微软雅黑" panose="020B0503020204020204" charset="-122"/>
            </a:endParaRPr>
          </a:p>
        </p:txBody>
      </p:sp>
      <p:sp useBgFill="1">
        <p:nvSpPr>
          <p:cNvPr id="14" name="îśḻíḋé"/>
          <p:cNvSpPr/>
          <p:nvPr/>
        </p:nvSpPr>
        <p:spPr>
          <a:xfrm>
            <a:off x="3406140" y="5024120"/>
            <a:ext cx="5067935" cy="1163955"/>
          </a:xfrm>
          <a:prstGeom prst="roundRect">
            <a:avLst>
              <a:gd name="adj" fmla="val 0"/>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sz="1600" b="1" noProof="0" dirty="0">
              <a:solidFill>
                <a:srgbClr val="00A6C7"/>
              </a:solidFill>
              <a:latin typeface="微软雅黑" panose="020B0503020204020204" charset="-122"/>
              <a:ea typeface="微软雅黑" panose="020B0503020204020204" charset="-122"/>
              <a:sym typeface="+mn-ea"/>
            </a:endParaRPr>
          </a:p>
        </p:txBody>
      </p:sp>
      <p:sp useBgFill="1">
        <p:nvSpPr>
          <p:cNvPr id="73" name="îśḻíḋé"/>
          <p:cNvSpPr/>
          <p:nvPr/>
        </p:nvSpPr>
        <p:spPr>
          <a:xfrm>
            <a:off x="6334760" y="1233805"/>
            <a:ext cx="2136775" cy="2196465"/>
          </a:xfrm>
          <a:prstGeom prst="roundRect">
            <a:avLst>
              <a:gd name="adj" fmla="val 0"/>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sz="1600" b="1" noProof="0" dirty="0">
              <a:solidFill>
                <a:srgbClr val="00A6C7"/>
              </a:solidFill>
              <a:latin typeface="微软雅黑" panose="020B0503020204020204" charset="-122"/>
              <a:ea typeface="微软雅黑" panose="020B0503020204020204" charset="-122"/>
              <a:sym typeface="+mn-ea"/>
            </a:endParaRPr>
          </a:p>
        </p:txBody>
      </p:sp>
      <p:sp>
        <p:nvSpPr>
          <p:cNvPr id="74" name="文本框 73"/>
          <p:cNvSpPr txBox="1"/>
          <p:nvPr/>
        </p:nvSpPr>
        <p:spPr>
          <a:xfrm>
            <a:off x="6365875" y="1294130"/>
            <a:ext cx="2065655" cy="1910080"/>
          </a:xfrm>
          <a:prstGeom prst="rect">
            <a:avLst/>
          </a:prstGeom>
          <a:noFill/>
        </p:spPr>
        <p:txBody>
          <a:bodyPr wrap="square">
            <a:noAutofit/>
          </a:bodyPr>
          <a:p>
            <a:pPr algn="l">
              <a:lnSpc>
                <a:spcPct val="114000"/>
              </a:lnSpc>
            </a:pPr>
            <a:r>
              <a:rPr lang="zh-CN" altLang="en-US" sz="1600" b="1" dirty="0">
                <a:solidFill>
                  <a:srgbClr val="00A4C5"/>
                </a:solidFill>
                <a:latin typeface="微软雅黑" panose="020B0503020204020204" charset="-122"/>
              </a:rPr>
              <a:t>综合场景</a:t>
            </a:r>
            <a:endParaRPr lang="zh-CN" altLang="en-US" sz="1600" b="1" dirty="0">
              <a:solidFill>
                <a:srgbClr val="00A4C5"/>
              </a:solidFill>
              <a:latin typeface="微软雅黑" panose="020B0503020204020204" charset="-122"/>
            </a:endParaRPr>
          </a:p>
          <a:p>
            <a:pPr algn="just" fontAlgn="ctr">
              <a:lnSpc>
                <a:spcPct val="150000"/>
              </a:lnSpc>
              <a:spcBef>
                <a:spcPts val="0"/>
              </a:spcBef>
              <a:spcAft>
                <a:spcPts val="0"/>
              </a:spcAft>
              <a:buClrTx/>
              <a:buSzTx/>
              <a:buFontTx/>
            </a:pPr>
            <a:r>
              <a:rPr lang="zh-CN" altLang="en-US" sz="1400" dirty="0">
                <a:latin typeface="微软雅黑" panose="020B0503020204020204" charset="-122"/>
              </a:rPr>
              <a:t>将两个及以上关联的</a:t>
            </a:r>
            <a:r>
              <a:rPr lang="en-US" altLang="zh-CN" sz="1400" dirty="0">
                <a:latin typeface="微软雅黑" panose="020B0503020204020204" charset="-122"/>
              </a:rPr>
              <a:t>"</a:t>
            </a:r>
            <a:r>
              <a:rPr lang="zh-CN" altLang="en-US" sz="1400" dirty="0">
                <a:latin typeface="微软雅黑" panose="020B0503020204020204" charset="-122"/>
              </a:rPr>
              <a:t>一件事</a:t>
            </a:r>
            <a:r>
              <a:rPr lang="en-US" altLang="zh-CN" sz="1400" dirty="0">
                <a:latin typeface="微软雅黑" panose="020B0503020204020204" charset="-122"/>
              </a:rPr>
              <a:t>"</a:t>
            </a:r>
            <a:r>
              <a:rPr lang="zh-CN" altLang="en-US" sz="1400" dirty="0">
                <a:latin typeface="微软雅黑" panose="020B0503020204020204" charset="-122"/>
              </a:rPr>
              <a:t>应用集成，即构成综合场景。</a:t>
            </a:r>
            <a:endParaRPr lang="zh-CN" altLang="en-US" sz="1400" dirty="0">
              <a:latin typeface="微软雅黑" panose="020B0503020204020204" charset="-122"/>
            </a:endParaRPr>
          </a:p>
        </p:txBody>
      </p:sp>
      <p:sp useBgFill="1">
        <p:nvSpPr>
          <p:cNvPr id="75" name="îśḻíḋé"/>
          <p:cNvSpPr/>
          <p:nvPr/>
        </p:nvSpPr>
        <p:spPr>
          <a:xfrm>
            <a:off x="9274810" y="1233805"/>
            <a:ext cx="2136775" cy="2196465"/>
          </a:xfrm>
          <a:prstGeom prst="roundRect">
            <a:avLst>
              <a:gd name="adj" fmla="val 0"/>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sz="1600" b="1" noProof="0" dirty="0">
              <a:solidFill>
                <a:srgbClr val="00A6C7"/>
              </a:solidFill>
              <a:latin typeface="微软雅黑" panose="020B0503020204020204" charset="-122"/>
              <a:ea typeface="微软雅黑" panose="020B0503020204020204" charset="-122"/>
              <a:sym typeface="+mn-ea"/>
            </a:endParaRPr>
          </a:p>
        </p:txBody>
      </p:sp>
      <p:sp>
        <p:nvSpPr>
          <p:cNvPr id="76" name="文本框 75"/>
          <p:cNvSpPr txBox="1"/>
          <p:nvPr/>
        </p:nvSpPr>
        <p:spPr>
          <a:xfrm>
            <a:off x="9305925" y="1294130"/>
            <a:ext cx="2065655" cy="1910080"/>
          </a:xfrm>
          <a:prstGeom prst="rect">
            <a:avLst/>
          </a:prstGeom>
          <a:noFill/>
        </p:spPr>
        <p:txBody>
          <a:bodyPr wrap="square">
            <a:noAutofit/>
          </a:bodyPr>
          <a:p>
            <a:pPr algn="l">
              <a:lnSpc>
                <a:spcPct val="114000"/>
              </a:lnSpc>
            </a:pPr>
            <a:r>
              <a:rPr lang="en-US" altLang="zh-CN" sz="1600" b="1" dirty="0">
                <a:solidFill>
                  <a:srgbClr val="00A4C5"/>
                </a:solidFill>
                <a:latin typeface="微软雅黑" panose="020B0503020204020204" charset="-122"/>
              </a:rPr>
              <a:t>AI+</a:t>
            </a:r>
            <a:r>
              <a:rPr lang="zh-CN" altLang="en-US" sz="1600" b="1" dirty="0">
                <a:solidFill>
                  <a:srgbClr val="00A4C5"/>
                </a:solidFill>
                <a:latin typeface="微软雅黑" panose="020B0503020204020204" charset="-122"/>
              </a:rPr>
              <a:t>综合场景</a:t>
            </a:r>
            <a:endParaRPr lang="zh-CN" altLang="en-US" sz="1600" b="1" dirty="0">
              <a:solidFill>
                <a:srgbClr val="00A4C5"/>
              </a:solidFill>
              <a:latin typeface="微软雅黑" panose="020B0503020204020204" charset="-122"/>
            </a:endParaRPr>
          </a:p>
          <a:p>
            <a:pPr algn="just" fontAlgn="ctr">
              <a:lnSpc>
                <a:spcPct val="150000"/>
              </a:lnSpc>
              <a:spcBef>
                <a:spcPts val="0"/>
              </a:spcBef>
              <a:spcAft>
                <a:spcPts val="0"/>
              </a:spcAft>
              <a:buClrTx/>
              <a:buSzTx/>
              <a:buFontTx/>
            </a:pPr>
            <a:r>
              <a:rPr lang="zh-CN" altLang="en-US" sz="1400" dirty="0">
                <a:latin typeface="微软雅黑" panose="020B0503020204020204" charset="-122"/>
              </a:rPr>
              <a:t>将人工智能技术融入综合场景的全流程，，旨在通过智能化手段解决复杂问题。</a:t>
            </a:r>
            <a:endParaRPr lang="zh-CN" altLang="en-US" sz="1400" dirty="0">
              <a:latin typeface="微软雅黑" panose="020B0503020204020204" charset="-122"/>
            </a:endParaRPr>
          </a:p>
        </p:txBody>
      </p:sp>
      <p:pic>
        <p:nvPicPr>
          <p:cNvPr id="82" name="图片 81" descr="1075899435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2652395" y="1654175"/>
            <a:ext cx="770255" cy="770255"/>
          </a:xfrm>
          <a:prstGeom prst="rect">
            <a:avLst/>
          </a:prstGeom>
        </p:spPr>
      </p:pic>
      <p:pic>
        <p:nvPicPr>
          <p:cNvPr id="83" name="图片 82" descr="10758994350"/>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4074160" y="4063365"/>
            <a:ext cx="770255" cy="770255"/>
          </a:xfrm>
          <a:prstGeom prst="rect">
            <a:avLst/>
          </a:prstGeom>
        </p:spPr>
      </p:pic>
      <p:pic>
        <p:nvPicPr>
          <p:cNvPr id="84" name="图片 83" descr="10758994350"/>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rot="16200000">
            <a:off x="8531860" y="1654175"/>
            <a:ext cx="770255" cy="770255"/>
          </a:xfrm>
          <a:prstGeom prst="rect">
            <a:avLst/>
          </a:prstGeom>
        </p:spPr>
      </p:pic>
      <p:sp>
        <p:nvSpPr>
          <p:cNvPr id="116" name="圆角矩形 115"/>
          <p:cNvSpPr/>
          <p:nvPr/>
        </p:nvSpPr>
        <p:spPr>
          <a:xfrm>
            <a:off x="447040" y="3481070"/>
            <a:ext cx="999490" cy="386715"/>
          </a:xfrm>
          <a:prstGeom prst="roundRect">
            <a:avLst>
              <a:gd name="adj" fmla="val 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dirty="0">
                <a:solidFill>
                  <a:srgbClr val="000000"/>
                </a:solidFill>
                <a:latin typeface="微软雅黑" panose="020B0503020204020204" charset="-122"/>
                <a:ea typeface="微软雅黑" panose="020B0503020204020204" charset="-122"/>
                <a:sym typeface="+mn-ea"/>
              </a:rPr>
              <a:t>特定时间空间内的活动</a:t>
            </a:r>
            <a:endParaRPr lang="zh-CN" sz="1000">
              <a:solidFill>
                <a:schemeClr val="tx1"/>
              </a:solidFill>
            </a:endParaRPr>
          </a:p>
        </p:txBody>
      </p:sp>
      <p:sp>
        <p:nvSpPr>
          <p:cNvPr id="5" name="圆角矩形 4"/>
          <p:cNvSpPr/>
          <p:nvPr/>
        </p:nvSpPr>
        <p:spPr>
          <a:xfrm>
            <a:off x="1593215" y="3481070"/>
            <a:ext cx="999490" cy="386715"/>
          </a:xfrm>
          <a:prstGeom prst="roundRect">
            <a:avLst>
              <a:gd name="adj" fmla="val 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200">
                <a:solidFill>
                  <a:schemeClr val="tx1"/>
                </a:solidFill>
              </a:rPr>
              <a:t>数字化应用基础单元</a:t>
            </a:r>
            <a:endParaRPr lang="zh-CN" sz="1000">
              <a:solidFill>
                <a:schemeClr val="tx1"/>
              </a:solidFill>
            </a:endParaRPr>
          </a:p>
        </p:txBody>
      </p:sp>
      <p:sp>
        <p:nvSpPr>
          <p:cNvPr id="11" name="圆角矩形 10"/>
          <p:cNvSpPr/>
          <p:nvPr/>
        </p:nvSpPr>
        <p:spPr>
          <a:xfrm>
            <a:off x="3406140" y="3476625"/>
            <a:ext cx="999490" cy="386715"/>
          </a:xfrm>
          <a:prstGeom prst="roundRect">
            <a:avLst>
              <a:gd name="adj" fmla="val 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sym typeface="+mn-ea"/>
              </a:rPr>
              <a:t>多部门协同</a:t>
            </a:r>
            <a:endParaRPr lang="zh-CN" altLang="en-US" sz="1000">
              <a:solidFill>
                <a:schemeClr val="tx1"/>
              </a:solidFill>
            </a:endParaRPr>
          </a:p>
        </p:txBody>
      </p:sp>
      <p:sp>
        <p:nvSpPr>
          <p:cNvPr id="12" name="圆角矩形 11"/>
          <p:cNvSpPr/>
          <p:nvPr/>
        </p:nvSpPr>
        <p:spPr>
          <a:xfrm>
            <a:off x="4504055" y="3476625"/>
            <a:ext cx="999490" cy="386715"/>
          </a:xfrm>
          <a:prstGeom prst="roundRect">
            <a:avLst>
              <a:gd name="adj" fmla="val 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sym typeface="+mn-ea"/>
              </a:rPr>
              <a:t>多源数据共享</a:t>
            </a:r>
            <a:endParaRPr lang="en-US" altLang="zh-CN" sz="1000">
              <a:solidFill>
                <a:schemeClr val="tx1"/>
              </a:solidFill>
            </a:endParaRPr>
          </a:p>
        </p:txBody>
      </p:sp>
      <p:sp>
        <p:nvSpPr>
          <p:cNvPr id="3" name="文本框 2"/>
          <p:cNvSpPr txBox="1"/>
          <p:nvPr/>
        </p:nvSpPr>
        <p:spPr>
          <a:xfrm>
            <a:off x="3352165" y="5044440"/>
            <a:ext cx="5079365" cy="1106805"/>
          </a:xfrm>
          <a:prstGeom prst="rect">
            <a:avLst/>
          </a:prstGeom>
        </p:spPr>
        <p:txBody>
          <a:bodyPr wrap="square">
            <a:spAutoFit/>
          </a:bodyPr>
          <a:p>
            <a:pPr marL="0" algn="just" fontAlgn="ctr">
              <a:lnSpc>
                <a:spcPct val="150000"/>
              </a:lnSpc>
              <a:spcBef>
                <a:spcPts val="0"/>
              </a:spcBef>
              <a:spcAft>
                <a:spcPts val="0"/>
              </a:spcAft>
              <a:buClrTx/>
              <a:buSzTx/>
              <a:buFontTx/>
            </a:pPr>
            <a:r>
              <a:rPr lang="zh-CN" altLang="en-US" sz="1600" b="1" i="0" dirty="0">
                <a:solidFill>
                  <a:srgbClr val="00A6C7"/>
                </a:solidFill>
                <a:latin typeface="微软雅黑" panose="020B0503020204020204" charset="-122"/>
              </a:rPr>
              <a:t>"一件事"应用</a:t>
            </a:r>
            <a:endParaRPr lang="zh-CN" altLang="en-US" sz="1600" b="1" i="0" dirty="0">
              <a:solidFill>
                <a:srgbClr val="00A6C7"/>
              </a:solidFill>
              <a:latin typeface="微软雅黑" panose="020B0503020204020204" charset="-122"/>
            </a:endParaRPr>
          </a:p>
          <a:p>
            <a:pPr marL="0" algn="just" fontAlgn="ctr">
              <a:lnSpc>
                <a:spcPct val="150000"/>
              </a:lnSpc>
              <a:spcBef>
                <a:spcPts val="0"/>
              </a:spcBef>
              <a:spcAft>
                <a:spcPts val="0"/>
              </a:spcAft>
              <a:buClrTx/>
              <a:buSzTx/>
              <a:buFontTx/>
            </a:pPr>
            <a:r>
              <a:rPr lang="zh-CN" altLang="en-US" sz="1400" b="0" i="0" dirty="0">
                <a:latin typeface="微软雅黑" panose="020B0503020204020204" charset="-122"/>
              </a:rPr>
              <a:t>是将多个部门相关联的"单项事"整合为企业和群众视角的"一件事"，实行集成化"一次办"。</a:t>
            </a:r>
            <a:endParaRPr lang="zh-CN" altLang="en-US" sz="1400" b="0" i="0" dirty="0">
              <a:latin typeface="微软雅黑" panose="020B0503020204020204" charset="-122"/>
            </a:endParaRPr>
          </a:p>
        </p:txBody>
      </p:sp>
      <p:sp>
        <p:nvSpPr>
          <p:cNvPr id="13" name="矩形 12"/>
          <p:cNvSpPr/>
          <p:nvPr/>
        </p:nvSpPr>
        <p:spPr>
          <a:xfrm>
            <a:off x="3395345" y="6188075"/>
            <a:ext cx="5076190" cy="398780"/>
          </a:xfrm>
          <a:prstGeom prst="rect">
            <a:avLst/>
          </a:prstGeom>
          <a:solidFill>
            <a:srgbClr val="FFC000">
              <a:alpha val="18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000">
                <a:solidFill>
                  <a:schemeClr val="tx1"/>
                </a:solidFill>
                <a:sym typeface="+mn-ea"/>
              </a:rPr>
              <a:t>任何</a:t>
            </a:r>
            <a:r>
              <a:rPr lang="zh-CN" altLang="en-US" sz="1000">
                <a:solidFill>
                  <a:schemeClr val="tx1"/>
                </a:solidFill>
                <a:sym typeface="+mn-ea"/>
              </a:rPr>
              <a:t>"</a:t>
            </a:r>
            <a:r>
              <a:rPr lang="zh-CN" altLang="en-US" sz="1000">
                <a:solidFill>
                  <a:schemeClr val="tx1"/>
                </a:solidFill>
                <a:sym typeface="+mn-ea"/>
              </a:rPr>
              <a:t>一件事</a:t>
            </a:r>
            <a:r>
              <a:rPr lang="zh-CN" altLang="en-US" sz="1000">
                <a:solidFill>
                  <a:schemeClr val="tx1"/>
                </a:solidFill>
                <a:sym typeface="+mn-ea"/>
              </a:rPr>
              <a:t>"</a:t>
            </a:r>
            <a:r>
              <a:rPr lang="zh-CN" altLang="en-US" sz="1000">
                <a:solidFill>
                  <a:schemeClr val="tx1"/>
                </a:solidFill>
                <a:sym typeface="+mn-ea"/>
              </a:rPr>
              <a:t>应用必然包含多跨场景</a:t>
            </a:r>
            <a:endParaRPr lang="zh-CN" altLang="en-US" sz="1000">
              <a:solidFill>
                <a:schemeClr val="tx1"/>
              </a:solidFill>
              <a:sym typeface="+mn-ea"/>
            </a:endParaRPr>
          </a:p>
        </p:txBody>
      </p:sp>
      <p:sp>
        <p:nvSpPr>
          <p:cNvPr id="17" name="圆角矩形 16"/>
          <p:cNvSpPr/>
          <p:nvPr/>
        </p:nvSpPr>
        <p:spPr>
          <a:xfrm>
            <a:off x="6332855" y="3481070"/>
            <a:ext cx="2141855" cy="386715"/>
          </a:xfrm>
          <a:prstGeom prst="roundRect">
            <a:avLst>
              <a:gd name="adj" fmla="val 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rPr>
              <a:t>综合场景一定包含多个多跨场景</a:t>
            </a:r>
            <a:endParaRPr lang="zh-CN" altLang="en-US" sz="1000">
              <a:solidFill>
                <a:schemeClr val="tx1"/>
              </a:solidFill>
            </a:endParaRPr>
          </a:p>
        </p:txBody>
      </p:sp>
      <p:sp>
        <p:nvSpPr>
          <p:cNvPr id="18" name="圆角矩形 17"/>
          <p:cNvSpPr/>
          <p:nvPr/>
        </p:nvSpPr>
        <p:spPr>
          <a:xfrm>
            <a:off x="9304020" y="3481070"/>
            <a:ext cx="2103755" cy="386715"/>
          </a:xfrm>
          <a:prstGeom prst="roundRect">
            <a:avLst>
              <a:gd name="adj" fmla="val 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000">
                <a:solidFill>
                  <a:schemeClr val="tx1"/>
                </a:solidFill>
              </a:rPr>
              <a:t>人工智能</a:t>
            </a:r>
            <a:r>
              <a:rPr lang="en-US" altLang="zh-CN" sz="1000">
                <a:solidFill>
                  <a:schemeClr val="tx1"/>
                </a:solidFill>
              </a:rPr>
              <a:t>+</a:t>
            </a:r>
            <a:r>
              <a:rPr lang="zh-CN" altLang="en-US" sz="1000">
                <a:solidFill>
                  <a:schemeClr val="tx1"/>
                </a:solidFill>
                <a:sym typeface="+mn-ea"/>
              </a:rPr>
              <a:t>场景全过程</a:t>
            </a:r>
            <a:endParaRPr lang="zh-CN" altLang="en-US" sz="1000">
              <a:solidFill>
                <a:schemeClr val="tx1"/>
              </a:solidFill>
            </a:endParaRPr>
          </a:p>
          <a:p>
            <a:pPr algn="ctr"/>
            <a:endParaRPr lang="en-US" altLang="zh-CN" sz="1000">
              <a:solidFill>
                <a:schemeClr val="tx1"/>
              </a:solidFill>
            </a:endParaRPr>
          </a:p>
        </p:txBody>
      </p:sp>
      <p:pic>
        <p:nvPicPr>
          <p:cNvPr id="20" name="图片 19" descr="10758994350"/>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flipV="1">
            <a:off x="6893560" y="4063365"/>
            <a:ext cx="770255" cy="770255"/>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336803" y="144012"/>
            <a:ext cx="8493516" cy="521970"/>
          </a:xfrm>
          <a:prstGeom prst="rect">
            <a:avLst/>
          </a:prstGeom>
        </p:spPr>
        <p:txBody>
          <a:bodyPr wrap="square">
            <a:spAutoFit/>
          </a:bodyPr>
          <a:p>
            <a:r>
              <a:rPr lang="en-US" altLang="zh-CN" sz="2795" b="1" dirty="0">
                <a:solidFill>
                  <a:srgbClr val="00A6C7"/>
                </a:solidFill>
                <a:latin typeface="+mn-ea"/>
                <a:ea typeface="微软雅黑" panose="020B0503020204020204" charset="-122"/>
                <a:cs typeface="微软雅黑" panose="020B0503020204020204" charset="-122"/>
                <a:sym typeface="+mn-ea"/>
              </a:rPr>
              <a:t>AI+</a:t>
            </a:r>
            <a:r>
              <a:rPr lang="zh-CN" altLang="en-US" sz="2795" b="1" dirty="0">
                <a:solidFill>
                  <a:srgbClr val="00A6C7"/>
                </a:solidFill>
                <a:latin typeface="+mn-ea"/>
                <a:ea typeface="微软雅黑" panose="020B0503020204020204" charset="-122"/>
                <a:cs typeface="微软雅黑" panose="020B0503020204020204" charset="-122"/>
                <a:sym typeface="+mn-ea"/>
              </a:rPr>
              <a:t>综合场景建设工作</a:t>
            </a:r>
            <a:endParaRPr lang="en-US" altLang="zh-CN" sz="2795" b="1" dirty="0">
              <a:solidFill>
                <a:srgbClr val="00A6C7"/>
              </a:solidFill>
              <a:latin typeface="+mn-ea"/>
              <a:ea typeface="微软雅黑" panose="020B0503020204020204" charset="-122"/>
              <a:cs typeface="微软雅黑" panose="020B0503020204020204" charset="-122"/>
              <a:sym typeface="+mn-ea"/>
            </a:endParaRPr>
          </a:p>
        </p:txBody>
      </p:sp>
      <p:sp>
        <p:nvSpPr>
          <p:cNvPr id="8" name="文本框 7"/>
          <p:cNvSpPr txBox="1"/>
          <p:nvPr/>
        </p:nvSpPr>
        <p:spPr>
          <a:xfrm>
            <a:off x="154305" y="866775"/>
            <a:ext cx="9478645" cy="337185"/>
          </a:xfrm>
          <a:prstGeom prst="rect">
            <a:avLst/>
          </a:prstGeom>
        </p:spPr>
        <p:txBody>
          <a:bodyPr wrap="square">
            <a:spAutoFit/>
          </a:bodyPr>
          <a:p>
            <a:pPr marL="0" indent="0"/>
            <a:r>
              <a:rPr lang="en-US" altLang="zh-CN" sz="1600" b="1" i="0">
                <a:solidFill>
                  <a:srgbClr val="00A6C7"/>
                </a:solidFill>
                <a:latin typeface="微软雅黑" panose="020B0503020204020204" charset="-122"/>
                <a:ea typeface="微软雅黑" panose="020B0503020204020204" charset="-122"/>
                <a:cs typeface="微软雅黑" panose="020B0503020204020204" charset="-122"/>
              </a:rPr>
              <a:t>AI+</a:t>
            </a:r>
            <a:r>
              <a:rPr lang="zh-CN" altLang="en-US" sz="1600" b="1" i="0">
                <a:solidFill>
                  <a:srgbClr val="00A6C7"/>
                </a:solidFill>
                <a:latin typeface="微软雅黑" panose="020B0503020204020204" charset="-122"/>
                <a:ea typeface="微软雅黑" panose="020B0503020204020204" charset="-122"/>
                <a:cs typeface="微软雅黑" panose="020B0503020204020204" charset="-122"/>
              </a:rPr>
              <a:t>综合场景谋划建设主要阶段：</a:t>
            </a:r>
            <a:endParaRPr lang="zh-CN" altLang="en-US" sz="1600" b="1" i="0">
              <a:solidFill>
                <a:srgbClr val="00A6C7"/>
              </a:solidFill>
              <a:latin typeface="微软雅黑" panose="020B0503020204020204" charset="-122"/>
              <a:ea typeface="微软雅黑" panose="020B0503020204020204" charset="-122"/>
              <a:cs typeface="微软雅黑" panose="020B0503020204020204" charset="-122"/>
            </a:endParaRPr>
          </a:p>
        </p:txBody>
      </p:sp>
      <p:sp>
        <p:nvSpPr>
          <p:cNvPr id="63" name="矩形 62"/>
          <p:cNvSpPr/>
          <p:nvPr/>
        </p:nvSpPr>
        <p:spPr>
          <a:xfrm>
            <a:off x="0" y="6134735"/>
            <a:ext cx="12191365" cy="741045"/>
          </a:xfrm>
          <a:prstGeom prst="rect">
            <a:avLst/>
          </a:prstGeom>
        </p:spPr>
        <p:style>
          <a:lnRef idx="0">
            <a:srgbClr val="FFFFFF"/>
          </a:lnRef>
          <a:fillRef idx="1">
            <a:schemeClr val="accent5"/>
          </a:fillRef>
          <a:effectRef idx="0">
            <a:srgbClr val="FFFFFF"/>
          </a:effectRef>
          <a:fontRef idx="minor">
            <a:schemeClr val="dk1"/>
          </a:fontRef>
        </p:style>
        <p:txBody>
          <a:bodyPr rtlCol="0" anchor="ctr"/>
          <a:p>
            <a:pPr algn="ctr"/>
            <a:endParaRPr lang="zh-CN" altLang="en-US" sz="1400">
              <a:latin typeface="微软雅黑" panose="020B0503020204020204" charset="-122"/>
              <a:ea typeface="微软雅黑" panose="020B0503020204020204" charset="-122"/>
            </a:endParaRPr>
          </a:p>
        </p:txBody>
      </p:sp>
      <p:sp>
        <p:nvSpPr>
          <p:cNvPr id="7" name="文本框 6"/>
          <p:cNvSpPr txBox="1"/>
          <p:nvPr/>
        </p:nvSpPr>
        <p:spPr>
          <a:xfrm>
            <a:off x="336550" y="6336665"/>
            <a:ext cx="11156950" cy="337185"/>
          </a:xfrm>
          <a:prstGeom prst="rect">
            <a:avLst/>
          </a:prstGeom>
        </p:spPr>
        <p:txBody>
          <a:bodyPr wrap="square">
            <a:spAutoFit/>
          </a:bodyPr>
          <a:p>
            <a:pPr marL="0" indent="0">
              <a:spcBef>
                <a:spcPct val="0"/>
              </a:spcBef>
              <a:spcAft>
                <a:spcPct val="0"/>
              </a:spcAft>
            </a:pPr>
            <a:r>
              <a:rPr lang="en-US" altLang="zh-CN" sz="1600" b="0" i="0">
                <a:solidFill>
                  <a:srgbClr val="FFFFFF"/>
                </a:solidFill>
                <a:latin typeface="微软雅黑" panose="020B0503020204020204" charset="-122"/>
                <a:ea typeface="微软雅黑" panose="020B0503020204020204" charset="-122"/>
              </a:rPr>
              <a:t>AI+</a:t>
            </a:r>
            <a:r>
              <a:rPr lang="zh-CN" altLang="en-US" sz="1600" b="0" i="0">
                <a:solidFill>
                  <a:srgbClr val="FFFFFF"/>
                </a:solidFill>
                <a:latin typeface="微软雅黑" panose="020B0503020204020204" charset="-122"/>
                <a:ea typeface="微软雅黑" panose="020B0503020204020204" charset="-122"/>
              </a:rPr>
              <a:t>综合场景梳理谋划是一个逻辑严密、环环相扣的过程，需严格按照步骤顺序执行，确保场景建设的系统性和完整性。</a:t>
            </a:r>
            <a:endParaRPr lang="zh-CN" altLang="en-US" sz="1600" b="0" i="0">
              <a:solidFill>
                <a:srgbClr val="FFFFFF"/>
              </a:solidFill>
              <a:latin typeface="微软雅黑" panose="020B0503020204020204" charset="-122"/>
              <a:ea typeface="微软雅黑" panose="020B0503020204020204" charset="-122"/>
            </a:endParaRPr>
          </a:p>
        </p:txBody>
      </p:sp>
      <p:sp>
        <p:nvSpPr>
          <p:cNvPr id="3" name="文本框 2"/>
          <p:cNvSpPr txBox="1"/>
          <p:nvPr/>
        </p:nvSpPr>
        <p:spPr>
          <a:xfrm>
            <a:off x="263525" y="5702300"/>
            <a:ext cx="4366895" cy="306705"/>
          </a:xfrm>
          <a:prstGeom prst="rect">
            <a:avLst/>
          </a:prstGeom>
          <a:noFill/>
        </p:spPr>
        <p:txBody>
          <a:bodyPr wrap="square" rtlCol="0" anchor="t">
            <a:spAutoFit/>
          </a:bodyPr>
          <a:p>
            <a:r>
              <a:rPr lang="zh-CN" altLang="en-US" sz="1400" i="1">
                <a:solidFill>
                  <a:schemeClr val="bg1">
                    <a:lumMod val="50000"/>
                  </a:schemeClr>
                </a:solidFill>
              </a:rPr>
              <a:t>《</a:t>
            </a:r>
            <a:r>
              <a:rPr lang="zh-CN" sz="1400" i="1">
                <a:solidFill>
                  <a:schemeClr val="bg1">
                    <a:lumMod val="50000"/>
                  </a:schemeClr>
                </a:solidFill>
              </a:rPr>
              <a:t>加快推进</a:t>
            </a:r>
            <a:r>
              <a:rPr lang="en-US" altLang="zh-CN" sz="1400" i="1">
                <a:solidFill>
                  <a:schemeClr val="bg1">
                    <a:lumMod val="50000"/>
                  </a:schemeClr>
                </a:solidFill>
              </a:rPr>
              <a:t>AI+</a:t>
            </a:r>
            <a:r>
              <a:rPr lang="zh-CN" altLang="en-US" sz="1400" i="1">
                <a:solidFill>
                  <a:schemeClr val="bg1">
                    <a:lumMod val="50000"/>
                  </a:schemeClr>
                </a:solidFill>
              </a:rPr>
              <a:t>综合场景建设工作方案》</a:t>
            </a:r>
            <a:endParaRPr lang="zh-CN" altLang="en-US" sz="1400" i="1">
              <a:solidFill>
                <a:schemeClr val="bg1">
                  <a:lumMod val="50000"/>
                </a:schemeClr>
              </a:solidFill>
            </a:endParaRPr>
          </a:p>
        </p:txBody>
      </p:sp>
      <p:grpSp>
        <p:nvGrpSpPr>
          <p:cNvPr id="18" name="组合 17"/>
          <p:cNvGrpSpPr/>
          <p:nvPr/>
        </p:nvGrpSpPr>
        <p:grpSpPr>
          <a:xfrm>
            <a:off x="154305" y="1203960"/>
            <a:ext cx="11741150" cy="2023530"/>
            <a:chOff x="530" y="1896"/>
            <a:chExt cx="18490" cy="4447"/>
          </a:xfrm>
        </p:grpSpPr>
        <p:sp>
          <p:nvSpPr>
            <p:cNvPr id="9" name="矩形: 圆角 50"/>
            <p:cNvSpPr/>
            <p:nvPr/>
          </p:nvSpPr>
          <p:spPr>
            <a:xfrm>
              <a:off x="531" y="1896"/>
              <a:ext cx="2750" cy="4447"/>
            </a:xfrm>
            <a:prstGeom prst="roundRect">
              <a:avLst/>
            </a:prstGeom>
            <a:solidFill>
              <a:schemeClr val="bg1">
                <a:alpha val="11000"/>
              </a:schemeClr>
            </a:solidFill>
            <a:ln w="6055" cap="flat">
              <a:solidFill>
                <a:schemeClr val="accent5"/>
              </a:solidFill>
              <a:prstDash val="solid"/>
              <a:miter/>
            </a:ln>
            <a:effectLst>
              <a:outerShdw blurRad="254000" dist="165100" dir="3900000" algn="tl" rotWithShape="0">
                <a:schemeClr val="tx2">
                  <a:lumMod val="50000"/>
                  <a:lumOff val="50000"/>
                  <a:alpha val="40000"/>
                </a:schemeClr>
              </a:outerShdw>
            </a:effectLst>
          </p:spPr>
          <p:txBody>
            <a:bodyPr lIns="108000" tIns="108000" rIns="108000" bIns="108000" rtlCol="0" anchor="ctr"/>
            <a:p>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1" name="矩形: 圆角 50"/>
            <p:cNvSpPr/>
            <p:nvPr/>
          </p:nvSpPr>
          <p:spPr>
            <a:xfrm>
              <a:off x="3687" y="1896"/>
              <a:ext cx="2750" cy="4447"/>
            </a:xfrm>
            <a:prstGeom prst="roundRect">
              <a:avLst/>
            </a:prstGeom>
            <a:solidFill>
              <a:schemeClr val="bg1">
                <a:alpha val="11000"/>
              </a:schemeClr>
            </a:solidFill>
            <a:ln w="6055" cap="flat">
              <a:solidFill>
                <a:schemeClr val="accent5"/>
              </a:solidFill>
              <a:prstDash val="solid"/>
              <a:miter/>
            </a:ln>
            <a:effectLst>
              <a:outerShdw blurRad="254000" dist="165100" dir="3900000" algn="tl" rotWithShape="0">
                <a:schemeClr val="tx2">
                  <a:lumMod val="50000"/>
                  <a:lumOff val="50000"/>
                  <a:alpha val="40000"/>
                </a:schemeClr>
              </a:outerShdw>
            </a:effectLst>
          </p:spPr>
          <p:txBody>
            <a:bodyPr lIns="108000" tIns="108000" rIns="108000" bIns="108000" rtlCol="0" anchor="ctr"/>
            <a:p>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2" name="矩形: 圆角 50"/>
            <p:cNvSpPr/>
            <p:nvPr/>
          </p:nvSpPr>
          <p:spPr>
            <a:xfrm>
              <a:off x="6843" y="1896"/>
              <a:ext cx="2750" cy="4447"/>
            </a:xfrm>
            <a:prstGeom prst="roundRect">
              <a:avLst/>
            </a:prstGeom>
            <a:solidFill>
              <a:schemeClr val="bg1">
                <a:alpha val="11000"/>
              </a:schemeClr>
            </a:solidFill>
            <a:ln w="6055" cap="flat">
              <a:solidFill>
                <a:schemeClr val="accent5"/>
              </a:solidFill>
              <a:prstDash val="solid"/>
              <a:miter/>
            </a:ln>
            <a:effectLst>
              <a:outerShdw blurRad="254000" dist="165100" dir="3900000" algn="tl" rotWithShape="0">
                <a:schemeClr val="tx2">
                  <a:lumMod val="50000"/>
                  <a:lumOff val="50000"/>
                  <a:alpha val="40000"/>
                </a:schemeClr>
              </a:outerShdw>
            </a:effectLst>
          </p:spPr>
          <p:txBody>
            <a:bodyPr lIns="108000" tIns="108000" rIns="108000" bIns="108000" rtlCol="0" anchor="ctr"/>
            <a:p>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圆角 50"/>
            <p:cNvSpPr/>
            <p:nvPr/>
          </p:nvSpPr>
          <p:spPr>
            <a:xfrm>
              <a:off x="10000" y="1896"/>
              <a:ext cx="2750" cy="4447"/>
            </a:xfrm>
            <a:prstGeom prst="roundRect">
              <a:avLst/>
            </a:prstGeom>
            <a:solidFill>
              <a:schemeClr val="bg1">
                <a:alpha val="11000"/>
              </a:schemeClr>
            </a:solidFill>
            <a:ln w="6055" cap="flat">
              <a:solidFill>
                <a:schemeClr val="accent5"/>
              </a:solidFill>
              <a:prstDash val="solid"/>
              <a:miter/>
            </a:ln>
            <a:effectLst>
              <a:outerShdw blurRad="254000" dist="165100" dir="3900000" algn="tl" rotWithShape="0">
                <a:schemeClr val="tx2">
                  <a:lumMod val="50000"/>
                  <a:lumOff val="50000"/>
                  <a:alpha val="40000"/>
                </a:schemeClr>
              </a:outerShdw>
            </a:effectLst>
          </p:spPr>
          <p:txBody>
            <a:bodyPr lIns="108000" tIns="108000" rIns="108000" bIns="108000" rtlCol="0" anchor="ctr"/>
            <a:p>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4" name="矩形: 圆角 50"/>
            <p:cNvSpPr/>
            <p:nvPr/>
          </p:nvSpPr>
          <p:spPr>
            <a:xfrm>
              <a:off x="13156" y="1896"/>
              <a:ext cx="2750" cy="4447"/>
            </a:xfrm>
            <a:prstGeom prst="roundRect">
              <a:avLst/>
            </a:prstGeom>
            <a:solidFill>
              <a:schemeClr val="bg1">
                <a:alpha val="11000"/>
              </a:schemeClr>
            </a:solidFill>
            <a:ln w="6055" cap="flat">
              <a:solidFill>
                <a:schemeClr val="accent5"/>
              </a:solidFill>
              <a:prstDash val="solid"/>
              <a:miter/>
            </a:ln>
            <a:effectLst>
              <a:outerShdw blurRad="254000" dist="165100" dir="3900000" algn="tl" rotWithShape="0">
                <a:schemeClr val="tx2">
                  <a:lumMod val="50000"/>
                  <a:lumOff val="50000"/>
                  <a:alpha val="40000"/>
                </a:schemeClr>
              </a:outerShdw>
            </a:effectLst>
          </p:spPr>
          <p:txBody>
            <a:bodyPr lIns="108000" tIns="108000" rIns="108000" bIns="108000" rtlCol="0" anchor="ctr"/>
            <a:p>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6" name="îş1iḓé"/>
            <p:cNvSpPr/>
            <p:nvPr/>
          </p:nvSpPr>
          <p:spPr>
            <a:xfrm rot="2748155" flipH="1" flipV="1">
              <a:off x="3198" y="3369"/>
              <a:ext cx="439" cy="343"/>
            </a:xfrm>
            <a:custGeom>
              <a:avLst/>
              <a:gdLst>
                <a:gd name="connsiteX0" fmla="*/ 4647804 w 7150000"/>
                <a:gd name="connsiteY0" fmla="*/ 7720508 h 7720508"/>
                <a:gd name="connsiteX1" fmla="*/ 7150000 w 7150000"/>
                <a:gd name="connsiteY1" fmla="*/ 5147211 h 7720508"/>
                <a:gd name="connsiteX2" fmla="*/ 2589366 w 7150000"/>
                <a:gd name="connsiteY2" fmla="*/ 5117824 h 7720508"/>
                <a:gd name="connsiteX3" fmla="*/ 2589366 w 7150000"/>
                <a:gd name="connsiteY3" fmla="*/ 0 h 7720508"/>
                <a:gd name="connsiteX4" fmla="*/ 0 w 7150000"/>
                <a:gd name="connsiteY4" fmla="*/ 2662944 h 7720508"/>
                <a:gd name="connsiteX5" fmla="*/ 0 w 7150000"/>
                <a:gd name="connsiteY5" fmla="*/ 7297742 h 7720508"/>
                <a:gd name="connsiteX6" fmla="*/ 414299 w 7150000"/>
                <a:gd name="connsiteY6" fmla="*/ 7712041 h 7720508"/>
                <a:gd name="connsiteX7" fmla="*/ 2175067 w 7150000"/>
                <a:gd name="connsiteY7" fmla="*/ 7712041 h 7720508"/>
                <a:gd name="connsiteX8" fmla="*/ 2244681 w 7150000"/>
                <a:gd name="connsiteY8" fmla="*/ 7705023 h 772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0000" h="7720508">
                  <a:moveTo>
                    <a:pt x="4647804" y="7720508"/>
                  </a:moveTo>
                  <a:lnTo>
                    <a:pt x="7150000" y="5147211"/>
                  </a:lnTo>
                  <a:lnTo>
                    <a:pt x="2589366" y="5117824"/>
                  </a:lnTo>
                  <a:lnTo>
                    <a:pt x="2589366" y="0"/>
                  </a:lnTo>
                  <a:lnTo>
                    <a:pt x="0" y="2662944"/>
                  </a:lnTo>
                  <a:lnTo>
                    <a:pt x="0" y="7297742"/>
                  </a:lnTo>
                  <a:cubicBezTo>
                    <a:pt x="0" y="7526553"/>
                    <a:pt x="185488" y="7712041"/>
                    <a:pt x="414299" y="7712041"/>
                  </a:cubicBezTo>
                  <a:lnTo>
                    <a:pt x="2175067" y="7712041"/>
                  </a:lnTo>
                  <a:lnTo>
                    <a:pt x="2244681" y="7705023"/>
                  </a:lnTo>
                  <a:close/>
                </a:path>
              </a:pathLst>
            </a:custGeom>
            <a:pattFill prst="pct5">
              <a:fgClr>
                <a:schemeClr val="tx2">
                  <a:lumMod val="40000"/>
                  <a:lumOff val="60000"/>
                </a:schemeClr>
              </a:fgClr>
              <a:bgClr>
                <a:schemeClr val="tx2">
                  <a:lumMod val="60000"/>
                  <a:lumOff val="40000"/>
                </a:schemeClr>
              </a:bgClr>
            </a:pattFill>
            <a:ln w="12700" cap="flat" cmpd="sng" algn="ctr">
              <a:noFill/>
              <a:prstDash val="solid"/>
              <a:miter lim="800000"/>
            </a:ln>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dk1"/>
                </a:solidFill>
              </a:endParaRPr>
            </a:p>
          </p:txBody>
        </p:sp>
        <p:sp>
          <p:nvSpPr>
            <p:cNvPr id="21" name="îş1iḓé"/>
            <p:cNvSpPr/>
            <p:nvPr/>
          </p:nvSpPr>
          <p:spPr>
            <a:xfrm rot="2748155" flipH="1" flipV="1">
              <a:off x="6358" y="3370"/>
              <a:ext cx="439" cy="343"/>
            </a:xfrm>
            <a:custGeom>
              <a:avLst/>
              <a:gdLst>
                <a:gd name="connsiteX0" fmla="*/ 4647804 w 7150000"/>
                <a:gd name="connsiteY0" fmla="*/ 7720508 h 7720508"/>
                <a:gd name="connsiteX1" fmla="*/ 7150000 w 7150000"/>
                <a:gd name="connsiteY1" fmla="*/ 5147211 h 7720508"/>
                <a:gd name="connsiteX2" fmla="*/ 2589366 w 7150000"/>
                <a:gd name="connsiteY2" fmla="*/ 5117824 h 7720508"/>
                <a:gd name="connsiteX3" fmla="*/ 2589366 w 7150000"/>
                <a:gd name="connsiteY3" fmla="*/ 0 h 7720508"/>
                <a:gd name="connsiteX4" fmla="*/ 0 w 7150000"/>
                <a:gd name="connsiteY4" fmla="*/ 2662944 h 7720508"/>
                <a:gd name="connsiteX5" fmla="*/ 0 w 7150000"/>
                <a:gd name="connsiteY5" fmla="*/ 7297742 h 7720508"/>
                <a:gd name="connsiteX6" fmla="*/ 414299 w 7150000"/>
                <a:gd name="connsiteY6" fmla="*/ 7712041 h 7720508"/>
                <a:gd name="connsiteX7" fmla="*/ 2175067 w 7150000"/>
                <a:gd name="connsiteY7" fmla="*/ 7712041 h 7720508"/>
                <a:gd name="connsiteX8" fmla="*/ 2244681 w 7150000"/>
                <a:gd name="connsiteY8" fmla="*/ 7705023 h 772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0000" h="7720508">
                  <a:moveTo>
                    <a:pt x="4647804" y="7720508"/>
                  </a:moveTo>
                  <a:lnTo>
                    <a:pt x="7150000" y="5147211"/>
                  </a:lnTo>
                  <a:lnTo>
                    <a:pt x="2589366" y="5117824"/>
                  </a:lnTo>
                  <a:lnTo>
                    <a:pt x="2589366" y="0"/>
                  </a:lnTo>
                  <a:lnTo>
                    <a:pt x="0" y="2662944"/>
                  </a:lnTo>
                  <a:lnTo>
                    <a:pt x="0" y="7297742"/>
                  </a:lnTo>
                  <a:cubicBezTo>
                    <a:pt x="0" y="7526553"/>
                    <a:pt x="185488" y="7712041"/>
                    <a:pt x="414299" y="7712041"/>
                  </a:cubicBezTo>
                  <a:lnTo>
                    <a:pt x="2175067" y="7712041"/>
                  </a:lnTo>
                  <a:lnTo>
                    <a:pt x="2244681" y="7705023"/>
                  </a:lnTo>
                  <a:close/>
                </a:path>
              </a:pathLst>
            </a:custGeom>
            <a:pattFill prst="pct5">
              <a:fgClr>
                <a:schemeClr val="tx2">
                  <a:lumMod val="40000"/>
                  <a:lumOff val="60000"/>
                </a:schemeClr>
              </a:fgClr>
              <a:bgClr>
                <a:schemeClr val="tx2">
                  <a:lumMod val="60000"/>
                  <a:lumOff val="40000"/>
                </a:schemeClr>
              </a:bgClr>
            </a:pattFill>
            <a:ln w="12700" cap="flat" cmpd="sng" algn="ctr">
              <a:noFill/>
              <a:prstDash val="solid"/>
              <a:miter lim="800000"/>
            </a:ln>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dirty="0">
                <a:solidFill>
                  <a:schemeClr val="dk1"/>
                </a:solidFill>
              </a:endParaRPr>
            </a:p>
          </p:txBody>
        </p:sp>
        <p:sp>
          <p:nvSpPr>
            <p:cNvPr id="22" name="îş1iḓé"/>
            <p:cNvSpPr/>
            <p:nvPr/>
          </p:nvSpPr>
          <p:spPr>
            <a:xfrm rot="2748155" flipH="1" flipV="1">
              <a:off x="9518" y="3372"/>
              <a:ext cx="439" cy="343"/>
            </a:xfrm>
            <a:custGeom>
              <a:avLst/>
              <a:gdLst>
                <a:gd name="connsiteX0" fmla="*/ 4647804 w 7150000"/>
                <a:gd name="connsiteY0" fmla="*/ 7720508 h 7720508"/>
                <a:gd name="connsiteX1" fmla="*/ 7150000 w 7150000"/>
                <a:gd name="connsiteY1" fmla="*/ 5147211 h 7720508"/>
                <a:gd name="connsiteX2" fmla="*/ 2589366 w 7150000"/>
                <a:gd name="connsiteY2" fmla="*/ 5117824 h 7720508"/>
                <a:gd name="connsiteX3" fmla="*/ 2589366 w 7150000"/>
                <a:gd name="connsiteY3" fmla="*/ 0 h 7720508"/>
                <a:gd name="connsiteX4" fmla="*/ 0 w 7150000"/>
                <a:gd name="connsiteY4" fmla="*/ 2662944 h 7720508"/>
                <a:gd name="connsiteX5" fmla="*/ 0 w 7150000"/>
                <a:gd name="connsiteY5" fmla="*/ 7297742 h 7720508"/>
                <a:gd name="connsiteX6" fmla="*/ 414299 w 7150000"/>
                <a:gd name="connsiteY6" fmla="*/ 7712041 h 7720508"/>
                <a:gd name="connsiteX7" fmla="*/ 2175067 w 7150000"/>
                <a:gd name="connsiteY7" fmla="*/ 7712041 h 7720508"/>
                <a:gd name="connsiteX8" fmla="*/ 2244681 w 7150000"/>
                <a:gd name="connsiteY8" fmla="*/ 7705023 h 772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0000" h="7720508">
                  <a:moveTo>
                    <a:pt x="4647804" y="7720508"/>
                  </a:moveTo>
                  <a:lnTo>
                    <a:pt x="7150000" y="5147211"/>
                  </a:lnTo>
                  <a:lnTo>
                    <a:pt x="2589366" y="5117824"/>
                  </a:lnTo>
                  <a:lnTo>
                    <a:pt x="2589366" y="0"/>
                  </a:lnTo>
                  <a:lnTo>
                    <a:pt x="0" y="2662944"/>
                  </a:lnTo>
                  <a:lnTo>
                    <a:pt x="0" y="7297742"/>
                  </a:lnTo>
                  <a:cubicBezTo>
                    <a:pt x="0" y="7526553"/>
                    <a:pt x="185488" y="7712041"/>
                    <a:pt x="414299" y="7712041"/>
                  </a:cubicBezTo>
                  <a:lnTo>
                    <a:pt x="2175067" y="7712041"/>
                  </a:lnTo>
                  <a:lnTo>
                    <a:pt x="2244681" y="7705023"/>
                  </a:lnTo>
                  <a:close/>
                </a:path>
              </a:pathLst>
            </a:custGeom>
            <a:pattFill prst="pct5">
              <a:fgClr>
                <a:schemeClr val="tx2">
                  <a:lumMod val="40000"/>
                  <a:lumOff val="60000"/>
                </a:schemeClr>
              </a:fgClr>
              <a:bgClr>
                <a:schemeClr val="tx2">
                  <a:lumMod val="60000"/>
                  <a:lumOff val="40000"/>
                </a:schemeClr>
              </a:bgClr>
            </a:pattFill>
            <a:ln w="12700" cap="flat" cmpd="sng" algn="ctr">
              <a:noFill/>
              <a:prstDash val="solid"/>
              <a:miter lim="800000"/>
            </a:ln>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dirty="0">
                <a:solidFill>
                  <a:schemeClr val="dk1"/>
                </a:solidFill>
              </a:endParaRPr>
            </a:p>
          </p:txBody>
        </p:sp>
        <p:sp>
          <p:nvSpPr>
            <p:cNvPr id="23" name="îş1iḓé"/>
            <p:cNvSpPr/>
            <p:nvPr/>
          </p:nvSpPr>
          <p:spPr>
            <a:xfrm rot="2748155" flipH="1" flipV="1">
              <a:off x="12677" y="3373"/>
              <a:ext cx="439" cy="343"/>
            </a:xfrm>
            <a:custGeom>
              <a:avLst/>
              <a:gdLst>
                <a:gd name="connsiteX0" fmla="*/ 4647804 w 7150000"/>
                <a:gd name="connsiteY0" fmla="*/ 7720508 h 7720508"/>
                <a:gd name="connsiteX1" fmla="*/ 7150000 w 7150000"/>
                <a:gd name="connsiteY1" fmla="*/ 5147211 h 7720508"/>
                <a:gd name="connsiteX2" fmla="*/ 2589366 w 7150000"/>
                <a:gd name="connsiteY2" fmla="*/ 5117824 h 7720508"/>
                <a:gd name="connsiteX3" fmla="*/ 2589366 w 7150000"/>
                <a:gd name="connsiteY3" fmla="*/ 0 h 7720508"/>
                <a:gd name="connsiteX4" fmla="*/ 0 w 7150000"/>
                <a:gd name="connsiteY4" fmla="*/ 2662944 h 7720508"/>
                <a:gd name="connsiteX5" fmla="*/ 0 w 7150000"/>
                <a:gd name="connsiteY5" fmla="*/ 7297742 h 7720508"/>
                <a:gd name="connsiteX6" fmla="*/ 414299 w 7150000"/>
                <a:gd name="connsiteY6" fmla="*/ 7712041 h 7720508"/>
                <a:gd name="connsiteX7" fmla="*/ 2175067 w 7150000"/>
                <a:gd name="connsiteY7" fmla="*/ 7712041 h 7720508"/>
                <a:gd name="connsiteX8" fmla="*/ 2244681 w 7150000"/>
                <a:gd name="connsiteY8" fmla="*/ 7705023 h 772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0000" h="7720508">
                  <a:moveTo>
                    <a:pt x="4647804" y="7720508"/>
                  </a:moveTo>
                  <a:lnTo>
                    <a:pt x="7150000" y="5147211"/>
                  </a:lnTo>
                  <a:lnTo>
                    <a:pt x="2589366" y="5117824"/>
                  </a:lnTo>
                  <a:lnTo>
                    <a:pt x="2589366" y="0"/>
                  </a:lnTo>
                  <a:lnTo>
                    <a:pt x="0" y="2662944"/>
                  </a:lnTo>
                  <a:lnTo>
                    <a:pt x="0" y="7297742"/>
                  </a:lnTo>
                  <a:cubicBezTo>
                    <a:pt x="0" y="7526553"/>
                    <a:pt x="185488" y="7712041"/>
                    <a:pt x="414299" y="7712041"/>
                  </a:cubicBezTo>
                  <a:lnTo>
                    <a:pt x="2175067" y="7712041"/>
                  </a:lnTo>
                  <a:lnTo>
                    <a:pt x="2244681" y="7705023"/>
                  </a:lnTo>
                  <a:close/>
                </a:path>
              </a:pathLst>
            </a:custGeom>
            <a:pattFill prst="pct5">
              <a:fgClr>
                <a:schemeClr val="tx2">
                  <a:lumMod val="40000"/>
                  <a:lumOff val="60000"/>
                </a:schemeClr>
              </a:fgClr>
              <a:bgClr>
                <a:schemeClr val="tx2">
                  <a:lumMod val="60000"/>
                  <a:lumOff val="40000"/>
                </a:schemeClr>
              </a:bgClr>
            </a:pattFill>
            <a:ln w="12700" cap="flat" cmpd="sng" algn="ctr">
              <a:noFill/>
              <a:prstDash val="solid"/>
              <a:miter lim="800000"/>
            </a:ln>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dirty="0">
                <a:solidFill>
                  <a:schemeClr val="dk1"/>
                </a:solidFill>
              </a:endParaRPr>
            </a:p>
          </p:txBody>
        </p:sp>
        <p:sp>
          <p:nvSpPr>
            <p:cNvPr id="24" name="文本框 23"/>
            <p:cNvSpPr txBox="1"/>
            <p:nvPr/>
          </p:nvSpPr>
          <p:spPr>
            <a:xfrm>
              <a:off x="1228" y="3361"/>
              <a:ext cx="1357" cy="674"/>
            </a:xfrm>
            <a:prstGeom prst="rect">
              <a:avLst/>
            </a:prstGeom>
          </p:spPr>
          <p:txBody>
            <a:bodyPr wrap="square">
              <a:spAutoFit/>
            </a:bodyPr>
            <a:p>
              <a:pPr marL="0" indent="0" algn="ctr">
                <a:spcAft>
                  <a:spcPct val="60000"/>
                </a:spcAft>
              </a:pPr>
              <a:r>
                <a:rPr lang="zh-CN" altLang="en-US" sz="1400" b="1" i="0">
                  <a:solidFill>
                    <a:schemeClr val="accent5"/>
                  </a:solidFill>
                  <a:latin typeface="微软雅黑" panose="020B0503020204020204" charset="-122"/>
                  <a:ea typeface="微软雅黑" panose="020B0503020204020204" charset="-122"/>
                </a:rPr>
                <a:t>第一步</a:t>
              </a:r>
              <a:endParaRPr lang="zh-CN" altLang="en-US" sz="1400" b="1" i="0">
                <a:solidFill>
                  <a:schemeClr val="accent5"/>
                </a:solidFill>
                <a:latin typeface="微软雅黑" panose="020B0503020204020204" charset="-122"/>
                <a:ea typeface="微软雅黑" panose="020B0503020204020204" charset="-122"/>
              </a:endParaRPr>
            </a:p>
          </p:txBody>
        </p:sp>
        <p:sp>
          <p:nvSpPr>
            <p:cNvPr id="25" name="文本框 24"/>
            <p:cNvSpPr txBox="1"/>
            <p:nvPr/>
          </p:nvSpPr>
          <p:spPr>
            <a:xfrm>
              <a:off x="4368" y="3361"/>
              <a:ext cx="1357" cy="674"/>
            </a:xfrm>
            <a:prstGeom prst="rect">
              <a:avLst/>
            </a:prstGeom>
          </p:spPr>
          <p:txBody>
            <a:bodyPr wrap="square">
              <a:spAutoFit/>
            </a:bodyPr>
            <a:p>
              <a:pPr marL="0" indent="0" algn="ctr">
                <a:spcAft>
                  <a:spcPct val="60000"/>
                </a:spcAft>
              </a:pPr>
              <a:r>
                <a:rPr lang="zh-CN" altLang="en-US" sz="1400" b="1" i="0">
                  <a:solidFill>
                    <a:schemeClr val="accent5"/>
                  </a:solidFill>
                  <a:latin typeface="微软雅黑" panose="020B0503020204020204" charset="-122"/>
                  <a:ea typeface="微软雅黑" panose="020B0503020204020204" charset="-122"/>
                </a:rPr>
                <a:t>第二步</a:t>
              </a:r>
              <a:endParaRPr lang="zh-CN" altLang="en-US" sz="1400" b="1" i="0">
                <a:solidFill>
                  <a:schemeClr val="accent5"/>
                </a:solidFill>
                <a:latin typeface="微软雅黑" panose="020B0503020204020204" charset="-122"/>
                <a:ea typeface="微软雅黑" panose="020B0503020204020204" charset="-122"/>
              </a:endParaRPr>
            </a:p>
          </p:txBody>
        </p:sp>
        <p:sp>
          <p:nvSpPr>
            <p:cNvPr id="26" name="文本框 25"/>
            <p:cNvSpPr txBox="1"/>
            <p:nvPr/>
          </p:nvSpPr>
          <p:spPr>
            <a:xfrm>
              <a:off x="7508" y="3361"/>
              <a:ext cx="1357" cy="674"/>
            </a:xfrm>
            <a:prstGeom prst="rect">
              <a:avLst/>
            </a:prstGeom>
          </p:spPr>
          <p:txBody>
            <a:bodyPr wrap="square">
              <a:spAutoFit/>
            </a:bodyPr>
            <a:p>
              <a:pPr marL="0" indent="0" algn="ctr">
                <a:spcAft>
                  <a:spcPct val="60000"/>
                </a:spcAft>
              </a:pPr>
              <a:r>
                <a:rPr lang="zh-CN" altLang="en-US" sz="1400" b="1" i="0">
                  <a:solidFill>
                    <a:schemeClr val="accent5"/>
                  </a:solidFill>
                  <a:latin typeface="微软雅黑" panose="020B0503020204020204" charset="-122"/>
                  <a:ea typeface="微软雅黑" panose="020B0503020204020204" charset="-122"/>
                </a:rPr>
                <a:t>第三步</a:t>
              </a:r>
              <a:endParaRPr lang="zh-CN" altLang="en-US" sz="1400" b="1" i="0">
                <a:solidFill>
                  <a:schemeClr val="accent5"/>
                </a:solidFill>
                <a:latin typeface="微软雅黑" panose="020B0503020204020204" charset="-122"/>
                <a:ea typeface="微软雅黑" panose="020B0503020204020204" charset="-122"/>
              </a:endParaRPr>
            </a:p>
          </p:txBody>
        </p:sp>
        <p:sp>
          <p:nvSpPr>
            <p:cNvPr id="27" name="文本框 26"/>
            <p:cNvSpPr txBox="1"/>
            <p:nvPr/>
          </p:nvSpPr>
          <p:spPr>
            <a:xfrm>
              <a:off x="10648" y="3361"/>
              <a:ext cx="1357" cy="674"/>
            </a:xfrm>
            <a:prstGeom prst="rect">
              <a:avLst/>
            </a:prstGeom>
          </p:spPr>
          <p:txBody>
            <a:bodyPr wrap="square">
              <a:spAutoFit/>
            </a:bodyPr>
            <a:p>
              <a:pPr marL="0" indent="0" algn="ctr">
                <a:spcAft>
                  <a:spcPct val="60000"/>
                </a:spcAft>
              </a:pPr>
              <a:r>
                <a:rPr lang="zh-CN" altLang="en-US" sz="1400" b="1" i="0">
                  <a:solidFill>
                    <a:schemeClr val="accent5"/>
                  </a:solidFill>
                  <a:latin typeface="微软雅黑" panose="020B0503020204020204" charset="-122"/>
                  <a:ea typeface="微软雅黑" panose="020B0503020204020204" charset="-122"/>
                </a:rPr>
                <a:t>第四步</a:t>
              </a:r>
              <a:endParaRPr lang="zh-CN" altLang="en-US" sz="1400" b="1" i="0">
                <a:solidFill>
                  <a:schemeClr val="accent5"/>
                </a:solidFill>
                <a:latin typeface="微软雅黑" panose="020B0503020204020204" charset="-122"/>
                <a:ea typeface="微软雅黑" panose="020B0503020204020204" charset="-122"/>
              </a:endParaRPr>
            </a:p>
          </p:txBody>
        </p:sp>
        <p:sp>
          <p:nvSpPr>
            <p:cNvPr id="28" name="文本框 27"/>
            <p:cNvSpPr txBox="1"/>
            <p:nvPr/>
          </p:nvSpPr>
          <p:spPr>
            <a:xfrm>
              <a:off x="13789" y="3361"/>
              <a:ext cx="1357" cy="674"/>
            </a:xfrm>
            <a:prstGeom prst="rect">
              <a:avLst/>
            </a:prstGeom>
          </p:spPr>
          <p:txBody>
            <a:bodyPr wrap="square">
              <a:spAutoFit/>
            </a:bodyPr>
            <a:p>
              <a:pPr marL="0" indent="0" algn="ctr">
                <a:spcAft>
                  <a:spcPct val="60000"/>
                </a:spcAft>
              </a:pPr>
              <a:r>
                <a:rPr lang="zh-CN" altLang="en-US" sz="1400" b="1" i="0">
                  <a:solidFill>
                    <a:schemeClr val="accent5"/>
                  </a:solidFill>
                  <a:latin typeface="微软雅黑" panose="020B0503020204020204" charset="-122"/>
                  <a:ea typeface="微软雅黑" panose="020B0503020204020204" charset="-122"/>
                </a:rPr>
                <a:t>第五步</a:t>
              </a:r>
              <a:endParaRPr lang="zh-CN" altLang="en-US" sz="1400" b="1" i="0">
                <a:solidFill>
                  <a:schemeClr val="accent5"/>
                </a:solidFill>
                <a:latin typeface="微软雅黑" panose="020B0503020204020204" charset="-122"/>
                <a:ea typeface="微软雅黑" panose="020B0503020204020204" charset="-122"/>
              </a:endParaRPr>
            </a:p>
          </p:txBody>
        </p:sp>
        <p:sp>
          <p:nvSpPr>
            <p:cNvPr id="70" name="文本框 69"/>
            <p:cNvSpPr txBox="1"/>
            <p:nvPr/>
          </p:nvSpPr>
          <p:spPr>
            <a:xfrm>
              <a:off x="530" y="4443"/>
              <a:ext cx="2751" cy="1592"/>
            </a:xfrm>
            <a:prstGeom prst="rect">
              <a:avLst/>
            </a:prstGeom>
            <a:noFill/>
          </p:spPr>
          <p:txBody>
            <a:bodyPr wrap="square">
              <a:noAutofit/>
            </a:bodyPr>
            <a:p>
              <a:pPr indent="0" algn="ctr" fontAlgn="auto">
                <a:lnSpc>
                  <a:spcPct val="114000"/>
                </a:lnSpc>
                <a:spcBef>
                  <a:spcPts val="1000"/>
                </a:spcBef>
              </a:pPr>
              <a:r>
                <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找准问题</a:t>
              </a: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a:p>
              <a:pPr indent="0" algn="ctr" fontAlgn="auto">
                <a:lnSpc>
                  <a:spcPct val="114000"/>
                </a:lnSpc>
                <a:spcBef>
                  <a:spcPts val="1000"/>
                </a:spcBef>
              </a:pP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p:txBody>
        </p:sp>
        <p:sp>
          <p:nvSpPr>
            <p:cNvPr id="29" name="文本框 28"/>
            <p:cNvSpPr txBox="1"/>
            <p:nvPr/>
          </p:nvSpPr>
          <p:spPr>
            <a:xfrm>
              <a:off x="3687" y="4443"/>
              <a:ext cx="2751" cy="1592"/>
            </a:xfrm>
            <a:prstGeom prst="rect">
              <a:avLst/>
            </a:prstGeom>
            <a:noFill/>
          </p:spPr>
          <p:txBody>
            <a:bodyPr wrap="square">
              <a:noAutofit/>
            </a:bodyPr>
            <a:p>
              <a:pPr algn="ctr">
                <a:lnSpc>
                  <a:spcPct val="114000"/>
                </a:lnSpc>
                <a:buClrTx/>
                <a:buSzTx/>
                <a:buFontTx/>
              </a:pPr>
              <a:r>
                <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确定开发</a:t>
              </a: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a:p>
              <a:pPr algn="ctr">
                <a:lnSpc>
                  <a:spcPct val="114000"/>
                </a:lnSpc>
                <a:buClrTx/>
                <a:buSzTx/>
                <a:buFontTx/>
              </a:pPr>
              <a:r>
                <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建设主体</a:t>
              </a: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a:p>
              <a:pPr algn="ctr">
                <a:lnSpc>
                  <a:spcPct val="114000"/>
                </a:lnSpc>
                <a:spcBef>
                  <a:spcPts val="1000"/>
                </a:spcBef>
                <a:buClrTx/>
                <a:buSzTx/>
                <a:buFontTx/>
              </a:pP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p:txBody>
        </p:sp>
        <p:sp>
          <p:nvSpPr>
            <p:cNvPr id="30" name="文本框 29"/>
            <p:cNvSpPr txBox="1"/>
            <p:nvPr/>
          </p:nvSpPr>
          <p:spPr>
            <a:xfrm>
              <a:off x="6843" y="4443"/>
              <a:ext cx="2751" cy="1592"/>
            </a:xfrm>
            <a:prstGeom prst="rect">
              <a:avLst/>
            </a:prstGeom>
            <a:noFill/>
          </p:spPr>
          <p:txBody>
            <a:bodyPr wrap="square">
              <a:noAutofit/>
            </a:bodyPr>
            <a:p>
              <a:pPr algn="ctr">
                <a:lnSpc>
                  <a:spcPct val="114000"/>
                </a:lnSpc>
                <a:buClrTx/>
                <a:buSzTx/>
                <a:buFontTx/>
              </a:pPr>
              <a:r>
                <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梳理各环节配置</a:t>
              </a:r>
              <a:r>
                <a:rPr lang="en-US" altLang="zh-CN"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AI</a:t>
              </a: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a:p>
              <a:pPr algn="ctr">
                <a:lnSpc>
                  <a:spcPct val="114000"/>
                </a:lnSpc>
                <a:spcBef>
                  <a:spcPts val="1000"/>
                </a:spcBef>
                <a:buClrTx/>
                <a:buSzTx/>
                <a:buFontTx/>
              </a:pP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p:txBody>
        </p:sp>
        <p:sp>
          <p:nvSpPr>
            <p:cNvPr id="31" name="文本框 30"/>
            <p:cNvSpPr txBox="1"/>
            <p:nvPr/>
          </p:nvSpPr>
          <p:spPr>
            <a:xfrm>
              <a:off x="10000" y="4443"/>
              <a:ext cx="2751" cy="1592"/>
            </a:xfrm>
            <a:prstGeom prst="rect">
              <a:avLst/>
            </a:prstGeom>
            <a:noFill/>
          </p:spPr>
          <p:txBody>
            <a:bodyPr wrap="square">
              <a:noAutofit/>
            </a:bodyPr>
            <a:p>
              <a:pPr algn="ctr">
                <a:lnSpc>
                  <a:spcPct val="114000"/>
                </a:lnSpc>
                <a:buClrTx/>
                <a:buSzTx/>
                <a:buFontTx/>
              </a:pPr>
              <a:r>
                <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建立高质量数据集</a:t>
              </a:r>
              <a:r>
                <a:rPr lang="en-US" altLang="zh-CN"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a:t>
              </a:r>
              <a:r>
                <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可信空间</a:t>
              </a: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a:p>
              <a:pPr algn="ctr">
                <a:lnSpc>
                  <a:spcPct val="114000"/>
                </a:lnSpc>
                <a:spcBef>
                  <a:spcPts val="1000"/>
                </a:spcBef>
                <a:buClrTx/>
                <a:buSzTx/>
                <a:buFontTx/>
              </a:pP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p:txBody>
        </p:sp>
        <p:sp>
          <p:nvSpPr>
            <p:cNvPr id="32" name="文本框 31"/>
            <p:cNvSpPr txBox="1"/>
            <p:nvPr/>
          </p:nvSpPr>
          <p:spPr>
            <a:xfrm>
              <a:off x="13157" y="4443"/>
              <a:ext cx="2751" cy="1592"/>
            </a:xfrm>
            <a:prstGeom prst="rect">
              <a:avLst/>
            </a:prstGeom>
            <a:noFill/>
          </p:spPr>
          <p:txBody>
            <a:bodyPr wrap="square">
              <a:noAutofit/>
            </a:bodyPr>
            <a:p>
              <a:pPr algn="ctr">
                <a:lnSpc>
                  <a:spcPct val="114000"/>
                </a:lnSpc>
                <a:buClrTx/>
                <a:buSzTx/>
                <a:buFontTx/>
              </a:pPr>
              <a:r>
                <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开发建设</a:t>
              </a: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a:p>
              <a:pPr algn="ctr">
                <a:lnSpc>
                  <a:spcPct val="114000"/>
                </a:lnSpc>
                <a:spcBef>
                  <a:spcPts val="1000"/>
                </a:spcBef>
                <a:buClrTx/>
                <a:buSzTx/>
                <a:buFontTx/>
              </a:pP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p:txBody>
        </p:sp>
        <p:pic>
          <p:nvPicPr>
            <p:cNvPr id="34" name="图片 33" descr="文件搜索放大镜"/>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09" y="2277"/>
              <a:ext cx="829" cy="980"/>
            </a:xfrm>
            <a:prstGeom prst="rect">
              <a:avLst/>
            </a:prstGeom>
          </p:spPr>
        </p:pic>
        <p:pic>
          <p:nvPicPr>
            <p:cNvPr id="35" name="图片 34" descr="合作单位"/>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52" y="2126"/>
              <a:ext cx="829" cy="980"/>
            </a:xfrm>
            <a:prstGeom prst="rect">
              <a:avLst/>
            </a:prstGeom>
          </p:spPr>
        </p:pic>
        <p:pic>
          <p:nvPicPr>
            <p:cNvPr id="37" name="图片 36" descr="流程图"/>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95" y="2026"/>
              <a:ext cx="829" cy="980"/>
            </a:xfrm>
            <a:prstGeom prst="rect">
              <a:avLst/>
            </a:prstGeom>
          </p:spPr>
        </p:pic>
        <p:pic>
          <p:nvPicPr>
            <p:cNvPr id="38" name="图片 37" descr="机器人"/>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938" y="2138"/>
              <a:ext cx="829" cy="980"/>
            </a:xfrm>
            <a:prstGeom prst="rect">
              <a:avLst/>
            </a:prstGeom>
          </p:spPr>
        </p:pic>
        <p:pic>
          <p:nvPicPr>
            <p:cNvPr id="39" name="图片 38" descr="备案登记"/>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080" y="2151"/>
              <a:ext cx="829" cy="980"/>
            </a:xfrm>
            <a:prstGeom prst="rect">
              <a:avLst/>
            </a:prstGeom>
          </p:spPr>
        </p:pic>
        <p:sp>
          <p:nvSpPr>
            <p:cNvPr id="5" name="矩形: 圆角 50"/>
            <p:cNvSpPr/>
            <p:nvPr/>
          </p:nvSpPr>
          <p:spPr>
            <a:xfrm>
              <a:off x="16268" y="1896"/>
              <a:ext cx="2750" cy="4447"/>
            </a:xfrm>
            <a:prstGeom prst="roundRect">
              <a:avLst/>
            </a:prstGeom>
            <a:solidFill>
              <a:schemeClr val="bg1">
                <a:alpha val="11000"/>
              </a:schemeClr>
            </a:solidFill>
            <a:ln w="6055" cap="flat">
              <a:solidFill>
                <a:schemeClr val="accent5"/>
              </a:solidFill>
              <a:prstDash val="solid"/>
              <a:miter/>
            </a:ln>
            <a:effectLst>
              <a:outerShdw blurRad="254000" dist="165100" dir="3900000" algn="tl" rotWithShape="0">
                <a:schemeClr val="tx2">
                  <a:lumMod val="50000"/>
                  <a:lumOff val="50000"/>
                  <a:alpha val="40000"/>
                </a:schemeClr>
              </a:outerShdw>
            </a:effectLst>
          </p:spPr>
          <p:txBody>
            <a:bodyPr lIns="108000" tIns="108000" rIns="108000" bIns="108000" rtlCol="0" anchor="ctr"/>
            <a:p>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îş1iḓé"/>
            <p:cNvSpPr/>
            <p:nvPr/>
          </p:nvSpPr>
          <p:spPr>
            <a:xfrm rot="2748155" flipH="1" flipV="1">
              <a:off x="15789" y="3373"/>
              <a:ext cx="439" cy="343"/>
            </a:xfrm>
            <a:custGeom>
              <a:avLst/>
              <a:gdLst>
                <a:gd name="connsiteX0" fmla="*/ 4647804 w 7150000"/>
                <a:gd name="connsiteY0" fmla="*/ 7720508 h 7720508"/>
                <a:gd name="connsiteX1" fmla="*/ 7150000 w 7150000"/>
                <a:gd name="connsiteY1" fmla="*/ 5147211 h 7720508"/>
                <a:gd name="connsiteX2" fmla="*/ 2589366 w 7150000"/>
                <a:gd name="connsiteY2" fmla="*/ 5117824 h 7720508"/>
                <a:gd name="connsiteX3" fmla="*/ 2589366 w 7150000"/>
                <a:gd name="connsiteY3" fmla="*/ 0 h 7720508"/>
                <a:gd name="connsiteX4" fmla="*/ 0 w 7150000"/>
                <a:gd name="connsiteY4" fmla="*/ 2662944 h 7720508"/>
                <a:gd name="connsiteX5" fmla="*/ 0 w 7150000"/>
                <a:gd name="connsiteY5" fmla="*/ 7297742 h 7720508"/>
                <a:gd name="connsiteX6" fmla="*/ 414299 w 7150000"/>
                <a:gd name="connsiteY6" fmla="*/ 7712041 h 7720508"/>
                <a:gd name="connsiteX7" fmla="*/ 2175067 w 7150000"/>
                <a:gd name="connsiteY7" fmla="*/ 7712041 h 7720508"/>
                <a:gd name="connsiteX8" fmla="*/ 2244681 w 7150000"/>
                <a:gd name="connsiteY8" fmla="*/ 7705023 h 772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0000" h="7720508">
                  <a:moveTo>
                    <a:pt x="4647804" y="7720508"/>
                  </a:moveTo>
                  <a:lnTo>
                    <a:pt x="7150000" y="5147211"/>
                  </a:lnTo>
                  <a:lnTo>
                    <a:pt x="2589366" y="5117824"/>
                  </a:lnTo>
                  <a:lnTo>
                    <a:pt x="2589366" y="0"/>
                  </a:lnTo>
                  <a:lnTo>
                    <a:pt x="0" y="2662944"/>
                  </a:lnTo>
                  <a:lnTo>
                    <a:pt x="0" y="7297742"/>
                  </a:lnTo>
                  <a:cubicBezTo>
                    <a:pt x="0" y="7526553"/>
                    <a:pt x="185488" y="7712041"/>
                    <a:pt x="414299" y="7712041"/>
                  </a:cubicBezTo>
                  <a:lnTo>
                    <a:pt x="2175067" y="7712041"/>
                  </a:lnTo>
                  <a:lnTo>
                    <a:pt x="2244681" y="7705023"/>
                  </a:lnTo>
                  <a:close/>
                </a:path>
              </a:pathLst>
            </a:custGeom>
            <a:pattFill prst="pct5">
              <a:fgClr>
                <a:schemeClr val="tx2">
                  <a:lumMod val="40000"/>
                  <a:lumOff val="60000"/>
                </a:schemeClr>
              </a:fgClr>
              <a:bgClr>
                <a:schemeClr val="tx2">
                  <a:lumMod val="60000"/>
                  <a:lumOff val="40000"/>
                </a:schemeClr>
              </a:bgClr>
            </a:pattFill>
            <a:ln w="12700" cap="flat" cmpd="sng" algn="ctr">
              <a:noFill/>
              <a:prstDash val="solid"/>
              <a:miter lim="800000"/>
            </a:ln>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p>
              <a:pPr algn="ctr"/>
              <a:endParaRPr lang="zh-CN" altLang="en-US" dirty="0">
                <a:solidFill>
                  <a:schemeClr val="dk1"/>
                </a:solidFill>
              </a:endParaRPr>
            </a:p>
          </p:txBody>
        </p:sp>
        <p:sp>
          <p:nvSpPr>
            <p:cNvPr id="10" name="文本框 9"/>
            <p:cNvSpPr txBox="1"/>
            <p:nvPr/>
          </p:nvSpPr>
          <p:spPr>
            <a:xfrm>
              <a:off x="16901" y="3361"/>
              <a:ext cx="1357" cy="674"/>
            </a:xfrm>
            <a:prstGeom prst="rect">
              <a:avLst/>
            </a:prstGeom>
          </p:spPr>
          <p:txBody>
            <a:bodyPr wrap="square">
              <a:spAutoFit/>
            </a:bodyPr>
            <a:p>
              <a:pPr marL="0" indent="0" algn="ctr">
                <a:spcAft>
                  <a:spcPct val="60000"/>
                </a:spcAft>
              </a:pPr>
              <a:r>
                <a:rPr lang="zh-CN" altLang="en-US" sz="1400" b="1" i="0">
                  <a:solidFill>
                    <a:schemeClr val="accent5"/>
                  </a:solidFill>
                  <a:latin typeface="微软雅黑" panose="020B0503020204020204" charset="-122"/>
                  <a:ea typeface="微软雅黑" panose="020B0503020204020204" charset="-122"/>
                </a:rPr>
                <a:t>第六步</a:t>
              </a:r>
              <a:endParaRPr lang="zh-CN" altLang="en-US" sz="1400" b="1" i="0">
                <a:solidFill>
                  <a:schemeClr val="accent5"/>
                </a:solidFill>
                <a:latin typeface="微软雅黑" panose="020B0503020204020204" charset="-122"/>
                <a:ea typeface="微软雅黑" panose="020B0503020204020204" charset="-122"/>
              </a:endParaRPr>
            </a:p>
          </p:txBody>
        </p:sp>
        <p:sp>
          <p:nvSpPr>
            <p:cNvPr id="15" name="文本框 14"/>
            <p:cNvSpPr txBox="1"/>
            <p:nvPr/>
          </p:nvSpPr>
          <p:spPr>
            <a:xfrm>
              <a:off x="16269" y="4443"/>
              <a:ext cx="2751" cy="1592"/>
            </a:xfrm>
            <a:prstGeom prst="rect">
              <a:avLst/>
            </a:prstGeom>
            <a:noFill/>
          </p:spPr>
          <p:txBody>
            <a:bodyPr wrap="square">
              <a:noAutofit/>
            </a:bodyPr>
            <a:p>
              <a:pPr algn="ctr">
                <a:lnSpc>
                  <a:spcPct val="114000"/>
                </a:lnSpc>
                <a:buClrTx/>
                <a:buSzTx/>
                <a:buFontTx/>
              </a:pPr>
              <a:r>
                <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上线验收</a:t>
              </a: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a:p>
              <a:pPr algn="ctr">
                <a:lnSpc>
                  <a:spcPct val="114000"/>
                </a:lnSpc>
                <a:spcBef>
                  <a:spcPts val="1000"/>
                </a:spcBef>
                <a:buClrTx/>
                <a:buSzTx/>
                <a:buFontTx/>
              </a:pPr>
              <a:endParaRPr lang="zh-CN" altLang="en-US" b="1"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p:txBody>
        </p:sp>
        <p:pic>
          <p:nvPicPr>
            <p:cNvPr id="17" name="图片 16" descr="备案登记"/>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192" y="2151"/>
              <a:ext cx="829" cy="980"/>
            </a:xfrm>
            <a:prstGeom prst="rect">
              <a:avLst/>
            </a:prstGeom>
          </p:spPr>
        </p:pic>
      </p:grpSp>
      <p:sp>
        <p:nvSpPr>
          <p:cNvPr id="20" name="文本框 19"/>
          <p:cNvSpPr txBox="1"/>
          <p:nvPr/>
        </p:nvSpPr>
        <p:spPr>
          <a:xfrm>
            <a:off x="154305" y="3684270"/>
            <a:ext cx="9478645" cy="337185"/>
          </a:xfrm>
          <a:prstGeom prst="rect">
            <a:avLst/>
          </a:prstGeom>
        </p:spPr>
        <p:txBody>
          <a:bodyPr wrap="square">
            <a:spAutoFit/>
          </a:bodyPr>
          <a:p>
            <a:pPr marL="0" indent="0"/>
            <a:r>
              <a:rPr lang="en-US" altLang="zh-CN" sz="1600" b="1" i="0">
                <a:solidFill>
                  <a:srgbClr val="00A6C7"/>
                </a:solidFill>
                <a:latin typeface="微软雅黑" panose="020B0503020204020204" charset="-122"/>
                <a:ea typeface="微软雅黑" panose="020B0503020204020204" charset="-122"/>
                <a:cs typeface="微软雅黑" panose="020B0503020204020204" charset="-122"/>
              </a:rPr>
              <a:t>AI+</a:t>
            </a:r>
            <a:r>
              <a:rPr lang="zh-CN" altLang="en-US" sz="1600" b="1" i="0">
                <a:solidFill>
                  <a:srgbClr val="00A6C7"/>
                </a:solidFill>
                <a:latin typeface="微软雅黑" panose="020B0503020204020204" charset="-122"/>
                <a:ea typeface="微软雅黑" panose="020B0503020204020204" charset="-122"/>
                <a:cs typeface="微软雅黑" panose="020B0503020204020204" charset="-122"/>
              </a:rPr>
              <a:t>综合场景推进机制：</a:t>
            </a:r>
            <a:endParaRPr lang="zh-CN" altLang="en-US" sz="1600" b="1" i="0">
              <a:solidFill>
                <a:srgbClr val="00A6C7"/>
              </a:solidFill>
              <a:latin typeface="微软雅黑" panose="020B0503020204020204" charset="-122"/>
              <a:ea typeface="微软雅黑" panose="020B0503020204020204" charset="-122"/>
              <a:cs typeface="微软雅黑" panose="020B0503020204020204" charset="-122"/>
            </a:endParaRPr>
          </a:p>
        </p:txBody>
      </p:sp>
      <p:grpSp>
        <p:nvGrpSpPr>
          <p:cNvPr id="42" name="组合 41"/>
          <p:cNvGrpSpPr/>
          <p:nvPr/>
        </p:nvGrpSpPr>
        <p:grpSpPr>
          <a:xfrm>
            <a:off x="154940" y="4036695"/>
            <a:ext cx="11739245" cy="1156970"/>
            <a:chOff x="770" y="5919"/>
            <a:chExt cx="19530" cy="2697"/>
          </a:xfrm>
          <a:solidFill>
            <a:schemeClr val="accent5">
              <a:lumMod val="75000"/>
            </a:schemeClr>
          </a:solidFill>
        </p:grpSpPr>
        <p:sp>
          <p:nvSpPr>
            <p:cNvPr id="19" name="矩形 18"/>
            <p:cNvSpPr/>
            <p:nvPr/>
          </p:nvSpPr>
          <p:spPr>
            <a:xfrm>
              <a:off x="770" y="5930"/>
              <a:ext cx="3618" cy="2686"/>
            </a:xfrm>
            <a:prstGeom prst="rect">
              <a:avLst/>
            </a:prstGeom>
            <a:gr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设立专家组</a:t>
              </a:r>
              <a:endParaRPr lang="zh-CN" altLang="en-US" b="1"/>
            </a:p>
          </p:txBody>
        </p:sp>
        <p:sp>
          <p:nvSpPr>
            <p:cNvPr id="33" name="矩形 32"/>
            <p:cNvSpPr/>
            <p:nvPr/>
          </p:nvSpPr>
          <p:spPr>
            <a:xfrm>
              <a:off x="4748" y="5930"/>
              <a:ext cx="3618" cy="2686"/>
            </a:xfrm>
            <a:prstGeom prst="rect">
              <a:avLst/>
            </a:prstGeom>
            <a:gr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分批发布</a:t>
              </a:r>
              <a:r>
                <a:rPr lang="en-US" altLang="zh-CN" b="1"/>
                <a:t>100</a:t>
              </a:r>
              <a:r>
                <a:rPr lang="zh-CN" altLang="en-US" b="1"/>
                <a:t>个</a:t>
              </a:r>
              <a:r>
                <a:rPr lang="en-US" altLang="zh-CN" b="1"/>
                <a:t>AI+</a:t>
              </a:r>
              <a:r>
                <a:rPr lang="zh-CN" altLang="en-US" b="1"/>
                <a:t>综合场景清单</a:t>
              </a:r>
              <a:endParaRPr lang="zh-CN" altLang="en-US" b="1"/>
            </a:p>
          </p:txBody>
        </p:sp>
        <p:sp>
          <p:nvSpPr>
            <p:cNvPr id="36" name="矩形 35"/>
            <p:cNvSpPr/>
            <p:nvPr/>
          </p:nvSpPr>
          <p:spPr>
            <a:xfrm>
              <a:off x="8726" y="5930"/>
              <a:ext cx="3618" cy="2686"/>
            </a:xfrm>
            <a:prstGeom prst="rect">
              <a:avLst/>
            </a:prstGeom>
            <a:gr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强化全市四个</a:t>
              </a:r>
              <a:r>
                <a:rPr lang="en-US" altLang="zh-CN" b="1"/>
                <a:t>“</a:t>
              </a:r>
              <a:r>
                <a:rPr lang="zh-CN" altLang="en-US" b="1"/>
                <a:t>一本账</a:t>
              </a:r>
              <a:r>
                <a:rPr lang="en-US" altLang="zh-CN" b="1"/>
                <a:t>”</a:t>
              </a:r>
              <a:endParaRPr lang="en-US" altLang="zh-CN" b="1"/>
            </a:p>
          </p:txBody>
        </p:sp>
        <p:sp>
          <p:nvSpPr>
            <p:cNvPr id="40" name="矩形 39"/>
            <p:cNvSpPr/>
            <p:nvPr/>
          </p:nvSpPr>
          <p:spPr>
            <a:xfrm>
              <a:off x="12704" y="5930"/>
              <a:ext cx="3618" cy="2686"/>
            </a:xfrm>
            <a:prstGeom prst="rect">
              <a:avLst/>
            </a:prstGeom>
            <a:gr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强化分级调度</a:t>
              </a:r>
              <a:endParaRPr lang="zh-CN" altLang="en-US" b="1"/>
            </a:p>
          </p:txBody>
        </p:sp>
        <p:sp>
          <p:nvSpPr>
            <p:cNvPr id="41" name="矩形 40"/>
            <p:cNvSpPr/>
            <p:nvPr/>
          </p:nvSpPr>
          <p:spPr>
            <a:xfrm>
              <a:off x="16682" y="5919"/>
              <a:ext cx="3618" cy="2686"/>
            </a:xfrm>
            <a:prstGeom prst="rect">
              <a:avLst/>
            </a:prstGeom>
            <a:grp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强化保障措施</a:t>
              </a:r>
              <a:endParaRPr lang="zh-CN" altLang="en-US" b="1"/>
            </a:p>
          </p:txBody>
        </p:sp>
      </p:gr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custDataLst>
              <p:tags r:id="rId1"/>
            </p:custDataLst>
          </p:nvPr>
        </p:nvSpPr>
        <p:spPr>
          <a:xfrm>
            <a:off x="331408" y="141268"/>
            <a:ext cx="8888791" cy="521970"/>
          </a:xfrm>
          <a:prstGeom prst="rect">
            <a:avLst/>
          </a:prstGeom>
        </p:spPr>
        <p:txBody>
          <a:bodyPr wrap="square">
            <a:spAutoFit/>
          </a:bodyPr>
          <a:lstStyle/>
          <a:p>
            <a:pPr defTabSz="914400">
              <a:tabLst>
                <a:tab pos="5998845" algn="l"/>
              </a:tabLst>
            </a:pPr>
            <a:r>
              <a:rPr lang="en-US" altLang="zh-CN" sz="2800" b="1" dirty="0">
                <a:solidFill>
                  <a:srgbClr val="00A6C7"/>
                </a:solidFill>
                <a:latin typeface="+mn-ea"/>
                <a:sym typeface="+mn-ea"/>
              </a:rPr>
              <a:t>AI+</a:t>
            </a:r>
            <a:r>
              <a:rPr lang="zh-CN" altLang="en-US" sz="2800" b="1" dirty="0">
                <a:solidFill>
                  <a:srgbClr val="00A6C7"/>
                </a:solidFill>
                <a:latin typeface="+mn-ea"/>
                <a:sym typeface="+mn-ea"/>
              </a:rPr>
              <a:t>综合场景实施建议</a:t>
            </a:r>
            <a:endParaRPr lang="zh-CN" altLang="en-US" sz="2800" b="1" dirty="0">
              <a:solidFill>
                <a:srgbClr val="00A6C7"/>
              </a:solidFill>
              <a:latin typeface="+mn-ea"/>
              <a:sym typeface="+mn-ea"/>
            </a:endParaRPr>
          </a:p>
        </p:txBody>
      </p:sp>
      <p:sp>
        <p:nvSpPr>
          <p:cNvPr id="62" name="文本框 61"/>
          <p:cNvSpPr txBox="1"/>
          <p:nvPr/>
        </p:nvSpPr>
        <p:spPr>
          <a:xfrm>
            <a:off x="225425" y="662940"/>
            <a:ext cx="11736705" cy="461010"/>
          </a:xfrm>
          <a:prstGeom prst="rect">
            <a:avLst/>
          </a:prstGeom>
          <a:noFill/>
        </p:spPr>
        <p:txBody>
          <a:bodyPr wrap="square">
            <a:noAutofit/>
          </a:bodyPr>
          <a:lstStyle/>
          <a:p>
            <a:pPr algn="just">
              <a:lnSpc>
                <a:spcPct val="150000"/>
              </a:lnSpc>
            </a:pPr>
            <a:r>
              <a:rPr lang="zh-CN" sz="1400" dirty="0">
                <a:latin typeface="+mn-ea"/>
              </a:rPr>
              <a:t>将</a:t>
            </a:r>
            <a:r>
              <a:rPr lang="en-US" altLang="zh-CN" sz="1400" dirty="0">
                <a:latin typeface="+mn-ea"/>
              </a:rPr>
              <a:t>AI</a:t>
            </a:r>
            <a:r>
              <a:rPr lang="zh-CN" altLang="en-US" sz="1400" dirty="0">
                <a:latin typeface="+mn-ea"/>
              </a:rPr>
              <a:t>融入</a:t>
            </a:r>
            <a:r>
              <a:rPr lang="zh-CN" sz="1400" dirty="0">
                <a:latin typeface="+mn-ea"/>
              </a:rPr>
              <a:t>综合场景全流程，实现数据治理分析、监测预警、研判决策、调度处置、监督评价、复盘改进等能力，通过智能化解决复杂问题。</a:t>
            </a:r>
            <a:endParaRPr lang="zh-CN" sz="1400" dirty="0">
              <a:latin typeface="+mn-ea"/>
            </a:endParaRPr>
          </a:p>
        </p:txBody>
      </p:sp>
      <p:sp>
        <p:nvSpPr>
          <p:cNvPr id="32" name="矩形 31"/>
          <p:cNvSpPr/>
          <p:nvPr>
            <p:custDataLst>
              <p:tags r:id="rId2"/>
            </p:custDataLst>
          </p:nvPr>
        </p:nvSpPr>
        <p:spPr>
          <a:xfrm>
            <a:off x="115570" y="1123950"/>
            <a:ext cx="2289810" cy="567817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Title"/>
          <p:cNvSpPr>
            <a:spLocks noChangeAspect="1"/>
          </p:cNvSpPr>
          <p:nvPr>
            <p:custDataLst>
              <p:tags r:id="rId3"/>
            </p:custDataLst>
          </p:nvPr>
        </p:nvSpPr>
        <p:spPr>
          <a:xfrm>
            <a:off x="114935" y="1123950"/>
            <a:ext cx="2291080" cy="41148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b="1" dirty="0">
                <a:solidFill>
                  <a:srgbClr val="FFFFFF"/>
                </a:solidFill>
                <a:latin typeface="+mn-ea"/>
                <a:sym typeface="Arial" panose="020B0604020202020204" pitchFamily="34" charset="0"/>
              </a:rPr>
              <a:t>1.</a:t>
            </a:r>
            <a:r>
              <a:rPr kumimoji="1" lang="zh-CN" altLang="en-US" b="1" dirty="0">
                <a:solidFill>
                  <a:srgbClr val="FFFFFF"/>
                </a:solidFill>
                <a:latin typeface="+mn-ea"/>
                <a:sym typeface="Arial" panose="020B0604020202020204" pitchFamily="34" charset="0"/>
              </a:rPr>
              <a:t>规划</a:t>
            </a:r>
            <a:r>
              <a:rPr kumimoji="1" lang="en-US" altLang="zh-CN" b="1" dirty="0">
                <a:solidFill>
                  <a:srgbClr val="FFFFFF"/>
                </a:solidFill>
                <a:latin typeface="+mn-ea"/>
                <a:sym typeface="Arial" panose="020B0604020202020204" pitchFamily="34" charset="0"/>
              </a:rPr>
              <a:t>AI+</a:t>
            </a:r>
            <a:r>
              <a:rPr kumimoji="1" lang="zh-CN" altLang="en-US" b="1" dirty="0">
                <a:solidFill>
                  <a:srgbClr val="FFFFFF"/>
                </a:solidFill>
                <a:latin typeface="+mn-ea"/>
                <a:sym typeface="Arial" panose="020B0604020202020204" pitchFamily="34" charset="0"/>
              </a:rPr>
              <a:t>场景</a:t>
            </a:r>
            <a:endParaRPr kumimoji="1" lang="zh-CN" altLang="en-US" b="1" dirty="0">
              <a:solidFill>
                <a:srgbClr val="FFFFFF"/>
              </a:solidFill>
              <a:latin typeface="+mn-ea"/>
              <a:sym typeface="Arial" panose="020B0604020202020204" pitchFamily="34" charset="0"/>
            </a:endParaRPr>
          </a:p>
        </p:txBody>
      </p:sp>
      <p:sp>
        <p:nvSpPr>
          <p:cNvPr id="55" name="矩形 54"/>
          <p:cNvSpPr/>
          <p:nvPr>
            <p:custDataLst>
              <p:tags r:id="rId4"/>
            </p:custDataLst>
          </p:nvPr>
        </p:nvSpPr>
        <p:spPr>
          <a:xfrm>
            <a:off x="2540000" y="1123950"/>
            <a:ext cx="2289810" cy="567817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Title"/>
          <p:cNvSpPr>
            <a:spLocks noChangeAspect="1"/>
          </p:cNvSpPr>
          <p:nvPr>
            <p:custDataLst>
              <p:tags r:id="rId5"/>
            </p:custDataLst>
          </p:nvPr>
        </p:nvSpPr>
        <p:spPr>
          <a:xfrm>
            <a:off x="2539365" y="1123950"/>
            <a:ext cx="2291080" cy="41148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b="1" dirty="0">
                <a:solidFill>
                  <a:srgbClr val="FFFFFF"/>
                </a:solidFill>
                <a:latin typeface="+mn-ea"/>
                <a:sym typeface="Arial" panose="020B0604020202020204" pitchFamily="34" charset="0"/>
              </a:rPr>
              <a:t>2.</a:t>
            </a:r>
            <a:r>
              <a:rPr kumimoji="1" lang="zh-CN" altLang="en-US" b="1" dirty="0">
                <a:solidFill>
                  <a:srgbClr val="FFFFFF"/>
                </a:solidFill>
                <a:latin typeface="+mn-ea"/>
                <a:sym typeface="Arial" panose="020B0604020202020204" pitchFamily="34" charset="0"/>
              </a:rPr>
              <a:t>数据准备</a:t>
            </a:r>
            <a:endParaRPr kumimoji="1" lang="zh-CN" altLang="en-US" b="1" dirty="0">
              <a:solidFill>
                <a:srgbClr val="FFFFFF"/>
              </a:solidFill>
              <a:latin typeface="+mn-ea"/>
              <a:sym typeface="Arial" panose="020B0604020202020204" pitchFamily="34" charset="0"/>
            </a:endParaRPr>
          </a:p>
        </p:txBody>
      </p:sp>
      <p:sp>
        <p:nvSpPr>
          <p:cNvPr id="60" name="矩形 59"/>
          <p:cNvSpPr/>
          <p:nvPr>
            <p:custDataLst>
              <p:tags r:id="rId6"/>
            </p:custDataLst>
          </p:nvPr>
        </p:nvSpPr>
        <p:spPr>
          <a:xfrm>
            <a:off x="4964430" y="1123950"/>
            <a:ext cx="2289810" cy="567817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1" name="Title"/>
          <p:cNvSpPr>
            <a:spLocks noChangeAspect="1"/>
          </p:cNvSpPr>
          <p:nvPr>
            <p:custDataLst>
              <p:tags r:id="rId7"/>
            </p:custDataLst>
          </p:nvPr>
        </p:nvSpPr>
        <p:spPr>
          <a:xfrm>
            <a:off x="4963795" y="1123950"/>
            <a:ext cx="2291080" cy="41148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b="1" dirty="0">
                <a:solidFill>
                  <a:srgbClr val="FFFFFF"/>
                </a:solidFill>
                <a:latin typeface="+mn-ea"/>
                <a:sym typeface="Arial" panose="020B0604020202020204" pitchFamily="34" charset="0"/>
              </a:rPr>
              <a:t>3.</a:t>
            </a:r>
            <a:r>
              <a:rPr kumimoji="1" lang="zh-CN" altLang="en-US" b="1" dirty="0">
                <a:solidFill>
                  <a:srgbClr val="FFFFFF"/>
                </a:solidFill>
                <a:latin typeface="+mn-ea"/>
                <a:sym typeface="Arial" panose="020B0604020202020204" pitchFamily="34" charset="0"/>
              </a:rPr>
              <a:t>模型选型与评估</a:t>
            </a:r>
            <a:endParaRPr kumimoji="1" lang="en-US" altLang="zh-CN" b="1" dirty="0">
              <a:solidFill>
                <a:srgbClr val="FFFFFF"/>
              </a:solidFill>
              <a:latin typeface="+mn-ea"/>
              <a:sym typeface="Arial" panose="020B0604020202020204" pitchFamily="34" charset="0"/>
            </a:endParaRPr>
          </a:p>
        </p:txBody>
      </p:sp>
      <p:sp>
        <p:nvSpPr>
          <p:cNvPr id="64" name="矩形 63"/>
          <p:cNvSpPr/>
          <p:nvPr>
            <p:custDataLst>
              <p:tags r:id="rId8"/>
            </p:custDataLst>
          </p:nvPr>
        </p:nvSpPr>
        <p:spPr>
          <a:xfrm>
            <a:off x="7388860" y="1123950"/>
            <a:ext cx="2289810" cy="567817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5" name="Title"/>
          <p:cNvSpPr>
            <a:spLocks noChangeAspect="1"/>
          </p:cNvSpPr>
          <p:nvPr>
            <p:custDataLst>
              <p:tags r:id="rId9"/>
            </p:custDataLst>
          </p:nvPr>
        </p:nvSpPr>
        <p:spPr>
          <a:xfrm>
            <a:off x="7388225" y="1123950"/>
            <a:ext cx="2291080" cy="41148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fontScale="9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b="1" dirty="0">
                <a:solidFill>
                  <a:srgbClr val="FFFFFF"/>
                </a:solidFill>
                <a:latin typeface="+mn-ea"/>
                <a:sym typeface="Arial" panose="020B0604020202020204" pitchFamily="34" charset="0"/>
              </a:rPr>
              <a:t>4.</a:t>
            </a:r>
            <a:r>
              <a:rPr kumimoji="1" lang="zh-CN" altLang="en-US" b="1" dirty="0">
                <a:solidFill>
                  <a:srgbClr val="FFFFFF"/>
                </a:solidFill>
                <a:latin typeface="+mn-ea"/>
                <a:sym typeface="Arial" panose="020B0604020202020204" pitchFamily="34" charset="0"/>
              </a:rPr>
              <a:t>模型训练与微调</a:t>
            </a:r>
            <a:r>
              <a:rPr kumimoji="1" lang="en-US" altLang="zh-CN" b="1" dirty="0">
                <a:solidFill>
                  <a:srgbClr val="FFFFFF"/>
                </a:solidFill>
                <a:latin typeface="+mn-ea"/>
                <a:sym typeface="Arial" panose="020B0604020202020204" pitchFamily="34" charset="0"/>
              </a:rPr>
              <a:t>(</a:t>
            </a:r>
            <a:r>
              <a:rPr kumimoji="1" lang="zh-CN" altLang="en-US" b="1" dirty="0">
                <a:solidFill>
                  <a:srgbClr val="FFFFFF"/>
                </a:solidFill>
                <a:latin typeface="+mn-ea"/>
                <a:sym typeface="Arial" panose="020B0604020202020204" pitchFamily="34" charset="0"/>
              </a:rPr>
              <a:t>可选</a:t>
            </a:r>
            <a:r>
              <a:rPr kumimoji="1" lang="en-US" altLang="zh-CN" b="1" dirty="0">
                <a:solidFill>
                  <a:srgbClr val="FFFFFF"/>
                </a:solidFill>
                <a:latin typeface="+mn-ea"/>
                <a:sym typeface="Arial" panose="020B0604020202020204" pitchFamily="34" charset="0"/>
              </a:rPr>
              <a:t>)</a:t>
            </a:r>
            <a:endParaRPr kumimoji="1" lang="en-US" altLang="zh-CN" b="1" dirty="0">
              <a:solidFill>
                <a:srgbClr val="FFFFFF"/>
              </a:solidFill>
              <a:latin typeface="+mn-ea"/>
              <a:sym typeface="Arial" panose="020B0604020202020204" pitchFamily="34" charset="0"/>
            </a:endParaRPr>
          </a:p>
        </p:txBody>
      </p:sp>
      <p:sp>
        <p:nvSpPr>
          <p:cNvPr id="67" name="矩形 66"/>
          <p:cNvSpPr/>
          <p:nvPr>
            <p:custDataLst>
              <p:tags r:id="rId10"/>
            </p:custDataLst>
          </p:nvPr>
        </p:nvSpPr>
        <p:spPr>
          <a:xfrm>
            <a:off x="9813290" y="1123950"/>
            <a:ext cx="2289810" cy="567817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8" name="Title"/>
          <p:cNvSpPr>
            <a:spLocks noChangeAspect="1"/>
          </p:cNvSpPr>
          <p:nvPr>
            <p:custDataLst>
              <p:tags r:id="rId11"/>
            </p:custDataLst>
          </p:nvPr>
        </p:nvSpPr>
        <p:spPr>
          <a:xfrm>
            <a:off x="9812655" y="1123950"/>
            <a:ext cx="2291080" cy="41148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b="1" dirty="0">
                <a:solidFill>
                  <a:srgbClr val="FFFFFF"/>
                </a:solidFill>
                <a:latin typeface="+mn-ea"/>
                <a:sym typeface="Arial" panose="020B0604020202020204" pitchFamily="34" charset="0"/>
              </a:rPr>
              <a:t>5.</a:t>
            </a:r>
            <a:r>
              <a:rPr kumimoji="1" lang="zh-CN" altLang="en-US" b="1" dirty="0">
                <a:solidFill>
                  <a:srgbClr val="FFFFFF"/>
                </a:solidFill>
                <a:latin typeface="+mn-ea"/>
                <a:sym typeface="Arial" panose="020B0604020202020204" pitchFamily="34" charset="0"/>
              </a:rPr>
              <a:t>智能体开发与迭代</a:t>
            </a:r>
            <a:endParaRPr kumimoji="1" lang="zh-CN" altLang="en-US" b="1" dirty="0">
              <a:solidFill>
                <a:srgbClr val="FFFFFF"/>
              </a:solidFill>
              <a:latin typeface="+mn-ea"/>
              <a:sym typeface="Arial" panose="020B0604020202020204" pitchFamily="34" charset="0"/>
            </a:endParaRPr>
          </a:p>
        </p:txBody>
      </p:sp>
      <p:sp>
        <p:nvSpPr>
          <p:cNvPr id="70" name="矩形 69"/>
          <p:cNvSpPr/>
          <p:nvPr>
            <p:custDataLst>
              <p:tags r:id="rId12"/>
            </p:custDataLst>
          </p:nvPr>
        </p:nvSpPr>
        <p:spPr>
          <a:xfrm>
            <a:off x="226060" y="1625600"/>
            <a:ext cx="2089150" cy="121920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 name="Title"/>
          <p:cNvSpPr>
            <a:spLocks noChangeAspect="1"/>
          </p:cNvSpPr>
          <p:nvPr>
            <p:custDataLst>
              <p:tags r:id="rId13"/>
            </p:custDataLst>
          </p:nvPr>
        </p:nvSpPr>
        <p:spPr>
          <a:xfrm>
            <a:off x="225425" y="1625600"/>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1.1</a:t>
            </a:r>
            <a:r>
              <a:rPr kumimoji="1" lang="zh-CN" sz="1400" b="1" dirty="0">
                <a:solidFill>
                  <a:srgbClr val="FFFFFF"/>
                </a:solidFill>
                <a:latin typeface="+mn-ea"/>
                <a:sym typeface="Arial" panose="020B0604020202020204" pitchFamily="34" charset="0"/>
              </a:rPr>
              <a:t>定义场景</a:t>
            </a:r>
            <a:endParaRPr kumimoji="1" lang="zh-CN" sz="1400" b="1" dirty="0">
              <a:solidFill>
                <a:srgbClr val="FFFFFF"/>
              </a:solidFill>
              <a:latin typeface="+mn-ea"/>
              <a:sym typeface="Arial" panose="020B0604020202020204" pitchFamily="34" charset="0"/>
            </a:endParaRPr>
          </a:p>
        </p:txBody>
      </p:sp>
      <p:sp>
        <p:nvSpPr>
          <p:cNvPr id="73" name="文本框 72"/>
          <p:cNvSpPr txBox="1"/>
          <p:nvPr>
            <p:custDataLst>
              <p:tags r:id="rId14"/>
            </p:custDataLst>
          </p:nvPr>
        </p:nvSpPr>
        <p:spPr>
          <a:xfrm>
            <a:off x="224790" y="1925955"/>
            <a:ext cx="2091055" cy="857250"/>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识别急需通过</a:t>
            </a:r>
            <a:r>
              <a:rPr lang="en-US" altLang="zh-CN" sz="1200">
                <a:latin typeface="微软雅黑" panose="020B0503020204020204" charset="-122"/>
                <a:ea typeface="微软雅黑" panose="020B0503020204020204" charset="-122"/>
                <a:cs typeface="微软雅黑" panose="020B0503020204020204" charset="-122"/>
              </a:rPr>
              <a:t>AI</a:t>
            </a:r>
            <a:r>
              <a:rPr lang="zh-CN" altLang="en-US" sz="1200">
                <a:latin typeface="微软雅黑" panose="020B0503020204020204" charset="-122"/>
                <a:ea typeface="微软雅黑" panose="020B0503020204020204" charset="-122"/>
                <a:cs typeface="微软雅黑" panose="020B0503020204020204" charset="-122"/>
              </a:rPr>
              <a:t>解决的复杂问题、重大需求的多跨协同综合场景</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梳理业务流程</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77" name="矩形 76"/>
          <p:cNvSpPr/>
          <p:nvPr>
            <p:custDataLst>
              <p:tags r:id="rId15"/>
            </p:custDataLst>
          </p:nvPr>
        </p:nvSpPr>
        <p:spPr>
          <a:xfrm>
            <a:off x="225425" y="2866390"/>
            <a:ext cx="2089150" cy="1180465"/>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8" name="Title"/>
          <p:cNvSpPr>
            <a:spLocks noChangeAspect="1"/>
          </p:cNvSpPr>
          <p:nvPr>
            <p:custDataLst>
              <p:tags r:id="rId16"/>
            </p:custDataLst>
          </p:nvPr>
        </p:nvSpPr>
        <p:spPr>
          <a:xfrm>
            <a:off x="224790" y="2866390"/>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1.2</a:t>
            </a:r>
            <a:r>
              <a:rPr kumimoji="1" lang="zh-CN" altLang="en-US" sz="1400" b="1" dirty="0">
                <a:solidFill>
                  <a:srgbClr val="FFFFFF"/>
                </a:solidFill>
                <a:latin typeface="+mn-ea"/>
                <a:sym typeface="Arial" panose="020B0604020202020204" pitchFamily="34" charset="0"/>
              </a:rPr>
              <a:t>分解</a:t>
            </a:r>
            <a:r>
              <a:rPr kumimoji="1" lang="zh-CN" sz="1400" b="1" dirty="0">
                <a:solidFill>
                  <a:srgbClr val="FFFFFF"/>
                </a:solidFill>
                <a:latin typeface="+mn-ea"/>
                <a:sym typeface="Arial" panose="020B0604020202020204" pitchFamily="34" charset="0"/>
              </a:rPr>
              <a:t>场景</a:t>
            </a:r>
            <a:endParaRPr kumimoji="1" lang="zh-CN" sz="1400" b="1" dirty="0">
              <a:solidFill>
                <a:srgbClr val="FFFFFF"/>
              </a:solidFill>
              <a:latin typeface="+mn-ea"/>
              <a:sym typeface="Arial" panose="020B0604020202020204" pitchFamily="34" charset="0"/>
            </a:endParaRPr>
          </a:p>
        </p:txBody>
      </p:sp>
      <p:sp>
        <p:nvSpPr>
          <p:cNvPr id="79" name="文本框 78"/>
          <p:cNvSpPr txBox="1"/>
          <p:nvPr>
            <p:custDataLst>
              <p:tags r:id="rId17"/>
            </p:custDataLst>
          </p:nvPr>
        </p:nvSpPr>
        <p:spPr>
          <a:xfrm>
            <a:off x="226060" y="3144520"/>
            <a:ext cx="2088515" cy="798830"/>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根据业务流程拆分子场景</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识别子场景需要通过</a:t>
            </a:r>
            <a:r>
              <a:rPr lang="en-US" altLang="zh-CN" sz="1200">
                <a:latin typeface="微软雅黑" panose="020B0503020204020204" charset="-122"/>
                <a:ea typeface="微软雅黑" panose="020B0503020204020204" charset="-122"/>
                <a:cs typeface="微软雅黑" panose="020B0503020204020204" charset="-122"/>
              </a:rPr>
              <a:t>AI</a:t>
            </a:r>
            <a:r>
              <a:rPr lang="zh-CN" altLang="en-US" sz="1200">
                <a:latin typeface="微软雅黑" panose="020B0503020204020204" charset="-122"/>
                <a:ea typeface="微软雅黑" panose="020B0503020204020204" charset="-122"/>
                <a:cs typeface="微软雅黑" panose="020B0503020204020204" charset="-122"/>
              </a:rPr>
              <a:t>实现的能力</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规划子场景智能体</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82" name="矩形 81"/>
          <p:cNvSpPr/>
          <p:nvPr>
            <p:custDataLst>
              <p:tags r:id="rId18"/>
            </p:custDataLst>
          </p:nvPr>
        </p:nvSpPr>
        <p:spPr>
          <a:xfrm>
            <a:off x="224790" y="4068445"/>
            <a:ext cx="2089150" cy="121920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3" name="Title"/>
          <p:cNvSpPr>
            <a:spLocks noChangeAspect="1"/>
          </p:cNvSpPr>
          <p:nvPr>
            <p:custDataLst>
              <p:tags r:id="rId19"/>
            </p:custDataLst>
          </p:nvPr>
        </p:nvSpPr>
        <p:spPr>
          <a:xfrm>
            <a:off x="224155" y="4068445"/>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1.3</a:t>
            </a:r>
            <a:r>
              <a:rPr kumimoji="1" lang="zh-CN" altLang="en-US" sz="1400" b="1" dirty="0">
                <a:solidFill>
                  <a:srgbClr val="FFFFFF"/>
                </a:solidFill>
                <a:latin typeface="+mn-ea"/>
                <a:sym typeface="Arial" panose="020B0604020202020204" pitchFamily="34" charset="0"/>
              </a:rPr>
              <a:t>确定业务事项</a:t>
            </a:r>
            <a:endParaRPr kumimoji="1" lang="zh-CN" altLang="en-US" sz="1400" b="1" dirty="0">
              <a:solidFill>
                <a:srgbClr val="FFFFFF"/>
              </a:solidFill>
              <a:latin typeface="+mn-ea"/>
              <a:sym typeface="Arial" panose="020B0604020202020204" pitchFamily="34" charset="0"/>
            </a:endParaRPr>
          </a:p>
        </p:txBody>
      </p:sp>
      <p:sp>
        <p:nvSpPr>
          <p:cNvPr id="84" name="文本框 83"/>
          <p:cNvSpPr txBox="1"/>
          <p:nvPr>
            <p:custDataLst>
              <p:tags r:id="rId20"/>
            </p:custDataLst>
          </p:nvPr>
        </p:nvSpPr>
        <p:spPr>
          <a:xfrm>
            <a:off x="223520" y="4368800"/>
            <a:ext cx="2091055" cy="857250"/>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梳理业务事项</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识别业务事项需要通过</a:t>
            </a:r>
            <a:r>
              <a:rPr lang="en-US" altLang="zh-CN" sz="1200">
                <a:latin typeface="微软雅黑" panose="020B0503020204020204" charset="-122"/>
                <a:ea typeface="微软雅黑" panose="020B0503020204020204" charset="-122"/>
                <a:cs typeface="微软雅黑" panose="020B0503020204020204" charset="-122"/>
              </a:rPr>
              <a:t>AI</a:t>
            </a:r>
            <a:r>
              <a:rPr lang="zh-CN" altLang="en-US" sz="1200">
                <a:latin typeface="微软雅黑" panose="020B0503020204020204" charset="-122"/>
                <a:ea typeface="微软雅黑" panose="020B0503020204020204" charset="-122"/>
                <a:cs typeface="微软雅黑" panose="020B0503020204020204" charset="-122"/>
              </a:rPr>
              <a:t>实现的能力</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规划业务事项智能体</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87" name="矩形 86"/>
          <p:cNvSpPr/>
          <p:nvPr>
            <p:custDataLst>
              <p:tags r:id="rId21"/>
            </p:custDataLst>
          </p:nvPr>
        </p:nvSpPr>
        <p:spPr>
          <a:xfrm>
            <a:off x="224155" y="5347970"/>
            <a:ext cx="2089150" cy="121920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8" name="Title"/>
          <p:cNvSpPr>
            <a:spLocks noChangeAspect="1"/>
          </p:cNvSpPr>
          <p:nvPr>
            <p:custDataLst>
              <p:tags r:id="rId22"/>
            </p:custDataLst>
          </p:nvPr>
        </p:nvSpPr>
        <p:spPr>
          <a:xfrm>
            <a:off x="223520" y="5347970"/>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1.4</a:t>
            </a:r>
            <a:r>
              <a:rPr kumimoji="1" lang="zh-CN" altLang="en-US" sz="1400" b="1" dirty="0">
                <a:solidFill>
                  <a:srgbClr val="FFFFFF"/>
                </a:solidFill>
                <a:latin typeface="+mn-ea"/>
                <a:sym typeface="Arial" panose="020B0604020202020204" pitchFamily="34" charset="0"/>
              </a:rPr>
              <a:t>规划智能体关系</a:t>
            </a:r>
            <a:endParaRPr kumimoji="1" lang="zh-CN" altLang="en-US" sz="1400" b="1" dirty="0">
              <a:solidFill>
                <a:srgbClr val="FFFFFF"/>
              </a:solidFill>
              <a:latin typeface="+mn-ea"/>
              <a:sym typeface="Arial" panose="020B0604020202020204" pitchFamily="34" charset="0"/>
            </a:endParaRPr>
          </a:p>
        </p:txBody>
      </p:sp>
      <p:sp>
        <p:nvSpPr>
          <p:cNvPr id="89" name="文本框 88"/>
          <p:cNvSpPr txBox="1"/>
          <p:nvPr>
            <p:custDataLst>
              <p:tags r:id="rId23"/>
            </p:custDataLst>
          </p:nvPr>
        </p:nvSpPr>
        <p:spPr>
          <a:xfrm>
            <a:off x="222885" y="5648325"/>
            <a:ext cx="2091055" cy="857250"/>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分析子场景智能体及业务事项智能体、多业务事项智能体之间的关系</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形成多智能体协作关系图</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91" name="矩形 90"/>
          <p:cNvSpPr/>
          <p:nvPr>
            <p:custDataLst>
              <p:tags r:id="rId24"/>
            </p:custDataLst>
          </p:nvPr>
        </p:nvSpPr>
        <p:spPr>
          <a:xfrm>
            <a:off x="2595880" y="1625600"/>
            <a:ext cx="2089150" cy="131191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2" name="Title"/>
          <p:cNvSpPr>
            <a:spLocks noChangeAspect="1"/>
          </p:cNvSpPr>
          <p:nvPr>
            <p:custDataLst>
              <p:tags r:id="rId25"/>
            </p:custDataLst>
          </p:nvPr>
        </p:nvSpPr>
        <p:spPr>
          <a:xfrm>
            <a:off x="2595245" y="1625600"/>
            <a:ext cx="2090420" cy="299085"/>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2.1</a:t>
            </a:r>
            <a:r>
              <a:rPr kumimoji="1" lang="zh-CN" altLang="en-US" sz="1400" b="1" dirty="0">
                <a:solidFill>
                  <a:srgbClr val="FFFFFF"/>
                </a:solidFill>
                <a:latin typeface="+mn-ea"/>
                <a:sym typeface="Arial" panose="020B0604020202020204" pitchFamily="34" charset="0"/>
              </a:rPr>
              <a:t>梳理智能体数据</a:t>
            </a:r>
            <a:endParaRPr kumimoji="1" lang="zh-CN" altLang="en-US" sz="1400" b="1" dirty="0">
              <a:solidFill>
                <a:srgbClr val="FFFFFF"/>
              </a:solidFill>
              <a:latin typeface="+mn-ea"/>
              <a:sym typeface="Arial" panose="020B0604020202020204" pitchFamily="34" charset="0"/>
            </a:endParaRPr>
          </a:p>
        </p:txBody>
      </p:sp>
      <p:sp>
        <p:nvSpPr>
          <p:cNvPr id="93" name="文本框 92"/>
          <p:cNvSpPr txBox="1"/>
          <p:nvPr>
            <p:custDataLst>
              <p:tags r:id="rId26"/>
            </p:custDataLst>
          </p:nvPr>
        </p:nvSpPr>
        <p:spPr>
          <a:xfrm>
            <a:off x="2594610" y="1948815"/>
            <a:ext cx="2091055" cy="922655"/>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梳理智能体需要的业务数据资源</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梳理业务事项产生的数据资源</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形成数据资源清单</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95" name="矩形 94"/>
          <p:cNvSpPr/>
          <p:nvPr>
            <p:custDataLst>
              <p:tags r:id="rId27"/>
            </p:custDataLst>
          </p:nvPr>
        </p:nvSpPr>
        <p:spPr>
          <a:xfrm>
            <a:off x="2595245" y="2976245"/>
            <a:ext cx="2089150" cy="776605"/>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6" name="Title"/>
          <p:cNvSpPr>
            <a:spLocks noChangeAspect="1"/>
          </p:cNvSpPr>
          <p:nvPr>
            <p:custDataLst>
              <p:tags r:id="rId28"/>
            </p:custDataLst>
          </p:nvPr>
        </p:nvSpPr>
        <p:spPr>
          <a:xfrm>
            <a:off x="2594610" y="2976245"/>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sz="1400" b="1" dirty="0">
                <a:solidFill>
                  <a:srgbClr val="FFFFFF"/>
                </a:solidFill>
                <a:latin typeface="+mn-ea"/>
                <a:sym typeface="Arial" panose="020B0604020202020204" pitchFamily="34" charset="0"/>
              </a:rPr>
              <a:t>2.2</a:t>
            </a:r>
            <a:r>
              <a:rPr kumimoji="1" lang="zh-CN" altLang="en-US" sz="1400" b="1" dirty="0">
                <a:solidFill>
                  <a:srgbClr val="FFFFFF"/>
                </a:solidFill>
                <a:latin typeface="+mn-ea"/>
                <a:sym typeface="Arial" panose="020B0604020202020204" pitchFamily="34" charset="0"/>
              </a:rPr>
              <a:t>处理数据</a:t>
            </a:r>
            <a:endParaRPr kumimoji="1" lang="zh-CN" altLang="en-US" sz="1400" b="1" dirty="0">
              <a:solidFill>
                <a:srgbClr val="FFFFFF"/>
              </a:solidFill>
              <a:latin typeface="+mn-ea"/>
              <a:sym typeface="Arial" panose="020B0604020202020204" pitchFamily="34" charset="0"/>
            </a:endParaRPr>
          </a:p>
        </p:txBody>
      </p:sp>
      <p:sp>
        <p:nvSpPr>
          <p:cNvPr id="97" name="文本框 96"/>
          <p:cNvSpPr txBox="1"/>
          <p:nvPr>
            <p:custDataLst>
              <p:tags r:id="rId29"/>
            </p:custDataLst>
          </p:nvPr>
        </p:nvSpPr>
        <p:spPr>
          <a:xfrm>
            <a:off x="2593975" y="3276600"/>
            <a:ext cx="2091055" cy="454025"/>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对数据资源做清洗、治理按需构建高质量数据集</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03" name="矩形 102"/>
          <p:cNvSpPr/>
          <p:nvPr>
            <p:custDataLst>
              <p:tags r:id="rId30"/>
            </p:custDataLst>
          </p:nvPr>
        </p:nvSpPr>
        <p:spPr>
          <a:xfrm>
            <a:off x="2594610" y="3816350"/>
            <a:ext cx="2089150" cy="130175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4" name="Title"/>
          <p:cNvSpPr>
            <a:spLocks noChangeAspect="1"/>
          </p:cNvSpPr>
          <p:nvPr>
            <p:custDataLst>
              <p:tags r:id="rId31"/>
            </p:custDataLst>
          </p:nvPr>
        </p:nvSpPr>
        <p:spPr>
          <a:xfrm>
            <a:off x="2593975" y="3816350"/>
            <a:ext cx="2090420" cy="28829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2.3</a:t>
            </a:r>
            <a:r>
              <a:rPr kumimoji="1" lang="zh-CN" altLang="en-US" sz="1400" b="1" dirty="0">
                <a:solidFill>
                  <a:srgbClr val="FFFFFF"/>
                </a:solidFill>
                <a:latin typeface="+mn-ea"/>
                <a:sym typeface="Arial" panose="020B0604020202020204" pitchFamily="34" charset="0"/>
              </a:rPr>
              <a:t>构建评测数据集</a:t>
            </a:r>
            <a:endParaRPr kumimoji="1" lang="zh-CN" altLang="en-US" sz="1400" b="1" dirty="0">
              <a:solidFill>
                <a:srgbClr val="FFFFFF"/>
              </a:solidFill>
              <a:latin typeface="+mn-ea"/>
              <a:sym typeface="Arial" panose="020B0604020202020204" pitchFamily="34" charset="0"/>
            </a:endParaRPr>
          </a:p>
        </p:txBody>
      </p:sp>
      <p:sp>
        <p:nvSpPr>
          <p:cNvPr id="105" name="文本框 104"/>
          <p:cNvSpPr txBox="1"/>
          <p:nvPr>
            <p:custDataLst>
              <p:tags r:id="rId32"/>
            </p:custDataLst>
          </p:nvPr>
        </p:nvSpPr>
        <p:spPr>
          <a:xfrm>
            <a:off x="2593340" y="4127500"/>
            <a:ext cx="2097405" cy="899795"/>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构建包括基础知识、流程案例等高质量评测数据集</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评测数据集的题型占比如下：选择题</a:t>
            </a:r>
            <a:r>
              <a:rPr lang="en-US" altLang="zh-CN" sz="1200">
                <a:latin typeface="微软雅黑" panose="020B0503020204020204" charset="-122"/>
                <a:ea typeface="微软雅黑" panose="020B0503020204020204" charset="-122"/>
                <a:cs typeface="微软雅黑" panose="020B0503020204020204" charset="-122"/>
              </a:rPr>
              <a:t>25%</a:t>
            </a:r>
            <a:r>
              <a:rPr lang="zh-CN" altLang="en-US" sz="1200">
                <a:latin typeface="微软雅黑" panose="020B0503020204020204" charset="-122"/>
                <a:ea typeface="微软雅黑" panose="020B0503020204020204" charset="-122"/>
                <a:cs typeface="微软雅黑" panose="020B0503020204020204" charset="-122"/>
              </a:rPr>
              <a:t>、填空题</a:t>
            </a:r>
            <a:r>
              <a:rPr lang="en-US" altLang="zh-CN" sz="1200">
                <a:latin typeface="微软雅黑" panose="020B0503020204020204" charset="-122"/>
                <a:ea typeface="微软雅黑" panose="020B0503020204020204" charset="-122"/>
                <a:cs typeface="微软雅黑" panose="020B0503020204020204" charset="-122"/>
              </a:rPr>
              <a:t>25%</a:t>
            </a:r>
            <a:r>
              <a:rPr lang="zh-CN" altLang="en-US" sz="1200">
                <a:latin typeface="微软雅黑" panose="020B0503020204020204" charset="-122"/>
                <a:ea typeface="微软雅黑" panose="020B0503020204020204" charset="-122"/>
                <a:cs typeface="微软雅黑" panose="020B0503020204020204" charset="-122"/>
              </a:rPr>
              <a:t>、论述题</a:t>
            </a:r>
            <a:r>
              <a:rPr lang="en-US" altLang="zh-CN" sz="1200">
                <a:latin typeface="微软雅黑" panose="020B0503020204020204" charset="-122"/>
                <a:ea typeface="微软雅黑" panose="020B0503020204020204" charset="-122"/>
                <a:cs typeface="微软雅黑" panose="020B0503020204020204" charset="-122"/>
              </a:rPr>
              <a:t>50%</a:t>
            </a:r>
            <a:endParaRPr lang="en-US" altLang="zh-CN" sz="1200">
              <a:latin typeface="微软雅黑" panose="020B0503020204020204" charset="-122"/>
              <a:ea typeface="微软雅黑" panose="020B0503020204020204" charset="-122"/>
              <a:cs typeface="微软雅黑" panose="020B0503020204020204" charset="-122"/>
            </a:endParaRPr>
          </a:p>
        </p:txBody>
      </p:sp>
      <p:sp>
        <p:nvSpPr>
          <p:cNvPr id="107" name="矩形 106"/>
          <p:cNvSpPr/>
          <p:nvPr>
            <p:custDataLst>
              <p:tags r:id="rId33"/>
            </p:custDataLst>
          </p:nvPr>
        </p:nvSpPr>
        <p:spPr>
          <a:xfrm>
            <a:off x="2595245" y="5181600"/>
            <a:ext cx="2089150" cy="157861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8" name="Title"/>
          <p:cNvSpPr>
            <a:spLocks noChangeAspect="1"/>
          </p:cNvSpPr>
          <p:nvPr>
            <p:custDataLst>
              <p:tags r:id="rId34"/>
            </p:custDataLst>
          </p:nvPr>
        </p:nvSpPr>
        <p:spPr>
          <a:xfrm>
            <a:off x="2594610" y="5181600"/>
            <a:ext cx="2090420" cy="41529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200" b="1" dirty="0">
                <a:solidFill>
                  <a:srgbClr val="FFFFFF"/>
                </a:solidFill>
                <a:latin typeface="+mn-ea"/>
                <a:sym typeface="Arial" panose="020B0604020202020204" pitchFamily="34" charset="0"/>
              </a:rPr>
              <a:t>2.4</a:t>
            </a:r>
            <a:r>
              <a:rPr kumimoji="1" lang="zh-CN" altLang="en-US" sz="1200" b="1" dirty="0">
                <a:solidFill>
                  <a:srgbClr val="FFFFFF"/>
                </a:solidFill>
                <a:latin typeface="+mn-ea"/>
                <a:sym typeface="Arial" panose="020B0604020202020204" pitchFamily="34" charset="0"/>
              </a:rPr>
              <a:t>生成训练</a:t>
            </a:r>
            <a:r>
              <a:rPr kumimoji="1" lang="en-US" altLang="zh-CN" sz="1200" b="1" dirty="0">
                <a:solidFill>
                  <a:srgbClr val="FFFFFF"/>
                </a:solidFill>
                <a:latin typeface="+mn-ea"/>
                <a:sym typeface="Arial" panose="020B0604020202020204" pitchFamily="34" charset="0"/>
              </a:rPr>
              <a:t>/</a:t>
            </a:r>
            <a:r>
              <a:rPr kumimoji="1" lang="zh-CN" altLang="en-US" sz="1200" b="1" dirty="0">
                <a:solidFill>
                  <a:srgbClr val="FFFFFF"/>
                </a:solidFill>
                <a:latin typeface="+mn-ea"/>
                <a:sym typeface="Arial" panose="020B0604020202020204" pitchFamily="34" charset="0"/>
              </a:rPr>
              <a:t>微调</a:t>
            </a:r>
            <a:r>
              <a:rPr kumimoji="1" lang="en-US" altLang="zh-CN" sz="1200" b="1" dirty="0">
                <a:solidFill>
                  <a:srgbClr val="FFFFFF"/>
                </a:solidFill>
                <a:latin typeface="+mn-ea"/>
                <a:sym typeface="Arial" panose="020B0604020202020204" pitchFamily="34" charset="0"/>
              </a:rPr>
              <a:t>/</a:t>
            </a:r>
            <a:r>
              <a:rPr kumimoji="1" lang="zh-CN" altLang="en-US" sz="1200" b="1" dirty="0">
                <a:solidFill>
                  <a:srgbClr val="FFFFFF"/>
                </a:solidFill>
                <a:latin typeface="+mn-ea"/>
                <a:sym typeface="Arial" panose="020B0604020202020204" pitchFamily="34" charset="0"/>
              </a:rPr>
              <a:t>知识库数据集</a:t>
            </a:r>
            <a:r>
              <a:rPr kumimoji="1" lang="en-US" altLang="zh-CN" sz="1200" b="1" dirty="0">
                <a:solidFill>
                  <a:srgbClr val="FFFFFF"/>
                </a:solidFill>
                <a:latin typeface="+mn-ea"/>
                <a:sym typeface="Arial" panose="020B0604020202020204" pitchFamily="34" charset="0"/>
              </a:rPr>
              <a:t>(</a:t>
            </a:r>
            <a:r>
              <a:rPr kumimoji="1" lang="zh-CN" altLang="en-US" sz="1200" b="1" dirty="0">
                <a:solidFill>
                  <a:srgbClr val="FFFFFF"/>
                </a:solidFill>
                <a:latin typeface="+mn-ea"/>
                <a:sym typeface="Arial" panose="020B0604020202020204" pitchFamily="34" charset="0"/>
              </a:rPr>
              <a:t>可选</a:t>
            </a:r>
            <a:r>
              <a:rPr kumimoji="1" lang="en-US" altLang="zh-CN" sz="1200" b="1" dirty="0">
                <a:solidFill>
                  <a:srgbClr val="FFFFFF"/>
                </a:solidFill>
                <a:latin typeface="+mn-ea"/>
                <a:sym typeface="Arial" panose="020B0604020202020204" pitchFamily="34" charset="0"/>
              </a:rPr>
              <a:t>)</a:t>
            </a:r>
            <a:endParaRPr kumimoji="1" lang="en-US" altLang="zh-CN" sz="1200" b="1" dirty="0">
              <a:solidFill>
                <a:srgbClr val="FFFFFF"/>
              </a:solidFill>
              <a:latin typeface="+mn-ea"/>
              <a:sym typeface="Arial" panose="020B0604020202020204" pitchFamily="34" charset="0"/>
            </a:endParaRPr>
          </a:p>
        </p:txBody>
      </p:sp>
      <p:sp>
        <p:nvSpPr>
          <p:cNvPr id="109" name="文本框 108"/>
          <p:cNvSpPr txBox="1"/>
          <p:nvPr>
            <p:custDataLst>
              <p:tags r:id="rId35"/>
            </p:custDataLst>
          </p:nvPr>
        </p:nvSpPr>
        <p:spPr>
          <a:xfrm>
            <a:off x="2593975" y="5605145"/>
            <a:ext cx="2091055" cy="1196340"/>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经过模型选型及评测，构建训练、微调、思维链高质量数据集</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如果直接使用</a:t>
            </a:r>
            <a:r>
              <a:rPr lang="en-US" altLang="zh-CN" sz="1200">
                <a:latin typeface="微软雅黑" panose="020B0503020204020204" charset="-122"/>
                <a:ea typeface="微软雅黑" panose="020B0503020204020204" charset="-122"/>
                <a:cs typeface="微软雅黑" panose="020B0503020204020204" charset="-122"/>
              </a:rPr>
              <a:t>AI</a:t>
            </a:r>
            <a:r>
              <a:rPr lang="zh-CN" altLang="en-US" sz="1200">
                <a:latin typeface="微软雅黑" panose="020B0503020204020204" charset="-122"/>
                <a:ea typeface="微软雅黑" panose="020B0503020204020204" charset="-122"/>
                <a:cs typeface="微软雅黑" panose="020B0503020204020204" charset="-122"/>
              </a:rPr>
              <a:t>底座提供的模型，且需要知识库，构建高质量知识库数据集</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11" name="矩形 110"/>
          <p:cNvSpPr/>
          <p:nvPr>
            <p:custDataLst>
              <p:tags r:id="rId36"/>
            </p:custDataLst>
          </p:nvPr>
        </p:nvSpPr>
        <p:spPr>
          <a:xfrm>
            <a:off x="5064760" y="1625600"/>
            <a:ext cx="2089150" cy="97282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2" name="Title"/>
          <p:cNvSpPr>
            <a:spLocks noChangeAspect="1"/>
          </p:cNvSpPr>
          <p:nvPr>
            <p:custDataLst>
              <p:tags r:id="rId37"/>
            </p:custDataLst>
          </p:nvPr>
        </p:nvSpPr>
        <p:spPr>
          <a:xfrm>
            <a:off x="5064125" y="1625600"/>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3.1</a:t>
            </a:r>
            <a:r>
              <a:rPr kumimoji="1" lang="zh-CN" altLang="en-US" sz="1400" b="1" dirty="0">
                <a:solidFill>
                  <a:srgbClr val="FFFFFF"/>
                </a:solidFill>
                <a:latin typeface="+mn-ea"/>
                <a:sym typeface="Arial" panose="020B0604020202020204" pitchFamily="34" charset="0"/>
              </a:rPr>
              <a:t>选择模型</a:t>
            </a:r>
            <a:endParaRPr kumimoji="1" lang="zh-CN" altLang="en-US" sz="1400" b="1" dirty="0">
              <a:solidFill>
                <a:srgbClr val="FFFFFF"/>
              </a:solidFill>
              <a:latin typeface="+mn-ea"/>
              <a:sym typeface="Arial" panose="020B0604020202020204" pitchFamily="34" charset="0"/>
            </a:endParaRPr>
          </a:p>
        </p:txBody>
      </p:sp>
      <p:sp>
        <p:nvSpPr>
          <p:cNvPr id="113" name="文本框 112"/>
          <p:cNvSpPr txBox="1"/>
          <p:nvPr>
            <p:custDataLst>
              <p:tags r:id="rId38"/>
            </p:custDataLst>
          </p:nvPr>
        </p:nvSpPr>
        <p:spPr>
          <a:xfrm>
            <a:off x="5063490" y="1925955"/>
            <a:ext cx="2091055" cy="857250"/>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选择</a:t>
            </a:r>
            <a:r>
              <a:rPr lang="en-US" altLang="zh-CN" sz="1200">
                <a:latin typeface="微软雅黑" panose="020B0503020204020204" charset="-122"/>
                <a:ea typeface="微软雅黑" panose="020B0503020204020204" charset="-122"/>
                <a:cs typeface="微软雅黑" panose="020B0503020204020204" charset="-122"/>
              </a:rPr>
              <a:t>AI</a:t>
            </a:r>
            <a:r>
              <a:rPr lang="zh-CN" altLang="en-US" sz="1200">
                <a:latin typeface="微软雅黑" panose="020B0503020204020204" charset="-122"/>
                <a:ea typeface="微软雅黑" panose="020B0503020204020204" charset="-122"/>
                <a:cs typeface="微软雅黑" panose="020B0503020204020204" charset="-122"/>
              </a:rPr>
              <a:t>底座已有的大模型</a:t>
            </a:r>
            <a:r>
              <a:rPr lang="en-US" altLang="zh-CN" sz="1200">
                <a:latin typeface="微软雅黑" panose="020B0503020204020204" charset="-122"/>
                <a:ea typeface="微软雅黑" panose="020B0503020204020204" charset="-122"/>
                <a:cs typeface="微软雅黑" panose="020B0503020204020204" charset="-122"/>
              </a:rPr>
              <a:t>(</a:t>
            </a:r>
            <a:r>
              <a:rPr lang="zh-CN" altLang="en-US" sz="1200">
                <a:latin typeface="微软雅黑" panose="020B0503020204020204" charset="-122"/>
                <a:ea typeface="微软雅黑" panose="020B0503020204020204" charset="-122"/>
                <a:cs typeface="微软雅黑" panose="020B0503020204020204" charset="-122"/>
              </a:rPr>
              <a:t>如通用大模型、城市治理大模型</a:t>
            </a:r>
            <a:r>
              <a:rPr lang="en-US" altLang="zh-CN" sz="1200">
                <a:latin typeface="微软雅黑" panose="020B0503020204020204" charset="-122"/>
                <a:ea typeface="微软雅黑" panose="020B0503020204020204" charset="-122"/>
                <a:cs typeface="微软雅黑" panose="020B0503020204020204" charset="-122"/>
              </a:rPr>
              <a:t>)</a:t>
            </a:r>
            <a:r>
              <a:rPr lang="zh-CN" altLang="en-US" sz="1200">
                <a:latin typeface="微软雅黑" panose="020B0503020204020204" charset="-122"/>
                <a:ea typeface="微软雅黑" panose="020B0503020204020204" charset="-122"/>
                <a:cs typeface="微软雅黑" panose="020B0503020204020204" charset="-122"/>
              </a:rPr>
              <a:t>来评测</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15" name="矩形 114"/>
          <p:cNvSpPr/>
          <p:nvPr>
            <p:custDataLst>
              <p:tags r:id="rId39"/>
            </p:custDataLst>
          </p:nvPr>
        </p:nvSpPr>
        <p:spPr>
          <a:xfrm>
            <a:off x="5064125" y="2659380"/>
            <a:ext cx="2089150" cy="410083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6" name="Title"/>
          <p:cNvSpPr>
            <a:spLocks noChangeAspect="1"/>
          </p:cNvSpPr>
          <p:nvPr>
            <p:custDataLst>
              <p:tags r:id="rId40"/>
            </p:custDataLst>
          </p:nvPr>
        </p:nvSpPr>
        <p:spPr>
          <a:xfrm>
            <a:off x="5063490" y="2659380"/>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3.2</a:t>
            </a:r>
            <a:r>
              <a:rPr kumimoji="1" lang="zh-CN" altLang="en-US" sz="1400" b="1" dirty="0">
                <a:solidFill>
                  <a:srgbClr val="FFFFFF"/>
                </a:solidFill>
                <a:latin typeface="+mn-ea"/>
                <a:sym typeface="Arial" panose="020B0604020202020204" pitchFamily="34" charset="0"/>
              </a:rPr>
              <a:t>评测已有模型</a:t>
            </a:r>
            <a:endParaRPr kumimoji="1" lang="zh-CN" altLang="en-US" sz="1400" b="1" dirty="0">
              <a:solidFill>
                <a:srgbClr val="FFFFFF"/>
              </a:solidFill>
              <a:latin typeface="+mn-ea"/>
              <a:sym typeface="Arial" panose="020B0604020202020204" pitchFamily="34" charset="0"/>
            </a:endParaRPr>
          </a:p>
        </p:txBody>
      </p:sp>
      <p:sp>
        <p:nvSpPr>
          <p:cNvPr id="117" name="文本框 116"/>
          <p:cNvSpPr txBox="1"/>
          <p:nvPr>
            <p:custDataLst>
              <p:tags r:id="rId41"/>
            </p:custDataLst>
          </p:nvPr>
        </p:nvSpPr>
        <p:spPr>
          <a:xfrm>
            <a:off x="5062855" y="2959735"/>
            <a:ext cx="2091055" cy="3799840"/>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评测已有模型是否满足业务需求，通过以下策略选择是否需要训练模型及采用的训练方式：</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评测准确率低于</a:t>
            </a:r>
            <a:r>
              <a:rPr lang="en-US" altLang="zh-CN" sz="1200">
                <a:latin typeface="微软雅黑" panose="020B0503020204020204" charset="-122"/>
                <a:ea typeface="微软雅黑" panose="020B0503020204020204" charset="-122"/>
                <a:cs typeface="微软雅黑" panose="020B0503020204020204" charset="-122"/>
              </a:rPr>
              <a:t>30%</a:t>
            </a:r>
            <a:r>
              <a:rPr lang="zh-CN" altLang="en-US" sz="1200">
                <a:latin typeface="微软雅黑" panose="020B0503020204020204" charset="-122"/>
                <a:ea typeface="微软雅黑" panose="020B0503020204020204" charset="-122"/>
                <a:cs typeface="微软雅黑" panose="020B0503020204020204" charset="-122"/>
              </a:rPr>
              <a:t>，且行业数据丰富</a:t>
            </a:r>
            <a:r>
              <a:rPr lang="en-US" altLang="zh-CN" sz="1200">
                <a:latin typeface="微软雅黑" panose="020B0503020204020204" charset="-122"/>
                <a:ea typeface="微软雅黑" panose="020B0503020204020204" charset="-122"/>
                <a:cs typeface="微软雅黑" panose="020B0503020204020204" charset="-122"/>
              </a:rPr>
              <a:t>(</a:t>
            </a:r>
            <a:r>
              <a:rPr lang="zh-CN" altLang="en-US" sz="1200">
                <a:latin typeface="微软雅黑" panose="020B0503020204020204" charset="-122"/>
                <a:ea typeface="微软雅黑" panose="020B0503020204020204" charset="-122"/>
                <a:cs typeface="微软雅黑" panose="020B0503020204020204" charset="-122"/>
              </a:rPr>
              <a:t>数据量占模型尺寸的</a:t>
            </a:r>
            <a:r>
              <a:rPr lang="en-US" altLang="zh-CN" sz="1200">
                <a:latin typeface="微软雅黑" panose="020B0503020204020204" charset="-122"/>
                <a:ea typeface="微软雅黑" panose="020B0503020204020204" charset="-122"/>
                <a:cs typeface="微软雅黑" panose="020B0503020204020204" charset="-122"/>
              </a:rPr>
              <a:t>10%)</a:t>
            </a:r>
            <a:r>
              <a:rPr lang="zh-CN" altLang="en-US" sz="1200">
                <a:latin typeface="微软雅黑" panose="020B0503020204020204" charset="-122"/>
                <a:ea typeface="微软雅黑" panose="020B0503020204020204" charset="-122"/>
                <a:cs typeface="微软雅黑" panose="020B0503020204020204" charset="-122"/>
              </a:rPr>
              <a:t>，可选择训练的方式</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评测准确率在</a:t>
            </a:r>
            <a:r>
              <a:rPr lang="en-US" altLang="zh-CN" sz="1200">
                <a:latin typeface="微软雅黑" panose="020B0503020204020204" charset="-122"/>
                <a:ea typeface="微软雅黑" panose="020B0503020204020204" charset="-122"/>
                <a:cs typeface="微软雅黑" panose="020B0503020204020204" charset="-122"/>
              </a:rPr>
              <a:t>30%-60%</a:t>
            </a:r>
            <a:r>
              <a:rPr lang="zh-CN" altLang="en-US" sz="1200">
                <a:latin typeface="微软雅黑" panose="020B0503020204020204" charset="-122"/>
                <a:ea typeface="微软雅黑" panose="020B0503020204020204" charset="-122"/>
                <a:cs typeface="微软雅黑" panose="020B0503020204020204" charset="-122"/>
              </a:rPr>
              <a:t>，且有</a:t>
            </a:r>
            <a:r>
              <a:rPr lang="en-US" altLang="zh-CN" sz="1200">
                <a:latin typeface="微软雅黑" panose="020B0503020204020204" charset="-122"/>
                <a:ea typeface="微软雅黑" panose="020B0503020204020204" charset="-122"/>
                <a:cs typeface="微软雅黑" panose="020B0503020204020204" charset="-122"/>
              </a:rPr>
              <a:t>1</a:t>
            </a:r>
            <a:r>
              <a:rPr lang="zh-CN" altLang="en-US" sz="1200">
                <a:latin typeface="微软雅黑" panose="020B0503020204020204" charset="-122"/>
                <a:ea typeface="微软雅黑" panose="020B0503020204020204" charset="-122"/>
                <a:cs typeface="微软雅黑" panose="020B0503020204020204" charset="-122"/>
              </a:rPr>
              <a:t>万</a:t>
            </a:r>
            <a:r>
              <a:rPr lang="en-US" altLang="zh-CN" sz="1200">
                <a:latin typeface="微软雅黑" panose="020B0503020204020204" charset="-122"/>
                <a:ea typeface="微软雅黑" panose="020B0503020204020204" charset="-122"/>
                <a:cs typeface="微软雅黑" panose="020B0503020204020204" charset="-122"/>
              </a:rPr>
              <a:t>-10</a:t>
            </a:r>
            <a:r>
              <a:rPr lang="zh-CN" altLang="en-US" sz="1200">
                <a:latin typeface="微软雅黑" panose="020B0503020204020204" charset="-122"/>
                <a:ea typeface="微软雅黑" panose="020B0503020204020204" charset="-122"/>
                <a:cs typeface="微软雅黑" panose="020B0503020204020204" charset="-122"/>
              </a:rPr>
              <a:t>万的指令集微调数据，可选择微调的方式</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评测准确率在</a:t>
            </a:r>
            <a:r>
              <a:rPr lang="en-US" altLang="zh-CN" sz="1200">
                <a:latin typeface="微软雅黑" panose="020B0503020204020204" charset="-122"/>
                <a:ea typeface="微软雅黑" panose="020B0503020204020204" charset="-122"/>
                <a:cs typeface="微软雅黑" panose="020B0503020204020204" charset="-122"/>
              </a:rPr>
              <a:t>60%-80%</a:t>
            </a:r>
            <a:r>
              <a:rPr lang="zh-CN" altLang="en-US" sz="1200">
                <a:latin typeface="微软雅黑" panose="020B0503020204020204" charset="-122"/>
                <a:ea typeface="微软雅黑" panose="020B0503020204020204" charset="-122"/>
                <a:cs typeface="微软雅黑" panose="020B0503020204020204" charset="-122"/>
              </a:rPr>
              <a:t>可直接通过构建知识库，以</a:t>
            </a:r>
            <a:r>
              <a:rPr lang="en-US" altLang="zh-CN" sz="1200">
                <a:latin typeface="微软雅黑" panose="020B0503020204020204" charset="-122"/>
                <a:ea typeface="微软雅黑" panose="020B0503020204020204" charset="-122"/>
                <a:cs typeface="微软雅黑" panose="020B0503020204020204" charset="-122"/>
              </a:rPr>
              <a:t>RAG</a:t>
            </a:r>
            <a:r>
              <a:rPr lang="zh-CN" altLang="en-US" sz="1200">
                <a:latin typeface="微软雅黑" panose="020B0503020204020204" charset="-122"/>
                <a:ea typeface="微软雅黑" panose="020B0503020204020204" charset="-122"/>
                <a:cs typeface="微软雅黑" panose="020B0503020204020204" charset="-122"/>
              </a:rPr>
              <a:t>方式直接使用已有模型</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评测数据集准确率在</a:t>
            </a:r>
            <a:r>
              <a:rPr lang="en-US" altLang="zh-CN" sz="1200">
                <a:latin typeface="微软雅黑" panose="020B0503020204020204" charset="-122"/>
                <a:ea typeface="微软雅黑" panose="020B0503020204020204" charset="-122"/>
                <a:cs typeface="微软雅黑" panose="020B0503020204020204" charset="-122"/>
              </a:rPr>
              <a:t>80%</a:t>
            </a:r>
            <a:r>
              <a:rPr lang="zh-CN" altLang="en-US" sz="1200">
                <a:latin typeface="微软雅黑" panose="020B0503020204020204" charset="-122"/>
                <a:ea typeface="微软雅黑" panose="020B0503020204020204" charset="-122"/>
                <a:cs typeface="微软雅黑" panose="020B0503020204020204" charset="-122"/>
              </a:rPr>
              <a:t>以上，可通过提示词方式直接使用已有模型</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19" name="矩形 118"/>
          <p:cNvSpPr/>
          <p:nvPr>
            <p:custDataLst>
              <p:tags r:id="rId42"/>
            </p:custDataLst>
          </p:nvPr>
        </p:nvSpPr>
        <p:spPr>
          <a:xfrm>
            <a:off x="7489190" y="1625600"/>
            <a:ext cx="2089150" cy="97282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0" name="Title"/>
          <p:cNvSpPr>
            <a:spLocks noChangeAspect="1"/>
          </p:cNvSpPr>
          <p:nvPr>
            <p:custDataLst>
              <p:tags r:id="rId43"/>
            </p:custDataLst>
          </p:nvPr>
        </p:nvSpPr>
        <p:spPr>
          <a:xfrm>
            <a:off x="7488555" y="1625600"/>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4.1</a:t>
            </a:r>
            <a:r>
              <a:rPr kumimoji="1" lang="zh-CN" altLang="en-US" sz="1400" b="1" dirty="0">
                <a:solidFill>
                  <a:srgbClr val="FFFFFF"/>
                </a:solidFill>
                <a:latin typeface="+mn-ea"/>
                <a:sym typeface="Arial" panose="020B0604020202020204" pitchFamily="34" charset="0"/>
              </a:rPr>
              <a:t>训练模型</a:t>
            </a:r>
            <a:endParaRPr kumimoji="1" lang="zh-CN" altLang="en-US" sz="1400" b="1" dirty="0">
              <a:solidFill>
                <a:srgbClr val="FFFFFF"/>
              </a:solidFill>
              <a:latin typeface="+mn-ea"/>
              <a:sym typeface="Arial" panose="020B0604020202020204" pitchFamily="34" charset="0"/>
            </a:endParaRPr>
          </a:p>
        </p:txBody>
      </p:sp>
      <p:sp>
        <p:nvSpPr>
          <p:cNvPr id="121" name="文本框 120"/>
          <p:cNvSpPr txBox="1"/>
          <p:nvPr>
            <p:custDataLst>
              <p:tags r:id="rId44"/>
            </p:custDataLst>
          </p:nvPr>
        </p:nvSpPr>
        <p:spPr>
          <a:xfrm>
            <a:off x="7487920" y="1925955"/>
            <a:ext cx="2091055" cy="857250"/>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选择</a:t>
            </a:r>
            <a:r>
              <a:rPr lang="en-US" altLang="zh-CN" sz="1200">
                <a:latin typeface="微软雅黑" panose="020B0503020204020204" charset="-122"/>
                <a:ea typeface="微软雅黑" panose="020B0503020204020204" charset="-122"/>
                <a:cs typeface="微软雅黑" panose="020B0503020204020204" charset="-122"/>
              </a:rPr>
              <a:t>AI</a:t>
            </a:r>
            <a:r>
              <a:rPr lang="zh-CN" altLang="en-US" sz="1200">
                <a:latin typeface="微软雅黑" panose="020B0503020204020204" charset="-122"/>
                <a:ea typeface="微软雅黑" panose="020B0503020204020204" charset="-122"/>
                <a:cs typeface="微软雅黑" panose="020B0503020204020204" charset="-122"/>
              </a:rPr>
              <a:t>底座已有模型作为基模开展多轮模型训练或微调</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23" name="矩形 122"/>
          <p:cNvSpPr/>
          <p:nvPr>
            <p:custDataLst>
              <p:tags r:id="rId45"/>
            </p:custDataLst>
          </p:nvPr>
        </p:nvSpPr>
        <p:spPr>
          <a:xfrm>
            <a:off x="7488555" y="2659380"/>
            <a:ext cx="2089150" cy="219202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4" name="Title"/>
          <p:cNvSpPr>
            <a:spLocks noChangeAspect="1"/>
          </p:cNvSpPr>
          <p:nvPr>
            <p:custDataLst>
              <p:tags r:id="rId46"/>
            </p:custDataLst>
          </p:nvPr>
        </p:nvSpPr>
        <p:spPr>
          <a:xfrm>
            <a:off x="7487920" y="2659380"/>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4.2</a:t>
            </a:r>
            <a:r>
              <a:rPr kumimoji="1" lang="zh-CN" altLang="en-US" sz="1400" b="1" dirty="0">
                <a:solidFill>
                  <a:srgbClr val="FFFFFF"/>
                </a:solidFill>
                <a:latin typeface="+mn-ea"/>
                <a:sym typeface="Arial" panose="020B0604020202020204" pitchFamily="34" charset="0"/>
              </a:rPr>
              <a:t>评测已训练模型</a:t>
            </a:r>
            <a:endParaRPr kumimoji="1" lang="zh-CN" altLang="en-US" sz="1400" b="1" dirty="0">
              <a:solidFill>
                <a:srgbClr val="FFFFFF"/>
              </a:solidFill>
              <a:latin typeface="+mn-ea"/>
              <a:sym typeface="Arial" panose="020B0604020202020204" pitchFamily="34" charset="0"/>
            </a:endParaRPr>
          </a:p>
        </p:txBody>
      </p:sp>
      <p:sp>
        <p:nvSpPr>
          <p:cNvPr id="125" name="文本框 124"/>
          <p:cNvSpPr txBox="1"/>
          <p:nvPr>
            <p:custDataLst>
              <p:tags r:id="rId47"/>
            </p:custDataLst>
          </p:nvPr>
        </p:nvSpPr>
        <p:spPr>
          <a:xfrm>
            <a:off x="7487285" y="2959735"/>
            <a:ext cx="2091055" cy="1891665"/>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采用评测数据集对训练或微调后的模型进行评测</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分析评测结果是否满足业务要求</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如果不满足业务要求，需要重新构建高质量数据集或调整模型参数尺寸进行再训练或微调</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经过多轮训练或微调直到达到业务要求</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27" name="矩形 126"/>
          <p:cNvSpPr/>
          <p:nvPr>
            <p:custDataLst>
              <p:tags r:id="rId48"/>
            </p:custDataLst>
          </p:nvPr>
        </p:nvSpPr>
        <p:spPr>
          <a:xfrm>
            <a:off x="7489825" y="4947920"/>
            <a:ext cx="2089150" cy="968375"/>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8" name="Title"/>
          <p:cNvSpPr>
            <a:spLocks noChangeAspect="1"/>
          </p:cNvSpPr>
          <p:nvPr>
            <p:custDataLst>
              <p:tags r:id="rId49"/>
            </p:custDataLst>
          </p:nvPr>
        </p:nvSpPr>
        <p:spPr>
          <a:xfrm>
            <a:off x="7489190" y="4947920"/>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4.3</a:t>
            </a:r>
            <a:r>
              <a:rPr kumimoji="1" lang="zh-CN" altLang="en-US" sz="1400" b="1" dirty="0">
                <a:solidFill>
                  <a:srgbClr val="FFFFFF"/>
                </a:solidFill>
                <a:latin typeface="+mn-ea"/>
                <a:sym typeface="Arial" panose="020B0604020202020204" pitchFamily="34" charset="0"/>
              </a:rPr>
              <a:t>模型部署</a:t>
            </a:r>
            <a:endParaRPr kumimoji="1" lang="zh-CN" altLang="en-US" sz="1400" b="1" dirty="0">
              <a:solidFill>
                <a:srgbClr val="FFFFFF"/>
              </a:solidFill>
              <a:latin typeface="+mn-ea"/>
              <a:sym typeface="Arial" panose="020B0604020202020204" pitchFamily="34" charset="0"/>
            </a:endParaRPr>
          </a:p>
        </p:txBody>
      </p:sp>
      <p:sp>
        <p:nvSpPr>
          <p:cNvPr id="129" name="文本框 128"/>
          <p:cNvSpPr txBox="1"/>
          <p:nvPr>
            <p:custDataLst>
              <p:tags r:id="rId50"/>
            </p:custDataLst>
          </p:nvPr>
        </p:nvSpPr>
        <p:spPr>
          <a:xfrm>
            <a:off x="7488555" y="5248275"/>
            <a:ext cx="2091055" cy="1120775"/>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将训练或微调后的模型在</a:t>
            </a:r>
            <a:r>
              <a:rPr lang="en-US" altLang="zh-CN" sz="1200">
                <a:latin typeface="微软雅黑" panose="020B0503020204020204" charset="-122"/>
                <a:ea typeface="微软雅黑" panose="020B0503020204020204" charset="-122"/>
                <a:cs typeface="微软雅黑" panose="020B0503020204020204" charset="-122"/>
              </a:rPr>
              <a:t>AI</a:t>
            </a:r>
            <a:r>
              <a:rPr lang="zh-CN" altLang="en-US" sz="1200">
                <a:latin typeface="微软雅黑" panose="020B0503020204020204" charset="-122"/>
                <a:ea typeface="微软雅黑" panose="020B0503020204020204" charset="-122"/>
                <a:cs typeface="微软雅黑" panose="020B0503020204020204" charset="-122"/>
              </a:rPr>
              <a:t>底座中进行部署</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35" name="矩形 134"/>
          <p:cNvSpPr/>
          <p:nvPr>
            <p:custDataLst>
              <p:tags r:id="rId51"/>
            </p:custDataLst>
          </p:nvPr>
        </p:nvSpPr>
        <p:spPr>
          <a:xfrm>
            <a:off x="9914255" y="1625600"/>
            <a:ext cx="2089150" cy="225933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6" name="Title"/>
          <p:cNvSpPr>
            <a:spLocks noChangeAspect="1"/>
          </p:cNvSpPr>
          <p:nvPr>
            <p:custDataLst>
              <p:tags r:id="rId52"/>
            </p:custDataLst>
          </p:nvPr>
        </p:nvSpPr>
        <p:spPr>
          <a:xfrm>
            <a:off x="9913620" y="1625600"/>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5.1</a:t>
            </a:r>
            <a:r>
              <a:rPr kumimoji="1" lang="zh-CN" altLang="en-US" sz="1400" b="1" dirty="0">
                <a:solidFill>
                  <a:srgbClr val="FFFFFF"/>
                </a:solidFill>
                <a:latin typeface="+mn-ea"/>
                <a:sym typeface="Arial" panose="020B0604020202020204" pitchFamily="34" charset="0"/>
              </a:rPr>
              <a:t>选择开发方式</a:t>
            </a:r>
            <a:endParaRPr kumimoji="1" lang="zh-CN" altLang="en-US" sz="1400" b="1" dirty="0">
              <a:solidFill>
                <a:srgbClr val="FFFFFF"/>
              </a:solidFill>
              <a:latin typeface="+mn-ea"/>
              <a:sym typeface="Arial" panose="020B0604020202020204" pitchFamily="34" charset="0"/>
            </a:endParaRPr>
          </a:p>
        </p:txBody>
      </p:sp>
      <p:sp>
        <p:nvSpPr>
          <p:cNvPr id="137" name="文本框 136"/>
          <p:cNvSpPr txBox="1"/>
          <p:nvPr>
            <p:custDataLst>
              <p:tags r:id="rId53"/>
            </p:custDataLst>
          </p:nvPr>
        </p:nvSpPr>
        <p:spPr>
          <a:xfrm>
            <a:off x="9912985" y="1925955"/>
            <a:ext cx="2091055" cy="1958975"/>
          </a:xfrm>
          <a:prstGeom prst="rect">
            <a:avLst/>
          </a:prstGeom>
          <a:noFill/>
        </p:spPr>
        <p:txBody>
          <a:bodyPr wrap="square" rtlCol="0" anchor="t">
            <a:noAutofit/>
          </a:bodyPr>
          <a:p>
            <a:pPr marL="171450" indent="-171450">
              <a:buFont typeface="Wingdings" panose="05000000000000000000" charset="0"/>
              <a:buChar char="Ø"/>
            </a:pPr>
            <a:r>
              <a:rPr lang="zh-CN" altLang="en-US" sz="1000">
                <a:latin typeface="微软雅黑" panose="020B0503020204020204" charset="-122"/>
                <a:ea typeface="微软雅黑" panose="020B0503020204020204" charset="-122"/>
                <a:cs typeface="微软雅黑" panose="020B0503020204020204" charset="-122"/>
              </a:rPr>
              <a:t>通用智能组件配置：业务逻简单，可直接使用</a:t>
            </a:r>
            <a:r>
              <a:rPr lang="en-US" altLang="zh-CN" sz="1000">
                <a:latin typeface="微软雅黑" panose="020B0503020204020204" charset="-122"/>
                <a:ea typeface="微软雅黑" panose="020B0503020204020204" charset="-122"/>
                <a:cs typeface="微软雅黑" panose="020B0503020204020204" charset="-122"/>
              </a:rPr>
              <a:t>AI</a:t>
            </a:r>
            <a:r>
              <a:rPr lang="zh-CN" altLang="en-US" sz="1000">
                <a:latin typeface="微软雅黑" panose="020B0503020204020204" charset="-122"/>
                <a:ea typeface="微软雅黑" panose="020B0503020204020204" charset="-122"/>
                <a:cs typeface="微软雅黑" panose="020B0503020204020204" charset="-122"/>
              </a:rPr>
              <a:t>底座提供的通用智能组件配置</a:t>
            </a:r>
            <a:endParaRPr lang="zh-CN" altLang="en-US" sz="10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000">
                <a:latin typeface="微软雅黑" panose="020B0503020204020204" charset="-122"/>
                <a:ea typeface="微软雅黑" panose="020B0503020204020204" charset="-122"/>
                <a:cs typeface="微软雅黑" panose="020B0503020204020204" charset="-122"/>
              </a:rPr>
              <a:t>低代码开发：业务逻辑较复杂，可直接使用智能体开发系统采用可视化编排方式开发</a:t>
            </a:r>
            <a:endParaRPr lang="zh-CN" altLang="en-US" sz="10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000">
                <a:latin typeface="微软雅黑" panose="020B0503020204020204" charset="-122"/>
                <a:ea typeface="微软雅黑" panose="020B0503020204020204" charset="-122"/>
                <a:cs typeface="微软雅黑" panose="020B0503020204020204" charset="-122"/>
              </a:rPr>
              <a:t>定制化开发：业务逻辑复杂，可直接调用</a:t>
            </a:r>
            <a:r>
              <a:rPr lang="en-US" altLang="zh-CN" sz="1000">
                <a:latin typeface="微软雅黑" panose="020B0503020204020204" charset="-122"/>
                <a:ea typeface="微软雅黑" panose="020B0503020204020204" charset="-122"/>
                <a:cs typeface="微软雅黑" panose="020B0503020204020204" charset="-122"/>
              </a:rPr>
              <a:t>AI</a:t>
            </a:r>
            <a:r>
              <a:rPr lang="zh-CN" altLang="en-US" sz="1000">
                <a:latin typeface="微软雅黑" panose="020B0503020204020204" charset="-122"/>
                <a:ea typeface="微软雅黑" panose="020B0503020204020204" charset="-122"/>
                <a:cs typeface="微软雅黑" panose="020B0503020204020204" charset="-122"/>
              </a:rPr>
              <a:t>底座提供的模型服务接口开发</a:t>
            </a:r>
            <a:endParaRPr lang="zh-CN" altLang="en-US" sz="10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000">
                <a:latin typeface="微软雅黑" panose="020B0503020204020204" charset="-122"/>
                <a:ea typeface="微软雅黑" panose="020B0503020204020204" charset="-122"/>
                <a:cs typeface="微软雅黑" panose="020B0503020204020204" charset="-122"/>
              </a:rPr>
              <a:t>直接使用：通过页面集成</a:t>
            </a:r>
            <a:r>
              <a:rPr lang="en-US" altLang="zh-CN" sz="1000">
                <a:latin typeface="微软雅黑" panose="020B0503020204020204" charset="-122"/>
                <a:ea typeface="微软雅黑" panose="020B0503020204020204" charset="-122"/>
                <a:cs typeface="微软雅黑" panose="020B0503020204020204" charset="-122"/>
              </a:rPr>
              <a:t>MCP</a:t>
            </a:r>
            <a:r>
              <a:rPr lang="zh-CN" altLang="en-US" sz="1000">
                <a:latin typeface="微软雅黑" panose="020B0503020204020204" charset="-122"/>
                <a:ea typeface="微软雅黑" panose="020B0503020204020204" charset="-122"/>
                <a:cs typeface="微软雅黑" panose="020B0503020204020204" charset="-122"/>
              </a:rPr>
              <a:t>或</a:t>
            </a:r>
            <a:r>
              <a:rPr lang="en-US" altLang="zh-CN" sz="1000">
                <a:latin typeface="微软雅黑" panose="020B0503020204020204" charset="-122"/>
                <a:ea typeface="微软雅黑" panose="020B0503020204020204" charset="-122"/>
                <a:cs typeface="微软雅黑" panose="020B0503020204020204" charset="-122"/>
              </a:rPr>
              <a:t>A2A</a:t>
            </a:r>
            <a:r>
              <a:rPr lang="zh-CN" altLang="en-US" sz="1000">
                <a:latin typeface="微软雅黑" panose="020B0503020204020204" charset="-122"/>
                <a:ea typeface="微软雅黑" panose="020B0503020204020204" charset="-122"/>
                <a:cs typeface="微软雅黑" panose="020B0503020204020204" charset="-122"/>
              </a:rPr>
              <a:t>等方式直接调用其他部门开发的智能体</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42" name="矩形 141"/>
          <p:cNvSpPr/>
          <p:nvPr>
            <p:custDataLst>
              <p:tags r:id="rId54"/>
            </p:custDataLst>
          </p:nvPr>
        </p:nvSpPr>
        <p:spPr>
          <a:xfrm>
            <a:off x="9913620" y="3972560"/>
            <a:ext cx="2089150" cy="968375"/>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3" name="Title"/>
          <p:cNvSpPr>
            <a:spLocks noChangeAspect="1"/>
          </p:cNvSpPr>
          <p:nvPr>
            <p:custDataLst>
              <p:tags r:id="rId55"/>
            </p:custDataLst>
          </p:nvPr>
        </p:nvSpPr>
        <p:spPr>
          <a:xfrm>
            <a:off x="9912985" y="3972560"/>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5.2</a:t>
            </a:r>
            <a:r>
              <a:rPr kumimoji="1" lang="zh-CN" altLang="en-US" sz="1400" b="1" dirty="0">
                <a:solidFill>
                  <a:srgbClr val="FFFFFF"/>
                </a:solidFill>
                <a:latin typeface="+mn-ea"/>
                <a:sym typeface="Arial" panose="020B0604020202020204" pitchFamily="34" charset="0"/>
              </a:rPr>
              <a:t>智能体开发与调试</a:t>
            </a:r>
            <a:endParaRPr kumimoji="1" lang="zh-CN" altLang="en-US" sz="1400" b="1" dirty="0">
              <a:solidFill>
                <a:srgbClr val="FFFFFF"/>
              </a:solidFill>
              <a:latin typeface="+mn-ea"/>
              <a:sym typeface="Arial" panose="020B0604020202020204" pitchFamily="34" charset="0"/>
            </a:endParaRPr>
          </a:p>
        </p:txBody>
      </p:sp>
      <p:sp>
        <p:nvSpPr>
          <p:cNvPr id="144" name="文本框 143"/>
          <p:cNvSpPr txBox="1"/>
          <p:nvPr>
            <p:custDataLst>
              <p:tags r:id="rId56"/>
            </p:custDataLst>
          </p:nvPr>
        </p:nvSpPr>
        <p:spPr>
          <a:xfrm>
            <a:off x="9912350" y="4272915"/>
            <a:ext cx="2091055" cy="1120775"/>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集成模型、数据资源、工具等资源开发智能体</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多智能体协同开发</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46" name="矩形 145"/>
          <p:cNvSpPr/>
          <p:nvPr>
            <p:custDataLst>
              <p:tags r:id="rId57"/>
            </p:custDataLst>
          </p:nvPr>
        </p:nvSpPr>
        <p:spPr>
          <a:xfrm>
            <a:off x="9912985" y="5067935"/>
            <a:ext cx="2089150" cy="848995"/>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7" name="Title"/>
          <p:cNvSpPr>
            <a:spLocks noChangeAspect="1"/>
          </p:cNvSpPr>
          <p:nvPr>
            <p:custDataLst>
              <p:tags r:id="rId58"/>
            </p:custDataLst>
          </p:nvPr>
        </p:nvSpPr>
        <p:spPr>
          <a:xfrm>
            <a:off x="9912350" y="5067935"/>
            <a:ext cx="2090420" cy="278130"/>
          </a:xfrm>
          <a:prstGeom prst="roundRect">
            <a:avLst>
              <a:gd name="adj" fmla="val 0"/>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400" b="1" dirty="0">
                <a:solidFill>
                  <a:srgbClr val="FFFFFF"/>
                </a:solidFill>
                <a:latin typeface="+mn-ea"/>
                <a:sym typeface="Arial" panose="020B0604020202020204" pitchFamily="34" charset="0"/>
              </a:rPr>
              <a:t>5.3</a:t>
            </a:r>
            <a:r>
              <a:rPr kumimoji="1" lang="zh-CN" altLang="en-US" sz="1400" b="1" dirty="0">
                <a:solidFill>
                  <a:srgbClr val="FFFFFF"/>
                </a:solidFill>
                <a:latin typeface="+mn-ea"/>
                <a:sym typeface="Arial" panose="020B0604020202020204" pitchFamily="34" charset="0"/>
              </a:rPr>
              <a:t>智能体与应用集成</a:t>
            </a:r>
            <a:endParaRPr kumimoji="1" lang="zh-CN" altLang="en-US" sz="1400" b="1" dirty="0">
              <a:solidFill>
                <a:srgbClr val="FFFFFF"/>
              </a:solidFill>
              <a:latin typeface="+mn-ea"/>
              <a:sym typeface="Arial" panose="020B0604020202020204" pitchFamily="34" charset="0"/>
            </a:endParaRPr>
          </a:p>
        </p:txBody>
      </p:sp>
      <p:sp>
        <p:nvSpPr>
          <p:cNvPr id="148" name="文本框 147"/>
          <p:cNvSpPr txBox="1"/>
          <p:nvPr>
            <p:custDataLst>
              <p:tags r:id="rId59"/>
            </p:custDataLst>
          </p:nvPr>
        </p:nvSpPr>
        <p:spPr>
          <a:xfrm>
            <a:off x="9911715" y="5368290"/>
            <a:ext cx="2091055" cy="502285"/>
          </a:xfrm>
          <a:prstGeom prst="rect">
            <a:avLst/>
          </a:prstGeom>
          <a:noFill/>
        </p:spPr>
        <p:txBody>
          <a:bodyPr wrap="square" rtlCol="0" anchor="t">
            <a:noAutofit/>
          </a:bodyPr>
          <a:p>
            <a:pPr marL="171450" indent="-171450">
              <a:buFont typeface="Wingdings" panose="05000000000000000000" charset="0"/>
              <a:buChar char="Ø"/>
            </a:pPr>
            <a:r>
              <a:rPr lang="zh-CN" altLang="en-US" sz="1200">
                <a:latin typeface="微软雅黑" panose="020B0503020204020204" charset="-122"/>
                <a:ea typeface="微软雅黑" panose="020B0503020204020204" charset="-122"/>
                <a:cs typeface="微软雅黑" panose="020B0503020204020204" charset="-122"/>
              </a:rPr>
              <a:t>将智能体集成到应用及综合场景，为综合场景赋能</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2" name="Title"/>
          <p:cNvSpPr>
            <a:spLocks noChangeAspect="1"/>
          </p:cNvSpPr>
          <p:nvPr>
            <p:custDataLst>
              <p:tags r:id="rId60"/>
            </p:custDataLst>
          </p:nvPr>
        </p:nvSpPr>
        <p:spPr>
          <a:xfrm>
            <a:off x="7489190" y="6090920"/>
            <a:ext cx="4614545" cy="573405"/>
          </a:xfrm>
          <a:prstGeom prst="roundRect">
            <a:avLst>
              <a:gd name="adj" fmla="val 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b="1" dirty="0">
                <a:gradFill>
                  <a:gsLst>
                    <a:gs pos="50410">
                      <a:srgbClr val="FB9B36"/>
                    </a:gs>
                    <a:gs pos="0">
                      <a:srgbClr val="FE564D"/>
                    </a:gs>
                    <a:gs pos="100000">
                      <a:srgbClr val="F9CA26"/>
                    </a:gs>
                  </a:gsLst>
                  <a:lin ang="5400000" scaled="1"/>
                </a:gradFill>
                <a:latin typeface="+mn-ea"/>
                <a:sym typeface="Arial" panose="020B0604020202020204" pitchFamily="34" charset="0"/>
              </a:rPr>
              <a:t>可并行</a:t>
            </a:r>
            <a:endParaRPr kumimoji="1" lang="zh-CN" altLang="en-US" sz="1400" b="1" dirty="0">
              <a:gradFill>
                <a:gsLst>
                  <a:gs pos="50410">
                    <a:srgbClr val="FB9B36"/>
                  </a:gs>
                  <a:gs pos="0">
                    <a:srgbClr val="FE564D"/>
                  </a:gs>
                  <a:gs pos="100000">
                    <a:srgbClr val="F9CA26"/>
                  </a:gs>
                </a:gsLst>
                <a:lin ang="5400000" scaled="1"/>
              </a:gradFill>
              <a:latin typeface="+mn-ea"/>
              <a:sym typeface="Arial" panose="020B0604020202020204" pitchFamily="34" charset="0"/>
            </a:endParaRP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 name="矩形 15"/>
          <p:cNvSpPr/>
          <p:nvPr/>
        </p:nvSpPr>
        <p:spPr>
          <a:xfrm>
            <a:off x="3208020" y="1361440"/>
            <a:ext cx="2844165" cy="4825365"/>
          </a:xfrm>
          <a:prstGeom prst="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sz="1600" b="1" noProof="0" dirty="0">
              <a:solidFill>
                <a:srgbClr val="00A6C7"/>
              </a:solidFill>
              <a:latin typeface="微软雅黑" panose="020B0503020204020204" charset="-122"/>
              <a:ea typeface="微软雅黑" panose="020B0503020204020204" charset="-122"/>
              <a:sym typeface="+mn-ea"/>
            </a:endParaRPr>
          </a:p>
        </p:txBody>
      </p:sp>
      <p:sp useBgFill="1">
        <p:nvSpPr>
          <p:cNvPr id="33" name="矩形 32"/>
          <p:cNvSpPr/>
          <p:nvPr/>
        </p:nvSpPr>
        <p:spPr>
          <a:xfrm>
            <a:off x="6086475" y="1361440"/>
            <a:ext cx="2844165" cy="4825365"/>
          </a:xfrm>
          <a:prstGeom prst="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sz="1600" b="1" noProof="0" dirty="0">
              <a:solidFill>
                <a:srgbClr val="00A6C7"/>
              </a:solidFill>
              <a:latin typeface="微软雅黑" panose="020B0503020204020204" charset="-122"/>
              <a:ea typeface="微软雅黑" panose="020B0503020204020204" charset="-122"/>
              <a:sym typeface="+mn-ea"/>
            </a:endParaRPr>
          </a:p>
        </p:txBody>
      </p:sp>
      <p:sp useBgFill="1">
        <p:nvSpPr>
          <p:cNvPr id="38" name="矩形 37"/>
          <p:cNvSpPr/>
          <p:nvPr/>
        </p:nvSpPr>
        <p:spPr>
          <a:xfrm>
            <a:off x="8964930" y="1361440"/>
            <a:ext cx="2844165" cy="4825365"/>
          </a:xfrm>
          <a:prstGeom prst="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sz="1600" b="1" noProof="0" dirty="0">
              <a:solidFill>
                <a:srgbClr val="00A6C7"/>
              </a:solidFill>
              <a:latin typeface="微软雅黑" panose="020B0503020204020204" charset="-122"/>
              <a:ea typeface="微软雅黑" panose="020B0503020204020204" charset="-122"/>
              <a:sym typeface="+mn-ea"/>
            </a:endParaRPr>
          </a:p>
        </p:txBody>
      </p:sp>
      <p:sp useBgFill="1">
        <p:nvSpPr>
          <p:cNvPr id="4" name="矩形 3"/>
          <p:cNvSpPr/>
          <p:nvPr/>
        </p:nvSpPr>
        <p:spPr>
          <a:xfrm>
            <a:off x="282575" y="1361440"/>
            <a:ext cx="2820670" cy="4825365"/>
          </a:xfrm>
          <a:prstGeom prst="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sz="1600" b="1" noProof="0" dirty="0">
              <a:solidFill>
                <a:srgbClr val="00A6C7"/>
              </a:solidFill>
              <a:latin typeface="微软雅黑" panose="020B0503020204020204" charset="-122"/>
              <a:ea typeface="微软雅黑" panose="020B0503020204020204" charset="-122"/>
              <a:sym typeface="+mn-ea"/>
            </a:endParaRPr>
          </a:p>
        </p:txBody>
      </p:sp>
      <p:sp>
        <p:nvSpPr>
          <p:cNvPr id="2" name="矩形 1"/>
          <p:cNvSpPr/>
          <p:nvPr>
            <p:custDataLst>
              <p:tags r:id="rId1"/>
            </p:custDataLst>
          </p:nvPr>
        </p:nvSpPr>
        <p:spPr>
          <a:xfrm>
            <a:off x="336803" y="144012"/>
            <a:ext cx="8493516" cy="953135"/>
          </a:xfrm>
          <a:prstGeom prst="rect">
            <a:avLst/>
          </a:prstGeom>
        </p:spPr>
        <p:txBody>
          <a:bodyPr wrap="square">
            <a:spAutoFit/>
          </a:bodyPr>
          <a:p>
            <a:r>
              <a:rPr lang="en-US" altLang="zh-CN" sz="2795" b="1" dirty="0">
                <a:solidFill>
                  <a:srgbClr val="00A6C7"/>
                </a:solidFill>
                <a:latin typeface="+mn-ea"/>
                <a:sym typeface="+mn-ea"/>
              </a:rPr>
              <a:t>AI+</a:t>
            </a:r>
            <a:r>
              <a:rPr lang="zh-CN" altLang="en-US" sz="2795" b="1" dirty="0">
                <a:solidFill>
                  <a:srgbClr val="00A6C7"/>
                </a:solidFill>
                <a:latin typeface="+mn-ea"/>
                <a:sym typeface="+mn-ea"/>
              </a:rPr>
              <a:t>综合场景实施建议</a:t>
            </a:r>
            <a:endParaRPr lang="zh-CN" altLang="en-US" sz="2795" b="1" dirty="0">
              <a:solidFill>
                <a:srgbClr val="00A6C7"/>
              </a:solidFill>
              <a:latin typeface="+mn-ea"/>
              <a:sym typeface="+mn-ea"/>
            </a:endParaRPr>
          </a:p>
          <a:p>
            <a:endParaRPr lang="zh-CN" altLang="en-US" sz="2795" b="1" dirty="0">
              <a:solidFill>
                <a:srgbClr val="00A6C7"/>
              </a:solidFill>
              <a:latin typeface="+mn-ea"/>
              <a:ea typeface="微软雅黑" panose="020B0503020204020204" charset="-122"/>
              <a:cs typeface="微软雅黑" panose="020B0503020204020204" charset="-122"/>
              <a:sym typeface="+mn-ea"/>
            </a:endParaRPr>
          </a:p>
        </p:txBody>
      </p:sp>
      <p:sp>
        <p:nvSpPr>
          <p:cNvPr id="9" name="矩形 8"/>
          <p:cNvSpPr/>
          <p:nvPr/>
        </p:nvSpPr>
        <p:spPr>
          <a:xfrm>
            <a:off x="355600" y="4876165"/>
            <a:ext cx="35560" cy="1168400"/>
          </a:xfrm>
          <a:prstGeom prst="rect">
            <a:avLst/>
          </a:prstGeom>
          <a:solidFill>
            <a:schemeClr val="accent5"/>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endParaRPr lang="zh-CN" altLang="en-US" sz="1200">
              <a:solidFill>
                <a:schemeClr val="tx1"/>
              </a:solidFill>
              <a:sym typeface="+mn-ea"/>
            </a:endParaRPr>
          </a:p>
        </p:txBody>
      </p:sp>
      <p:sp>
        <p:nvSpPr>
          <p:cNvPr id="17" name="矩形 16"/>
          <p:cNvSpPr/>
          <p:nvPr/>
        </p:nvSpPr>
        <p:spPr>
          <a:xfrm>
            <a:off x="3208020" y="1376045"/>
            <a:ext cx="2844165" cy="330200"/>
          </a:xfrm>
          <a:prstGeom prst="rect">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400" b="1" dirty="0">
                <a:solidFill>
                  <a:srgbClr val="FFFFFF"/>
                </a:solidFill>
                <a:latin typeface="+mn-ea"/>
                <a:sym typeface="+mn-ea"/>
              </a:rPr>
              <a:t>分解场景</a:t>
            </a:r>
            <a:endParaRPr kumimoji="1" lang="en-US" altLang="zh-CN" sz="1400" b="1" dirty="0">
              <a:solidFill>
                <a:srgbClr val="FFFFFF"/>
              </a:solidFill>
              <a:latin typeface="+mn-ea"/>
              <a:sym typeface="+mn-ea"/>
            </a:endParaRPr>
          </a:p>
        </p:txBody>
      </p:sp>
      <p:sp>
        <p:nvSpPr>
          <p:cNvPr id="18" name="矩形 17"/>
          <p:cNvSpPr/>
          <p:nvPr/>
        </p:nvSpPr>
        <p:spPr>
          <a:xfrm>
            <a:off x="3302635" y="1814830"/>
            <a:ext cx="2624455" cy="715010"/>
          </a:xfrm>
          <a:prstGeom prst="rect">
            <a:avLst/>
          </a:prstGeom>
          <a:noFill/>
        </p:spPr>
        <p:txBody>
          <a:bodyPr wrap="square" lIns="0" tIns="0" rIns="0" bIns="0" rtlCol="0" anchor="t" anchorCtr="0">
            <a:noAutofit/>
          </a:bodyPr>
          <a:p>
            <a:pPr algn="just">
              <a:lnSpc>
                <a:spcPct val="100000"/>
              </a:lnSpc>
              <a:spcBef>
                <a:spcPct val="0"/>
              </a:spcBef>
              <a:spcAft>
                <a:spcPct val="0"/>
              </a:spcAft>
            </a:pPr>
            <a:r>
              <a:rPr lang="zh-CN" altLang="en-US" sz="1200" dirty="0">
                <a:solidFill>
                  <a:schemeClr val="tx1">
                    <a:lumMod val="85000"/>
                    <a:lumOff val="15000"/>
                  </a:schemeClr>
                </a:solidFill>
                <a:latin typeface="+mn-ea"/>
                <a:cs typeface="+mn-ea"/>
              </a:rPr>
              <a:t>将复杂场景拆分为更小的子场景</a:t>
            </a:r>
            <a:r>
              <a:rPr lang="zh-CN" altLang="en-US" sz="1200" dirty="0">
                <a:solidFill>
                  <a:schemeClr val="tx1">
                    <a:lumMod val="85000"/>
                    <a:lumOff val="15000"/>
                  </a:schemeClr>
                </a:solidFill>
                <a:latin typeface="+mn-ea"/>
                <a:cs typeface="+mn-ea"/>
              </a:rPr>
              <a:t>，识别每个子场景需要实现的能力。</a:t>
            </a:r>
            <a:endParaRPr lang="zh-CN" altLang="en-US" sz="1200" dirty="0">
              <a:solidFill>
                <a:schemeClr val="tx1">
                  <a:lumMod val="85000"/>
                  <a:lumOff val="15000"/>
                </a:schemeClr>
              </a:solidFill>
              <a:latin typeface="+mn-ea"/>
              <a:cs typeface="+mn-ea"/>
            </a:endParaRPr>
          </a:p>
        </p:txBody>
      </p:sp>
      <p:sp>
        <p:nvSpPr>
          <p:cNvPr id="34" name="矩形 33"/>
          <p:cNvSpPr/>
          <p:nvPr/>
        </p:nvSpPr>
        <p:spPr>
          <a:xfrm>
            <a:off x="6086475" y="1376045"/>
            <a:ext cx="2844165" cy="330200"/>
          </a:xfrm>
          <a:prstGeom prst="rect">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400" b="1" dirty="0">
                <a:solidFill>
                  <a:srgbClr val="FFFFFF"/>
                </a:solidFill>
                <a:latin typeface="+mn-ea"/>
                <a:sym typeface="+mn-ea"/>
              </a:rPr>
              <a:t>确定业务事项</a:t>
            </a:r>
            <a:endParaRPr kumimoji="1" lang="en-US" altLang="zh-CN" sz="1400" b="1" dirty="0">
              <a:solidFill>
                <a:srgbClr val="FFFFFF"/>
              </a:solidFill>
              <a:latin typeface="+mn-ea"/>
              <a:sym typeface="+mn-ea"/>
            </a:endParaRPr>
          </a:p>
        </p:txBody>
      </p:sp>
      <p:sp>
        <p:nvSpPr>
          <p:cNvPr id="35" name="矩形 34"/>
          <p:cNvSpPr/>
          <p:nvPr/>
        </p:nvSpPr>
        <p:spPr>
          <a:xfrm>
            <a:off x="6194425" y="1814830"/>
            <a:ext cx="2624455" cy="454025"/>
          </a:xfrm>
          <a:prstGeom prst="rect">
            <a:avLst/>
          </a:prstGeom>
          <a:noFill/>
        </p:spPr>
        <p:txBody>
          <a:bodyPr wrap="square" lIns="0" tIns="0" rIns="0" bIns="0" rtlCol="0" anchor="t" anchorCtr="0">
            <a:noAutofit/>
          </a:bodyPr>
          <a:p>
            <a:pPr algn="just">
              <a:lnSpc>
                <a:spcPct val="100000"/>
              </a:lnSpc>
              <a:spcBef>
                <a:spcPct val="0"/>
              </a:spcBef>
              <a:spcAft>
                <a:spcPct val="0"/>
              </a:spcAft>
            </a:pPr>
            <a:r>
              <a:rPr lang="zh-CN" altLang="en-US" sz="1200" dirty="0">
                <a:solidFill>
                  <a:schemeClr val="tx1">
                    <a:lumMod val="85000"/>
                    <a:lumOff val="15000"/>
                  </a:schemeClr>
                </a:solidFill>
                <a:latin typeface="+mn-ea"/>
                <a:cs typeface="+mn-ea"/>
              </a:rPr>
              <a:t>梳理具体的业务事项</a:t>
            </a:r>
            <a:r>
              <a:rPr lang="zh-CN" altLang="en-US" sz="1200" dirty="0">
                <a:solidFill>
                  <a:schemeClr val="tx1">
                    <a:lumMod val="85000"/>
                    <a:lumOff val="15000"/>
                  </a:schemeClr>
                </a:solidFill>
                <a:latin typeface="+mn-ea"/>
                <a:cs typeface="+mn-ea"/>
              </a:rPr>
              <a:t>，识别每个</a:t>
            </a:r>
            <a:r>
              <a:rPr lang="zh-CN" altLang="en-US" sz="1200" dirty="0">
                <a:solidFill>
                  <a:schemeClr val="tx1">
                    <a:lumMod val="85000"/>
                    <a:lumOff val="15000"/>
                  </a:schemeClr>
                </a:solidFill>
                <a:latin typeface="+mn-ea"/>
                <a:cs typeface="+mn-ea"/>
              </a:rPr>
              <a:t>事项需要实现的能力。</a:t>
            </a:r>
            <a:endParaRPr lang="zh-CN" altLang="en-US" sz="1200" dirty="0">
              <a:solidFill>
                <a:schemeClr val="tx1">
                  <a:lumMod val="85000"/>
                  <a:lumOff val="15000"/>
                </a:schemeClr>
              </a:solidFill>
              <a:latin typeface="+mn-ea"/>
              <a:cs typeface="+mn-ea"/>
            </a:endParaRPr>
          </a:p>
        </p:txBody>
      </p:sp>
      <p:sp>
        <p:nvSpPr>
          <p:cNvPr id="39" name="矩形 38"/>
          <p:cNvSpPr/>
          <p:nvPr/>
        </p:nvSpPr>
        <p:spPr>
          <a:xfrm>
            <a:off x="8964930" y="1376045"/>
            <a:ext cx="2844165" cy="330200"/>
          </a:xfrm>
          <a:prstGeom prst="rect">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400" b="1" dirty="0">
                <a:solidFill>
                  <a:srgbClr val="FFFFFF"/>
                </a:solidFill>
                <a:latin typeface="+mn-ea"/>
                <a:sym typeface="+mn-ea"/>
              </a:rPr>
              <a:t>规划智能体关系</a:t>
            </a:r>
            <a:endParaRPr kumimoji="1" lang="en-US" altLang="zh-CN" sz="1400" b="1" dirty="0">
              <a:solidFill>
                <a:srgbClr val="FFFFFF"/>
              </a:solidFill>
              <a:latin typeface="+mn-ea"/>
              <a:sym typeface="+mn-ea"/>
            </a:endParaRPr>
          </a:p>
        </p:txBody>
      </p:sp>
      <p:sp>
        <p:nvSpPr>
          <p:cNvPr id="40" name="矩形 39"/>
          <p:cNvSpPr/>
          <p:nvPr/>
        </p:nvSpPr>
        <p:spPr>
          <a:xfrm>
            <a:off x="9072245" y="1814830"/>
            <a:ext cx="2624455" cy="715010"/>
          </a:xfrm>
          <a:prstGeom prst="rect">
            <a:avLst/>
          </a:prstGeom>
          <a:noFill/>
        </p:spPr>
        <p:txBody>
          <a:bodyPr wrap="square" lIns="0" tIns="0" rIns="0" bIns="0" rtlCol="0" anchor="t" anchorCtr="0">
            <a:noAutofit/>
          </a:bodyPr>
          <a:p>
            <a:pPr algn="just">
              <a:lnSpc>
                <a:spcPct val="100000"/>
              </a:lnSpc>
              <a:spcBef>
                <a:spcPct val="0"/>
              </a:spcBef>
              <a:spcAft>
                <a:spcPct val="0"/>
              </a:spcAft>
            </a:pPr>
            <a:r>
              <a:rPr lang="zh-CN" altLang="en-US" sz="1200" dirty="0">
                <a:solidFill>
                  <a:schemeClr val="tx1">
                    <a:lumMod val="85000"/>
                    <a:lumOff val="15000"/>
                  </a:schemeClr>
                </a:solidFill>
                <a:latin typeface="+mn-ea"/>
                <a:cs typeface="+mn-ea"/>
              </a:rPr>
              <a:t>分析智能体间的关系</a:t>
            </a:r>
            <a:r>
              <a:rPr lang="zh-CN" altLang="en-US" sz="1200" dirty="0">
                <a:solidFill>
                  <a:schemeClr val="tx1">
                    <a:lumMod val="85000"/>
                    <a:lumOff val="15000"/>
                  </a:schemeClr>
                </a:solidFill>
                <a:latin typeface="+mn-ea"/>
                <a:cs typeface="+mn-ea"/>
              </a:rPr>
              <a:t>，形成多智</a:t>
            </a:r>
            <a:r>
              <a:rPr lang="zh-CN" altLang="en-US" sz="1200" dirty="0">
                <a:solidFill>
                  <a:schemeClr val="tx1">
                    <a:lumMod val="85000"/>
                    <a:lumOff val="15000"/>
                  </a:schemeClr>
                </a:solidFill>
                <a:latin typeface="+mn-ea"/>
                <a:cs typeface="+mn-ea"/>
              </a:rPr>
              <a:t>能体协作关系图</a:t>
            </a:r>
            <a:r>
              <a:rPr lang="zh-CN" altLang="en-US" sz="1200" dirty="0">
                <a:solidFill>
                  <a:schemeClr val="tx1">
                    <a:lumMod val="85000"/>
                    <a:lumOff val="15000"/>
                  </a:schemeClr>
                </a:solidFill>
                <a:latin typeface="+mn-ea"/>
                <a:cs typeface="+mn-ea"/>
              </a:rPr>
              <a:t>，明确协同机制。</a:t>
            </a:r>
            <a:endParaRPr lang="zh-CN" altLang="en-US" sz="1200" dirty="0">
              <a:solidFill>
                <a:schemeClr val="tx1">
                  <a:lumMod val="85000"/>
                  <a:lumOff val="15000"/>
                </a:schemeClr>
              </a:solidFill>
              <a:latin typeface="+mn-ea"/>
              <a:cs typeface="+mn-ea"/>
            </a:endParaRPr>
          </a:p>
        </p:txBody>
      </p:sp>
      <p:sp>
        <p:nvSpPr>
          <p:cNvPr id="27" name="Title"/>
          <p:cNvSpPr>
            <a:spLocks noChangeAspect="1"/>
          </p:cNvSpPr>
          <p:nvPr>
            <p:custDataLst>
              <p:tags r:id="rId2"/>
            </p:custDataLst>
          </p:nvPr>
        </p:nvSpPr>
        <p:spPr>
          <a:xfrm>
            <a:off x="394970" y="643890"/>
            <a:ext cx="2291080" cy="215900"/>
          </a:xfrm>
          <a:prstGeom prst="roundRect">
            <a:avLst>
              <a:gd name="adj" fmla="val 0"/>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rgbClr val="FFFFFF"/>
                </a:solidFill>
                <a:latin typeface="+mn-ea"/>
                <a:sym typeface="Arial" panose="020B0604020202020204" pitchFamily="34" charset="0"/>
              </a:rPr>
              <a:t>1.</a:t>
            </a:r>
            <a:r>
              <a:rPr kumimoji="1" lang="en-US" altLang="zh-CN" sz="1200" b="1" dirty="0">
                <a:solidFill>
                  <a:srgbClr val="FFFFFF"/>
                </a:solidFill>
                <a:latin typeface="+mn-ea"/>
                <a:sym typeface="Arial" panose="020B0604020202020204" pitchFamily="34" charset="0"/>
              </a:rPr>
              <a:t>规划</a:t>
            </a:r>
            <a:r>
              <a:rPr kumimoji="1" lang="en-US" altLang="zh-CN" sz="1200" b="1" dirty="0">
                <a:solidFill>
                  <a:srgbClr val="FFFFFF"/>
                </a:solidFill>
                <a:latin typeface="+mn-ea"/>
                <a:sym typeface="Arial" panose="020B0604020202020204" pitchFamily="34" charset="0"/>
              </a:rPr>
              <a:t>AI+</a:t>
            </a:r>
            <a:r>
              <a:rPr kumimoji="1" lang="en-US" altLang="zh-CN" sz="1200" b="1" dirty="0">
                <a:solidFill>
                  <a:srgbClr val="FFFFFF"/>
                </a:solidFill>
                <a:latin typeface="+mn-ea"/>
                <a:sym typeface="Arial" panose="020B0604020202020204" pitchFamily="34" charset="0"/>
              </a:rPr>
              <a:t>场景</a:t>
            </a:r>
            <a:endParaRPr kumimoji="1" lang="en-US" altLang="zh-CN" sz="1200" b="1" dirty="0">
              <a:solidFill>
                <a:srgbClr val="FFFFFF"/>
              </a:solidFill>
              <a:latin typeface="+mn-ea"/>
              <a:sym typeface="Arial" panose="020B0604020202020204" pitchFamily="34" charset="0"/>
            </a:endParaRPr>
          </a:p>
        </p:txBody>
      </p:sp>
      <p:sp>
        <p:nvSpPr>
          <p:cNvPr id="28" name="Title"/>
          <p:cNvSpPr>
            <a:spLocks noChangeAspect="1"/>
          </p:cNvSpPr>
          <p:nvPr>
            <p:custDataLst>
              <p:tags r:id="rId3"/>
            </p:custDataLst>
          </p:nvPr>
        </p:nvSpPr>
        <p:spPr>
          <a:xfrm>
            <a:off x="266636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2.数据准备</a:t>
            </a:r>
            <a:endParaRPr kumimoji="1" lang="en-US" altLang="zh-CN" sz="1200" b="1" dirty="0">
              <a:solidFill>
                <a:schemeClr val="bg1">
                  <a:lumMod val="50000"/>
                </a:schemeClr>
              </a:solidFill>
              <a:latin typeface="+mn-ea"/>
              <a:sym typeface="Arial" panose="020B0604020202020204" pitchFamily="34" charset="0"/>
            </a:endParaRPr>
          </a:p>
        </p:txBody>
      </p:sp>
      <p:sp>
        <p:nvSpPr>
          <p:cNvPr id="29" name="Title"/>
          <p:cNvSpPr>
            <a:spLocks noChangeAspect="1"/>
          </p:cNvSpPr>
          <p:nvPr>
            <p:custDataLst>
              <p:tags r:id="rId4"/>
            </p:custDataLst>
          </p:nvPr>
        </p:nvSpPr>
        <p:spPr>
          <a:xfrm>
            <a:off x="493776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200" b="1" dirty="0">
                <a:solidFill>
                  <a:schemeClr val="bg1">
                    <a:lumMod val="50000"/>
                  </a:schemeClr>
                </a:solidFill>
                <a:latin typeface="+mn-ea"/>
                <a:sym typeface="Arial" panose="020B0604020202020204" pitchFamily="34" charset="0"/>
              </a:rPr>
              <a:t>3.</a:t>
            </a:r>
            <a:r>
              <a:rPr kumimoji="1" lang="zh-CN" altLang="en-US" sz="1200" b="1" dirty="0">
                <a:solidFill>
                  <a:schemeClr val="bg1">
                    <a:lumMod val="50000"/>
                  </a:schemeClr>
                </a:solidFill>
                <a:latin typeface="+mn-ea"/>
                <a:sym typeface="Arial" panose="020B0604020202020204" pitchFamily="34" charset="0"/>
              </a:rPr>
              <a:t>模型选型</a:t>
            </a:r>
            <a:endParaRPr kumimoji="1" lang="zh-CN" altLang="en-US" sz="1200" b="1" dirty="0">
              <a:solidFill>
                <a:schemeClr val="bg1">
                  <a:lumMod val="50000"/>
                </a:schemeClr>
              </a:solidFill>
              <a:latin typeface="+mn-ea"/>
              <a:sym typeface="Arial" panose="020B0604020202020204" pitchFamily="34" charset="0"/>
            </a:endParaRPr>
          </a:p>
        </p:txBody>
      </p:sp>
      <p:sp>
        <p:nvSpPr>
          <p:cNvPr id="30" name="Title"/>
          <p:cNvSpPr>
            <a:spLocks noChangeAspect="1"/>
          </p:cNvSpPr>
          <p:nvPr>
            <p:custDataLst>
              <p:tags r:id="rId5"/>
            </p:custDataLst>
          </p:nvPr>
        </p:nvSpPr>
        <p:spPr>
          <a:xfrm>
            <a:off x="720915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5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335" b="1" dirty="0">
                <a:solidFill>
                  <a:schemeClr val="bg1">
                    <a:lumMod val="50000"/>
                  </a:schemeClr>
                </a:solidFill>
                <a:latin typeface="+mn-ea"/>
                <a:sym typeface="Arial" panose="020B0604020202020204" pitchFamily="34" charset="0"/>
              </a:rPr>
              <a:t>4.</a:t>
            </a:r>
            <a:r>
              <a:rPr kumimoji="1" lang="zh-CN" altLang="en-US" sz="1335" b="1" dirty="0">
                <a:solidFill>
                  <a:schemeClr val="bg1">
                    <a:lumMod val="50000"/>
                  </a:schemeClr>
                </a:solidFill>
                <a:latin typeface="+mn-ea"/>
                <a:sym typeface="Arial" panose="020B0604020202020204" pitchFamily="34" charset="0"/>
              </a:rPr>
              <a:t>模型训练与微调</a:t>
            </a:r>
            <a:r>
              <a:rPr kumimoji="1" lang="en-US" altLang="zh-CN" sz="1335" b="1" dirty="0">
                <a:solidFill>
                  <a:schemeClr val="bg1">
                    <a:lumMod val="50000"/>
                  </a:schemeClr>
                </a:solidFill>
                <a:latin typeface="+mn-ea"/>
                <a:sym typeface="Arial" panose="020B0604020202020204" pitchFamily="34" charset="0"/>
              </a:rPr>
              <a:t>(</a:t>
            </a:r>
            <a:r>
              <a:rPr kumimoji="1" lang="zh-CN" altLang="en-US" sz="1335" b="1" dirty="0">
                <a:solidFill>
                  <a:schemeClr val="bg1">
                    <a:lumMod val="50000"/>
                  </a:schemeClr>
                </a:solidFill>
                <a:latin typeface="+mn-ea"/>
                <a:sym typeface="Arial" panose="020B0604020202020204" pitchFamily="34" charset="0"/>
              </a:rPr>
              <a:t>可选</a:t>
            </a:r>
            <a:r>
              <a:rPr kumimoji="1" lang="en-US" altLang="zh-CN" sz="1335" b="1" dirty="0">
                <a:solidFill>
                  <a:schemeClr val="bg1">
                    <a:lumMod val="50000"/>
                  </a:schemeClr>
                </a:solidFill>
                <a:latin typeface="+mn-ea"/>
                <a:sym typeface="Arial" panose="020B0604020202020204" pitchFamily="34" charset="0"/>
              </a:rPr>
              <a:t>)</a:t>
            </a:r>
            <a:endParaRPr kumimoji="1" lang="en-US" altLang="zh-CN" sz="1335" b="1" dirty="0">
              <a:solidFill>
                <a:schemeClr val="bg1">
                  <a:lumMod val="50000"/>
                </a:schemeClr>
              </a:solidFill>
              <a:latin typeface="+mn-ea"/>
              <a:sym typeface="Arial" panose="020B0604020202020204" pitchFamily="34" charset="0"/>
            </a:endParaRPr>
          </a:p>
        </p:txBody>
      </p:sp>
      <p:sp>
        <p:nvSpPr>
          <p:cNvPr id="31" name="Title"/>
          <p:cNvSpPr>
            <a:spLocks noChangeAspect="1"/>
          </p:cNvSpPr>
          <p:nvPr>
            <p:custDataLst>
              <p:tags r:id="rId6"/>
            </p:custDataLst>
          </p:nvPr>
        </p:nvSpPr>
        <p:spPr>
          <a:xfrm>
            <a:off x="948055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200" b="1" dirty="0">
                <a:solidFill>
                  <a:schemeClr val="bg1">
                    <a:lumMod val="50000"/>
                  </a:schemeClr>
                </a:solidFill>
                <a:latin typeface="+mn-ea"/>
                <a:sym typeface="Arial" panose="020B0604020202020204" pitchFamily="34" charset="0"/>
              </a:rPr>
              <a:t>5.</a:t>
            </a:r>
            <a:r>
              <a:rPr kumimoji="1" lang="zh-CN" altLang="en-US" sz="1200" b="1" dirty="0">
                <a:solidFill>
                  <a:schemeClr val="bg1">
                    <a:lumMod val="50000"/>
                  </a:schemeClr>
                </a:solidFill>
                <a:latin typeface="+mn-ea"/>
                <a:sym typeface="Arial" panose="020B0604020202020204" pitchFamily="34" charset="0"/>
              </a:rPr>
              <a:t>智能体开发与迭代</a:t>
            </a:r>
            <a:endParaRPr kumimoji="1" lang="zh-CN" altLang="en-US" sz="1200" b="1" dirty="0">
              <a:solidFill>
                <a:schemeClr val="bg1">
                  <a:lumMod val="50000"/>
                </a:schemeClr>
              </a:solidFill>
              <a:latin typeface="+mn-ea"/>
              <a:sym typeface="Arial" panose="020B0604020202020204" pitchFamily="34" charset="0"/>
            </a:endParaRPr>
          </a:p>
        </p:txBody>
      </p:sp>
      <p:sp>
        <p:nvSpPr>
          <p:cNvPr id="10" name="文本框 9"/>
          <p:cNvSpPr txBox="1"/>
          <p:nvPr/>
        </p:nvSpPr>
        <p:spPr>
          <a:xfrm>
            <a:off x="281940" y="1016635"/>
            <a:ext cx="3017520" cy="317500"/>
          </a:xfrm>
          <a:prstGeom prst="rect">
            <a:avLst/>
          </a:prstGeom>
          <a:noFill/>
        </p:spPr>
        <p:txBody>
          <a:bodyPr wrap="square" rtlCol="0" anchor="t">
            <a:spAutoFit/>
          </a:bodyPr>
          <a:p>
            <a:pPr indent="0" algn="l" rtl="0" eaLnBrk="0" fontAlgn="auto">
              <a:lnSpc>
                <a:spcPct val="92000"/>
              </a:lnSpc>
              <a:spcBef>
                <a:spcPts val="0"/>
              </a:spcBef>
              <a:tabLst>
                <a:tab pos="382270" algn="l"/>
              </a:tabLst>
            </a:pPr>
            <a:r>
              <a:rPr sz="1600" b="1" kern="0" dirty="0">
                <a:solidFill>
                  <a:srgbClr val="27ADCB">
                    <a:alpha val="100000"/>
                  </a:srgbClr>
                </a:solidFill>
                <a:latin typeface="Arial" panose="020B0604020202020204"/>
                <a:ea typeface="Arial" panose="020B0604020202020204"/>
                <a:cs typeface="Arial" panose="020B0604020202020204"/>
                <a:sym typeface="+mn-ea"/>
              </a:rPr>
              <a:t>AI+</a:t>
            </a:r>
            <a:r>
              <a:rPr sz="1600" b="1" kern="0" dirty="0">
                <a:solidFill>
                  <a:srgbClr val="27ADCB">
                    <a:alpha val="100000"/>
                  </a:srgbClr>
                </a:solidFill>
                <a:latin typeface="微软雅黑" panose="020B0503020204020204" charset="-122"/>
                <a:ea typeface="微软雅黑" panose="020B0503020204020204" charset="-122"/>
                <a:cs typeface="微软雅黑" panose="020B0503020204020204" charset="-122"/>
                <a:sym typeface="+mn-ea"/>
              </a:rPr>
              <a:t>场景规划四步</a:t>
            </a:r>
            <a:endParaRPr lang="zh-CN" altLang="en-US" sz="1600" b="1" kern="0" dirty="0">
              <a:solidFill>
                <a:srgbClr val="27ADCB">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3" name="矩形 12"/>
          <p:cNvSpPr/>
          <p:nvPr/>
        </p:nvSpPr>
        <p:spPr>
          <a:xfrm>
            <a:off x="282575" y="1376045"/>
            <a:ext cx="2820670" cy="330200"/>
          </a:xfrm>
          <a:prstGeom prst="rect">
            <a:avLst/>
          </a:prstGeom>
          <a:solidFill>
            <a:srgbClr val="00A6C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400" b="1" dirty="0">
                <a:solidFill>
                  <a:srgbClr val="FFFFFF"/>
                </a:solidFill>
                <a:latin typeface="+mn-ea"/>
                <a:sym typeface="+mn-ea"/>
              </a:rPr>
              <a:t>定义场景</a:t>
            </a:r>
            <a:endParaRPr kumimoji="1" lang="en-US" altLang="zh-CN" sz="1400" b="1" dirty="0">
              <a:solidFill>
                <a:srgbClr val="FFFFFF"/>
              </a:solidFill>
              <a:latin typeface="+mn-ea"/>
              <a:sym typeface="+mn-ea"/>
            </a:endParaRPr>
          </a:p>
        </p:txBody>
      </p:sp>
      <p:sp>
        <p:nvSpPr>
          <p:cNvPr id="5" name="矩形 4"/>
          <p:cNvSpPr/>
          <p:nvPr/>
        </p:nvSpPr>
        <p:spPr>
          <a:xfrm>
            <a:off x="383540" y="1814830"/>
            <a:ext cx="2624455" cy="715010"/>
          </a:xfrm>
          <a:prstGeom prst="rect">
            <a:avLst/>
          </a:prstGeom>
          <a:noFill/>
        </p:spPr>
        <p:txBody>
          <a:bodyPr wrap="square" lIns="0" tIns="0" rIns="0" bIns="0" rtlCol="0" anchor="t" anchorCtr="0">
            <a:noAutofit/>
          </a:bodyPr>
          <a:p>
            <a:pPr algn="just">
              <a:lnSpc>
                <a:spcPct val="100000"/>
              </a:lnSpc>
              <a:spcBef>
                <a:spcPct val="0"/>
              </a:spcBef>
              <a:spcAft>
                <a:spcPct val="0"/>
              </a:spcAft>
            </a:pPr>
            <a:r>
              <a:rPr lang="zh-CN" altLang="en-US" sz="1200" dirty="0">
                <a:solidFill>
                  <a:schemeClr val="tx1">
                    <a:lumMod val="85000"/>
                    <a:lumOff val="15000"/>
                  </a:schemeClr>
                </a:solidFill>
                <a:latin typeface="+mn-ea"/>
                <a:cs typeface="+mn-ea"/>
              </a:rPr>
              <a:t>识别急需通过</a:t>
            </a:r>
            <a:r>
              <a:rPr lang="en-US" altLang="zh-CN" sz="1200" dirty="0">
                <a:solidFill>
                  <a:schemeClr val="tx1">
                    <a:lumMod val="85000"/>
                    <a:lumOff val="15000"/>
                  </a:schemeClr>
                </a:solidFill>
                <a:latin typeface="+mn-ea"/>
                <a:cs typeface="+mn-ea"/>
              </a:rPr>
              <a:t>AI</a:t>
            </a:r>
            <a:r>
              <a:rPr lang="zh-CN" altLang="en-US" sz="1200" dirty="0">
                <a:solidFill>
                  <a:schemeClr val="tx1">
                    <a:lumMod val="85000"/>
                    <a:lumOff val="15000"/>
                  </a:schemeClr>
                </a:solidFill>
                <a:latin typeface="+mn-ea"/>
                <a:cs typeface="+mn-ea"/>
              </a:rPr>
              <a:t>解决的复杂问题</a:t>
            </a:r>
            <a:r>
              <a:rPr lang="zh-CN" altLang="en-US" sz="1200" dirty="0">
                <a:solidFill>
                  <a:schemeClr val="tx1">
                    <a:lumMod val="85000"/>
                    <a:lumOff val="15000"/>
                  </a:schemeClr>
                </a:solidFill>
                <a:latin typeface="+mn-ea"/>
                <a:cs typeface="+mn-ea"/>
              </a:rPr>
              <a:t>，特别是涉及重大问题的多跨协同综合场景。</a:t>
            </a:r>
            <a:endParaRPr lang="zh-CN" altLang="en-US" sz="1200" dirty="0">
              <a:solidFill>
                <a:schemeClr val="tx1">
                  <a:lumMod val="85000"/>
                  <a:lumOff val="15000"/>
                </a:schemeClr>
              </a:solidFill>
              <a:latin typeface="+mn-ea"/>
              <a:cs typeface="+mn-ea"/>
            </a:endParaRPr>
          </a:p>
          <a:p>
            <a:pPr algn="just">
              <a:lnSpc>
                <a:spcPct val="100000"/>
              </a:lnSpc>
              <a:spcBef>
                <a:spcPct val="0"/>
              </a:spcBef>
              <a:spcAft>
                <a:spcPct val="0"/>
              </a:spcAft>
            </a:pPr>
            <a:endParaRPr lang="zh-CN" altLang="en-US" sz="1200" dirty="0">
              <a:solidFill>
                <a:schemeClr val="tx1">
                  <a:lumMod val="85000"/>
                  <a:lumOff val="15000"/>
                </a:schemeClr>
              </a:solidFill>
              <a:latin typeface="+mn-ea"/>
              <a:cs typeface="+mn-ea"/>
            </a:endParaRPr>
          </a:p>
        </p:txBody>
      </p:sp>
      <p:sp>
        <p:nvSpPr>
          <p:cNvPr id="24" name="文本框 23"/>
          <p:cNvSpPr txBox="1"/>
          <p:nvPr/>
        </p:nvSpPr>
        <p:spPr>
          <a:xfrm>
            <a:off x="383540" y="2447925"/>
            <a:ext cx="2624455" cy="1943100"/>
          </a:xfrm>
          <a:prstGeom prst="rect">
            <a:avLst/>
          </a:prstGeom>
          <a:noFill/>
        </p:spPr>
        <p:txBody>
          <a:bodyPr wrap="square" rtlCol="0" anchor="t">
            <a:spAutoFit/>
          </a:bodyPr>
          <a:p>
            <a:pPr indent="0" algn="l" rtl="0" eaLnBrk="0" fontAlgn="auto">
              <a:lnSpc>
                <a:spcPct val="95000"/>
              </a:lnSpc>
              <a:spcBef>
                <a:spcPts val="0"/>
              </a:spcBef>
              <a:tabLst>
                <a:tab pos="644525" algn="l"/>
              </a:tabLst>
            </a:pPr>
            <a:r>
              <a:rPr sz="13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关键要点</a:t>
            </a:r>
            <a:endParaRPr sz="1300" b="1" dirty="0">
              <a:latin typeface="微软雅黑" panose="020B0503020204020204" charset="-122"/>
              <a:ea typeface="微软雅黑" panose="020B0503020204020204" charset="-122"/>
              <a:cs typeface="微软雅黑" panose="020B0503020204020204" charset="-122"/>
            </a:endParaRPr>
          </a:p>
          <a:p>
            <a:pPr marL="171450" indent="-171450" algn="l" rtl="0" eaLnBrk="0" fontAlgn="auto">
              <a:lnSpc>
                <a:spcPct val="150000"/>
              </a:lnSpc>
              <a:spcBef>
                <a:spcPts val="0"/>
              </a:spcBef>
              <a:buFont typeface="Arial" panose="020B0604020202020204" pitchFamily="34" charset="0"/>
              <a:buChar char="•"/>
            </a:pPr>
            <a:r>
              <a:rPr sz="1200" kern="0" dirty="0">
                <a:solidFill>
                  <a:srgbClr val="000000">
                    <a:alpha val="100000"/>
                  </a:srgbClr>
                </a:solidFill>
                <a:latin typeface="+mj-lt"/>
                <a:ea typeface="+mj-lt"/>
                <a:cs typeface="+mj-lt"/>
                <a:sym typeface="+mn-ea"/>
              </a:rPr>
              <a:t>聚焦</a:t>
            </a:r>
            <a:r>
              <a:rPr sz="1200" kern="0" dirty="0">
                <a:gradFill>
                  <a:gsLst>
                    <a:gs pos="50410">
                      <a:srgbClr val="FB9B36"/>
                    </a:gs>
                    <a:gs pos="0">
                      <a:srgbClr val="FE564D"/>
                    </a:gs>
                    <a:gs pos="100000">
                      <a:srgbClr val="F9CA26"/>
                    </a:gs>
                  </a:gsLst>
                  <a:lin ang="5400000" scaled="1"/>
                </a:gradFill>
                <a:latin typeface="+mj-lt"/>
                <a:ea typeface="+mj-lt"/>
                <a:cs typeface="+mj-lt"/>
                <a:sym typeface="+mn-ea"/>
              </a:rPr>
              <a:t>重大问题</a:t>
            </a:r>
            <a:r>
              <a:rPr sz="1200" kern="0" dirty="0">
                <a:solidFill>
                  <a:srgbClr val="000000">
                    <a:alpha val="100000"/>
                  </a:srgbClr>
                </a:solidFill>
                <a:latin typeface="+mj-lt"/>
                <a:ea typeface="+mj-lt"/>
                <a:cs typeface="+mj-lt"/>
                <a:sym typeface="+mn-ea"/>
              </a:rPr>
              <a:t>，特别是需</a:t>
            </a:r>
            <a:r>
              <a:rPr sz="1200" kern="0" spc="-10" dirty="0">
                <a:solidFill>
                  <a:srgbClr val="000000">
                    <a:alpha val="100000"/>
                  </a:srgbClr>
                </a:solidFill>
                <a:latin typeface="+mj-lt"/>
                <a:ea typeface="+mj-lt"/>
                <a:cs typeface="+mj-lt"/>
                <a:sym typeface="+mn-ea"/>
              </a:rPr>
              <a:t>要多跨协同的综合场景</a:t>
            </a:r>
            <a:endParaRPr sz="1200" dirty="0">
              <a:latin typeface="+mj-lt"/>
              <a:ea typeface="+mj-lt"/>
              <a:cs typeface="+mj-lt"/>
            </a:endParaRPr>
          </a:p>
          <a:p>
            <a:pPr marL="171450" indent="-171450" algn="l" rtl="0" eaLnBrk="0" fontAlgn="auto">
              <a:lnSpc>
                <a:spcPct val="150000"/>
              </a:lnSpc>
              <a:spcBef>
                <a:spcPts val="0"/>
              </a:spcBef>
              <a:buFont typeface="Arial" panose="020B0604020202020204" pitchFamily="34" charset="0"/>
              <a:buChar char="•"/>
            </a:pPr>
            <a:r>
              <a:rPr sz="1200" kern="0" dirty="0">
                <a:solidFill>
                  <a:srgbClr val="000000">
                    <a:alpha val="100000"/>
                  </a:srgbClr>
                </a:solidFill>
                <a:latin typeface="+mj-lt"/>
                <a:ea typeface="+mj-lt"/>
                <a:cs typeface="+mj-lt"/>
                <a:sym typeface="+mn-ea"/>
              </a:rPr>
              <a:t>确保AI的引入能够</a:t>
            </a:r>
            <a:r>
              <a:rPr sz="1200" kern="0" dirty="0">
                <a:gradFill>
                  <a:gsLst>
                    <a:gs pos="50410">
                      <a:srgbClr val="FB9B36"/>
                    </a:gs>
                    <a:gs pos="0">
                      <a:srgbClr val="FE564D"/>
                    </a:gs>
                    <a:gs pos="100000">
                      <a:srgbClr val="F9CA26"/>
                    </a:gs>
                  </a:gsLst>
                  <a:lin ang="5400000" scaled="1"/>
                </a:gradFill>
                <a:latin typeface="+mj-lt"/>
                <a:ea typeface="+mj-lt"/>
                <a:cs typeface="+mj-lt"/>
                <a:sym typeface="+mn-ea"/>
              </a:rPr>
              <a:t>解决实际痛点</a:t>
            </a:r>
            <a:endParaRPr sz="1200" kern="0" dirty="0">
              <a:gradFill>
                <a:gsLst>
                  <a:gs pos="50410">
                    <a:srgbClr val="FB9B36"/>
                  </a:gs>
                  <a:gs pos="0">
                    <a:srgbClr val="FE564D"/>
                  </a:gs>
                  <a:gs pos="100000">
                    <a:srgbClr val="F9CA26"/>
                  </a:gs>
                </a:gsLst>
                <a:lin ang="5400000" scaled="1"/>
              </a:gradFill>
              <a:latin typeface="+mj-lt"/>
              <a:ea typeface="+mj-lt"/>
              <a:cs typeface="+mj-lt"/>
            </a:endParaRPr>
          </a:p>
          <a:p>
            <a:pPr marL="171450" indent="-171450" algn="l" rtl="0" eaLnBrk="0" fontAlgn="auto">
              <a:lnSpc>
                <a:spcPct val="150000"/>
              </a:lnSpc>
              <a:spcBef>
                <a:spcPts val="0"/>
              </a:spcBef>
              <a:buFont typeface="Arial" panose="020B0604020202020204" pitchFamily="34" charset="0"/>
              <a:buChar char="•"/>
            </a:pPr>
            <a:r>
              <a:rPr sz="1200" kern="0" dirty="0">
                <a:solidFill>
                  <a:srgbClr val="000000">
                    <a:alpha val="100000"/>
                  </a:srgbClr>
                </a:solidFill>
                <a:latin typeface="+mj-lt"/>
                <a:ea typeface="+mj-lt"/>
                <a:cs typeface="+mj-lt"/>
                <a:sym typeface="+mn-ea"/>
              </a:rPr>
              <a:t>梳理相关</a:t>
            </a:r>
            <a:r>
              <a:rPr sz="1200" kern="0" dirty="0">
                <a:gradFill>
                  <a:gsLst>
                    <a:gs pos="50410">
                      <a:srgbClr val="FB9B36"/>
                    </a:gs>
                    <a:gs pos="0">
                      <a:srgbClr val="FE564D"/>
                    </a:gs>
                    <a:gs pos="100000">
                      <a:srgbClr val="F9CA26"/>
                    </a:gs>
                  </a:gsLst>
                  <a:lin ang="5400000" scaled="1"/>
                </a:gradFill>
                <a:latin typeface="+mj-lt"/>
                <a:ea typeface="+mj-lt"/>
                <a:cs typeface="+mj-lt"/>
                <a:sym typeface="+mn-ea"/>
              </a:rPr>
              <a:t>业务流程</a:t>
            </a:r>
            <a:r>
              <a:rPr sz="1200" kern="0" spc="-10" dirty="0">
                <a:solidFill>
                  <a:srgbClr val="000000">
                    <a:alpha val="100000"/>
                  </a:srgbClr>
                </a:solidFill>
                <a:latin typeface="+mj-lt"/>
                <a:ea typeface="+mj-lt"/>
                <a:cs typeface="+mj-lt"/>
                <a:sym typeface="+mn-ea"/>
              </a:rPr>
              <a:t>，为后续分解做准备</a:t>
            </a:r>
            <a:endParaRPr sz="1200" dirty="0">
              <a:latin typeface="+mj-lt"/>
              <a:ea typeface="+mj-lt"/>
              <a:cs typeface="+mj-lt"/>
            </a:endParaRPr>
          </a:p>
          <a:p>
            <a:pPr marL="171450" indent="-171450" algn="l" rtl="0" eaLnBrk="0" fontAlgn="auto">
              <a:lnSpc>
                <a:spcPct val="150000"/>
              </a:lnSpc>
              <a:spcBef>
                <a:spcPts val="0"/>
              </a:spcBef>
              <a:buFont typeface="Arial" panose="020B0604020202020204" pitchFamily="34" charset="0"/>
              <a:buChar char="•"/>
            </a:pPr>
            <a:r>
              <a:rPr sz="1200" kern="0" spc="-10" dirty="0">
                <a:solidFill>
                  <a:srgbClr val="000000">
                    <a:alpha val="100000"/>
                  </a:srgbClr>
                </a:solidFill>
                <a:latin typeface="+mj-lt"/>
                <a:ea typeface="+mj-lt"/>
                <a:cs typeface="+mj-lt"/>
                <a:sym typeface="+mn-ea"/>
              </a:rPr>
              <a:t>明确</a:t>
            </a:r>
            <a:r>
              <a:rPr sz="1200" kern="0" dirty="0">
                <a:gradFill>
                  <a:gsLst>
                    <a:gs pos="50410">
                      <a:srgbClr val="FB9B36"/>
                    </a:gs>
                    <a:gs pos="0">
                      <a:srgbClr val="FE564D"/>
                    </a:gs>
                    <a:gs pos="100000">
                      <a:srgbClr val="F9CA26"/>
                    </a:gs>
                  </a:gsLst>
                  <a:lin ang="5400000" scaled="1"/>
                </a:gradFill>
                <a:latin typeface="+mj-lt"/>
                <a:ea typeface="+mj-lt"/>
                <a:cs typeface="+mj-lt"/>
                <a:sym typeface="+mn-ea"/>
              </a:rPr>
              <a:t>场景边界</a:t>
            </a:r>
            <a:r>
              <a:rPr sz="1200" kern="0" spc="-10" dirty="0">
                <a:solidFill>
                  <a:srgbClr val="000000">
                    <a:alpha val="100000"/>
                  </a:srgbClr>
                </a:solidFill>
                <a:latin typeface="+mj-lt"/>
                <a:ea typeface="+mj-lt"/>
                <a:cs typeface="+mj-lt"/>
                <a:sym typeface="+mn-ea"/>
              </a:rPr>
              <a:t>和</a:t>
            </a:r>
            <a:r>
              <a:rPr sz="1200" kern="0" dirty="0">
                <a:gradFill>
                  <a:gsLst>
                    <a:gs pos="50410">
                      <a:srgbClr val="FB9B36"/>
                    </a:gs>
                    <a:gs pos="0">
                      <a:srgbClr val="FE564D"/>
                    </a:gs>
                    <a:gs pos="100000">
                      <a:srgbClr val="F9CA26"/>
                    </a:gs>
                  </a:gsLst>
                  <a:lin ang="5400000" scaled="1"/>
                </a:gradFill>
                <a:latin typeface="+mj-lt"/>
                <a:ea typeface="+mj-lt"/>
                <a:cs typeface="+mj-lt"/>
                <a:sym typeface="+mn-ea"/>
              </a:rPr>
              <a:t>核心问题</a:t>
            </a:r>
            <a:endParaRPr sz="1200" kern="0" dirty="0">
              <a:gradFill>
                <a:gsLst>
                  <a:gs pos="50410">
                    <a:srgbClr val="FB9B36"/>
                  </a:gs>
                  <a:gs pos="0">
                    <a:srgbClr val="FE564D"/>
                  </a:gs>
                  <a:gs pos="100000">
                    <a:srgbClr val="F9CA26"/>
                  </a:gs>
                </a:gsLst>
                <a:lin ang="5400000" scaled="1"/>
              </a:gradFill>
              <a:latin typeface="+mj-lt"/>
              <a:ea typeface="+mj-lt"/>
              <a:cs typeface="+mj-lt"/>
              <a:sym typeface="+mn-ea"/>
            </a:endParaRPr>
          </a:p>
        </p:txBody>
      </p:sp>
      <p:sp>
        <p:nvSpPr>
          <p:cNvPr id="25" name="文本框 24"/>
          <p:cNvSpPr txBox="1"/>
          <p:nvPr/>
        </p:nvSpPr>
        <p:spPr>
          <a:xfrm>
            <a:off x="383540" y="4876165"/>
            <a:ext cx="2624455" cy="1310640"/>
          </a:xfrm>
          <a:prstGeom prst="rect">
            <a:avLst/>
          </a:prstGeom>
          <a:noFill/>
        </p:spPr>
        <p:txBody>
          <a:bodyPr wrap="square" rtlCol="0" anchor="t">
            <a:noAutofit/>
          </a:bodyPr>
          <a:p>
            <a:pPr algn="l" rtl="0" eaLnBrk="0" fontAlgn="auto">
              <a:lnSpc>
                <a:spcPct val="95000"/>
              </a:lnSpc>
              <a:spcBef>
                <a:spcPts val="0"/>
              </a:spcBef>
              <a:buClrTx/>
              <a:buSzTx/>
              <a:buFontTx/>
              <a:tabLst>
                <a:tab pos="644525" algn="l"/>
              </a:tabLst>
            </a:pPr>
            <a:r>
              <a:rPr sz="1300" b="1"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实施建议</a:t>
            </a:r>
            <a:endParaRPr sz="700" dirty="0">
              <a:latin typeface="Arial" panose="020B0604020202020204"/>
              <a:ea typeface="Arial" panose="020B0604020202020204"/>
              <a:cs typeface="Arial" panose="020B0604020202020204"/>
            </a:endParaRPr>
          </a:p>
          <a:p>
            <a:pPr indent="1270" algn="l" rtl="0" eaLnBrk="0" fontAlgn="auto">
              <a:lnSpc>
                <a:spcPct val="119000"/>
              </a:lnSpc>
              <a:spcBef>
                <a:spcPts val="0"/>
              </a:spcBef>
            </a:pPr>
            <a:r>
              <a:rPr sz="12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这一步骤是整个</a:t>
            </a:r>
            <a:r>
              <a:rPr sz="1200" kern="0" spc="-10" dirty="0">
                <a:solidFill>
                  <a:srgbClr val="000000">
                    <a:alpha val="100000"/>
                  </a:srgbClr>
                </a:solidFill>
                <a:latin typeface="Arial" panose="020B0604020202020204"/>
                <a:ea typeface="Arial" panose="020B0604020202020204"/>
                <a:cs typeface="Arial" panose="020B0604020202020204"/>
                <a:sym typeface="+mn-ea"/>
              </a:rPr>
              <a:t>AI+</a:t>
            </a:r>
            <a:r>
              <a:rPr sz="12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场景实施的</a:t>
            </a:r>
            <a:r>
              <a:rPr sz="1200" kern="0" spc="-1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cs typeface="微软雅黑" panose="020B0503020204020204" charset="-122"/>
                <a:sym typeface="+mn-ea"/>
              </a:rPr>
              <a:t>起点</a:t>
            </a:r>
            <a:r>
              <a:rPr sz="12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，确保</a:t>
            </a:r>
            <a:r>
              <a:rPr sz="1200" kern="0" spc="-10" dirty="0">
                <a:solidFill>
                  <a:srgbClr val="000000">
                    <a:alpha val="100000"/>
                  </a:srgbClr>
                </a:solidFill>
                <a:latin typeface="Arial" panose="020B0604020202020204"/>
                <a:ea typeface="Arial" panose="020B0604020202020204"/>
                <a:cs typeface="Arial" panose="020B0604020202020204"/>
                <a:sym typeface="+mn-ea"/>
              </a:rPr>
              <a:t>AI</a:t>
            </a:r>
            <a:r>
              <a:rPr sz="12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的引入能够解决实际痛</a:t>
            </a:r>
            <a:r>
              <a:rPr sz="12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点。通过深入业务流程</a:t>
            </a:r>
            <a:r>
              <a:rPr sz="12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，识别关键问题点和瓶颈</a:t>
            </a:r>
            <a:r>
              <a:rPr sz="12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，确定</a:t>
            </a:r>
            <a:r>
              <a:rPr sz="1200" kern="0" spc="-20" dirty="0">
                <a:solidFill>
                  <a:srgbClr val="000000">
                    <a:alpha val="100000"/>
                  </a:srgbClr>
                </a:solidFill>
                <a:latin typeface="Arial" panose="020B0604020202020204"/>
                <a:ea typeface="Arial" panose="020B0604020202020204"/>
                <a:cs typeface="Arial" panose="020B0604020202020204"/>
                <a:sym typeface="+mn-ea"/>
              </a:rPr>
              <a:t>AI</a:t>
            </a:r>
            <a:r>
              <a:rPr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应用的方向</a:t>
            </a:r>
            <a:r>
              <a:rPr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和范围。</a:t>
            </a:r>
            <a:endPar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nvGrpSpPr>
          <p:cNvPr id="53" name="组合 52"/>
          <p:cNvGrpSpPr/>
          <p:nvPr/>
        </p:nvGrpSpPr>
        <p:grpSpPr>
          <a:xfrm rot="5400000">
            <a:off x="3693795" y="2085340"/>
            <a:ext cx="1915160" cy="2696845"/>
            <a:chOff x="2166" y="4217"/>
            <a:chExt cx="11012" cy="3422"/>
          </a:xfrm>
        </p:grpSpPr>
        <p:sp>
          <p:nvSpPr>
            <p:cNvPr id="26" name="矩形: 圆角 497"/>
            <p:cNvSpPr>
              <a:spLocks noChangeAspect="1"/>
            </p:cNvSpPr>
            <p:nvPr/>
          </p:nvSpPr>
          <p:spPr>
            <a:xfrm>
              <a:off x="2166" y="4358"/>
              <a:ext cx="2034" cy="3112"/>
            </a:xfrm>
            <a:prstGeom prst="roundRect">
              <a:avLst>
                <a:gd name="adj" fmla="val 50000"/>
              </a:avLst>
            </a:prstGeom>
          </p:spPr>
          <p:style>
            <a:lnRef idx="0">
              <a:srgbClr val="FFFFFF"/>
            </a:lnRef>
            <a:fillRef idx="1">
              <a:schemeClr val="accent5"/>
            </a:fillRef>
            <a:effectRef idx="0">
              <a:srgbClr val="FFFFFF"/>
            </a:effectRef>
            <a:fontRef idx="minor">
              <a:schemeClr val="dk1"/>
            </a:fontRef>
          </p:style>
          <p:txBody>
            <a:bodyPr vert="vert270" rtlCol="0" anchor="ctr"/>
            <a:p>
              <a:pPr algn="ctr"/>
              <a:r>
                <a:rPr lang="zh-CN" altLang="en-US" sz="1200" dirty="0">
                  <a:ea typeface="+mn-lt"/>
                  <a:sym typeface="Arial" panose="020B0604020202020204" pitchFamily="34" charset="0"/>
                </a:rPr>
                <a:t>复杂场景</a:t>
              </a:r>
              <a:endParaRPr lang="zh-CN" altLang="en-US" sz="1200" dirty="0">
                <a:ea typeface="+mn-lt"/>
                <a:sym typeface="Arial" panose="020B0604020202020204" pitchFamily="34" charset="0"/>
              </a:endParaRPr>
            </a:p>
          </p:txBody>
        </p:sp>
        <p:sp>
          <p:nvSpPr>
            <p:cNvPr id="42" name="矩形: 圆角 497"/>
            <p:cNvSpPr>
              <a:spLocks noChangeAspect="1"/>
            </p:cNvSpPr>
            <p:nvPr/>
          </p:nvSpPr>
          <p:spPr>
            <a:xfrm>
              <a:off x="10266" y="4217"/>
              <a:ext cx="2912" cy="865"/>
            </a:xfrm>
            <a:prstGeom prst="roundRect">
              <a:avLst>
                <a:gd name="adj" fmla="val 50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vert="vert270" rtlCol="0" anchor="ctr"/>
            <a:p>
              <a:pPr algn="ctr"/>
              <a:r>
                <a:rPr lang="zh-CN" altLang="en-US" sz="1200" dirty="0">
                  <a:ea typeface="+mn-lt"/>
                  <a:cs typeface="+mn-lt"/>
                  <a:sym typeface="Arial" panose="020B0604020202020204" pitchFamily="34" charset="0"/>
                </a:rPr>
                <a:t>业务事项</a:t>
              </a:r>
              <a:r>
                <a:rPr lang="en-US" altLang="zh-CN" sz="1200" dirty="0">
                  <a:ea typeface="+mn-lt"/>
                  <a:cs typeface="+mn-lt"/>
                  <a:sym typeface="Arial" panose="020B0604020202020204" pitchFamily="34" charset="0"/>
                </a:rPr>
                <a:t>3</a:t>
              </a:r>
              <a:endParaRPr lang="en-US" altLang="zh-CN" sz="1200" dirty="0">
                <a:ea typeface="+mn-lt"/>
                <a:cs typeface="+mn-lt"/>
                <a:sym typeface="Arial" panose="020B0604020202020204" pitchFamily="34" charset="0"/>
              </a:endParaRPr>
            </a:p>
          </p:txBody>
        </p:sp>
        <p:sp>
          <p:nvSpPr>
            <p:cNvPr id="43" name="矩形: 圆角 497"/>
            <p:cNvSpPr>
              <a:spLocks noChangeAspect="1"/>
            </p:cNvSpPr>
            <p:nvPr/>
          </p:nvSpPr>
          <p:spPr>
            <a:xfrm>
              <a:off x="10266" y="5510"/>
              <a:ext cx="2912" cy="865"/>
            </a:xfrm>
            <a:prstGeom prst="roundRect">
              <a:avLst>
                <a:gd name="adj" fmla="val 50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vert="vert270" rtlCol="0" anchor="ctr"/>
            <a:p>
              <a:pPr algn="ctr"/>
              <a:r>
                <a:rPr lang="zh-CN" altLang="en-US" sz="1200" dirty="0">
                  <a:ea typeface="+mn-lt"/>
                  <a:cs typeface="+mn-lt"/>
                  <a:sym typeface="Arial" panose="020B0604020202020204" pitchFamily="34" charset="0"/>
                </a:rPr>
                <a:t>业务事项</a:t>
              </a:r>
              <a:r>
                <a:rPr lang="en-US" altLang="zh-CN" sz="1200" dirty="0">
                  <a:ea typeface="+mn-lt"/>
                  <a:cs typeface="+mn-lt"/>
                  <a:sym typeface="Arial" panose="020B0604020202020204" pitchFamily="34" charset="0"/>
                </a:rPr>
                <a:t>2</a:t>
              </a:r>
              <a:endParaRPr lang="zh-CN" altLang="en-US" sz="1200" dirty="0">
                <a:ea typeface="+mn-lt"/>
                <a:cs typeface="+mn-lt"/>
                <a:sym typeface="Arial" panose="020B0604020202020204" pitchFamily="34" charset="0"/>
              </a:endParaRPr>
            </a:p>
          </p:txBody>
        </p:sp>
        <p:sp>
          <p:nvSpPr>
            <p:cNvPr id="44" name="矩形: 圆角 497"/>
            <p:cNvSpPr>
              <a:spLocks noChangeAspect="1"/>
            </p:cNvSpPr>
            <p:nvPr/>
          </p:nvSpPr>
          <p:spPr>
            <a:xfrm>
              <a:off x="10266" y="6774"/>
              <a:ext cx="2912" cy="865"/>
            </a:xfrm>
            <a:prstGeom prst="roundRect">
              <a:avLst>
                <a:gd name="adj" fmla="val 50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vert="vert270" rtlCol="0" anchor="ctr"/>
            <a:p>
              <a:pPr algn="ctr"/>
              <a:r>
                <a:rPr lang="zh-CN" altLang="en-US" sz="1200" dirty="0">
                  <a:ea typeface="+mn-lt"/>
                  <a:cs typeface="+mn-lt"/>
                  <a:sym typeface="Arial" panose="020B0604020202020204" pitchFamily="34" charset="0"/>
                </a:rPr>
                <a:t>业务事项</a:t>
              </a:r>
              <a:r>
                <a:rPr lang="en-US" altLang="zh-CN" sz="1200" dirty="0">
                  <a:ea typeface="+mn-lt"/>
                  <a:cs typeface="+mn-lt"/>
                  <a:sym typeface="Arial" panose="020B0604020202020204" pitchFamily="34" charset="0"/>
                </a:rPr>
                <a:t>1</a:t>
              </a:r>
              <a:endParaRPr lang="zh-CN" altLang="en-US" sz="1200" dirty="0">
                <a:ea typeface="+mn-lt"/>
                <a:cs typeface="+mn-lt"/>
                <a:sym typeface="Arial" panose="020B0604020202020204" pitchFamily="34" charset="0"/>
              </a:endParaRPr>
            </a:p>
          </p:txBody>
        </p:sp>
        <p:cxnSp>
          <p:nvCxnSpPr>
            <p:cNvPr id="45" name="直接连接符 44"/>
            <p:cNvCxnSpPr/>
            <p:nvPr/>
          </p:nvCxnSpPr>
          <p:spPr>
            <a:xfrm flipV="1">
              <a:off x="4199" y="5042"/>
              <a:ext cx="2515" cy="901"/>
            </a:xfrm>
            <a:prstGeom prst="line">
              <a:avLst/>
            </a:prstGeom>
            <a:ln>
              <a:solidFill>
                <a:srgbClr val="30C0B4"/>
              </a:solidFill>
              <a:prstDash val="sysDash"/>
            </a:ln>
          </p:spPr>
          <p:style>
            <a:lnRef idx="2">
              <a:schemeClr val="accent1"/>
            </a:lnRef>
            <a:fillRef idx="0">
              <a:srgbClr val="FFFFFF"/>
            </a:fillRef>
            <a:effectRef idx="0">
              <a:srgbClr val="FFFFFF"/>
            </a:effectRef>
            <a:fontRef idx="minor">
              <a:schemeClr val="tx1"/>
            </a:fontRef>
          </p:style>
        </p:cxnSp>
        <p:cxnSp>
          <p:nvCxnSpPr>
            <p:cNvPr id="46" name="直接连接符 45"/>
            <p:cNvCxnSpPr/>
            <p:nvPr/>
          </p:nvCxnSpPr>
          <p:spPr>
            <a:xfrm>
              <a:off x="4199" y="5943"/>
              <a:ext cx="2515" cy="812"/>
            </a:xfrm>
            <a:prstGeom prst="line">
              <a:avLst/>
            </a:prstGeom>
            <a:ln>
              <a:solidFill>
                <a:srgbClr val="30C0B4"/>
              </a:solidFill>
              <a:prstDash val="sysDash"/>
            </a:ln>
          </p:spPr>
          <p:style>
            <a:lnRef idx="2">
              <a:schemeClr val="accent1"/>
            </a:lnRef>
            <a:fillRef idx="0">
              <a:srgbClr val="FFFFFF"/>
            </a:fillRef>
            <a:effectRef idx="0">
              <a:srgbClr val="FFFFFF"/>
            </a:effectRef>
            <a:fontRef idx="minor">
              <a:schemeClr val="tx1"/>
            </a:fontRef>
          </p:style>
        </p:cxnSp>
        <p:cxnSp>
          <p:nvCxnSpPr>
            <p:cNvPr id="47" name="直接连接符 46"/>
            <p:cNvCxnSpPr/>
            <p:nvPr/>
          </p:nvCxnSpPr>
          <p:spPr>
            <a:xfrm>
              <a:off x="8512" y="6755"/>
              <a:ext cx="1785" cy="455"/>
            </a:xfrm>
            <a:prstGeom prst="line">
              <a:avLst/>
            </a:prstGeom>
            <a:ln>
              <a:solidFill>
                <a:srgbClr val="30C0B4"/>
              </a:solidFill>
              <a:prstDash val="sysDash"/>
            </a:ln>
          </p:spPr>
          <p:style>
            <a:lnRef idx="2">
              <a:schemeClr val="accent1"/>
            </a:lnRef>
            <a:fillRef idx="0">
              <a:srgbClr val="FFFFFF"/>
            </a:fillRef>
            <a:effectRef idx="0">
              <a:srgbClr val="FFFFFF"/>
            </a:effectRef>
            <a:fontRef idx="minor">
              <a:schemeClr val="tx1"/>
            </a:fontRef>
          </p:style>
        </p:cxnSp>
        <p:cxnSp>
          <p:nvCxnSpPr>
            <p:cNvPr id="48" name="直接连接符 47"/>
            <p:cNvCxnSpPr/>
            <p:nvPr/>
          </p:nvCxnSpPr>
          <p:spPr>
            <a:xfrm>
              <a:off x="8512" y="5138"/>
              <a:ext cx="1754" cy="805"/>
            </a:xfrm>
            <a:prstGeom prst="line">
              <a:avLst/>
            </a:prstGeom>
            <a:ln>
              <a:solidFill>
                <a:srgbClr val="30C0B4"/>
              </a:solidFill>
              <a:prstDash val="sysDash"/>
            </a:ln>
          </p:spPr>
          <p:style>
            <a:lnRef idx="2">
              <a:schemeClr val="accent1"/>
            </a:lnRef>
            <a:fillRef idx="0">
              <a:srgbClr val="FFFFFF"/>
            </a:fillRef>
            <a:effectRef idx="0">
              <a:srgbClr val="FFFFFF"/>
            </a:effectRef>
            <a:fontRef idx="minor">
              <a:schemeClr val="tx1"/>
            </a:fontRef>
          </p:style>
        </p:cxnSp>
        <p:cxnSp>
          <p:nvCxnSpPr>
            <p:cNvPr id="49" name="直接连接符 48"/>
            <p:cNvCxnSpPr/>
            <p:nvPr/>
          </p:nvCxnSpPr>
          <p:spPr>
            <a:xfrm flipV="1">
              <a:off x="8512" y="5943"/>
              <a:ext cx="1754" cy="812"/>
            </a:xfrm>
            <a:prstGeom prst="line">
              <a:avLst/>
            </a:prstGeom>
            <a:ln>
              <a:solidFill>
                <a:srgbClr val="30C0B4"/>
              </a:solidFill>
              <a:prstDash val="sysDash"/>
            </a:ln>
          </p:spPr>
          <p:style>
            <a:lnRef idx="2">
              <a:schemeClr val="accent1"/>
            </a:lnRef>
            <a:fillRef idx="0">
              <a:srgbClr val="FFFFFF"/>
            </a:fillRef>
            <a:effectRef idx="0">
              <a:srgbClr val="FFFFFF"/>
            </a:effectRef>
            <a:fontRef idx="minor">
              <a:schemeClr val="tx1"/>
            </a:fontRef>
          </p:style>
        </p:cxnSp>
        <p:cxnSp>
          <p:nvCxnSpPr>
            <p:cNvPr id="50" name="直接连接符 49"/>
            <p:cNvCxnSpPr/>
            <p:nvPr/>
          </p:nvCxnSpPr>
          <p:spPr>
            <a:xfrm flipV="1">
              <a:off x="8512" y="4650"/>
              <a:ext cx="1754" cy="392"/>
            </a:xfrm>
            <a:prstGeom prst="line">
              <a:avLst/>
            </a:prstGeom>
            <a:ln>
              <a:solidFill>
                <a:srgbClr val="30C0B4"/>
              </a:solidFill>
              <a:prstDash val="sysDash"/>
            </a:ln>
          </p:spPr>
          <p:style>
            <a:lnRef idx="2">
              <a:schemeClr val="accent1"/>
            </a:lnRef>
            <a:fillRef idx="0">
              <a:srgbClr val="FFFFFF"/>
            </a:fillRef>
            <a:effectRef idx="0">
              <a:srgbClr val="FFFFFF"/>
            </a:effectRef>
            <a:fontRef idx="minor">
              <a:schemeClr val="tx1"/>
            </a:fontRef>
          </p:style>
        </p:cxnSp>
        <p:sp>
          <p:nvSpPr>
            <p:cNvPr id="51" name="矩形: 圆角 497"/>
            <p:cNvSpPr>
              <a:spLocks noChangeAspect="1"/>
            </p:cNvSpPr>
            <p:nvPr/>
          </p:nvSpPr>
          <p:spPr>
            <a:xfrm>
              <a:off x="6226" y="4381"/>
              <a:ext cx="2253" cy="1400"/>
            </a:xfrm>
            <a:prstGeom prst="roundRect">
              <a:avLst>
                <a:gd name="adj" fmla="val 50000"/>
              </a:avLst>
            </a:prstGeom>
            <a:solidFill>
              <a:schemeClr val="bg2">
                <a:lumMod val="50000"/>
              </a:schemeClr>
            </a:solidFill>
            <a:ln w="12700" cap="flat">
              <a:noFill/>
              <a:prstDash val="solid"/>
              <a:miter/>
            </a:ln>
            <a:effectLst>
              <a:outerShdw blurRad="127000" dist="63500" dir="2700000" algn="tl" rotWithShape="0">
                <a:schemeClr val="accent1">
                  <a:alpha val="40000"/>
                </a:schemeClr>
              </a:outerShdw>
            </a:effectLst>
          </p:spPr>
          <p:txBody>
            <a:bodyPr vert="vert270" rtlCol="0" anchor="ctr"/>
            <a:p>
              <a:pPr algn="ctr"/>
              <a:r>
                <a:rPr lang="zh-CN" altLang="en-US" sz="1200" dirty="0">
                  <a:ea typeface="+mn-lt"/>
                  <a:cs typeface="+mn-lt"/>
                  <a:sym typeface="Arial" panose="020B0604020202020204" pitchFamily="34" charset="0"/>
                </a:rPr>
                <a:t>子场景</a:t>
              </a:r>
              <a:r>
                <a:rPr lang="en-US" altLang="zh-CN" sz="1200" dirty="0">
                  <a:ea typeface="+mn-lt"/>
                  <a:cs typeface="+mn-lt"/>
                  <a:sym typeface="Arial" panose="020B0604020202020204" pitchFamily="34" charset="0"/>
                </a:rPr>
                <a:t>2</a:t>
              </a:r>
              <a:endParaRPr lang="en-US" altLang="zh-CN" sz="1200" dirty="0">
                <a:ea typeface="+mn-lt"/>
                <a:cs typeface="+mn-lt"/>
                <a:sym typeface="Arial" panose="020B0604020202020204" pitchFamily="34" charset="0"/>
              </a:endParaRPr>
            </a:p>
          </p:txBody>
        </p:sp>
        <p:sp>
          <p:nvSpPr>
            <p:cNvPr id="52" name="矩形: 圆角 497"/>
            <p:cNvSpPr>
              <a:spLocks noChangeAspect="1"/>
            </p:cNvSpPr>
            <p:nvPr/>
          </p:nvSpPr>
          <p:spPr>
            <a:xfrm>
              <a:off x="6259" y="6151"/>
              <a:ext cx="2253" cy="1371"/>
            </a:xfrm>
            <a:prstGeom prst="roundRect">
              <a:avLst>
                <a:gd name="adj" fmla="val 50000"/>
              </a:avLst>
            </a:prstGeom>
            <a:solidFill>
              <a:schemeClr val="bg2">
                <a:lumMod val="50000"/>
              </a:schemeClr>
            </a:solidFill>
            <a:ln w="12700" cap="flat">
              <a:noFill/>
              <a:prstDash val="solid"/>
              <a:miter/>
            </a:ln>
            <a:effectLst>
              <a:outerShdw blurRad="127000" dist="63500" dir="2700000" algn="tl" rotWithShape="0">
                <a:schemeClr val="accent1">
                  <a:alpha val="40000"/>
                </a:schemeClr>
              </a:outerShdw>
            </a:effectLst>
          </p:spPr>
          <p:txBody>
            <a:bodyPr vert="vert270" rtlCol="0" anchor="ctr"/>
            <a:p>
              <a:pPr algn="ctr"/>
              <a:r>
                <a:rPr lang="zh-CN" altLang="en-US" sz="1200" dirty="0">
                  <a:ea typeface="+mn-lt"/>
                  <a:cs typeface="+mn-lt"/>
                  <a:sym typeface="Arial" panose="020B0604020202020204" pitchFamily="34" charset="0"/>
                </a:rPr>
                <a:t>子场景</a:t>
              </a:r>
              <a:r>
                <a:rPr lang="en-US" altLang="zh-CN" sz="1200" dirty="0">
                  <a:ea typeface="+mn-lt"/>
                  <a:cs typeface="+mn-lt"/>
                  <a:sym typeface="Arial" panose="020B0604020202020204" pitchFamily="34" charset="0"/>
                </a:rPr>
                <a:t>1</a:t>
              </a:r>
              <a:endParaRPr lang="en-US" altLang="zh-CN" sz="1200" dirty="0">
                <a:ea typeface="+mn-lt"/>
                <a:cs typeface="+mn-lt"/>
                <a:sym typeface="Arial" panose="020B0604020202020204" pitchFamily="34" charset="0"/>
              </a:endParaRPr>
            </a:p>
          </p:txBody>
        </p:sp>
      </p:grpSp>
      <p:sp>
        <p:nvSpPr>
          <p:cNvPr id="54" name="矩形 53"/>
          <p:cNvSpPr/>
          <p:nvPr/>
        </p:nvSpPr>
        <p:spPr>
          <a:xfrm>
            <a:off x="3274695" y="4876165"/>
            <a:ext cx="35560" cy="1168400"/>
          </a:xfrm>
          <a:prstGeom prst="rect">
            <a:avLst/>
          </a:prstGeom>
          <a:solidFill>
            <a:schemeClr val="accent5"/>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endParaRPr lang="zh-CN" altLang="en-US" sz="1200">
              <a:solidFill>
                <a:schemeClr val="tx1"/>
              </a:solidFill>
              <a:sym typeface="+mn-ea"/>
            </a:endParaRPr>
          </a:p>
        </p:txBody>
      </p:sp>
      <p:sp>
        <p:nvSpPr>
          <p:cNvPr id="55" name="文本框 54"/>
          <p:cNvSpPr txBox="1"/>
          <p:nvPr/>
        </p:nvSpPr>
        <p:spPr>
          <a:xfrm>
            <a:off x="3302635" y="4876165"/>
            <a:ext cx="2624455" cy="1310640"/>
          </a:xfrm>
          <a:prstGeom prst="rect">
            <a:avLst/>
          </a:prstGeom>
          <a:noFill/>
        </p:spPr>
        <p:txBody>
          <a:bodyPr wrap="square" rtlCol="0" anchor="t">
            <a:noAutofit/>
          </a:bodyPr>
          <a:p>
            <a:pPr algn="l" rtl="0" eaLnBrk="0" fontAlgn="auto">
              <a:lnSpc>
                <a:spcPct val="95000"/>
              </a:lnSpc>
              <a:spcBef>
                <a:spcPts val="0"/>
              </a:spcBef>
              <a:buClrTx/>
              <a:buSzTx/>
              <a:buFontTx/>
              <a:tabLst>
                <a:tab pos="611505" algn="l"/>
              </a:tabLst>
            </a:pPr>
            <a:r>
              <a:rPr sz="13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分解价值</a:t>
            </a:r>
            <a:endParaRPr sz="13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rtl="0" eaLnBrk="0" fontAlgn="auto">
              <a:lnSpc>
                <a:spcPct val="95000"/>
              </a:lnSpc>
              <a:spcBef>
                <a:spcPts val="0"/>
              </a:spcBef>
              <a:tabLst>
                <a:tab pos="611505" algn="l"/>
              </a:tabLst>
            </a:pP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这种分解有助于将</a:t>
            </a:r>
            <a:r>
              <a:rPr sz="1200" kern="0" dirty="0">
                <a:gradFill>
                  <a:gsLst>
                    <a:gs pos="50410">
                      <a:srgbClr val="FB9B36"/>
                    </a:gs>
                    <a:gs pos="0">
                      <a:srgbClr val="FE564D"/>
                    </a:gs>
                    <a:gs pos="100000">
                      <a:srgbClr val="F9CA26"/>
                    </a:gs>
                  </a:gsLst>
                  <a:lin ang="5400000" scaled="1"/>
                </a:gradFill>
                <a:latin typeface="+mj-lt"/>
                <a:ea typeface="+mj-lt"/>
                <a:cs typeface="+mj-lt"/>
                <a:sym typeface="+mn-ea"/>
              </a:rPr>
              <a:t>复杂问题模块化</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，便于</a:t>
            </a:r>
            <a:r>
              <a:rPr lang="en-US" altLang="zh-CN"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AI</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能力的精准匹配和开发。</a:t>
            </a:r>
            <a:endPar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rtl="0" eaLnBrk="0" fontAlgn="auto">
              <a:lnSpc>
                <a:spcPct val="95000"/>
              </a:lnSpc>
              <a:spcBef>
                <a:spcPts val="0"/>
              </a:spcBef>
              <a:tabLst>
                <a:tab pos="611505" algn="l"/>
              </a:tabLst>
            </a:pPr>
            <a:endParaRPr lang="en-US" altLang="zh-CN"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rtl="0" eaLnBrk="0" fontAlgn="auto">
              <a:lnSpc>
                <a:spcPct val="95000"/>
              </a:lnSpc>
              <a:spcBef>
                <a:spcPts val="0"/>
              </a:spcBef>
              <a:tabLst>
                <a:tab pos="611505" algn="l"/>
              </a:tabLst>
            </a:pP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针对每个子场景</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，识别其需要通过</a:t>
            </a:r>
            <a:r>
              <a:rPr lang="en-US" altLang="zh-CN"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AI</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实现的能力</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，并规划</a:t>
            </a:r>
            <a:r>
              <a:rPr lang="zh-CN" altLang="en-US" sz="1200" kern="0" spc="-2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cs typeface="微软雅黑" panose="020B0503020204020204" charset="-122"/>
                <a:sym typeface="+mn-ea"/>
              </a:rPr>
              <a:t>场景</a:t>
            </a:r>
            <a:r>
              <a:rPr sz="1200" kern="0" dirty="0">
                <a:gradFill>
                  <a:gsLst>
                    <a:gs pos="50410">
                      <a:srgbClr val="FB9B36"/>
                    </a:gs>
                    <a:gs pos="0">
                      <a:srgbClr val="FE564D"/>
                    </a:gs>
                    <a:gs pos="100000">
                      <a:srgbClr val="F9CA26"/>
                    </a:gs>
                  </a:gsLst>
                  <a:lin ang="5400000" scaled="1"/>
                </a:gradFill>
                <a:latin typeface="+mj-lt"/>
                <a:ea typeface="+mj-lt"/>
                <a:cs typeface="+mj-lt"/>
                <a:sym typeface="+mn-ea"/>
              </a:rPr>
              <a:t>项智能体</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t>
            </a:r>
            <a:endPar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56" name="文本框 55"/>
          <p:cNvSpPr txBox="1"/>
          <p:nvPr/>
        </p:nvSpPr>
        <p:spPr>
          <a:xfrm>
            <a:off x="6196330" y="2377440"/>
            <a:ext cx="2624455" cy="1222375"/>
          </a:xfrm>
          <a:prstGeom prst="rect">
            <a:avLst/>
          </a:prstGeom>
          <a:noFill/>
          <a:ln>
            <a:solidFill>
              <a:schemeClr val="accent5">
                <a:lumMod val="60000"/>
                <a:lumOff val="40000"/>
              </a:schemeClr>
            </a:solidFill>
            <a:prstDash val="sysDot"/>
          </a:ln>
        </p:spPr>
        <p:txBody>
          <a:bodyPr wrap="square" rtlCol="0" anchor="t">
            <a:spAutoFit/>
          </a:bodyPr>
          <a:p>
            <a:pPr algn="l" rtl="0" eaLnBrk="0">
              <a:lnSpc>
                <a:spcPct val="150000"/>
              </a:lnSpc>
              <a:spcBef>
                <a:spcPts val="0"/>
              </a:spcBef>
              <a:buClrTx/>
              <a:buSzTx/>
              <a:buFontTx/>
              <a:tabLst>
                <a:tab pos="611505" algn="l"/>
              </a:tabLst>
            </a:pPr>
            <a:r>
              <a:rPr sz="13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梳理具体业务事项</a:t>
            </a:r>
            <a:endParaRPr sz="13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50000"/>
              </a:lnSpc>
              <a:spcBef>
                <a:spcPts val="0"/>
              </a:spcBef>
              <a:buClrTx/>
              <a:buSzTx/>
              <a:buFontTx/>
              <a:tabLst>
                <a:tab pos="611505" algn="l"/>
              </a:tabLst>
            </a:pP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在子场景的基础上，进一步梳理具体的业务事项，识别每个业务事项需要通过AI实现的能力</a:t>
            </a:r>
            <a:endPar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57" name="文本框 56"/>
          <p:cNvSpPr txBox="1"/>
          <p:nvPr/>
        </p:nvSpPr>
        <p:spPr>
          <a:xfrm>
            <a:off x="6196330" y="3764280"/>
            <a:ext cx="2624455" cy="1222375"/>
          </a:xfrm>
          <a:prstGeom prst="rect">
            <a:avLst/>
          </a:prstGeom>
          <a:noFill/>
          <a:ln>
            <a:solidFill>
              <a:schemeClr val="accent5">
                <a:lumMod val="60000"/>
                <a:lumOff val="40000"/>
              </a:schemeClr>
            </a:solidFill>
            <a:prstDash val="sysDot"/>
          </a:ln>
        </p:spPr>
        <p:txBody>
          <a:bodyPr wrap="square" rtlCol="0" anchor="t">
            <a:spAutoFit/>
          </a:bodyPr>
          <a:p>
            <a:pPr algn="l" rtl="0" eaLnBrk="0">
              <a:lnSpc>
                <a:spcPct val="150000"/>
              </a:lnSpc>
              <a:spcBef>
                <a:spcPts val="0"/>
              </a:spcBef>
              <a:buClrTx/>
              <a:buSzTx/>
              <a:buFontTx/>
              <a:tabLst>
                <a:tab pos="611505" algn="l"/>
              </a:tabLst>
            </a:pPr>
            <a:r>
              <a:rPr sz="13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规划业务事项智能体</a:t>
            </a:r>
            <a:endParaRPr sz="13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a:p>
            <a:pPr algn="l" rtl="0" eaLnBrk="0">
              <a:lnSpc>
                <a:spcPct val="150000"/>
              </a:lnSpc>
              <a:spcBef>
                <a:spcPts val="0"/>
              </a:spcBef>
              <a:buClrTx/>
              <a:buSzTx/>
              <a:buFontTx/>
              <a:tabLst>
                <a:tab pos="611505" algn="l"/>
              </a:tabLst>
            </a:pP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业务事项智能体是AI能力在具体操作层面的体现，为每个业务事项设计专门的智能</a:t>
            </a:r>
            <a:endPar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58" name="文本框 57"/>
          <p:cNvSpPr txBox="1"/>
          <p:nvPr/>
        </p:nvSpPr>
        <p:spPr>
          <a:xfrm>
            <a:off x="9072245" y="2377440"/>
            <a:ext cx="2624455" cy="1222375"/>
          </a:xfrm>
          <a:prstGeom prst="rect">
            <a:avLst/>
          </a:prstGeom>
          <a:noFill/>
          <a:ln>
            <a:solidFill>
              <a:schemeClr val="accent5">
                <a:lumMod val="60000"/>
                <a:lumOff val="40000"/>
              </a:schemeClr>
            </a:solidFill>
            <a:prstDash val="sysDot"/>
          </a:ln>
        </p:spPr>
        <p:txBody>
          <a:bodyPr wrap="square" rtlCol="0" anchor="t">
            <a:spAutoFit/>
          </a:bodyPr>
          <a:p>
            <a:pPr algn="l" rtl="0" eaLnBrk="0">
              <a:lnSpc>
                <a:spcPct val="150000"/>
              </a:lnSpc>
              <a:spcBef>
                <a:spcPts val="0"/>
              </a:spcBef>
              <a:buClrTx/>
              <a:buSzTx/>
              <a:buFontTx/>
              <a:tabLst>
                <a:tab pos="611505" algn="l"/>
              </a:tabLst>
            </a:pPr>
            <a:r>
              <a:rPr sz="13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分析智能体间关系</a:t>
            </a:r>
            <a:endParaRPr sz="13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rtl="0" eaLnBrk="0">
              <a:lnSpc>
                <a:spcPct val="150000"/>
              </a:lnSpc>
              <a:spcBef>
                <a:spcPts val="0"/>
              </a:spcBef>
              <a:buClrTx/>
              <a:buSzTx/>
              <a:buFontTx/>
              <a:tabLst>
                <a:tab pos="611505" algn="l"/>
              </a:tabLst>
            </a:pP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分析子场景智能体、</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业务事项智能体以及多业务事项智能体之间的关系</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，明确</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智能体之间的协同机制</a:t>
            </a:r>
            <a:endPar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59" name="文本框 58"/>
          <p:cNvSpPr txBox="1"/>
          <p:nvPr/>
        </p:nvSpPr>
        <p:spPr>
          <a:xfrm>
            <a:off x="9072245" y="3764280"/>
            <a:ext cx="2624455" cy="1222375"/>
          </a:xfrm>
          <a:prstGeom prst="rect">
            <a:avLst/>
          </a:prstGeom>
          <a:noFill/>
          <a:ln>
            <a:solidFill>
              <a:schemeClr val="accent5">
                <a:lumMod val="60000"/>
                <a:lumOff val="40000"/>
              </a:schemeClr>
            </a:solidFill>
            <a:prstDash val="sysDot"/>
          </a:ln>
        </p:spPr>
        <p:txBody>
          <a:bodyPr wrap="square" rtlCol="0" anchor="t">
            <a:spAutoFit/>
          </a:bodyPr>
          <a:p>
            <a:pPr algn="l" rtl="0" eaLnBrk="0">
              <a:lnSpc>
                <a:spcPct val="150000"/>
              </a:lnSpc>
              <a:spcBef>
                <a:spcPts val="0"/>
              </a:spcBef>
              <a:buClrTx/>
              <a:buSzTx/>
              <a:buFontTx/>
              <a:tabLst>
                <a:tab pos="611505" algn="l"/>
              </a:tabLst>
            </a:pPr>
            <a:r>
              <a:rPr sz="13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形成多智能体协作关系图</a:t>
            </a:r>
            <a:endParaRPr sz="1300" b="1"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rtl="0" eaLnBrk="0">
              <a:lnSpc>
                <a:spcPct val="150000"/>
              </a:lnSpc>
              <a:spcBef>
                <a:spcPts val="0"/>
              </a:spcBef>
              <a:buClrTx/>
              <a:buSzTx/>
              <a:buFontTx/>
              <a:tabLst>
                <a:tab pos="611505" algn="l"/>
              </a:tabLst>
            </a:pP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将各种智能体之间的关系可视化</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，形成多智能体协作关系图</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，为后续开发提供</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基础</a:t>
            </a:r>
            <a:endPar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9100185" y="5253355"/>
            <a:ext cx="36000" cy="790575"/>
          </a:xfrm>
          <a:prstGeom prst="rect">
            <a:avLst/>
          </a:prstGeom>
          <a:solidFill>
            <a:schemeClr val="accent5"/>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endParaRPr lang="zh-CN" altLang="en-US" sz="1200">
              <a:solidFill>
                <a:schemeClr val="tx1"/>
              </a:solidFill>
              <a:sym typeface="+mn-ea"/>
            </a:endParaRPr>
          </a:p>
        </p:txBody>
      </p:sp>
      <p:sp>
        <p:nvSpPr>
          <p:cNvPr id="6" name="文本框 5"/>
          <p:cNvSpPr txBox="1"/>
          <p:nvPr/>
        </p:nvSpPr>
        <p:spPr>
          <a:xfrm>
            <a:off x="9128125" y="5253355"/>
            <a:ext cx="2624455" cy="790575"/>
          </a:xfrm>
          <a:prstGeom prst="rect">
            <a:avLst/>
          </a:prstGeom>
          <a:noFill/>
        </p:spPr>
        <p:txBody>
          <a:bodyPr wrap="square" rtlCol="0" anchor="t">
            <a:noAutofit/>
          </a:bodyPr>
          <a:p>
            <a:pPr algn="l" rtl="0" eaLnBrk="0" fontAlgn="auto">
              <a:lnSpc>
                <a:spcPct val="95000"/>
              </a:lnSpc>
              <a:spcBef>
                <a:spcPts val="0"/>
              </a:spcBef>
              <a:buClrTx/>
              <a:buSzTx/>
              <a:buFontTx/>
              <a:tabLst>
                <a:tab pos="611505" algn="l"/>
              </a:tabLst>
            </a:pP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明确智能体之间的协同机制</a:t>
            </a:r>
            <a:r>
              <a:rPr lang="en-US" altLang="zh-CN"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，是实现综合场景智能化、高效运作的关</a:t>
            </a:r>
            <a:r>
              <a:rPr lang="en-US" altLang="zh-CN"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键。通过关系图可以清晰展示智能体间的交互流程和数据流转路径。</a:t>
            </a:r>
            <a:endPar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a:p>
            <a:pPr algn="l" rtl="0" eaLnBrk="0" fontAlgn="auto">
              <a:lnSpc>
                <a:spcPct val="95000"/>
              </a:lnSpc>
              <a:spcBef>
                <a:spcPts val="0"/>
              </a:spcBef>
              <a:buClrTx/>
              <a:buSzTx/>
              <a:buFontTx/>
              <a:tabLst>
                <a:tab pos="611505" algn="l"/>
              </a:tabLst>
            </a:pPr>
            <a:endPar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7" name="矩形 6"/>
          <p:cNvSpPr/>
          <p:nvPr/>
        </p:nvSpPr>
        <p:spPr>
          <a:xfrm>
            <a:off x="6177915" y="5253355"/>
            <a:ext cx="36000" cy="790575"/>
          </a:xfrm>
          <a:prstGeom prst="rect">
            <a:avLst/>
          </a:prstGeom>
          <a:solidFill>
            <a:schemeClr val="accent5"/>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endParaRPr lang="zh-CN" altLang="en-US" sz="1200">
              <a:solidFill>
                <a:schemeClr val="tx1"/>
              </a:solidFill>
              <a:sym typeface="+mn-ea"/>
            </a:endParaRPr>
          </a:p>
        </p:txBody>
      </p:sp>
      <p:sp>
        <p:nvSpPr>
          <p:cNvPr id="8" name="文本框 7"/>
          <p:cNvSpPr txBox="1"/>
          <p:nvPr/>
        </p:nvSpPr>
        <p:spPr>
          <a:xfrm>
            <a:off x="6205855" y="5253355"/>
            <a:ext cx="2624455" cy="790575"/>
          </a:xfrm>
          <a:prstGeom prst="rect">
            <a:avLst/>
          </a:prstGeom>
          <a:noFill/>
        </p:spPr>
        <p:txBody>
          <a:bodyPr wrap="square" rtlCol="0" anchor="t">
            <a:noAutofit/>
          </a:bodyPr>
          <a:p>
            <a:pPr algn="l" rtl="0" eaLnBrk="0" fontAlgn="auto">
              <a:lnSpc>
                <a:spcPct val="95000"/>
              </a:lnSpc>
              <a:spcBef>
                <a:spcPts val="0"/>
              </a:spcBef>
              <a:buClrTx/>
              <a:buSzTx/>
              <a:buFontTx/>
              <a:tabLst>
                <a:tab pos="611505" algn="l"/>
              </a:tabLst>
            </a:pPr>
            <a:r>
              <a:rPr lang="zh-CN"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明确每个业务事项配置的</a:t>
            </a:r>
            <a:r>
              <a:rPr lang="en-US" altLang="zh-CN"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AI</a:t>
            </a:r>
            <a:r>
              <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功能</a:t>
            </a:r>
            <a:endParaRPr lang="zh-CN" altLang="en-US" sz="1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336803" y="144012"/>
            <a:ext cx="8493516" cy="521970"/>
          </a:xfrm>
          <a:prstGeom prst="rect">
            <a:avLst/>
          </a:prstGeom>
        </p:spPr>
        <p:txBody>
          <a:bodyPr wrap="square">
            <a:spAutoFit/>
          </a:bodyPr>
          <a:p>
            <a:r>
              <a:rPr lang="en-US" altLang="zh-CN" sz="2795" b="1" dirty="0">
                <a:solidFill>
                  <a:srgbClr val="00A6C7"/>
                </a:solidFill>
                <a:latin typeface="+mn-ea"/>
                <a:ea typeface="微软雅黑" panose="020B0503020204020204" charset="-122"/>
                <a:cs typeface="微软雅黑" panose="020B0503020204020204" charset="-122"/>
                <a:sym typeface="+mn-ea"/>
              </a:rPr>
              <a:t>AI+</a:t>
            </a:r>
            <a:r>
              <a:rPr lang="zh-CN" altLang="en-US" sz="2795" b="1" dirty="0">
                <a:solidFill>
                  <a:srgbClr val="00A6C7"/>
                </a:solidFill>
                <a:latin typeface="+mn-ea"/>
                <a:ea typeface="微软雅黑" panose="020B0503020204020204" charset="-122"/>
                <a:cs typeface="微软雅黑" panose="020B0503020204020204" charset="-122"/>
                <a:sym typeface="+mn-ea"/>
              </a:rPr>
              <a:t>综合场景建设实施过程</a:t>
            </a:r>
            <a:endParaRPr lang="zh-CN" altLang="en-US" sz="2795" b="1" dirty="0">
              <a:solidFill>
                <a:srgbClr val="00A6C7"/>
              </a:solidFill>
              <a:latin typeface="+mn-ea"/>
              <a:ea typeface="微软雅黑" panose="020B0503020204020204" charset="-122"/>
              <a:cs typeface="微软雅黑" panose="020B0503020204020204" charset="-122"/>
              <a:sym typeface="+mn-ea"/>
            </a:endParaRPr>
          </a:p>
        </p:txBody>
      </p:sp>
      <p:sp useBgFill="1">
        <p:nvSpPr>
          <p:cNvPr id="11" name="矩形 10"/>
          <p:cNvSpPr/>
          <p:nvPr/>
        </p:nvSpPr>
        <p:spPr>
          <a:xfrm>
            <a:off x="5378450" y="1207770"/>
            <a:ext cx="6520815" cy="5440680"/>
          </a:xfrm>
          <a:prstGeom prst="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altLang="en-US" sz="1400">
              <a:solidFill>
                <a:schemeClr val="tx1"/>
              </a:solidFill>
              <a:sym typeface="+mn-ea"/>
            </a:endParaRPr>
          </a:p>
        </p:txBody>
      </p:sp>
      <p:sp useBgFill="1">
        <p:nvSpPr>
          <p:cNvPr id="3" name="矩形 2"/>
          <p:cNvSpPr/>
          <p:nvPr/>
        </p:nvSpPr>
        <p:spPr>
          <a:xfrm>
            <a:off x="275590" y="1207770"/>
            <a:ext cx="4701540" cy="2190750"/>
          </a:xfrm>
          <a:prstGeom prst="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altLang="en-US" sz="1400">
              <a:solidFill>
                <a:schemeClr val="tx1"/>
              </a:solidFill>
              <a:sym typeface="+mn-ea"/>
            </a:endParaRPr>
          </a:p>
        </p:txBody>
      </p:sp>
      <p:sp useBgFill="1">
        <p:nvSpPr>
          <p:cNvPr id="4" name="矩形 3"/>
          <p:cNvSpPr/>
          <p:nvPr/>
        </p:nvSpPr>
        <p:spPr>
          <a:xfrm>
            <a:off x="275590" y="3618865"/>
            <a:ext cx="4701540" cy="3029585"/>
          </a:xfrm>
          <a:prstGeom prst="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vert="horz" wrap="square" lIns="0" tIns="45720" rIns="0" bIns="45720" numCol="1" spcCol="0" rtlCol="0" fromWordArt="0" anchor="ctr" anchorCtr="0" forceAA="0" compatLnSpc="0">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altLang="en-US" sz="1400">
              <a:solidFill>
                <a:schemeClr val="tx1"/>
              </a:solidFill>
              <a:sym typeface="+mn-ea"/>
            </a:endParaRPr>
          </a:p>
        </p:txBody>
      </p:sp>
      <p:sp>
        <p:nvSpPr>
          <p:cNvPr id="5" name="文本框 4"/>
          <p:cNvSpPr txBox="1"/>
          <p:nvPr/>
        </p:nvSpPr>
        <p:spPr>
          <a:xfrm>
            <a:off x="770255" y="1297940"/>
            <a:ext cx="3770630" cy="306705"/>
          </a:xfrm>
          <a:prstGeom prst="rect">
            <a:avLst/>
          </a:prstGeom>
        </p:spPr>
        <p:txBody>
          <a:bodyPr wrap="square">
            <a:spAutoFit/>
          </a:bodyPr>
          <a:p>
            <a:pPr marL="0" algn="l">
              <a:buClrTx/>
              <a:buSzTx/>
              <a:buFontTx/>
            </a:pPr>
            <a:r>
              <a:rPr lang="zh-CN" altLang="en-US" sz="1400" b="1" i="0">
                <a:solidFill>
                  <a:srgbClr val="00A6C7"/>
                </a:solidFill>
                <a:latin typeface="微软雅黑" panose="020B0503020204020204" charset="-122"/>
                <a:ea typeface="微软雅黑" panose="020B0503020204020204" charset="-122"/>
              </a:rPr>
              <a:t>数据准备流程</a:t>
            </a:r>
            <a:endParaRPr lang="zh-CN" altLang="en-US" sz="1400" b="1" i="0">
              <a:solidFill>
                <a:srgbClr val="00A6C7"/>
              </a:solidFill>
              <a:latin typeface="微软雅黑" panose="020B0503020204020204" charset="-122"/>
              <a:ea typeface="微软雅黑" panose="020B0503020204020204" charset="-122"/>
            </a:endParaRPr>
          </a:p>
        </p:txBody>
      </p:sp>
      <p:sp>
        <p:nvSpPr>
          <p:cNvPr id="15" name="database-black-sign_16545"/>
          <p:cNvSpPr/>
          <p:nvPr/>
        </p:nvSpPr>
        <p:spPr>
          <a:xfrm>
            <a:off x="480695" y="1330325"/>
            <a:ext cx="252730" cy="242570"/>
          </a:xfrm>
          <a:custGeom>
            <a:avLst/>
            <a:gdLst>
              <a:gd name="T0" fmla="*/ 2037 w 4074"/>
              <a:gd name="T1" fmla="*/ 0 h 3970"/>
              <a:gd name="T2" fmla="*/ 0 w 4074"/>
              <a:gd name="T3" fmla="*/ 777 h 3970"/>
              <a:gd name="T4" fmla="*/ 0 w 4074"/>
              <a:gd name="T5" fmla="*/ 3119 h 3970"/>
              <a:gd name="T6" fmla="*/ 250 w 4074"/>
              <a:gd name="T7" fmla="*/ 3556 h 3970"/>
              <a:gd name="T8" fmla="*/ 2023 w 4074"/>
              <a:gd name="T9" fmla="*/ 3970 h 3970"/>
              <a:gd name="T10" fmla="*/ 2032 w 4074"/>
              <a:gd name="T11" fmla="*/ 3970 h 3970"/>
              <a:gd name="T12" fmla="*/ 3822 w 4074"/>
              <a:gd name="T13" fmla="*/ 3556 h 3970"/>
              <a:gd name="T14" fmla="*/ 4074 w 4074"/>
              <a:gd name="T15" fmla="*/ 3121 h 3970"/>
              <a:gd name="T16" fmla="*/ 4074 w 4074"/>
              <a:gd name="T17" fmla="*/ 777 h 3970"/>
              <a:gd name="T18" fmla="*/ 2037 w 4074"/>
              <a:gd name="T19" fmla="*/ 0 h 3970"/>
              <a:gd name="T20" fmla="*/ 2037 w 4074"/>
              <a:gd name="T21" fmla="*/ 507 h 3970"/>
              <a:gd name="T22" fmla="*/ 3532 w 4074"/>
              <a:gd name="T23" fmla="*/ 777 h 3970"/>
              <a:gd name="T24" fmla="*/ 2037 w 4074"/>
              <a:gd name="T25" fmla="*/ 1047 h 3970"/>
              <a:gd name="T26" fmla="*/ 541 w 4074"/>
              <a:gd name="T27" fmla="*/ 777 h 3970"/>
              <a:gd name="T28" fmla="*/ 2037 w 4074"/>
              <a:gd name="T29" fmla="*/ 507 h 3970"/>
              <a:gd name="T30" fmla="*/ 3566 w 4074"/>
              <a:gd name="T31" fmla="*/ 3137 h 3970"/>
              <a:gd name="T32" fmla="*/ 2031 w 4074"/>
              <a:gd name="T33" fmla="*/ 3462 h 3970"/>
              <a:gd name="T34" fmla="*/ 2023 w 4074"/>
              <a:gd name="T35" fmla="*/ 3462 h 3970"/>
              <a:gd name="T36" fmla="*/ 508 w 4074"/>
              <a:gd name="T37" fmla="*/ 3137 h 3970"/>
              <a:gd name="T38" fmla="*/ 508 w 4074"/>
              <a:gd name="T39" fmla="*/ 2504 h 3970"/>
              <a:gd name="T40" fmla="*/ 2045 w 4074"/>
              <a:gd name="T41" fmla="*/ 2715 h 3970"/>
              <a:gd name="T42" fmla="*/ 3566 w 4074"/>
              <a:gd name="T43" fmla="*/ 2506 h 3970"/>
              <a:gd name="T44" fmla="*/ 3566 w 4074"/>
              <a:gd name="T45" fmla="*/ 3137 h 3970"/>
              <a:gd name="T46" fmla="*/ 3566 w 4074"/>
              <a:gd name="T47" fmla="*/ 3137 h 3970"/>
              <a:gd name="T48" fmla="*/ 3566 w 4074"/>
              <a:gd name="T49" fmla="*/ 1957 h 3970"/>
              <a:gd name="T50" fmla="*/ 2045 w 4074"/>
              <a:gd name="T51" fmla="*/ 2207 h 3970"/>
              <a:gd name="T52" fmla="*/ 508 w 4074"/>
              <a:gd name="T53" fmla="*/ 1955 h 3970"/>
              <a:gd name="T54" fmla="*/ 508 w 4074"/>
              <a:gd name="T55" fmla="*/ 1325 h 3970"/>
              <a:gd name="T56" fmla="*/ 2037 w 4074"/>
              <a:gd name="T57" fmla="*/ 1555 h 3970"/>
              <a:gd name="T58" fmla="*/ 3566 w 4074"/>
              <a:gd name="T59" fmla="*/ 1325 h 3970"/>
              <a:gd name="T60" fmla="*/ 3566 w 4074"/>
              <a:gd name="T61" fmla="*/ 1957 h 3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074" h="3970">
                <a:moveTo>
                  <a:pt x="2037" y="0"/>
                </a:moveTo>
                <a:cubicBezTo>
                  <a:pt x="1097" y="0"/>
                  <a:pt x="0" y="203"/>
                  <a:pt x="0" y="777"/>
                </a:cubicBezTo>
                <a:lnTo>
                  <a:pt x="0" y="3119"/>
                </a:lnTo>
                <a:cubicBezTo>
                  <a:pt x="0" y="3279"/>
                  <a:pt x="107" y="3483"/>
                  <a:pt x="250" y="3556"/>
                </a:cubicBezTo>
                <a:cubicBezTo>
                  <a:pt x="573" y="3722"/>
                  <a:pt x="1193" y="3970"/>
                  <a:pt x="2023" y="3970"/>
                </a:cubicBezTo>
                <a:lnTo>
                  <a:pt x="2032" y="3970"/>
                </a:lnTo>
                <a:cubicBezTo>
                  <a:pt x="2866" y="3968"/>
                  <a:pt x="3495" y="3721"/>
                  <a:pt x="3822" y="3556"/>
                </a:cubicBezTo>
                <a:cubicBezTo>
                  <a:pt x="3965" y="3483"/>
                  <a:pt x="4074" y="3281"/>
                  <a:pt x="4074" y="3121"/>
                </a:cubicBezTo>
                <a:lnTo>
                  <a:pt x="4074" y="777"/>
                </a:lnTo>
                <a:cubicBezTo>
                  <a:pt x="4074" y="203"/>
                  <a:pt x="2977" y="0"/>
                  <a:pt x="2037" y="0"/>
                </a:cubicBezTo>
                <a:close/>
                <a:moveTo>
                  <a:pt x="2037" y="507"/>
                </a:moveTo>
                <a:cubicBezTo>
                  <a:pt x="2858" y="507"/>
                  <a:pt x="3375" y="668"/>
                  <a:pt x="3532" y="777"/>
                </a:cubicBezTo>
                <a:cubicBezTo>
                  <a:pt x="3375" y="887"/>
                  <a:pt x="2858" y="1047"/>
                  <a:pt x="2037" y="1047"/>
                </a:cubicBezTo>
                <a:cubicBezTo>
                  <a:pt x="1216" y="1047"/>
                  <a:pt x="699" y="887"/>
                  <a:pt x="541" y="777"/>
                </a:cubicBezTo>
                <a:cubicBezTo>
                  <a:pt x="699" y="668"/>
                  <a:pt x="1216" y="507"/>
                  <a:pt x="2037" y="507"/>
                </a:cubicBezTo>
                <a:close/>
                <a:moveTo>
                  <a:pt x="3566" y="3137"/>
                </a:moveTo>
                <a:cubicBezTo>
                  <a:pt x="3359" y="3246"/>
                  <a:pt x="2848" y="3461"/>
                  <a:pt x="2031" y="3462"/>
                </a:cubicBezTo>
                <a:lnTo>
                  <a:pt x="2023" y="3462"/>
                </a:lnTo>
                <a:cubicBezTo>
                  <a:pt x="1221" y="3462"/>
                  <a:pt x="712" y="3246"/>
                  <a:pt x="508" y="3137"/>
                </a:cubicBezTo>
                <a:lnTo>
                  <a:pt x="508" y="2504"/>
                </a:lnTo>
                <a:cubicBezTo>
                  <a:pt x="810" y="2610"/>
                  <a:pt x="1298" y="2715"/>
                  <a:pt x="2045" y="2715"/>
                </a:cubicBezTo>
                <a:cubicBezTo>
                  <a:pt x="2784" y="2715"/>
                  <a:pt x="3266" y="2611"/>
                  <a:pt x="3566" y="2506"/>
                </a:cubicBezTo>
                <a:lnTo>
                  <a:pt x="3566" y="3137"/>
                </a:lnTo>
                <a:lnTo>
                  <a:pt x="3566" y="3137"/>
                </a:lnTo>
                <a:close/>
                <a:moveTo>
                  <a:pt x="3566" y="1957"/>
                </a:moveTo>
                <a:cubicBezTo>
                  <a:pt x="3391" y="2044"/>
                  <a:pt x="2942" y="2207"/>
                  <a:pt x="2045" y="2207"/>
                </a:cubicBezTo>
                <a:cubicBezTo>
                  <a:pt x="1144" y="2207"/>
                  <a:pt x="687" y="2043"/>
                  <a:pt x="508" y="1955"/>
                </a:cubicBezTo>
                <a:lnTo>
                  <a:pt x="508" y="1325"/>
                </a:lnTo>
                <a:cubicBezTo>
                  <a:pt x="913" y="1488"/>
                  <a:pt x="1501" y="1555"/>
                  <a:pt x="2037" y="1555"/>
                </a:cubicBezTo>
                <a:cubicBezTo>
                  <a:pt x="2573" y="1555"/>
                  <a:pt x="3160" y="1488"/>
                  <a:pt x="3566" y="1325"/>
                </a:cubicBezTo>
                <a:lnTo>
                  <a:pt x="3566" y="1957"/>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pic>
        <p:nvPicPr>
          <p:cNvPr id="16" name="图片 15" descr="文档"/>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6760" y="1902460"/>
            <a:ext cx="443230" cy="443230"/>
          </a:xfrm>
          <a:prstGeom prst="rect">
            <a:avLst/>
          </a:prstGeom>
        </p:spPr>
      </p:pic>
      <p:pic>
        <p:nvPicPr>
          <p:cNvPr id="17" name="图片 16" descr="漏斗分析"/>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3875" y="1902460"/>
            <a:ext cx="443230" cy="443230"/>
          </a:xfrm>
          <a:prstGeom prst="rect">
            <a:avLst/>
          </a:prstGeom>
        </p:spPr>
      </p:pic>
      <p:pic>
        <p:nvPicPr>
          <p:cNvPr id="18" name="图片 17" descr="数据"/>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06520" y="1902460"/>
            <a:ext cx="443230" cy="443230"/>
          </a:xfrm>
          <a:prstGeom prst="rect">
            <a:avLst/>
          </a:prstGeom>
        </p:spPr>
      </p:pic>
      <p:pic>
        <p:nvPicPr>
          <p:cNvPr id="19" name="图片 18" descr="AB测试"/>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840990" y="1902460"/>
            <a:ext cx="443230" cy="443230"/>
          </a:xfrm>
          <a:prstGeom prst="rect">
            <a:avLst/>
          </a:prstGeom>
        </p:spPr>
      </p:pic>
      <p:sp>
        <p:nvSpPr>
          <p:cNvPr id="21" name="文本框 20"/>
          <p:cNvSpPr txBox="1"/>
          <p:nvPr/>
        </p:nvSpPr>
        <p:spPr>
          <a:xfrm>
            <a:off x="458470" y="2381885"/>
            <a:ext cx="989330" cy="460375"/>
          </a:xfrm>
          <a:prstGeom prst="rect">
            <a:avLst/>
          </a:prstGeom>
        </p:spPr>
        <p:txBody>
          <a:bodyPr wrap="square">
            <a:spAutoFit/>
          </a:bodyPr>
          <a:p>
            <a:pPr marL="0" indent="0" algn="ctr">
              <a:spcBef>
                <a:spcPct val="0"/>
              </a:spcBef>
              <a:spcAft>
                <a:spcPct val="0"/>
              </a:spcAft>
            </a:pPr>
            <a:r>
              <a:rPr lang="zh-CN" altLang="en-US" sz="1200" i="0">
                <a:solidFill>
                  <a:srgbClr val="00A6C7"/>
                </a:solidFill>
                <a:latin typeface="微软雅黑" panose="020B0503020204020204" charset="-122"/>
                <a:ea typeface="微软雅黑" panose="020B0503020204020204" charset="-122"/>
              </a:rPr>
              <a:t>梳理智能体</a:t>
            </a:r>
            <a:endParaRPr lang="zh-CN" altLang="en-US" sz="1200" i="0">
              <a:solidFill>
                <a:srgbClr val="00A6C7"/>
              </a:solidFill>
              <a:latin typeface="微软雅黑" panose="020B0503020204020204" charset="-122"/>
              <a:ea typeface="微软雅黑" panose="020B0503020204020204" charset="-122"/>
            </a:endParaRPr>
          </a:p>
          <a:p>
            <a:pPr marL="0" indent="0" algn="ctr">
              <a:spcBef>
                <a:spcPct val="0"/>
              </a:spcBef>
              <a:spcAft>
                <a:spcPct val="0"/>
              </a:spcAft>
            </a:pPr>
            <a:r>
              <a:rPr lang="zh-CN" altLang="en-US" sz="1200" i="0">
                <a:solidFill>
                  <a:srgbClr val="00A6C7"/>
                </a:solidFill>
                <a:latin typeface="微软雅黑" panose="020B0503020204020204" charset="-122"/>
                <a:ea typeface="微软雅黑" panose="020B0503020204020204" charset="-122"/>
              </a:rPr>
              <a:t>涉及数据</a:t>
            </a:r>
            <a:endParaRPr lang="zh-CN" altLang="en-US" sz="1200" i="0">
              <a:solidFill>
                <a:srgbClr val="00A6C7"/>
              </a:solidFill>
              <a:latin typeface="微软雅黑" panose="020B0503020204020204" charset="-122"/>
              <a:ea typeface="微软雅黑" panose="020B0503020204020204" charset="-122"/>
            </a:endParaRPr>
          </a:p>
        </p:txBody>
      </p:sp>
      <p:sp>
        <p:nvSpPr>
          <p:cNvPr id="22" name="文本框 21"/>
          <p:cNvSpPr txBox="1"/>
          <p:nvPr/>
        </p:nvSpPr>
        <p:spPr>
          <a:xfrm>
            <a:off x="1520825" y="2381885"/>
            <a:ext cx="989330" cy="460375"/>
          </a:xfrm>
          <a:prstGeom prst="rect">
            <a:avLst/>
          </a:prstGeom>
        </p:spPr>
        <p:txBody>
          <a:bodyPr wrap="square">
            <a:spAutoFit/>
          </a:bodyPr>
          <a:p>
            <a:pPr marL="0" indent="0" algn="ctr">
              <a:spcBef>
                <a:spcPct val="0"/>
              </a:spcBef>
              <a:spcAft>
                <a:spcPct val="0"/>
              </a:spcAft>
            </a:pPr>
            <a:r>
              <a:rPr lang="zh-CN" altLang="en-US" sz="1200" i="0">
                <a:solidFill>
                  <a:srgbClr val="00A6C7"/>
                </a:solidFill>
                <a:latin typeface="微软雅黑" panose="020B0503020204020204" charset="-122"/>
                <a:ea typeface="微软雅黑" panose="020B0503020204020204" charset="-122"/>
              </a:rPr>
              <a:t>数据清洗</a:t>
            </a:r>
            <a:endParaRPr lang="zh-CN" altLang="en-US" sz="1200" i="0">
              <a:solidFill>
                <a:srgbClr val="00A6C7"/>
              </a:solidFill>
              <a:latin typeface="微软雅黑" panose="020B0503020204020204" charset="-122"/>
              <a:ea typeface="微软雅黑" panose="020B0503020204020204" charset="-122"/>
            </a:endParaRPr>
          </a:p>
          <a:p>
            <a:pPr marL="0" indent="0" algn="ctr">
              <a:spcBef>
                <a:spcPct val="0"/>
              </a:spcBef>
              <a:spcAft>
                <a:spcPct val="0"/>
              </a:spcAft>
            </a:pPr>
            <a:r>
              <a:rPr lang="zh-CN" altLang="en-US" sz="1200" i="0">
                <a:solidFill>
                  <a:srgbClr val="00A6C7"/>
                </a:solidFill>
                <a:latin typeface="微软雅黑" panose="020B0503020204020204" charset="-122"/>
                <a:ea typeface="微软雅黑" panose="020B0503020204020204" charset="-122"/>
              </a:rPr>
              <a:t>治理</a:t>
            </a:r>
            <a:endParaRPr lang="zh-CN" altLang="en-US" sz="1200" i="0">
              <a:solidFill>
                <a:srgbClr val="00A6C7"/>
              </a:solidFill>
              <a:latin typeface="微软雅黑" panose="020B0503020204020204" charset="-122"/>
              <a:ea typeface="微软雅黑" panose="020B0503020204020204" charset="-122"/>
            </a:endParaRPr>
          </a:p>
        </p:txBody>
      </p:sp>
      <p:sp>
        <p:nvSpPr>
          <p:cNvPr id="23" name="文本框 22"/>
          <p:cNvSpPr txBox="1"/>
          <p:nvPr/>
        </p:nvSpPr>
        <p:spPr>
          <a:xfrm>
            <a:off x="2583180" y="2381885"/>
            <a:ext cx="989330" cy="460375"/>
          </a:xfrm>
          <a:prstGeom prst="rect">
            <a:avLst/>
          </a:prstGeom>
        </p:spPr>
        <p:txBody>
          <a:bodyPr wrap="square">
            <a:spAutoFit/>
          </a:bodyPr>
          <a:p>
            <a:pPr marL="0" indent="0" algn="ctr">
              <a:spcBef>
                <a:spcPct val="0"/>
              </a:spcBef>
              <a:spcAft>
                <a:spcPct val="0"/>
              </a:spcAft>
            </a:pPr>
            <a:r>
              <a:rPr lang="zh-CN" altLang="en-US" sz="1200">
                <a:solidFill>
                  <a:srgbClr val="00A6C7"/>
                </a:solidFill>
                <a:latin typeface="微软雅黑" panose="020B0503020204020204" charset="-122"/>
                <a:ea typeface="微软雅黑" panose="020B0503020204020204" charset="-122"/>
                <a:sym typeface="+mn-ea"/>
              </a:rPr>
              <a:t>评测数据集构建</a:t>
            </a:r>
            <a:endParaRPr lang="zh-CN" altLang="en-US" sz="1200" i="0">
              <a:solidFill>
                <a:srgbClr val="00A6C7"/>
              </a:solidFill>
              <a:latin typeface="微软雅黑" panose="020B0503020204020204" charset="-122"/>
              <a:ea typeface="微软雅黑" panose="020B0503020204020204" charset="-122"/>
            </a:endParaRPr>
          </a:p>
        </p:txBody>
      </p:sp>
      <p:sp>
        <p:nvSpPr>
          <p:cNvPr id="26" name="文本框 25"/>
          <p:cNvSpPr txBox="1"/>
          <p:nvPr/>
        </p:nvSpPr>
        <p:spPr>
          <a:xfrm>
            <a:off x="3573145" y="2381885"/>
            <a:ext cx="1194435" cy="829945"/>
          </a:xfrm>
          <a:prstGeom prst="rect">
            <a:avLst/>
          </a:prstGeom>
        </p:spPr>
        <p:txBody>
          <a:bodyPr wrap="square">
            <a:spAutoFit/>
          </a:bodyPr>
          <a:p>
            <a:pPr marL="0" indent="0" algn="ctr">
              <a:spcBef>
                <a:spcPct val="0"/>
              </a:spcBef>
              <a:spcAft>
                <a:spcPct val="0"/>
              </a:spcAft>
            </a:pPr>
            <a:r>
              <a:rPr lang="zh-CN" altLang="en-US"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生成训练</a:t>
            </a:r>
            <a:r>
              <a:rPr lang="en-US" altLang="zh-CN"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a:t>
            </a:r>
            <a:r>
              <a:rPr lang="zh-CN" altLang="en-US"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微调</a:t>
            </a:r>
            <a:r>
              <a:rPr lang="en-US" altLang="zh-CN"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a:t>
            </a:r>
            <a:r>
              <a:rPr lang="zh-CN" altLang="en-US"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知识库数据集</a:t>
            </a:r>
            <a:r>
              <a:rPr lang="en-US" altLang="zh-CN"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a:t>
            </a:r>
            <a:r>
              <a:rPr lang="zh-CN" altLang="en-US"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可选</a:t>
            </a:r>
            <a:r>
              <a:rPr lang="en-US" altLang="zh-CN"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a:t>
            </a:r>
            <a:endParaRPr lang="en-US" altLang="zh-CN"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a:p>
            <a:pPr marL="0" indent="0" algn="ctr">
              <a:spcBef>
                <a:spcPct val="0"/>
              </a:spcBef>
              <a:spcAft>
                <a:spcPct val="0"/>
              </a:spcAft>
            </a:pPr>
            <a:endParaRPr lang="en-US" altLang="zh-CN"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p:txBody>
      </p:sp>
      <p:pic>
        <p:nvPicPr>
          <p:cNvPr id="29" name="图片 28" descr="设置齿轮"/>
          <p:cNvPicPr/>
          <p:nvPr/>
        </p:nvPicPr>
        <p:blipFill>
          <a:blip r:embed="rId11">
            <a:extLst>
              <a:ext uri="{96DAC541-7B7A-43D3-8B79-37D633B846F1}">
                <asvg:svgBlip xmlns:asvg="http://schemas.microsoft.com/office/drawing/2016/SVG/main" r:embed="rId12"/>
              </a:ext>
            </a:extLst>
          </a:blip>
          <a:stretch>
            <a:fillRect/>
          </a:stretch>
        </p:blipFill>
        <p:spPr>
          <a:xfrm>
            <a:off x="480695" y="3779520"/>
            <a:ext cx="252730" cy="242570"/>
          </a:xfrm>
          <a:prstGeom prst="rect">
            <a:avLst/>
          </a:prstGeom>
        </p:spPr>
      </p:pic>
      <p:sp>
        <p:nvSpPr>
          <p:cNvPr id="30" name="文本框 29"/>
          <p:cNvSpPr txBox="1"/>
          <p:nvPr/>
        </p:nvSpPr>
        <p:spPr>
          <a:xfrm>
            <a:off x="480695" y="4102100"/>
            <a:ext cx="4365625" cy="306705"/>
          </a:xfrm>
          <a:prstGeom prst="rect">
            <a:avLst/>
          </a:prstGeom>
        </p:spPr>
        <p:txBody>
          <a:bodyPr wrap="square">
            <a:spAutoFit/>
          </a:bodyPr>
          <a:p>
            <a:pPr marL="0" algn="l">
              <a:buClrTx/>
              <a:buSzTx/>
              <a:buFontTx/>
            </a:pPr>
            <a:r>
              <a:rPr lang="zh-CN" altLang="en-US" sz="1400" b="1">
                <a:solidFill>
                  <a:srgbClr val="00A6C7"/>
                </a:solidFill>
                <a:latin typeface="微软雅黑" panose="020B0503020204020204" charset="-122"/>
                <a:ea typeface="微软雅黑" panose="020B0503020204020204" charset="-122"/>
                <a:sym typeface="+mn-ea"/>
              </a:rPr>
              <a:t>不是所有智能体都需要构建</a:t>
            </a:r>
            <a:r>
              <a:rPr lang="zh-CN" altLang="en-US" sz="1400" b="1">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sym typeface="+mn-ea"/>
              </a:rPr>
              <a:t>训练使用</a:t>
            </a:r>
            <a:r>
              <a:rPr lang="zh-CN" altLang="en-US" sz="1400" b="1">
                <a:solidFill>
                  <a:srgbClr val="00A6C7"/>
                </a:solidFill>
                <a:latin typeface="微软雅黑" panose="020B0503020204020204" charset="-122"/>
                <a:ea typeface="微软雅黑" panose="020B0503020204020204" charset="-122"/>
                <a:sym typeface="+mn-ea"/>
              </a:rPr>
              <a:t>的高质量数据集</a:t>
            </a:r>
            <a:endParaRPr lang="zh-CN" altLang="en-US" sz="1400" b="1" i="0">
              <a:solidFill>
                <a:srgbClr val="00A6C7"/>
              </a:solidFill>
              <a:latin typeface="微软雅黑" panose="020B0503020204020204" charset="-122"/>
              <a:ea typeface="微软雅黑" panose="020B0503020204020204" charset="-122"/>
              <a:sym typeface="+mn-ea"/>
            </a:endParaRPr>
          </a:p>
        </p:txBody>
      </p:sp>
      <p:graphicFrame>
        <p:nvGraphicFramePr>
          <p:cNvPr id="31" name="图表 30"/>
          <p:cNvGraphicFramePr/>
          <p:nvPr/>
        </p:nvGraphicFramePr>
        <p:xfrm>
          <a:off x="5574665" y="1635125"/>
          <a:ext cx="6129020" cy="3743325"/>
        </p:xfrm>
        <a:graphic>
          <a:graphicData uri="http://schemas.openxmlformats.org/drawingml/2006/chart">
            <c:chart xmlns:c="http://schemas.openxmlformats.org/drawingml/2006/chart" xmlns:r="http://schemas.openxmlformats.org/officeDocument/2006/relationships" r:id="rId1"/>
          </a:graphicData>
        </a:graphic>
      </p:graphicFrame>
      <p:sp>
        <p:nvSpPr>
          <p:cNvPr id="32" name="文本框 31"/>
          <p:cNvSpPr txBox="1"/>
          <p:nvPr/>
        </p:nvSpPr>
        <p:spPr>
          <a:xfrm>
            <a:off x="5840095" y="1297940"/>
            <a:ext cx="3770630" cy="306705"/>
          </a:xfrm>
          <a:prstGeom prst="rect">
            <a:avLst/>
          </a:prstGeom>
        </p:spPr>
        <p:txBody>
          <a:bodyPr wrap="square">
            <a:spAutoFit/>
          </a:bodyPr>
          <a:p>
            <a:pPr marL="0" indent="0">
              <a:spcBef>
                <a:spcPct val="0"/>
              </a:spcBef>
              <a:spcAft>
                <a:spcPct val="0"/>
              </a:spcAft>
            </a:pPr>
            <a:r>
              <a:rPr lang="zh-CN" altLang="en-US" sz="1400" b="1" i="0">
                <a:solidFill>
                  <a:srgbClr val="00A6C7"/>
                </a:solidFill>
                <a:latin typeface="微软雅黑" panose="020B0503020204020204" charset="-122"/>
                <a:ea typeface="微软雅黑" panose="020B0503020204020204" charset="-122"/>
              </a:rPr>
              <a:t>评测数据集结构</a:t>
            </a:r>
            <a:endParaRPr lang="zh-CN" altLang="en-US" sz="1400" b="1" i="0">
              <a:solidFill>
                <a:srgbClr val="00A6C7"/>
              </a:solidFill>
              <a:latin typeface="微软雅黑" panose="020B0503020204020204" charset="-122"/>
              <a:ea typeface="微软雅黑" panose="020B0503020204020204" charset="-122"/>
            </a:endParaRPr>
          </a:p>
        </p:txBody>
      </p:sp>
      <p:pic>
        <p:nvPicPr>
          <p:cNvPr id="34" name="图片 33" descr="饼图"/>
          <p:cNvPicPr/>
          <p:nvPr/>
        </p:nvPicPr>
        <p:blipFill>
          <a:blip r:embed="rId13">
            <a:extLst>
              <a:ext uri="{96DAC541-7B7A-43D3-8B79-37D633B846F1}">
                <asvg:svgBlip xmlns:asvg="http://schemas.microsoft.com/office/drawing/2016/SVG/main" r:embed="rId14"/>
              </a:ext>
            </a:extLst>
          </a:blip>
          <a:stretch>
            <a:fillRect/>
          </a:stretch>
        </p:blipFill>
        <p:spPr>
          <a:xfrm>
            <a:off x="5574665" y="1334135"/>
            <a:ext cx="252730" cy="242570"/>
          </a:xfrm>
          <a:prstGeom prst="rect">
            <a:avLst/>
          </a:prstGeom>
        </p:spPr>
      </p:pic>
      <p:sp>
        <p:nvSpPr>
          <p:cNvPr id="35" name="文本框 34"/>
          <p:cNvSpPr txBox="1"/>
          <p:nvPr/>
        </p:nvSpPr>
        <p:spPr>
          <a:xfrm>
            <a:off x="5906135" y="5436870"/>
            <a:ext cx="5705475" cy="675640"/>
          </a:xfrm>
          <a:prstGeom prst="rect">
            <a:avLst/>
          </a:prstGeom>
        </p:spPr>
        <p:txBody>
          <a:bodyPr wrap="square">
            <a:spAutoFit/>
          </a:bodyPr>
          <a:p>
            <a:pPr marL="0" indent="0">
              <a:spcBef>
                <a:spcPct val="0"/>
              </a:spcBef>
              <a:spcAft>
                <a:spcPct val="0"/>
              </a:spcAft>
            </a:pPr>
            <a:r>
              <a:rPr lang="zh-CN" altLang="en-US" sz="1400" b="1"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设计要点</a:t>
            </a:r>
            <a:endParaRPr lang="zh-CN" altLang="en-US" sz="1400" b="1"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a:p>
            <a:pPr marL="0" indent="0">
              <a:spcBef>
                <a:spcPct val="0"/>
              </a:spcBef>
              <a:spcAft>
                <a:spcPct val="0"/>
              </a:spcAft>
            </a:pPr>
            <a:r>
              <a:rPr lang="zh-CN" altLang="en-US"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评测数据集注重对模型基础知识、流程案例的全面考察，特别是论述题占比高达</a:t>
            </a:r>
            <a:r>
              <a:rPr lang="en-US" altLang="zh-CN"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50%</a:t>
            </a:r>
            <a:r>
              <a:rPr lang="zh-CN" altLang="en-US"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，强调了模型在复杂问题理解和生成方面的能力。</a:t>
            </a:r>
            <a:endParaRPr lang="zh-CN" altLang="en-US" sz="12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p:txBody>
      </p:sp>
      <p:pic>
        <p:nvPicPr>
          <p:cNvPr id="6" name="图片 5" descr="灯泡"/>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511165" y="5471160"/>
            <a:ext cx="284480" cy="284480"/>
          </a:xfrm>
          <a:prstGeom prst="rect">
            <a:avLst/>
          </a:prstGeom>
        </p:spPr>
      </p:pic>
      <p:pic>
        <p:nvPicPr>
          <p:cNvPr id="49" name="图片 48" descr="两个连续向右箭头"/>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431925" y="2007870"/>
            <a:ext cx="120015" cy="232410"/>
          </a:xfrm>
          <a:prstGeom prst="rect">
            <a:avLst/>
          </a:prstGeom>
        </p:spPr>
      </p:pic>
      <p:pic>
        <p:nvPicPr>
          <p:cNvPr id="8" name="图片 7" descr="两个连续向右箭头"/>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479040" y="2007870"/>
            <a:ext cx="120015" cy="232410"/>
          </a:xfrm>
          <a:prstGeom prst="rect">
            <a:avLst/>
          </a:prstGeom>
        </p:spPr>
      </p:pic>
      <p:pic>
        <p:nvPicPr>
          <p:cNvPr id="9" name="图片 8" descr="两个连续向右箭头"/>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526155" y="2007870"/>
            <a:ext cx="120015" cy="232410"/>
          </a:xfrm>
          <a:prstGeom prst="rect">
            <a:avLst/>
          </a:prstGeom>
        </p:spPr>
      </p:pic>
      <p:sp>
        <p:nvSpPr>
          <p:cNvPr id="10" name="文本框 9"/>
          <p:cNvSpPr txBox="1"/>
          <p:nvPr/>
        </p:nvSpPr>
        <p:spPr>
          <a:xfrm>
            <a:off x="5574665" y="1644015"/>
            <a:ext cx="6026785" cy="460375"/>
          </a:xfrm>
          <a:prstGeom prst="rect">
            <a:avLst/>
          </a:prstGeom>
        </p:spPr>
        <p:txBody>
          <a:bodyPr wrap="square">
            <a:spAutoFit/>
          </a:bodyPr>
          <a:p>
            <a:pPr marL="0" indent="0"/>
            <a:r>
              <a:rPr lang="zh-CN" altLang="en-US" sz="1200" b="0" i="0">
                <a:solidFill>
                  <a:srgbClr val="00A6C7"/>
                </a:solidFill>
                <a:latin typeface="微软雅黑" panose="020B0503020204020204" charset="-122"/>
                <a:ea typeface="微软雅黑" panose="020B0503020204020204" charset="-122"/>
              </a:rPr>
              <a:t>多样化的题型设计有助于全面评估模型的理解和推理能力，为后续的模型训练和优化提供有力的反馈</a:t>
            </a:r>
            <a:endParaRPr lang="zh-CN" altLang="en-US" sz="1200" b="0" i="0">
              <a:solidFill>
                <a:srgbClr val="00A6C7"/>
              </a:solidFill>
              <a:latin typeface="微软雅黑" panose="020B0503020204020204" charset="-122"/>
              <a:ea typeface="微软雅黑" panose="020B0503020204020204" charset="-122"/>
            </a:endParaRPr>
          </a:p>
        </p:txBody>
      </p:sp>
      <p:sp>
        <p:nvSpPr>
          <p:cNvPr id="13" name="文本框 12"/>
          <p:cNvSpPr txBox="1"/>
          <p:nvPr/>
        </p:nvSpPr>
        <p:spPr>
          <a:xfrm>
            <a:off x="10267315" y="2240280"/>
            <a:ext cx="1546860" cy="645160"/>
          </a:xfrm>
          <a:prstGeom prst="rect">
            <a:avLst/>
          </a:prstGeom>
        </p:spPr>
        <p:txBody>
          <a:bodyPr wrap="square">
            <a:spAutoFit/>
          </a:bodyPr>
          <a:p>
            <a:pPr marL="0" indent="0"/>
            <a:r>
              <a:rPr lang="zh-CN" altLang="en-US" sz="1200" b="0" i="0">
                <a:solidFill>
                  <a:srgbClr val="4B5563"/>
                </a:solidFill>
                <a:latin typeface="微软雅黑" panose="020B0503020204020204" charset="-122"/>
                <a:ea typeface="微软雅黑" panose="020B0503020204020204" charset="-122"/>
              </a:rPr>
              <a:t>评估模型对明确事实和知识点的识别能力</a:t>
            </a:r>
            <a:endParaRPr lang="zh-CN" altLang="en-US" sz="1200" b="0" i="0">
              <a:solidFill>
                <a:srgbClr val="4B5563"/>
              </a:solidFill>
              <a:latin typeface="微软雅黑" panose="020B0503020204020204" charset="-122"/>
              <a:ea typeface="微软雅黑" panose="020B0503020204020204" charset="-122"/>
            </a:endParaRPr>
          </a:p>
        </p:txBody>
      </p:sp>
      <p:sp>
        <p:nvSpPr>
          <p:cNvPr id="14" name="文本框 13"/>
          <p:cNvSpPr txBox="1"/>
          <p:nvPr/>
        </p:nvSpPr>
        <p:spPr>
          <a:xfrm>
            <a:off x="10156825" y="3964305"/>
            <a:ext cx="1546860" cy="645160"/>
          </a:xfrm>
          <a:prstGeom prst="rect">
            <a:avLst/>
          </a:prstGeom>
        </p:spPr>
        <p:txBody>
          <a:bodyPr wrap="square">
            <a:spAutoFit/>
          </a:bodyPr>
          <a:p>
            <a:pPr marL="0" indent="0"/>
            <a:r>
              <a:rPr lang="zh-CN" altLang="en-US" sz="1200" b="0" i="0">
                <a:solidFill>
                  <a:srgbClr val="4B5563"/>
                </a:solidFill>
                <a:latin typeface="微软雅黑" panose="020B0503020204020204" charset="-122"/>
                <a:ea typeface="微软雅黑" panose="020B0503020204020204" charset="-122"/>
              </a:rPr>
              <a:t>考查模型对关键概念和信息的理解能力</a:t>
            </a:r>
            <a:endParaRPr lang="zh-CN" altLang="en-US" sz="1200" b="0" i="0">
              <a:solidFill>
                <a:srgbClr val="4B5563"/>
              </a:solidFill>
              <a:latin typeface="微软雅黑" panose="020B0503020204020204" charset="-122"/>
              <a:ea typeface="微软雅黑" panose="020B0503020204020204" charset="-122"/>
            </a:endParaRPr>
          </a:p>
        </p:txBody>
      </p:sp>
      <p:sp>
        <p:nvSpPr>
          <p:cNvPr id="20" name="文本框 19"/>
          <p:cNvSpPr txBox="1"/>
          <p:nvPr/>
        </p:nvSpPr>
        <p:spPr>
          <a:xfrm>
            <a:off x="5511165" y="2948940"/>
            <a:ext cx="1546860" cy="829945"/>
          </a:xfrm>
          <a:prstGeom prst="rect">
            <a:avLst/>
          </a:prstGeom>
        </p:spPr>
        <p:txBody>
          <a:bodyPr wrap="square">
            <a:spAutoFit/>
          </a:bodyPr>
          <a:p>
            <a:pPr marL="0" indent="0"/>
            <a:r>
              <a:rPr lang="zh-CN" altLang="en-US" sz="1200" b="0" i="0">
                <a:solidFill>
                  <a:srgbClr val="4B5563"/>
                </a:solidFill>
                <a:latin typeface="微软雅黑" panose="020B0503020204020204" charset="-122"/>
                <a:ea typeface="微软雅黑" panose="020B0503020204020204" charset="-122"/>
              </a:rPr>
              <a:t>评估模型的深度理解和推理能力，以及综合分析和表达能力</a:t>
            </a:r>
            <a:endParaRPr lang="zh-CN" altLang="en-US" sz="1200" b="0" i="0">
              <a:solidFill>
                <a:srgbClr val="4B5563"/>
              </a:solidFill>
              <a:latin typeface="微软雅黑" panose="020B0503020204020204" charset="-122"/>
              <a:ea typeface="微软雅黑" panose="020B0503020204020204" charset="-122"/>
            </a:endParaRPr>
          </a:p>
        </p:txBody>
      </p:sp>
      <p:grpSp>
        <p:nvGrpSpPr>
          <p:cNvPr id="25" name="组合 24"/>
          <p:cNvGrpSpPr/>
          <p:nvPr/>
        </p:nvGrpSpPr>
        <p:grpSpPr>
          <a:xfrm>
            <a:off x="394970" y="643890"/>
            <a:ext cx="11376660" cy="216000"/>
            <a:chOff x="622" y="1014"/>
            <a:chExt cx="17916" cy="394"/>
          </a:xfrm>
        </p:grpSpPr>
        <p:sp>
          <p:nvSpPr>
            <p:cNvPr id="24" name="Title"/>
            <p:cNvSpPr>
              <a:spLocks noChangeAspect="1"/>
            </p:cNvSpPr>
            <p:nvPr>
              <p:custDataLst>
                <p:tags r:id="rId19"/>
              </p:custDataLst>
            </p:nvPr>
          </p:nvSpPr>
          <p:spPr>
            <a:xfrm>
              <a:off x="622" y="1014"/>
              <a:ext cx="3608" cy="394"/>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7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1.</a:t>
              </a:r>
              <a:r>
                <a:rPr kumimoji="1" lang="en-US" altLang="zh-CN" sz="1200" b="1" dirty="0">
                  <a:solidFill>
                    <a:schemeClr val="bg1">
                      <a:lumMod val="50000"/>
                    </a:schemeClr>
                  </a:solidFill>
                  <a:latin typeface="+mn-ea"/>
                  <a:sym typeface="Arial" panose="020B0604020202020204" pitchFamily="34" charset="0"/>
                </a:rPr>
                <a:t>规划</a:t>
              </a:r>
              <a:r>
                <a:rPr kumimoji="1" lang="en-US" altLang="zh-CN" sz="1200" b="1" dirty="0">
                  <a:solidFill>
                    <a:schemeClr val="bg1">
                      <a:lumMod val="50000"/>
                    </a:schemeClr>
                  </a:solidFill>
                  <a:latin typeface="+mn-ea"/>
                  <a:sym typeface="Arial" panose="020B0604020202020204" pitchFamily="34" charset="0"/>
                </a:rPr>
                <a:t>AI+</a:t>
              </a:r>
              <a:r>
                <a:rPr kumimoji="1" lang="en-US" altLang="zh-CN" sz="1200" b="1" dirty="0">
                  <a:solidFill>
                    <a:schemeClr val="bg1">
                      <a:lumMod val="50000"/>
                    </a:schemeClr>
                  </a:solidFill>
                  <a:latin typeface="+mn-ea"/>
                  <a:sym typeface="Arial" panose="020B0604020202020204" pitchFamily="34" charset="0"/>
                </a:rPr>
                <a:t>场景</a:t>
              </a:r>
              <a:endParaRPr kumimoji="1" lang="en-US" altLang="zh-CN" sz="1200" b="1" dirty="0">
                <a:solidFill>
                  <a:schemeClr val="bg1">
                    <a:lumMod val="50000"/>
                  </a:schemeClr>
                </a:solidFill>
                <a:latin typeface="+mn-ea"/>
                <a:sym typeface="Arial" panose="020B0604020202020204" pitchFamily="34" charset="0"/>
              </a:endParaRPr>
            </a:p>
          </p:txBody>
        </p:sp>
        <p:sp>
          <p:nvSpPr>
            <p:cNvPr id="58" name="Title"/>
            <p:cNvSpPr>
              <a:spLocks noChangeAspect="1"/>
            </p:cNvSpPr>
            <p:nvPr>
              <p:custDataLst>
                <p:tags r:id="rId20"/>
              </p:custDataLst>
            </p:nvPr>
          </p:nvSpPr>
          <p:spPr>
            <a:xfrm>
              <a:off x="4199" y="1014"/>
              <a:ext cx="3608" cy="394"/>
            </a:xfrm>
            <a:prstGeom prst="roundRect">
              <a:avLst>
                <a:gd name="adj" fmla="val 0"/>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rmAutofit fontScale="7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rgbClr val="FFFFFF"/>
                  </a:solidFill>
                  <a:latin typeface="+mn-ea"/>
                  <a:sym typeface="Arial" panose="020B0604020202020204" pitchFamily="34" charset="0"/>
                </a:rPr>
                <a:t>2.数据准备</a:t>
              </a:r>
              <a:endParaRPr kumimoji="1" lang="en-US" altLang="zh-CN" sz="1200" b="1" dirty="0">
                <a:solidFill>
                  <a:srgbClr val="FFFFFF"/>
                </a:solidFill>
                <a:latin typeface="+mn-ea"/>
                <a:sym typeface="Arial" panose="020B0604020202020204" pitchFamily="34" charset="0"/>
              </a:endParaRPr>
            </a:p>
          </p:txBody>
        </p:sp>
        <p:sp>
          <p:nvSpPr>
            <p:cNvPr id="61" name="Title"/>
            <p:cNvSpPr>
              <a:spLocks noChangeAspect="1"/>
            </p:cNvSpPr>
            <p:nvPr>
              <p:custDataLst>
                <p:tags r:id="rId21"/>
              </p:custDataLst>
            </p:nvPr>
          </p:nvSpPr>
          <p:spPr>
            <a:xfrm>
              <a:off x="7776" y="1014"/>
              <a:ext cx="3608" cy="394"/>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7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200" b="1" dirty="0">
                  <a:solidFill>
                    <a:schemeClr val="bg1">
                      <a:lumMod val="50000"/>
                    </a:schemeClr>
                  </a:solidFill>
                  <a:latin typeface="+mn-ea"/>
                  <a:sym typeface="Arial" panose="020B0604020202020204" pitchFamily="34" charset="0"/>
                </a:rPr>
                <a:t>3.</a:t>
              </a:r>
              <a:r>
                <a:rPr kumimoji="1" lang="zh-CN" altLang="en-US" sz="1200" b="1" dirty="0">
                  <a:solidFill>
                    <a:schemeClr val="bg1">
                      <a:lumMod val="50000"/>
                    </a:schemeClr>
                  </a:solidFill>
                  <a:latin typeface="+mn-ea"/>
                  <a:sym typeface="Arial" panose="020B0604020202020204" pitchFamily="34" charset="0"/>
                </a:rPr>
                <a:t>模型选型</a:t>
              </a:r>
              <a:endParaRPr kumimoji="1" lang="zh-CN" altLang="en-US" sz="1200" b="1" dirty="0">
                <a:solidFill>
                  <a:schemeClr val="bg1">
                    <a:lumMod val="50000"/>
                  </a:schemeClr>
                </a:solidFill>
                <a:latin typeface="+mn-ea"/>
                <a:sym typeface="Arial" panose="020B0604020202020204" pitchFamily="34" charset="0"/>
              </a:endParaRPr>
            </a:p>
          </p:txBody>
        </p:sp>
        <p:sp>
          <p:nvSpPr>
            <p:cNvPr id="65" name="Title"/>
            <p:cNvSpPr>
              <a:spLocks noChangeAspect="1"/>
            </p:cNvSpPr>
            <p:nvPr>
              <p:custDataLst>
                <p:tags r:id="rId22"/>
              </p:custDataLst>
            </p:nvPr>
          </p:nvSpPr>
          <p:spPr>
            <a:xfrm>
              <a:off x="11353" y="1014"/>
              <a:ext cx="3608" cy="394"/>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7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335" b="1" dirty="0">
                  <a:solidFill>
                    <a:schemeClr val="bg1">
                      <a:lumMod val="50000"/>
                    </a:schemeClr>
                  </a:solidFill>
                  <a:latin typeface="+mn-ea"/>
                  <a:sym typeface="Arial" panose="020B0604020202020204" pitchFamily="34" charset="0"/>
                </a:rPr>
                <a:t>4.</a:t>
              </a:r>
              <a:r>
                <a:rPr kumimoji="1" lang="zh-CN" altLang="en-US" sz="1335" b="1" dirty="0">
                  <a:solidFill>
                    <a:schemeClr val="bg1">
                      <a:lumMod val="50000"/>
                    </a:schemeClr>
                  </a:solidFill>
                  <a:latin typeface="+mn-ea"/>
                  <a:sym typeface="Arial" panose="020B0604020202020204" pitchFamily="34" charset="0"/>
                </a:rPr>
                <a:t>模型训练与微调</a:t>
              </a:r>
              <a:r>
                <a:rPr kumimoji="1" lang="en-US" altLang="zh-CN" sz="1335" b="1" dirty="0">
                  <a:solidFill>
                    <a:schemeClr val="bg1">
                      <a:lumMod val="50000"/>
                    </a:schemeClr>
                  </a:solidFill>
                  <a:latin typeface="+mn-ea"/>
                  <a:sym typeface="Arial" panose="020B0604020202020204" pitchFamily="34" charset="0"/>
                </a:rPr>
                <a:t>(</a:t>
              </a:r>
              <a:r>
                <a:rPr kumimoji="1" lang="zh-CN" altLang="en-US" sz="1335" b="1" dirty="0">
                  <a:solidFill>
                    <a:schemeClr val="bg1">
                      <a:lumMod val="50000"/>
                    </a:schemeClr>
                  </a:solidFill>
                  <a:latin typeface="+mn-ea"/>
                  <a:sym typeface="Arial" panose="020B0604020202020204" pitchFamily="34" charset="0"/>
                </a:rPr>
                <a:t>可选</a:t>
              </a:r>
              <a:r>
                <a:rPr kumimoji="1" lang="en-US" altLang="zh-CN" sz="1335" b="1" dirty="0">
                  <a:solidFill>
                    <a:schemeClr val="bg1">
                      <a:lumMod val="50000"/>
                    </a:schemeClr>
                  </a:solidFill>
                  <a:latin typeface="+mn-ea"/>
                  <a:sym typeface="Arial" panose="020B0604020202020204" pitchFamily="34" charset="0"/>
                </a:rPr>
                <a:t>)</a:t>
              </a:r>
              <a:endParaRPr kumimoji="1" lang="en-US" altLang="zh-CN" sz="1335" b="1" dirty="0">
                <a:solidFill>
                  <a:schemeClr val="bg1">
                    <a:lumMod val="50000"/>
                  </a:schemeClr>
                </a:solidFill>
                <a:latin typeface="+mn-ea"/>
                <a:sym typeface="Arial" panose="020B0604020202020204" pitchFamily="34" charset="0"/>
              </a:endParaRPr>
            </a:p>
          </p:txBody>
        </p:sp>
        <p:sp>
          <p:nvSpPr>
            <p:cNvPr id="68" name="Title"/>
            <p:cNvSpPr>
              <a:spLocks noChangeAspect="1"/>
            </p:cNvSpPr>
            <p:nvPr>
              <p:custDataLst>
                <p:tags r:id="rId23"/>
              </p:custDataLst>
            </p:nvPr>
          </p:nvSpPr>
          <p:spPr>
            <a:xfrm>
              <a:off x="14930" y="1014"/>
              <a:ext cx="3608" cy="394"/>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7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200" b="1" dirty="0">
                  <a:solidFill>
                    <a:schemeClr val="bg1">
                      <a:lumMod val="50000"/>
                    </a:schemeClr>
                  </a:solidFill>
                  <a:latin typeface="+mn-ea"/>
                  <a:sym typeface="Arial" panose="020B0604020202020204" pitchFamily="34" charset="0"/>
                </a:rPr>
                <a:t>5.</a:t>
              </a:r>
              <a:r>
                <a:rPr kumimoji="1" lang="zh-CN" altLang="en-US" sz="1200" b="1" dirty="0">
                  <a:solidFill>
                    <a:schemeClr val="bg1">
                      <a:lumMod val="50000"/>
                    </a:schemeClr>
                  </a:solidFill>
                  <a:latin typeface="+mn-ea"/>
                  <a:sym typeface="Arial" panose="020B0604020202020204" pitchFamily="34" charset="0"/>
                </a:rPr>
                <a:t>智能体开发与迭代</a:t>
              </a:r>
              <a:endParaRPr kumimoji="1" lang="zh-CN" altLang="en-US" sz="1200" b="1" dirty="0">
                <a:solidFill>
                  <a:schemeClr val="bg1">
                    <a:lumMod val="50000"/>
                  </a:schemeClr>
                </a:solidFill>
                <a:latin typeface="+mn-ea"/>
                <a:sym typeface="Arial" panose="020B0604020202020204" pitchFamily="34" charset="0"/>
              </a:endParaRPr>
            </a:p>
          </p:txBody>
        </p:sp>
      </p:grpSp>
      <p:sp>
        <p:nvSpPr>
          <p:cNvPr id="7" name="文本框 6"/>
          <p:cNvSpPr txBox="1"/>
          <p:nvPr/>
        </p:nvSpPr>
        <p:spPr>
          <a:xfrm>
            <a:off x="480695" y="4516120"/>
            <a:ext cx="4365625" cy="521970"/>
          </a:xfrm>
          <a:prstGeom prst="rect">
            <a:avLst/>
          </a:prstGeom>
          <a:noFill/>
        </p:spPr>
        <p:txBody>
          <a:bodyPr wrap="square" rtlCol="0" anchor="t">
            <a:spAutoFit/>
          </a:bodyPr>
          <a:p>
            <a:r>
              <a:rPr lang="zh-CN" sz="1400" b="1" kern="0" spc="1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cs typeface="微软雅黑" panose="020B0503020204020204" charset="-122"/>
                <a:sym typeface="+mn-ea"/>
              </a:rPr>
              <a:t>数据的质量</a:t>
            </a:r>
            <a:r>
              <a:rPr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是提升模型性能的重要环节</a:t>
            </a:r>
            <a:r>
              <a:rPr lang="zh-CN"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（知识进入模型）</a:t>
            </a:r>
            <a:endParaRPr lang="zh-CN" sz="14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2" name="文本框 11"/>
          <p:cNvSpPr txBox="1"/>
          <p:nvPr/>
        </p:nvSpPr>
        <p:spPr>
          <a:xfrm>
            <a:off x="770255" y="3746500"/>
            <a:ext cx="3770630" cy="306705"/>
          </a:xfrm>
          <a:prstGeom prst="rect">
            <a:avLst/>
          </a:prstGeom>
        </p:spPr>
        <p:txBody>
          <a:bodyPr wrap="square">
            <a:spAutoFit/>
          </a:bodyPr>
          <a:p>
            <a:pPr marL="0" algn="l">
              <a:buClrTx/>
              <a:buSzTx/>
              <a:buFontTx/>
            </a:pPr>
            <a:r>
              <a:rPr lang="zh-CN" altLang="en-US" sz="1400" b="1" i="0">
                <a:solidFill>
                  <a:srgbClr val="00A6C7"/>
                </a:solidFill>
                <a:latin typeface="微软雅黑" panose="020B0503020204020204" charset="-122"/>
                <a:ea typeface="微软雅黑" panose="020B0503020204020204" charset="-122"/>
              </a:rPr>
              <a:t>高质量数据</a:t>
            </a:r>
            <a:endParaRPr lang="zh-CN" altLang="en-US" sz="1400" b="1" i="0">
              <a:solidFill>
                <a:srgbClr val="00A6C7"/>
              </a:solidFill>
              <a:latin typeface="微软雅黑" panose="020B0503020204020204" charset="-122"/>
              <a:ea typeface="微软雅黑" panose="020B0503020204020204" charset="-122"/>
            </a:endParaRPr>
          </a:p>
        </p:txBody>
      </p:sp>
      <p:sp>
        <p:nvSpPr>
          <p:cNvPr id="27" name="文本框 26"/>
          <p:cNvSpPr txBox="1"/>
          <p:nvPr/>
        </p:nvSpPr>
        <p:spPr>
          <a:xfrm>
            <a:off x="480695" y="5145405"/>
            <a:ext cx="4365625" cy="306705"/>
          </a:xfrm>
          <a:prstGeom prst="rect">
            <a:avLst/>
          </a:prstGeom>
        </p:spPr>
        <p:txBody>
          <a:bodyPr wrap="square">
            <a:spAutoFit/>
          </a:bodyPr>
          <a:p>
            <a:pPr marL="0" algn="l">
              <a:buClrTx/>
              <a:buSzTx/>
              <a:buFontTx/>
            </a:pPr>
            <a:r>
              <a:rPr lang="zh-CN" altLang="en-US" sz="1400" b="1">
                <a:solidFill>
                  <a:srgbClr val="00A6C7"/>
                </a:solidFill>
                <a:latin typeface="微软雅黑" panose="020B0503020204020204" charset="-122"/>
                <a:ea typeface="微软雅黑" panose="020B0503020204020204" charset="-122"/>
                <a:sym typeface="+mn-ea"/>
              </a:rPr>
              <a:t>高质量数据集的建立离</a:t>
            </a:r>
            <a:r>
              <a:rPr lang="zh-CN" altLang="en-US" sz="1400" b="1">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sym typeface="+mn-ea"/>
              </a:rPr>
              <a:t>不开业务人员的全程参与</a:t>
            </a:r>
            <a:endParaRPr lang="zh-CN" altLang="en-US" sz="1400" b="1"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sym typeface="+mn-ea"/>
            </a:endParaRPr>
          </a:p>
        </p:txBody>
      </p:sp>
      <p:sp>
        <p:nvSpPr>
          <p:cNvPr id="28" name="文本框 27"/>
          <p:cNvSpPr txBox="1"/>
          <p:nvPr/>
        </p:nvSpPr>
        <p:spPr>
          <a:xfrm>
            <a:off x="480695" y="5559425"/>
            <a:ext cx="4365625" cy="737235"/>
          </a:xfrm>
          <a:prstGeom prst="rect">
            <a:avLst/>
          </a:prstGeom>
        </p:spPr>
        <p:txBody>
          <a:bodyPr wrap="square">
            <a:spAutoFit/>
          </a:bodyPr>
          <a:p>
            <a:pPr marL="0" algn="l">
              <a:buClrTx/>
              <a:buSzTx/>
              <a:buFontTx/>
            </a:pPr>
            <a:r>
              <a:rPr lang="zh-CN" sz="1400" b="1" i="0" kern="0" spc="10" dirty="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cs typeface="微软雅黑" panose="020B0503020204020204" charset="-122"/>
              </a:rPr>
              <a:t>涵盖任务可能遇到的各种情况</a:t>
            </a:r>
            <a:r>
              <a:rPr sz="1400" b="1" i="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，避免模型过拟合特定数据模式 。如构建客服问答数据集，应包含常见问题、复杂问题及特殊场景问题 。</a:t>
            </a:r>
            <a:endParaRPr sz="1400" b="1" i="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矩形 344"/>
          <p:cNvSpPr/>
          <p:nvPr/>
        </p:nvSpPr>
        <p:spPr>
          <a:xfrm>
            <a:off x="-62865" y="3169920"/>
            <a:ext cx="12254865" cy="3688080"/>
          </a:xfrm>
          <a:prstGeom prst="rect">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 name="矩形 1"/>
          <p:cNvSpPr/>
          <p:nvPr>
            <p:custDataLst>
              <p:tags r:id="rId1"/>
            </p:custDataLst>
          </p:nvPr>
        </p:nvSpPr>
        <p:spPr>
          <a:xfrm>
            <a:off x="336803" y="144012"/>
            <a:ext cx="8493516" cy="521970"/>
          </a:xfrm>
          <a:prstGeom prst="rect">
            <a:avLst/>
          </a:prstGeom>
        </p:spPr>
        <p:txBody>
          <a:bodyPr wrap="square">
            <a:spAutoFit/>
          </a:bodyPr>
          <a:p>
            <a:r>
              <a:rPr lang="en-US" altLang="zh-CN" sz="2795" b="1" dirty="0">
                <a:solidFill>
                  <a:srgbClr val="00A6C7"/>
                </a:solidFill>
                <a:latin typeface="+mn-ea"/>
                <a:ea typeface="微软雅黑" panose="020B0503020204020204" charset="-122"/>
                <a:cs typeface="微软雅黑" panose="020B0503020204020204" charset="-122"/>
                <a:sym typeface="+mn-ea"/>
              </a:rPr>
              <a:t>AI+</a:t>
            </a:r>
            <a:r>
              <a:rPr lang="zh-CN" altLang="en-US" sz="2795" b="1" dirty="0">
                <a:solidFill>
                  <a:srgbClr val="00A6C7"/>
                </a:solidFill>
                <a:latin typeface="+mn-ea"/>
                <a:ea typeface="微软雅黑" panose="020B0503020204020204" charset="-122"/>
                <a:cs typeface="微软雅黑" panose="020B0503020204020204" charset="-122"/>
                <a:sym typeface="+mn-ea"/>
              </a:rPr>
              <a:t>综合场景建设实施过程</a:t>
            </a:r>
            <a:endParaRPr lang="zh-CN" altLang="en-US" sz="2795" b="1" dirty="0">
              <a:solidFill>
                <a:srgbClr val="00A6C7"/>
              </a:solidFill>
              <a:latin typeface="+mn-ea"/>
              <a:ea typeface="微软雅黑" panose="020B0503020204020204" charset="-122"/>
              <a:cs typeface="微软雅黑" panose="020B0503020204020204" charset="-122"/>
              <a:sym typeface="+mn-ea"/>
            </a:endParaRPr>
          </a:p>
        </p:txBody>
      </p:sp>
      <p:sp>
        <p:nvSpPr>
          <p:cNvPr id="31" name="文本框 30"/>
          <p:cNvSpPr txBox="1"/>
          <p:nvPr/>
        </p:nvSpPr>
        <p:spPr>
          <a:xfrm>
            <a:off x="465455" y="1017905"/>
            <a:ext cx="10099040" cy="306705"/>
          </a:xfrm>
          <a:prstGeom prst="rect">
            <a:avLst/>
          </a:prstGeom>
        </p:spPr>
        <p:txBody>
          <a:bodyPr wrap="square">
            <a:spAutoFit/>
          </a:bodyPr>
          <a:p>
            <a:pPr marL="0" indent="0" defTabSz="914400">
              <a:spcBef>
                <a:spcPct val="0"/>
              </a:spcBef>
              <a:spcAft>
                <a:spcPct val="0"/>
              </a:spcAft>
              <a:tabLst>
                <a:tab pos="1969770" algn="l"/>
              </a:tabLst>
            </a:pPr>
            <a:r>
              <a:rPr lang="zh-CN" altLang="en-US" sz="1400" i="0">
                <a:solidFill>
                  <a:srgbClr val="00A6C7"/>
                </a:solidFill>
                <a:latin typeface="微软雅黑" panose="020B0503020204020204" charset="-122"/>
                <a:ea typeface="微软雅黑" panose="020B0503020204020204" charset="-122"/>
              </a:rPr>
              <a:t>模型选型是根</a:t>
            </a:r>
            <a:r>
              <a:rPr lang="zh-CN" altLang="en-US" sz="1400" b="1"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据业务需求</a:t>
            </a:r>
            <a:r>
              <a:rPr lang="zh-CN" altLang="en-US" sz="1400" i="0">
                <a:solidFill>
                  <a:srgbClr val="00A6C7"/>
                </a:solidFill>
                <a:latin typeface="微软雅黑" panose="020B0503020204020204" charset="-122"/>
                <a:ea typeface="微软雅黑" panose="020B0503020204020204" charset="-122"/>
              </a:rPr>
              <a:t>和</a:t>
            </a:r>
            <a:r>
              <a:rPr lang="zh-CN" altLang="en-US" sz="1400" b="1"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数据情况</a:t>
            </a:r>
            <a:r>
              <a:rPr lang="zh-CN" altLang="en-US" sz="1400" i="0">
                <a:solidFill>
                  <a:srgbClr val="00A6C7"/>
                </a:solidFill>
                <a:latin typeface="微软雅黑" panose="020B0503020204020204" charset="-122"/>
                <a:ea typeface="微软雅黑" panose="020B0503020204020204" charset="-122"/>
              </a:rPr>
              <a:t>，选择最适合的</a:t>
            </a:r>
            <a:r>
              <a:rPr lang="en-US" altLang="zh-CN" sz="1400" i="0">
                <a:solidFill>
                  <a:srgbClr val="00A6C7"/>
                </a:solidFill>
                <a:latin typeface="微软雅黑" panose="020B0503020204020204" charset="-122"/>
                <a:ea typeface="微软雅黑" panose="020B0503020204020204" charset="-122"/>
              </a:rPr>
              <a:t>AI</a:t>
            </a:r>
            <a:r>
              <a:rPr lang="zh-CN" altLang="en-US" sz="1400" i="0">
                <a:solidFill>
                  <a:srgbClr val="00A6C7"/>
                </a:solidFill>
                <a:latin typeface="微软雅黑" panose="020B0503020204020204" charset="-122"/>
                <a:ea typeface="微软雅黑" panose="020B0503020204020204" charset="-122"/>
              </a:rPr>
              <a:t>模型的关键环节。通过科学的选型策略，可以最大化</a:t>
            </a:r>
            <a:r>
              <a:rPr lang="en-US" altLang="zh-CN" sz="1400" i="0">
                <a:solidFill>
                  <a:srgbClr val="00A6C7"/>
                </a:solidFill>
                <a:latin typeface="微软雅黑" panose="020B0503020204020204" charset="-122"/>
                <a:ea typeface="微软雅黑" panose="020B0503020204020204" charset="-122"/>
              </a:rPr>
              <a:t>AI</a:t>
            </a:r>
            <a:r>
              <a:rPr lang="zh-CN" altLang="en-US" sz="1400" i="0">
                <a:solidFill>
                  <a:srgbClr val="00A6C7"/>
                </a:solidFill>
                <a:latin typeface="微软雅黑" panose="020B0503020204020204" charset="-122"/>
                <a:ea typeface="微软雅黑" panose="020B0503020204020204" charset="-122"/>
              </a:rPr>
              <a:t>应用的效能。</a:t>
            </a:r>
            <a:endParaRPr lang="zh-CN" altLang="en-US" sz="1400" i="0">
              <a:solidFill>
                <a:srgbClr val="00A6C7"/>
              </a:solidFill>
              <a:latin typeface="微软雅黑" panose="020B0503020204020204" charset="-122"/>
              <a:ea typeface="微软雅黑" panose="020B0503020204020204" charset="-122"/>
            </a:endParaRPr>
          </a:p>
        </p:txBody>
      </p:sp>
      <p:grpSp>
        <p:nvGrpSpPr>
          <p:cNvPr id="3" name="组合 2"/>
          <p:cNvGrpSpPr/>
          <p:nvPr/>
        </p:nvGrpSpPr>
        <p:grpSpPr>
          <a:xfrm>
            <a:off x="520700" y="1504950"/>
            <a:ext cx="11034395" cy="1303655"/>
            <a:chOff x="820" y="2370"/>
            <a:chExt cx="11119" cy="2053"/>
          </a:xfrm>
        </p:grpSpPr>
        <p:sp useBgFill="1">
          <p:nvSpPr>
            <p:cNvPr id="34" name="矩形 33"/>
            <p:cNvSpPr/>
            <p:nvPr/>
          </p:nvSpPr>
          <p:spPr>
            <a:xfrm>
              <a:off x="820" y="2840"/>
              <a:ext cx="5424" cy="1583"/>
            </a:xfrm>
            <a:prstGeom prst="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lIns="0" rIns="0" rtlCol="0" anchor="ctr">
              <a:noAutofit/>
            </a:bodyPr>
            <a:p>
              <a:pPr lvl="0" algn="ctr">
                <a:buClrTx/>
                <a:buSzTx/>
                <a:buFontTx/>
              </a:pPr>
              <a:endParaRPr lang="zh-CN" altLang="en-US" sz="1400">
                <a:sym typeface="+mn-ea"/>
              </a:endParaRPr>
            </a:p>
          </p:txBody>
        </p:sp>
        <p:sp useBgFill="1">
          <p:nvSpPr>
            <p:cNvPr id="62" name="矩形 61"/>
            <p:cNvSpPr/>
            <p:nvPr/>
          </p:nvSpPr>
          <p:spPr>
            <a:xfrm>
              <a:off x="6515" y="2840"/>
              <a:ext cx="5424" cy="1583"/>
            </a:xfrm>
            <a:prstGeom prst="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lIns="0" rIns="0" rtlCol="0" anchor="ctr">
              <a:noAutofit/>
            </a:bodyPr>
            <a:p>
              <a:pPr lvl="0" algn="ctr">
                <a:buClrTx/>
                <a:buSzTx/>
                <a:buFontTx/>
              </a:pPr>
              <a:endParaRPr lang="zh-CN" altLang="en-US" sz="1400">
                <a:sym typeface="+mn-ea"/>
              </a:endParaRPr>
            </a:p>
          </p:txBody>
        </p:sp>
        <p:sp>
          <p:nvSpPr>
            <p:cNvPr id="32" name="矩形 31"/>
            <p:cNvSpPr/>
            <p:nvPr/>
          </p:nvSpPr>
          <p:spPr>
            <a:xfrm>
              <a:off x="820" y="2370"/>
              <a:ext cx="5424" cy="483"/>
            </a:xfrm>
            <a:prstGeom prst="rect">
              <a:avLst/>
            </a:prstGeom>
            <a:solidFill>
              <a:srgbClr val="00A6C7"/>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400" b="1" dirty="0">
                  <a:solidFill>
                    <a:srgbClr val="FFFFFF"/>
                  </a:solidFill>
                  <a:latin typeface="+mn-ea"/>
                  <a:sym typeface="+mn-ea"/>
                </a:rPr>
                <a:t>1.</a:t>
              </a:r>
              <a:r>
                <a:rPr kumimoji="1" lang="zh-CN" altLang="en-US" sz="1400" b="1" dirty="0">
                  <a:solidFill>
                    <a:srgbClr val="FFFFFF"/>
                  </a:solidFill>
                  <a:latin typeface="+mn-ea"/>
                  <a:sym typeface="+mn-ea"/>
                </a:rPr>
                <a:t>选择模型</a:t>
              </a:r>
              <a:endParaRPr kumimoji="1" lang="zh-CN" altLang="en-US" sz="1400" b="1" dirty="0">
                <a:solidFill>
                  <a:srgbClr val="FFFFFF"/>
                </a:solidFill>
                <a:latin typeface="+mn-ea"/>
                <a:sym typeface="+mn-ea"/>
              </a:endParaRPr>
            </a:p>
          </p:txBody>
        </p:sp>
        <p:sp>
          <p:nvSpPr>
            <p:cNvPr id="33" name="文本框 32"/>
            <p:cNvSpPr txBox="1"/>
            <p:nvPr/>
          </p:nvSpPr>
          <p:spPr>
            <a:xfrm>
              <a:off x="820" y="2871"/>
              <a:ext cx="5424" cy="1452"/>
            </a:xfrm>
            <a:prstGeom prst="rect">
              <a:avLst/>
            </a:prstGeom>
          </p:spPr>
          <p:txBody>
            <a:bodyPr wrap="square">
              <a:spAutoFit/>
            </a:bodyPr>
            <a:p>
              <a:pPr marL="171450" indent="-171450">
                <a:lnSpc>
                  <a:spcPct val="150000"/>
                </a:lnSpc>
                <a:spcBef>
                  <a:spcPct val="0"/>
                </a:spcBef>
                <a:spcAft>
                  <a:spcPct val="0"/>
                </a:spcAft>
                <a:buFont typeface="Arial" panose="020B0604020202020204" pitchFamily="34" charset="0"/>
                <a:buChar char="•"/>
              </a:pPr>
              <a:r>
                <a:rPr lang="zh-CN" altLang="en-US" sz="1200" b="0" i="0">
                  <a:solidFill>
                    <a:srgbClr val="00A6C7"/>
                  </a:solidFill>
                  <a:latin typeface="微软雅黑" panose="020B0503020204020204" charset="-122"/>
                  <a:ea typeface="微软雅黑" panose="020B0503020204020204" charset="-122"/>
                  <a:cs typeface="微软雅黑" panose="020B0503020204020204" charset="-122"/>
                </a:rPr>
                <a:t>从</a:t>
              </a:r>
              <a:r>
                <a:rPr lang="en-US" altLang="zh-CN" sz="1200" b="0" i="0">
                  <a:solidFill>
                    <a:srgbClr val="00A6C7"/>
                  </a:solidFill>
                  <a:latin typeface="微软雅黑" panose="020B0503020204020204" charset="-122"/>
                  <a:ea typeface="微软雅黑" panose="020B0503020204020204" charset="-122"/>
                  <a:cs typeface="微软雅黑" panose="020B0503020204020204" charset="-122"/>
                </a:rPr>
                <a:t>AI</a:t>
              </a:r>
              <a:r>
                <a:rPr lang="zh-CN" altLang="en-US" sz="1200" b="0" i="0">
                  <a:solidFill>
                    <a:srgbClr val="00A6C7"/>
                  </a:solidFill>
                  <a:latin typeface="微软雅黑" panose="020B0503020204020204" charset="-122"/>
                  <a:ea typeface="微软雅黑" panose="020B0503020204020204" charset="-122"/>
                  <a:cs typeface="微软雅黑" panose="020B0503020204020204" charset="-122"/>
                </a:rPr>
                <a:t>底座已有的大模型中进行选择</a:t>
              </a:r>
              <a:endParaRPr lang="zh-CN" altLang="en-US" sz="1200" b="0" i="0">
                <a:solidFill>
                  <a:srgbClr val="00A6C7"/>
                </a:solidFill>
                <a:latin typeface="微软雅黑" panose="020B0503020204020204" charset="-122"/>
                <a:ea typeface="微软雅黑" panose="020B0503020204020204" charset="-122"/>
                <a:cs typeface="微软雅黑" panose="020B0503020204020204" charset="-122"/>
              </a:endParaRPr>
            </a:p>
            <a:p>
              <a:pPr marL="171450" indent="-171450">
                <a:lnSpc>
                  <a:spcPct val="150000"/>
                </a:lnSpc>
                <a:spcBef>
                  <a:spcPct val="0"/>
                </a:spcBef>
                <a:spcAft>
                  <a:spcPct val="0"/>
                </a:spcAft>
                <a:buFont typeface="Arial" panose="020B0604020202020204" pitchFamily="34" charset="0"/>
                <a:buChar char="•"/>
              </a:pPr>
              <a:r>
                <a:rPr lang="zh-CN" altLang="en-US" sz="1200" b="0" i="0">
                  <a:solidFill>
                    <a:srgbClr val="00A6C7"/>
                  </a:solidFill>
                  <a:latin typeface="微软雅黑" panose="020B0503020204020204" charset="-122"/>
                  <a:ea typeface="微软雅黑" panose="020B0503020204020204" charset="-122"/>
                  <a:cs typeface="微软雅黑" panose="020B0503020204020204" charset="-122"/>
                </a:rPr>
                <a:t>可选范围包括国内开源通用大模型</a:t>
              </a:r>
              <a:endParaRPr lang="zh-CN" altLang="en-US" sz="1200" b="0" i="0">
                <a:solidFill>
                  <a:srgbClr val="00A6C7"/>
                </a:solidFill>
                <a:latin typeface="微软雅黑" panose="020B0503020204020204" charset="-122"/>
                <a:ea typeface="微软雅黑" panose="020B0503020204020204" charset="-122"/>
                <a:cs typeface="微软雅黑" panose="020B0503020204020204" charset="-122"/>
              </a:endParaRPr>
            </a:p>
            <a:p>
              <a:pPr marL="171450" indent="-171450">
                <a:lnSpc>
                  <a:spcPct val="150000"/>
                </a:lnSpc>
                <a:spcBef>
                  <a:spcPct val="0"/>
                </a:spcBef>
                <a:spcAft>
                  <a:spcPct val="0"/>
                </a:spcAft>
                <a:buFont typeface="Arial" panose="020B0604020202020204" pitchFamily="34" charset="0"/>
                <a:buChar char="•"/>
              </a:pPr>
              <a:r>
                <a:rPr lang="zh-CN" altLang="en-US" sz="1200" b="0" i="0">
                  <a:solidFill>
                    <a:srgbClr val="00A6C7"/>
                  </a:solidFill>
                  <a:latin typeface="微软雅黑" panose="020B0503020204020204" charset="-122"/>
                  <a:ea typeface="微软雅黑" panose="020B0503020204020204" charset="-122"/>
                  <a:cs typeface="微软雅黑" panose="020B0503020204020204" charset="-122"/>
                </a:rPr>
                <a:t>选择具有较强泛化能力的预训练模型</a:t>
              </a:r>
              <a:endParaRPr lang="zh-CN" altLang="en-US" sz="1200" b="0" i="0">
                <a:solidFill>
                  <a:srgbClr val="00A6C7"/>
                </a:solidFill>
                <a:latin typeface="微软雅黑" panose="020B0503020204020204" charset="-122"/>
                <a:ea typeface="微软雅黑" panose="020B0503020204020204" charset="-122"/>
                <a:cs typeface="微软雅黑" panose="020B0503020204020204" charset="-122"/>
              </a:endParaRPr>
            </a:p>
          </p:txBody>
        </p:sp>
        <p:sp>
          <p:nvSpPr>
            <p:cNvPr id="60" name="矩形 59"/>
            <p:cNvSpPr/>
            <p:nvPr/>
          </p:nvSpPr>
          <p:spPr>
            <a:xfrm>
              <a:off x="6515" y="2370"/>
              <a:ext cx="5424" cy="483"/>
            </a:xfrm>
            <a:prstGeom prst="rect">
              <a:avLst/>
            </a:prstGeom>
            <a:solidFill>
              <a:srgbClr val="00A6C7"/>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400" b="1" dirty="0">
                  <a:solidFill>
                    <a:srgbClr val="FFFFFF"/>
                  </a:solidFill>
                  <a:latin typeface="+mn-ea"/>
                  <a:sym typeface="+mn-ea"/>
                </a:rPr>
                <a:t>2.</a:t>
              </a:r>
              <a:r>
                <a:rPr kumimoji="1" lang="zh-CN" altLang="en-US" sz="1400" b="1" dirty="0">
                  <a:solidFill>
                    <a:srgbClr val="FFFFFF"/>
                  </a:solidFill>
                  <a:latin typeface="+mn-ea"/>
                  <a:sym typeface="+mn-ea"/>
                </a:rPr>
                <a:t>评测模型</a:t>
              </a:r>
              <a:endParaRPr kumimoji="1" lang="zh-CN" altLang="en-US" sz="1400" b="1" dirty="0">
                <a:solidFill>
                  <a:srgbClr val="FFFFFF"/>
                </a:solidFill>
                <a:latin typeface="+mn-ea"/>
                <a:sym typeface="+mn-ea"/>
              </a:endParaRPr>
            </a:p>
          </p:txBody>
        </p:sp>
        <p:sp>
          <p:nvSpPr>
            <p:cNvPr id="61" name="文本框 60"/>
            <p:cNvSpPr txBox="1"/>
            <p:nvPr/>
          </p:nvSpPr>
          <p:spPr>
            <a:xfrm>
              <a:off x="6515" y="2871"/>
              <a:ext cx="5269" cy="1537"/>
            </a:xfrm>
            <a:prstGeom prst="rect">
              <a:avLst/>
            </a:prstGeom>
          </p:spPr>
          <p:txBody>
            <a:bodyPr wrap="square">
              <a:spAutoFit/>
            </a:bodyPr>
            <a:p>
              <a:pPr marL="171450" indent="-171450">
                <a:lnSpc>
                  <a:spcPct val="120000"/>
                </a:lnSpc>
                <a:spcBef>
                  <a:spcPct val="0"/>
                </a:spcBef>
                <a:spcAft>
                  <a:spcPct val="0"/>
                </a:spcAft>
                <a:buFont typeface="Arial" panose="020B0604020202020204" pitchFamily="34" charset="0"/>
                <a:buChar char="•"/>
              </a:pPr>
              <a:r>
                <a:rPr lang="zh-CN" altLang="en-US" sz="1200" b="0" i="0">
                  <a:solidFill>
                    <a:srgbClr val="00A6C7"/>
                  </a:solidFill>
                  <a:latin typeface="微软雅黑" panose="020B0503020204020204" charset="-122"/>
                  <a:ea typeface="微软雅黑" panose="020B0503020204020204" charset="-122"/>
                  <a:cs typeface="微软雅黑" panose="020B0503020204020204" charset="-122"/>
                </a:rPr>
                <a:t>对已选择的模型进行评测</a:t>
              </a:r>
              <a:endParaRPr lang="zh-CN" altLang="en-US" sz="1200" b="0" i="0">
                <a:solidFill>
                  <a:srgbClr val="00A6C7"/>
                </a:solidFill>
                <a:latin typeface="微软雅黑" panose="020B0503020204020204" charset="-122"/>
                <a:ea typeface="微软雅黑" panose="020B0503020204020204" charset="-122"/>
                <a:cs typeface="微软雅黑" panose="020B0503020204020204" charset="-122"/>
              </a:endParaRPr>
            </a:p>
            <a:p>
              <a:pPr marL="171450" indent="-171450">
                <a:lnSpc>
                  <a:spcPct val="120000"/>
                </a:lnSpc>
                <a:spcBef>
                  <a:spcPct val="0"/>
                </a:spcBef>
                <a:spcAft>
                  <a:spcPct val="0"/>
                </a:spcAft>
                <a:buFont typeface="Arial" panose="020B0604020202020204" pitchFamily="34" charset="0"/>
                <a:buChar char="•"/>
              </a:pPr>
              <a:r>
                <a:rPr lang="zh-CN" altLang="en-US" sz="1200" b="0" i="0">
                  <a:solidFill>
                    <a:srgbClr val="00A6C7"/>
                  </a:solidFill>
                  <a:latin typeface="微软雅黑" panose="020B0503020204020204" charset="-122"/>
                  <a:ea typeface="微软雅黑" panose="020B0503020204020204" charset="-122"/>
                  <a:cs typeface="微软雅黑" panose="020B0503020204020204" charset="-122"/>
                </a:rPr>
                <a:t>判断是否满足业务需求</a:t>
              </a:r>
              <a:endParaRPr lang="zh-CN" altLang="en-US" sz="1200" b="0" i="0">
                <a:solidFill>
                  <a:srgbClr val="00A6C7"/>
                </a:solidFill>
                <a:latin typeface="微软雅黑" panose="020B0503020204020204" charset="-122"/>
                <a:ea typeface="微软雅黑" panose="020B0503020204020204" charset="-122"/>
                <a:cs typeface="微软雅黑" panose="020B0503020204020204" charset="-122"/>
              </a:endParaRPr>
            </a:p>
            <a:p>
              <a:pPr marL="171450" indent="-171450">
                <a:lnSpc>
                  <a:spcPct val="120000"/>
                </a:lnSpc>
                <a:spcBef>
                  <a:spcPct val="0"/>
                </a:spcBef>
                <a:spcAft>
                  <a:spcPct val="0"/>
                </a:spcAft>
                <a:buFont typeface="Arial" panose="020B0604020202020204" pitchFamily="34" charset="0"/>
                <a:buChar char="•"/>
              </a:pPr>
              <a:r>
                <a:rPr lang="zh-CN" altLang="en-US" sz="1200" b="0" i="0">
                  <a:solidFill>
                    <a:srgbClr val="00A6C7"/>
                  </a:solidFill>
                  <a:latin typeface="微软雅黑" panose="020B0503020204020204" charset="-122"/>
                  <a:ea typeface="微软雅黑" panose="020B0503020204020204" charset="-122"/>
                  <a:cs typeface="微软雅黑" panose="020B0503020204020204" charset="-122"/>
                </a:rPr>
                <a:t>根据评测结果，决定是否需要训练新模型</a:t>
              </a:r>
              <a:endParaRPr lang="zh-CN" altLang="en-US" sz="1200" b="0" i="0">
                <a:solidFill>
                  <a:srgbClr val="00A6C7"/>
                </a:solidFill>
                <a:latin typeface="微软雅黑" panose="020B0503020204020204" charset="-122"/>
                <a:ea typeface="微软雅黑" panose="020B0503020204020204" charset="-122"/>
                <a:cs typeface="微软雅黑" panose="020B0503020204020204" charset="-122"/>
              </a:endParaRPr>
            </a:p>
            <a:p>
              <a:pPr marL="171450" indent="-171450">
                <a:lnSpc>
                  <a:spcPct val="120000"/>
                </a:lnSpc>
                <a:spcBef>
                  <a:spcPct val="0"/>
                </a:spcBef>
                <a:spcAft>
                  <a:spcPct val="0"/>
                </a:spcAft>
                <a:buFont typeface="Arial" panose="020B0604020202020204" pitchFamily="34" charset="0"/>
                <a:buChar char="•"/>
              </a:pPr>
              <a:r>
                <a:rPr lang="zh-CN" altLang="en-US" sz="1200" b="0" i="0">
                  <a:solidFill>
                    <a:srgbClr val="00A6C7"/>
                  </a:solidFill>
                  <a:latin typeface="微软雅黑" panose="020B0503020204020204" charset="-122"/>
                  <a:ea typeface="微软雅黑" panose="020B0503020204020204" charset="-122"/>
                  <a:cs typeface="微软雅黑" panose="020B0503020204020204" charset="-122"/>
                </a:rPr>
                <a:t>确定采用何种训练方式</a:t>
              </a:r>
              <a:endParaRPr lang="zh-CN" altLang="en-US" sz="1200" b="0" i="0">
                <a:solidFill>
                  <a:srgbClr val="00A6C7"/>
                </a:solidFill>
                <a:latin typeface="微软雅黑" panose="020B0503020204020204" charset="-122"/>
                <a:ea typeface="微软雅黑" panose="020B0503020204020204" charset="-122"/>
                <a:cs typeface="微软雅黑" panose="020B0503020204020204" charset="-122"/>
              </a:endParaRPr>
            </a:p>
          </p:txBody>
        </p:sp>
        <p:sp>
          <p:nvSpPr>
            <p:cNvPr id="119" name="圆角矩形 118"/>
            <p:cNvSpPr/>
            <p:nvPr/>
          </p:nvSpPr>
          <p:spPr>
            <a:xfrm>
              <a:off x="5098" y="2927"/>
              <a:ext cx="1084" cy="609"/>
            </a:xfrm>
            <a:prstGeom prst="roundRect">
              <a:avLst>
                <a:gd name="adj" fmla="val 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lIns="0" tIns="45720" rIns="0" bIns="45720" rtlCol="0" anchor="ctr"/>
            <a:p>
              <a:pPr algn="ctr"/>
              <a:r>
                <a:rPr lang="zh-CN" sz="1000">
                  <a:solidFill>
                    <a:schemeClr val="tx1"/>
                  </a:solidFill>
                </a:rPr>
                <a:t>通义千问</a:t>
              </a:r>
              <a:endParaRPr lang="zh-CN" sz="1000">
                <a:solidFill>
                  <a:schemeClr val="tx1"/>
                </a:solidFill>
              </a:endParaRPr>
            </a:p>
          </p:txBody>
        </p:sp>
        <p:sp>
          <p:nvSpPr>
            <p:cNvPr id="63" name="圆角矩形 62"/>
            <p:cNvSpPr/>
            <p:nvPr/>
          </p:nvSpPr>
          <p:spPr>
            <a:xfrm>
              <a:off x="5098" y="3642"/>
              <a:ext cx="1084" cy="609"/>
            </a:xfrm>
            <a:prstGeom prst="roundRect">
              <a:avLst>
                <a:gd name="adj" fmla="val 0"/>
              </a:avLst>
            </a:prstGeom>
            <a:solidFill>
              <a:srgbClr val="FFC000">
                <a:alpha val="14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lIns="0" tIns="45720" rIns="0" bIns="45720" rtlCol="0" anchor="ctr"/>
            <a:p>
              <a:pPr algn="ctr"/>
              <a:r>
                <a:rPr lang="en-US" altLang="zh-CN" sz="1000">
                  <a:solidFill>
                    <a:schemeClr val="tx1"/>
                  </a:solidFill>
                </a:rPr>
                <a:t>deepseek</a:t>
              </a:r>
              <a:endParaRPr lang="en-US" altLang="zh-CN" sz="1000">
                <a:solidFill>
                  <a:schemeClr val="tx1"/>
                </a:solidFill>
              </a:endParaRPr>
            </a:p>
          </p:txBody>
        </p:sp>
      </p:grpSp>
      <p:sp>
        <p:nvSpPr>
          <p:cNvPr id="80" name="Title"/>
          <p:cNvSpPr>
            <a:spLocks noChangeAspect="1"/>
          </p:cNvSpPr>
          <p:nvPr>
            <p:custDataLst>
              <p:tags r:id="rId2"/>
            </p:custDataLst>
          </p:nvPr>
        </p:nvSpPr>
        <p:spPr>
          <a:xfrm>
            <a:off x="39497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1.</a:t>
            </a:r>
            <a:r>
              <a:rPr kumimoji="1" lang="en-US" altLang="zh-CN" sz="1200" b="1" dirty="0">
                <a:solidFill>
                  <a:schemeClr val="bg1">
                    <a:lumMod val="50000"/>
                  </a:schemeClr>
                </a:solidFill>
                <a:latin typeface="+mn-ea"/>
                <a:sym typeface="Arial" panose="020B0604020202020204" pitchFamily="34" charset="0"/>
              </a:rPr>
              <a:t>规划</a:t>
            </a:r>
            <a:r>
              <a:rPr kumimoji="1" lang="en-US" altLang="zh-CN" sz="1200" b="1" dirty="0">
                <a:solidFill>
                  <a:schemeClr val="bg1">
                    <a:lumMod val="50000"/>
                  </a:schemeClr>
                </a:solidFill>
                <a:latin typeface="+mn-ea"/>
                <a:sym typeface="Arial" panose="020B0604020202020204" pitchFamily="34" charset="0"/>
              </a:rPr>
              <a:t>AI+</a:t>
            </a:r>
            <a:r>
              <a:rPr kumimoji="1" lang="en-US" altLang="zh-CN" sz="1200" b="1" dirty="0">
                <a:solidFill>
                  <a:schemeClr val="bg1">
                    <a:lumMod val="50000"/>
                  </a:schemeClr>
                </a:solidFill>
                <a:latin typeface="+mn-ea"/>
                <a:sym typeface="Arial" panose="020B0604020202020204" pitchFamily="34" charset="0"/>
              </a:rPr>
              <a:t>场景</a:t>
            </a:r>
            <a:endParaRPr kumimoji="1" lang="en-US" altLang="zh-CN" sz="1200" b="1" dirty="0">
              <a:solidFill>
                <a:schemeClr val="bg1">
                  <a:lumMod val="50000"/>
                </a:schemeClr>
              </a:solidFill>
              <a:latin typeface="+mn-ea"/>
              <a:sym typeface="Arial" panose="020B0604020202020204" pitchFamily="34" charset="0"/>
            </a:endParaRPr>
          </a:p>
        </p:txBody>
      </p:sp>
      <p:sp>
        <p:nvSpPr>
          <p:cNvPr id="81" name="Title"/>
          <p:cNvSpPr>
            <a:spLocks noChangeAspect="1"/>
          </p:cNvSpPr>
          <p:nvPr>
            <p:custDataLst>
              <p:tags r:id="rId3"/>
            </p:custDataLst>
          </p:nvPr>
        </p:nvSpPr>
        <p:spPr>
          <a:xfrm>
            <a:off x="266636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2.数据准备</a:t>
            </a:r>
            <a:endParaRPr kumimoji="1" lang="en-US" altLang="zh-CN" sz="1200" b="1" dirty="0">
              <a:solidFill>
                <a:schemeClr val="bg1">
                  <a:lumMod val="50000"/>
                </a:schemeClr>
              </a:solidFill>
              <a:latin typeface="+mn-ea"/>
              <a:sym typeface="Arial" panose="020B0604020202020204" pitchFamily="34" charset="0"/>
            </a:endParaRPr>
          </a:p>
        </p:txBody>
      </p:sp>
      <p:sp>
        <p:nvSpPr>
          <p:cNvPr id="82" name="Title"/>
          <p:cNvSpPr>
            <a:spLocks noChangeAspect="1"/>
          </p:cNvSpPr>
          <p:nvPr>
            <p:custDataLst>
              <p:tags r:id="rId4"/>
            </p:custDataLst>
          </p:nvPr>
        </p:nvSpPr>
        <p:spPr>
          <a:xfrm>
            <a:off x="4937760" y="643890"/>
            <a:ext cx="2291080" cy="215900"/>
          </a:xfrm>
          <a:prstGeom prst="roundRect">
            <a:avLst>
              <a:gd name="adj" fmla="val 0"/>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rgbClr val="FFFFFF"/>
                </a:solidFill>
                <a:latin typeface="+mn-ea"/>
                <a:sym typeface="Arial" panose="020B0604020202020204" pitchFamily="34" charset="0"/>
              </a:rPr>
              <a:t>3.</a:t>
            </a:r>
            <a:r>
              <a:rPr kumimoji="1" lang="en-US" altLang="zh-CN" sz="1200" b="1" dirty="0">
                <a:solidFill>
                  <a:srgbClr val="FFFFFF"/>
                </a:solidFill>
                <a:latin typeface="+mn-ea"/>
                <a:sym typeface="Arial" panose="020B0604020202020204" pitchFamily="34" charset="0"/>
              </a:rPr>
              <a:t>模型选型</a:t>
            </a:r>
            <a:endParaRPr kumimoji="1" lang="en-US" altLang="zh-CN" sz="1200" b="1" dirty="0">
              <a:solidFill>
                <a:srgbClr val="FFFFFF"/>
              </a:solidFill>
              <a:latin typeface="+mn-ea"/>
              <a:sym typeface="Arial" panose="020B0604020202020204" pitchFamily="34" charset="0"/>
            </a:endParaRPr>
          </a:p>
        </p:txBody>
      </p:sp>
      <p:sp>
        <p:nvSpPr>
          <p:cNvPr id="84" name="Title"/>
          <p:cNvSpPr>
            <a:spLocks noChangeAspect="1"/>
          </p:cNvSpPr>
          <p:nvPr>
            <p:custDataLst>
              <p:tags r:id="rId5"/>
            </p:custDataLst>
          </p:nvPr>
        </p:nvSpPr>
        <p:spPr>
          <a:xfrm>
            <a:off x="720915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5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335" b="1" dirty="0">
                <a:solidFill>
                  <a:schemeClr val="bg1">
                    <a:lumMod val="50000"/>
                  </a:schemeClr>
                </a:solidFill>
                <a:latin typeface="+mn-ea"/>
                <a:sym typeface="Arial" panose="020B0604020202020204" pitchFamily="34" charset="0"/>
              </a:rPr>
              <a:t>4.</a:t>
            </a:r>
            <a:r>
              <a:rPr kumimoji="1" lang="zh-CN" altLang="en-US" sz="1335" b="1" dirty="0">
                <a:solidFill>
                  <a:schemeClr val="bg1">
                    <a:lumMod val="50000"/>
                  </a:schemeClr>
                </a:solidFill>
                <a:latin typeface="+mn-ea"/>
                <a:sym typeface="Arial" panose="020B0604020202020204" pitchFamily="34" charset="0"/>
              </a:rPr>
              <a:t>模型训练与微调</a:t>
            </a:r>
            <a:r>
              <a:rPr kumimoji="1" lang="en-US" altLang="zh-CN" sz="1335" b="1" dirty="0">
                <a:solidFill>
                  <a:schemeClr val="bg1">
                    <a:lumMod val="50000"/>
                  </a:schemeClr>
                </a:solidFill>
                <a:latin typeface="+mn-ea"/>
                <a:sym typeface="Arial" panose="020B0604020202020204" pitchFamily="34" charset="0"/>
              </a:rPr>
              <a:t>(</a:t>
            </a:r>
            <a:r>
              <a:rPr kumimoji="1" lang="zh-CN" altLang="en-US" sz="1335" b="1" dirty="0">
                <a:solidFill>
                  <a:schemeClr val="bg1">
                    <a:lumMod val="50000"/>
                  </a:schemeClr>
                </a:solidFill>
                <a:latin typeface="+mn-ea"/>
                <a:sym typeface="Arial" panose="020B0604020202020204" pitchFamily="34" charset="0"/>
              </a:rPr>
              <a:t>可选</a:t>
            </a:r>
            <a:r>
              <a:rPr kumimoji="1" lang="en-US" altLang="zh-CN" sz="1335" b="1" dirty="0">
                <a:solidFill>
                  <a:schemeClr val="bg1">
                    <a:lumMod val="50000"/>
                  </a:schemeClr>
                </a:solidFill>
                <a:latin typeface="+mn-ea"/>
                <a:sym typeface="Arial" panose="020B0604020202020204" pitchFamily="34" charset="0"/>
              </a:rPr>
              <a:t>)</a:t>
            </a:r>
            <a:endParaRPr kumimoji="1" lang="en-US" altLang="zh-CN" sz="1335" b="1" dirty="0">
              <a:solidFill>
                <a:schemeClr val="bg1">
                  <a:lumMod val="50000"/>
                </a:schemeClr>
              </a:solidFill>
              <a:latin typeface="+mn-ea"/>
              <a:sym typeface="Arial" panose="020B0604020202020204" pitchFamily="34" charset="0"/>
            </a:endParaRPr>
          </a:p>
        </p:txBody>
      </p:sp>
      <p:sp>
        <p:nvSpPr>
          <p:cNvPr id="85" name="Title"/>
          <p:cNvSpPr>
            <a:spLocks noChangeAspect="1"/>
          </p:cNvSpPr>
          <p:nvPr>
            <p:custDataLst>
              <p:tags r:id="rId6"/>
            </p:custDataLst>
          </p:nvPr>
        </p:nvSpPr>
        <p:spPr>
          <a:xfrm>
            <a:off x="948055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200" b="1" dirty="0">
                <a:solidFill>
                  <a:schemeClr val="bg1">
                    <a:lumMod val="50000"/>
                  </a:schemeClr>
                </a:solidFill>
                <a:latin typeface="+mn-ea"/>
                <a:sym typeface="Arial" panose="020B0604020202020204" pitchFamily="34" charset="0"/>
              </a:rPr>
              <a:t>5.</a:t>
            </a:r>
            <a:r>
              <a:rPr kumimoji="1" lang="zh-CN" altLang="en-US" sz="1200" b="1" dirty="0">
                <a:solidFill>
                  <a:schemeClr val="bg1">
                    <a:lumMod val="50000"/>
                  </a:schemeClr>
                </a:solidFill>
                <a:latin typeface="+mn-ea"/>
                <a:sym typeface="Arial" panose="020B0604020202020204" pitchFamily="34" charset="0"/>
              </a:rPr>
              <a:t>智能体开发与迭代</a:t>
            </a:r>
            <a:endParaRPr kumimoji="1" lang="zh-CN" altLang="en-US" sz="1200" b="1" dirty="0">
              <a:solidFill>
                <a:schemeClr val="bg1">
                  <a:lumMod val="50000"/>
                </a:schemeClr>
              </a:solidFill>
              <a:latin typeface="+mn-ea"/>
              <a:sym typeface="Arial" panose="020B0604020202020204" pitchFamily="34" charset="0"/>
            </a:endParaRPr>
          </a:p>
        </p:txBody>
      </p:sp>
      <p:sp>
        <p:nvSpPr>
          <p:cNvPr id="21" name="矩形 20"/>
          <p:cNvSpPr/>
          <p:nvPr/>
        </p:nvSpPr>
        <p:spPr>
          <a:xfrm>
            <a:off x="7960995" y="3263900"/>
            <a:ext cx="3594735" cy="3186430"/>
          </a:xfrm>
          <a:prstGeom prst="rect">
            <a:avLst/>
          </a:prstGeom>
          <a:solidFill>
            <a:srgbClr val="1484C5">
              <a:lumMod val="20000"/>
              <a:lumOff val="80000"/>
              <a:alpha val="15000"/>
            </a:srgbClr>
          </a:solidFill>
          <a:ln w="12700" cap="flat" cmpd="sng" algn="ctr">
            <a:noFill/>
            <a:prstDash val="solid"/>
            <a:miter lim="800000"/>
            <a:tailEnd type="triangle"/>
          </a:ln>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sz="1200"/>
          </a:p>
        </p:txBody>
      </p:sp>
      <p:sp>
        <p:nvSpPr>
          <p:cNvPr id="98" name="文本框 97"/>
          <p:cNvSpPr txBox="1"/>
          <p:nvPr/>
        </p:nvSpPr>
        <p:spPr>
          <a:xfrm>
            <a:off x="8074025" y="3383915"/>
            <a:ext cx="3370580" cy="306705"/>
          </a:xfrm>
          <a:prstGeom prst="rect">
            <a:avLst/>
          </a:prstGeom>
          <a:ln>
            <a:solidFill>
              <a:schemeClr val="accent5"/>
            </a:solidFill>
          </a:ln>
        </p:spPr>
        <p:txBody>
          <a:bodyPr wrap="square" anchor="t" anchorCtr="0">
            <a:spAutoFit/>
          </a:bodyPr>
          <a:p>
            <a:pPr marL="12700" algn="ctr" rtl="0" eaLnBrk="0">
              <a:lnSpc>
                <a:spcPct val="100000"/>
              </a:lnSpc>
            </a:pPr>
            <a:r>
              <a:rPr lang="zh-CN" sz="1400" b="1"/>
              <a:t>按技术特性</a:t>
            </a:r>
            <a:r>
              <a:rPr lang="zh-CN" sz="1400" b="1">
                <a:sym typeface="+mn-ea"/>
              </a:rPr>
              <a:t>分类</a:t>
            </a:r>
            <a:endParaRPr lang="zh-CN" altLang="zh-CN" sz="1400" b="1">
              <a:sym typeface="+mn-ea"/>
            </a:endParaRPr>
          </a:p>
        </p:txBody>
      </p:sp>
      <p:sp>
        <p:nvSpPr>
          <p:cNvPr id="100" name="textbox 854"/>
          <p:cNvSpPr/>
          <p:nvPr>
            <p:custDataLst>
              <p:tags r:id="rId7"/>
            </p:custDataLst>
          </p:nvPr>
        </p:nvSpPr>
        <p:spPr>
          <a:xfrm>
            <a:off x="8705850" y="3833495"/>
            <a:ext cx="2104390" cy="267335"/>
          </a:xfrm>
          <a:prstGeom prst="rect">
            <a:avLst/>
          </a:prstGeom>
          <a:noFill/>
          <a:ln w="0" cap="flat">
            <a:noFill/>
            <a:prstDash val="solid"/>
            <a:miter lim="0"/>
          </a:ln>
        </p:spPr>
        <p:txBody>
          <a:bodyPr vert="horz" wrap="square" lIns="0" tIns="0" rIns="0" bIns="0" anchor="ctr" anchorCtr="0"/>
          <a:p>
            <a:pPr algn="ctr" rtl="0" eaLnBrk="0">
              <a:lnSpc>
                <a:spcPct val="100000"/>
              </a:lnSpc>
              <a:buClrTx/>
              <a:buSzTx/>
              <a:buFontTx/>
            </a:pPr>
            <a:r>
              <a:rPr lang="zh-CN" sz="1200" b="1"/>
              <a:t>生成式</a:t>
            </a:r>
            <a:r>
              <a:rPr sz="1200" b="1"/>
              <a:t>大模型</a:t>
            </a:r>
            <a:endParaRPr lang="en-US" sz="1200" b="1"/>
          </a:p>
        </p:txBody>
      </p:sp>
      <p:sp>
        <p:nvSpPr>
          <p:cNvPr id="101" name="文本框 100"/>
          <p:cNvSpPr txBox="1"/>
          <p:nvPr>
            <p:custDataLst>
              <p:tags r:id="rId8"/>
            </p:custDataLst>
          </p:nvPr>
        </p:nvSpPr>
        <p:spPr>
          <a:xfrm>
            <a:off x="8705850" y="4057015"/>
            <a:ext cx="2104390" cy="275590"/>
          </a:xfrm>
          <a:prstGeom prst="rect">
            <a:avLst/>
          </a:prstGeom>
        </p:spPr>
        <p:txBody>
          <a:bodyPr wrap="square">
            <a:spAutoFit/>
          </a:bodyPr>
          <a:p>
            <a:pPr algn="ctr"/>
            <a:r>
              <a:rPr lang="zh-CN" altLang="en-US" sz="1200"/>
              <a:t>（快速响应）</a:t>
            </a:r>
            <a:endParaRPr lang="zh-CN" altLang="en-US" sz="1200"/>
          </a:p>
        </p:txBody>
      </p:sp>
      <p:sp>
        <p:nvSpPr>
          <p:cNvPr id="103" name="textbox 852"/>
          <p:cNvSpPr/>
          <p:nvPr>
            <p:custDataLst>
              <p:tags r:id="rId9"/>
            </p:custDataLst>
          </p:nvPr>
        </p:nvSpPr>
        <p:spPr>
          <a:xfrm>
            <a:off x="8705850" y="5253990"/>
            <a:ext cx="2104390" cy="245110"/>
          </a:xfrm>
          <a:prstGeom prst="rect">
            <a:avLst/>
          </a:prstGeom>
          <a:noFill/>
          <a:ln w="0" cap="flat">
            <a:noFill/>
            <a:prstDash val="solid"/>
            <a:miter lim="0"/>
          </a:ln>
        </p:spPr>
        <p:txBody>
          <a:bodyPr vert="horz" wrap="square" lIns="0" tIns="0" rIns="0" bIns="0"/>
          <a:p>
            <a:pPr algn="ctr" rtl="0" eaLnBrk="0">
              <a:lnSpc>
                <a:spcPct val="85000"/>
              </a:lnSpc>
            </a:pPr>
            <a:r>
              <a:rPr lang="zh-CN" sz="1200" b="1"/>
              <a:t>推理式</a:t>
            </a:r>
            <a:r>
              <a:rPr sz="1200" b="1"/>
              <a:t>大模型</a:t>
            </a:r>
            <a:endParaRPr lang="en-US" altLang="zh-CN" sz="1200" b="1"/>
          </a:p>
        </p:txBody>
      </p:sp>
      <p:sp>
        <p:nvSpPr>
          <p:cNvPr id="104" name="文本框 103"/>
          <p:cNvSpPr txBox="1"/>
          <p:nvPr>
            <p:custDataLst>
              <p:tags r:id="rId10"/>
            </p:custDataLst>
          </p:nvPr>
        </p:nvSpPr>
        <p:spPr>
          <a:xfrm>
            <a:off x="8705850" y="5417820"/>
            <a:ext cx="2104390" cy="275590"/>
          </a:xfrm>
          <a:prstGeom prst="rect">
            <a:avLst/>
          </a:prstGeom>
        </p:spPr>
        <p:txBody>
          <a:bodyPr wrap="square">
            <a:spAutoFit/>
          </a:bodyPr>
          <a:p>
            <a:pPr algn="ctr"/>
            <a:r>
              <a:rPr lang="zh-CN" altLang="en-US" sz="1200"/>
              <a:t>（推理</a:t>
            </a:r>
            <a:r>
              <a:rPr lang="zh-CN" sz="1200"/>
              <a:t>思考</a:t>
            </a:r>
            <a:r>
              <a:rPr lang="zh-CN" altLang="en-US" sz="1200"/>
              <a:t>）</a:t>
            </a:r>
            <a:endParaRPr lang="zh-CN" altLang="en-US" sz="1200"/>
          </a:p>
        </p:txBody>
      </p:sp>
      <p:sp>
        <p:nvSpPr>
          <p:cNvPr id="105" name="文本框 104"/>
          <p:cNvSpPr txBox="1"/>
          <p:nvPr/>
        </p:nvSpPr>
        <p:spPr>
          <a:xfrm>
            <a:off x="8073390" y="4241165"/>
            <a:ext cx="3370580" cy="460375"/>
          </a:xfrm>
          <a:prstGeom prst="rect">
            <a:avLst/>
          </a:prstGeom>
        </p:spPr>
        <p:txBody>
          <a:bodyPr wrap="square">
            <a:spAutoFit/>
          </a:bodyPr>
          <a:p>
            <a:pPr lvl="0" indent="0" algn="ctr" fontAlgn="t">
              <a:lnSpc>
                <a:spcPct val="100000"/>
              </a:lnSpc>
              <a:buClrTx/>
              <a:buSzTx/>
              <a:buFont typeface="Arial" panose="020B0604020202020204"/>
              <a:buChar char="•"/>
            </a:pPr>
            <a:r>
              <a:rPr lang="zh-CN" altLang="en-US" sz="1200"/>
              <a:t>特点：适合发散性较强且较为创意多样任务</a:t>
            </a:r>
            <a:endParaRPr lang="zh-CN" altLang="en-US" sz="1200"/>
          </a:p>
          <a:p>
            <a:pPr lvl="0" algn="ctr" fontAlgn="t">
              <a:lnSpc>
                <a:spcPct val="100000"/>
              </a:lnSpc>
              <a:buClrTx/>
              <a:buSzTx/>
              <a:buFont typeface="Arial" panose="020B0604020202020204"/>
              <a:buChar char="•"/>
            </a:pPr>
            <a:r>
              <a:rPr lang="zh-CN" altLang="en-US" sz="1200"/>
              <a:t>适用场景：创意写作、文本生成、意图识别</a:t>
            </a:r>
            <a:endParaRPr lang="zh-CN" altLang="en-US" sz="1200"/>
          </a:p>
        </p:txBody>
      </p:sp>
      <p:sp>
        <p:nvSpPr>
          <p:cNvPr id="106" name="文本框 105"/>
          <p:cNvSpPr txBox="1"/>
          <p:nvPr/>
        </p:nvSpPr>
        <p:spPr>
          <a:xfrm>
            <a:off x="8073390" y="5654040"/>
            <a:ext cx="3370580" cy="460375"/>
          </a:xfrm>
          <a:prstGeom prst="rect">
            <a:avLst/>
          </a:prstGeom>
        </p:spPr>
        <p:txBody>
          <a:bodyPr wrap="square">
            <a:spAutoFit/>
          </a:bodyPr>
          <a:p>
            <a:pPr lvl="0" algn="ctr" fontAlgn="t">
              <a:lnSpc>
                <a:spcPct val="100000"/>
              </a:lnSpc>
              <a:buClrTx/>
              <a:buSzTx/>
              <a:buFont typeface="Arial" panose="020B0604020202020204"/>
              <a:buChar char="•"/>
            </a:pPr>
            <a:r>
              <a:rPr lang="zh-CN" altLang="en-US" sz="1200"/>
              <a:t>特点：适合逻辑性较强且较为复杂的任务适合场景：数据分析、逻辑推理、代码生成</a:t>
            </a:r>
            <a:endParaRPr lang="zh-CN" altLang="en-US" sz="1200"/>
          </a:p>
        </p:txBody>
      </p:sp>
      <p:grpSp>
        <p:nvGrpSpPr>
          <p:cNvPr id="7" name="组合 6"/>
          <p:cNvGrpSpPr/>
          <p:nvPr/>
        </p:nvGrpSpPr>
        <p:grpSpPr>
          <a:xfrm>
            <a:off x="336550" y="3832860"/>
            <a:ext cx="3589020" cy="2809875"/>
            <a:chOff x="530" y="5807"/>
            <a:chExt cx="5652" cy="4654"/>
          </a:xfrm>
        </p:grpSpPr>
        <p:sp useBgFill="1">
          <p:nvSpPr>
            <p:cNvPr id="225" name="矩形: 圆角 35"/>
            <p:cNvSpPr/>
            <p:nvPr/>
          </p:nvSpPr>
          <p:spPr>
            <a:xfrm>
              <a:off x="530" y="9061"/>
              <a:ext cx="5653" cy="1400"/>
            </a:xfrm>
            <a:prstGeom prst="round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lIns="0" rIns="0" rtlCol="0" anchor="ctr">
              <a:noAutofit/>
            </a:bodyPr>
            <a:p>
              <a:pPr algn="ctr"/>
              <a:endParaRPr lang="zh-CN" altLang="en-US" sz="1400">
                <a:solidFill>
                  <a:schemeClr val="tx1"/>
                </a:solidFill>
              </a:endParaRPr>
            </a:p>
          </p:txBody>
        </p:sp>
        <p:sp>
          <p:nvSpPr>
            <p:cNvPr id="226" name="矩形: 圆角 25"/>
            <p:cNvSpPr/>
            <p:nvPr/>
          </p:nvSpPr>
          <p:spPr>
            <a:xfrm>
              <a:off x="530" y="9061"/>
              <a:ext cx="5652" cy="1400"/>
            </a:xfrm>
            <a:prstGeom prst="roundRect">
              <a:avLst/>
            </a:prstGeom>
            <a:solidFill>
              <a:schemeClr val="lt1">
                <a:lumMod val="100000"/>
                <a:alpha val="20000"/>
              </a:schemeClr>
            </a:solidFill>
            <a:ln w="3175" cap="flat" cmpd="sng" algn="ctr">
              <a:solidFill>
                <a:schemeClr val="accent5">
                  <a:alpha val="20000"/>
                </a:schemeClr>
              </a:solidFill>
              <a:prstDash val="solid"/>
              <a:round/>
              <a:headEnd type="none" w="med" len="med"/>
              <a:tailEnd type="none" w="med" len="med"/>
            </a:ln>
            <a:effectLst/>
          </p:spPr>
          <p:txBody>
            <a:bodyPr lIns="0" rIns="0" rtlCol="0" anchor="ctr">
              <a:noAutofit/>
            </a:bodyPr>
            <a:p>
              <a:pPr lvl="0" algn="ctr">
                <a:buClrTx/>
                <a:buSzTx/>
                <a:buFontTx/>
              </a:pPr>
              <a:endParaRPr lang="zh-CN" altLang="en-US" sz="1400">
                <a:solidFill>
                  <a:schemeClr val="tx1"/>
                </a:solidFill>
                <a:sym typeface="+mn-ea"/>
              </a:endParaRPr>
            </a:p>
          </p:txBody>
        </p:sp>
        <p:sp useBgFill="1">
          <p:nvSpPr>
            <p:cNvPr id="227" name="矩形: 圆角 30"/>
            <p:cNvSpPr/>
            <p:nvPr/>
          </p:nvSpPr>
          <p:spPr>
            <a:xfrm>
              <a:off x="530" y="7434"/>
              <a:ext cx="5653" cy="1400"/>
            </a:xfrm>
            <a:prstGeom prst="round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lIns="0" rIns="0" rtlCol="0" anchor="ctr">
              <a:noAutofit/>
            </a:bodyPr>
            <a:p>
              <a:pPr algn="ctr"/>
              <a:endParaRPr lang="zh-CN" altLang="en-US" sz="1400">
                <a:solidFill>
                  <a:schemeClr val="tx1"/>
                </a:solidFill>
              </a:endParaRPr>
            </a:p>
          </p:txBody>
        </p:sp>
        <p:sp>
          <p:nvSpPr>
            <p:cNvPr id="228" name="矩形: 圆角 25"/>
            <p:cNvSpPr/>
            <p:nvPr/>
          </p:nvSpPr>
          <p:spPr>
            <a:xfrm>
              <a:off x="530" y="7434"/>
              <a:ext cx="5652" cy="1400"/>
            </a:xfrm>
            <a:prstGeom prst="roundRect">
              <a:avLst/>
            </a:prstGeom>
            <a:solidFill>
              <a:schemeClr val="lt1">
                <a:lumMod val="100000"/>
                <a:alpha val="20000"/>
              </a:schemeClr>
            </a:solidFill>
            <a:ln w="3175" cap="flat" cmpd="sng" algn="ctr">
              <a:solidFill>
                <a:schemeClr val="accent5">
                  <a:alpha val="20000"/>
                </a:schemeClr>
              </a:solidFill>
              <a:prstDash val="solid"/>
              <a:round/>
              <a:headEnd type="none" w="med" len="med"/>
              <a:tailEnd type="none" w="med" len="med"/>
            </a:ln>
            <a:effectLst/>
          </p:spPr>
          <p:txBody>
            <a:bodyPr lIns="0" rIns="0" rtlCol="0" anchor="ctr">
              <a:noAutofit/>
            </a:bodyPr>
            <a:p>
              <a:pPr lvl="0" algn="ctr">
                <a:buClrTx/>
                <a:buSzTx/>
                <a:buFontTx/>
              </a:pPr>
              <a:endParaRPr lang="zh-CN" altLang="en-US" sz="1400">
                <a:solidFill>
                  <a:schemeClr val="tx1"/>
                </a:solidFill>
                <a:sym typeface="+mn-ea"/>
              </a:endParaRPr>
            </a:p>
          </p:txBody>
        </p:sp>
        <p:sp useBgFill="1">
          <p:nvSpPr>
            <p:cNvPr id="229" name="矩形: 圆角 25"/>
            <p:cNvSpPr/>
            <p:nvPr/>
          </p:nvSpPr>
          <p:spPr>
            <a:xfrm>
              <a:off x="530" y="5807"/>
              <a:ext cx="5652" cy="1400"/>
            </a:xfrm>
            <a:prstGeom prst="roundRect">
              <a:avLst/>
            </a:prstGeom>
            <a:ln w="3175" cap="flat" cmpd="sng" algn="ctr">
              <a:solidFill>
                <a:schemeClr val="accent5">
                  <a:alpha val="20000"/>
                </a:schemeClr>
              </a:solidFill>
              <a:prstDash val="solid"/>
              <a:round/>
              <a:headEnd type="none" w="med" len="med"/>
              <a:tailEnd type="none" w="med" len="med"/>
            </a:ln>
            <a:effectLst>
              <a:outerShdw blurRad="508000" dist="50800" dir="5400000" algn="ctr" rotWithShape="0">
                <a:schemeClr val="accent5">
                  <a:alpha val="20000"/>
                </a:schemeClr>
              </a:outerShdw>
            </a:effectLst>
          </p:spPr>
          <p:txBody>
            <a:bodyPr lIns="0" rIns="0" rtlCol="0" anchor="ctr">
              <a:noAutofit/>
            </a:bodyPr>
            <a:p>
              <a:pPr algn="ctr"/>
              <a:endParaRPr lang="zh-CN" altLang="en-US" sz="1400">
                <a:solidFill>
                  <a:schemeClr val="tx1"/>
                </a:solidFill>
              </a:endParaRPr>
            </a:p>
          </p:txBody>
        </p:sp>
        <p:sp>
          <p:nvSpPr>
            <p:cNvPr id="230" name="矩形: 圆角 25"/>
            <p:cNvSpPr/>
            <p:nvPr/>
          </p:nvSpPr>
          <p:spPr>
            <a:xfrm>
              <a:off x="530" y="5807"/>
              <a:ext cx="5652" cy="1400"/>
            </a:xfrm>
            <a:prstGeom prst="roundRect">
              <a:avLst/>
            </a:prstGeom>
            <a:solidFill>
              <a:schemeClr val="lt1">
                <a:lumMod val="100000"/>
                <a:alpha val="20000"/>
              </a:schemeClr>
            </a:solidFill>
            <a:ln w="3175" cap="flat" cmpd="sng" algn="ctr">
              <a:solidFill>
                <a:schemeClr val="accent5">
                  <a:alpha val="20000"/>
                </a:schemeClr>
              </a:solidFill>
              <a:prstDash val="solid"/>
              <a:round/>
              <a:headEnd type="none" w="med" len="med"/>
              <a:tailEnd type="none" w="med" len="med"/>
            </a:ln>
            <a:effectLst/>
          </p:spPr>
          <p:txBody>
            <a:bodyPr lIns="0" rIns="0" rtlCol="0" anchor="ctr">
              <a:noAutofit/>
            </a:bodyPr>
            <a:p>
              <a:pPr lvl="0" algn="ctr">
                <a:buClrTx/>
                <a:buSzTx/>
                <a:buFontTx/>
              </a:pPr>
              <a:endParaRPr lang="zh-CN" altLang="en-US" sz="1400">
                <a:solidFill>
                  <a:schemeClr val="tx1"/>
                </a:solidFill>
                <a:sym typeface="+mn-ea"/>
              </a:endParaRPr>
            </a:p>
          </p:txBody>
        </p:sp>
        <p:sp>
          <p:nvSpPr>
            <p:cNvPr id="232" name="矩形 231"/>
            <p:cNvSpPr/>
            <p:nvPr/>
          </p:nvSpPr>
          <p:spPr>
            <a:xfrm>
              <a:off x="893" y="6392"/>
              <a:ext cx="4708" cy="736"/>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000" dirty="0">
                  <a:solidFill>
                    <a:schemeClr val="tx1">
                      <a:lumMod val="85000"/>
                      <a:lumOff val="15000"/>
                    </a:schemeClr>
                  </a:solidFill>
                  <a:latin typeface="+mn-ea"/>
                  <a:cs typeface="+mn-ea"/>
                </a:rPr>
                <a:t>让机器更懂人话，处理文本（问答、写作、翻译），如政务智能客服、政策文件自动生成。</a:t>
              </a:r>
              <a:endParaRPr lang="zh-CN" altLang="en-US" sz="1000" dirty="0">
                <a:solidFill>
                  <a:schemeClr val="tx1">
                    <a:lumMod val="85000"/>
                    <a:lumOff val="15000"/>
                  </a:schemeClr>
                </a:solidFill>
                <a:latin typeface="+mn-ea"/>
                <a:cs typeface="+mn-ea"/>
              </a:endParaRPr>
            </a:p>
          </p:txBody>
        </p:sp>
        <p:sp>
          <p:nvSpPr>
            <p:cNvPr id="233" name="矩形 232"/>
            <p:cNvSpPr/>
            <p:nvPr/>
          </p:nvSpPr>
          <p:spPr>
            <a:xfrm>
              <a:off x="893" y="5900"/>
              <a:ext cx="4708" cy="459"/>
            </a:xfrm>
            <a:prstGeom prst="rect">
              <a:avLst/>
            </a:prstGeom>
            <a:noFill/>
          </p:spPr>
          <p:txBody>
            <a:bodyPr wrap="square" lIns="0" tIns="0" rIns="0" bIns="0" rtlCol="0" anchor="b" anchorCtr="0">
              <a:noAutofit/>
            </a:bodyPr>
            <a:p>
              <a:pPr>
                <a:spcBef>
                  <a:spcPct val="0"/>
                </a:spcBef>
                <a:spcAft>
                  <a:spcPct val="0"/>
                </a:spcAft>
              </a:pPr>
              <a:r>
                <a:rPr lang="zh-CN" altLang="en-US" sz="1400" b="1" dirty="0">
                  <a:solidFill>
                    <a:schemeClr val="tx1">
                      <a:lumMod val="85000"/>
                      <a:lumOff val="15000"/>
                    </a:schemeClr>
                  </a:solidFill>
                  <a:latin typeface="+mn-ea"/>
                  <a:cs typeface="+mn-ea"/>
                </a:rPr>
                <a:t>语言大模型</a:t>
              </a:r>
              <a:endParaRPr lang="zh-CN" altLang="en-US" sz="1400" b="1" dirty="0">
                <a:solidFill>
                  <a:schemeClr val="tx1">
                    <a:lumMod val="85000"/>
                    <a:lumOff val="15000"/>
                  </a:schemeClr>
                </a:solidFill>
                <a:latin typeface="+mn-ea"/>
                <a:cs typeface="+mn-ea"/>
              </a:endParaRPr>
            </a:p>
          </p:txBody>
        </p:sp>
        <p:sp>
          <p:nvSpPr>
            <p:cNvPr id="235" name="矩形 234"/>
            <p:cNvSpPr/>
            <p:nvPr/>
          </p:nvSpPr>
          <p:spPr>
            <a:xfrm>
              <a:off x="893" y="8010"/>
              <a:ext cx="4708" cy="736"/>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000">
                  <a:solidFill>
                    <a:schemeClr val="tx1">
                      <a:lumMod val="85000"/>
                      <a:lumOff val="15000"/>
                    </a:schemeClr>
                  </a:solidFill>
                  <a:latin typeface="+mn-ea"/>
                  <a:cs typeface="+mn-ea"/>
                </a:rPr>
                <a:t>让机器“看见”世界，识别</a:t>
              </a:r>
              <a:r>
                <a:rPr lang="en-US" altLang="zh-CN" sz="1000">
                  <a:solidFill>
                    <a:schemeClr val="tx1">
                      <a:lumMod val="85000"/>
                      <a:lumOff val="15000"/>
                    </a:schemeClr>
                  </a:solidFill>
                  <a:latin typeface="+mn-ea"/>
                  <a:cs typeface="+mn-ea"/>
                </a:rPr>
                <a:t>/</a:t>
              </a:r>
              <a:r>
                <a:rPr lang="zh-CN" altLang="en-US" sz="1000">
                  <a:solidFill>
                    <a:schemeClr val="tx1">
                      <a:lumMod val="85000"/>
                      <a:lumOff val="15000"/>
                    </a:schemeClr>
                  </a:solidFill>
                  <a:latin typeface="+mn-ea"/>
                  <a:cs typeface="+mn-ea"/>
                </a:rPr>
                <a:t>生成图像、视频，如城市安防监控、卫星影像分析。</a:t>
              </a:r>
              <a:endParaRPr lang="zh-CN" altLang="en-US" sz="1000">
                <a:solidFill>
                  <a:schemeClr val="tx1">
                    <a:lumMod val="85000"/>
                    <a:lumOff val="15000"/>
                  </a:schemeClr>
                </a:solidFill>
                <a:latin typeface="+mn-ea"/>
                <a:cs typeface="+mn-ea"/>
              </a:endParaRPr>
            </a:p>
          </p:txBody>
        </p:sp>
        <p:sp>
          <p:nvSpPr>
            <p:cNvPr id="236" name="矩形 235"/>
            <p:cNvSpPr/>
            <p:nvPr/>
          </p:nvSpPr>
          <p:spPr>
            <a:xfrm>
              <a:off x="893" y="7518"/>
              <a:ext cx="4708" cy="459"/>
            </a:xfrm>
            <a:prstGeom prst="rect">
              <a:avLst/>
            </a:prstGeom>
            <a:noFill/>
          </p:spPr>
          <p:txBody>
            <a:bodyPr wrap="square" lIns="0" tIns="0" rIns="0" bIns="0" rtlCol="0" anchor="b" anchorCtr="0">
              <a:noAutofit/>
            </a:bodyPr>
            <a:p>
              <a:pPr>
                <a:spcBef>
                  <a:spcPct val="0"/>
                </a:spcBef>
                <a:spcAft>
                  <a:spcPct val="0"/>
                </a:spcAft>
              </a:pPr>
              <a:r>
                <a:rPr lang="zh-CN" altLang="en-US" sz="1400" b="1">
                  <a:solidFill>
                    <a:schemeClr val="tx1">
                      <a:lumMod val="85000"/>
                      <a:lumOff val="15000"/>
                    </a:schemeClr>
                  </a:solidFill>
                  <a:latin typeface="+mn-ea"/>
                  <a:cs typeface="+mn-ea"/>
                </a:rPr>
                <a:t>视觉大模型</a:t>
              </a:r>
              <a:endParaRPr lang="zh-CN" altLang="en-US" sz="1400" b="1">
                <a:solidFill>
                  <a:schemeClr val="tx1">
                    <a:lumMod val="85000"/>
                    <a:lumOff val="15000"/>
                  </a:schemeClr>
                </a:solidFill>
                <a:latin typeface="+mn-ea"/>
                <a:cs typeface="+mn-ea"/>
              </a:endParaRPr>
            </a:p>
          </p:txBody>
        </p:sp>
        <p:sp>
          <p:nvSpPr>
            <p:cNvPr id="238" name="矩形 237"/>
            <p:cNvSpPr/>
            <p:nvPr/>
          </p:nvSpPr>
          <p:spPr>
            <a:xfrm>
              <a:off x="893" y="9646"/>
              <a:ext cx="4708" cy="736"/>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000">
                  <a:solidFill>
                    <a:schemeClr val="tx1">
                      <a:lumMod val="85000"/>
                      <a:lumOff val="15000"/>
                    </a:schemeClr>
                  </a:solidFill>
                  <a:latin typeface="+mn-ea"/>
                  <a:cs typeface="+mn-ea"/>
                </a:rPr>
                <a:t>让机器“跨界”合作，综合图文、音视频处理，如政务舆情分析（文字</a:t>
              </a:r>
              <a:r>
                <a:rPr lang="en-US" altLang="zh-CN" sz="1000">
                  <a:solidFill>
                    <a:schemeClr val="tx1">
                      <a:lumMod val="85000"/>
                      <a:lumOff val="15000"/>
                    </a:schemeClr>
                  </a:solidFill>
                  <a:latin typeface="+mn-ea"/>
                  <a:cs typeface="+mn-ea"/>
                </a:rPr>
                <a:t>+</a:t>
              </a:r>
              <a:r>
                <a:rPr lang="zh-CN" altLang="en-US" sz="1000">
                  <a:solidFill>
                    <a:schemeClr val="tx1">
                      <a:lumMod val="85000"/>
                      <a:lumOff val="15000"/>
                    </a:schemeClr>
                  </a:solidFill>
                  <a:latin typeface="+mn-ea"/>
                  <a:cs typeface="+mn-ea"/>
                </a:rPr>
                <a:t>图片）、应急事件推演。</a:t>
              </a:r>
              <a:endParaRPr lang="zh-CN" altLang="en-US" sz="1000">
                <a:solidFill>
                  <a:schemeClr val="tx1">
                    <a:lumMod val="85000"/>
                    <a:lumOff val="15000"/>
                  </a:schemeClr>
                </a:solidFill>
                <a:latin typeface="+mn-ea"/>
                <a:cs typeface="+mn-ea"/>
              </a:endParaRPr>
            </a:p>
          </p:txBody>
        </p:sp>
        <p:sp>
          <p:nvSpPr>
            <p:cNvPr id="239" name="矩形 238"/>
            <p:cNvSpPr/>
            <p:nvPr/>
          </p:nvSpPr>
          <p:spPr>
            <a:xfrm>
              <a:off x="893" y="9153"/>
              <a:ext cx="4708" cy="459"/>
            </a:xfrm>
            <a:prstGeom prst="rect">
              <a:avLst/>
            </a:prstGeom>
            <a:noFill/>
          </p:spPr>
          <p:txBody>
            <a:bodyPr wrap="square" lIns="0" tIns="0" rIns="0" bIns="0" rtlCol="0" anchor="b" anchorCtr="0">
              <a:noAutofit/>
            </a:bodyPr>
            <a:p>
              <a:pPr>
                <a:spcBef>
                  <a:spcPct val="0"/>
                </a:spcBef>
                <a:spcAft>
                  <a:spcPct val="0"/>
                </a:spcAft>
              </a:pPr>
              <a:r>
                <a:rPr lang="zh-CN" altLang="en-US" sz="1400" b="1">
                  <a:solidFill>
                    <a:schemeClr val="tx1">
                      <a:lumMod val="85000"/>
                      <a:lumOff val="15000"/>
                    </a:schemeClr>
                  </a:solidFill>
                  <a:latin typeface="+mn-ea"/>
                  <a:cs typeface="+mn-ea"/>
                </a:rPr>
                <a:t>多模态大模型</a:t>
              </a:r>
              <a:endParaRPr lang="zh-CN" altLang="en-US" sz="1400" b="1">
                <a:solidFill>
                  <a:schemeClr val="tx1">
                    <a:lumMod val="85000"/>
                    <a:lumOff val="15000"/>
                  </a:schemeClr>
                </a:solidFill>
                <a:latin typeface="+mn-ea"/>
                <a:cs typeface="+mn-ea"/>
              </a:endParaRPr>
            </a:p>
          </p:txBody>
        </p:sp>
      </p:grpSp>
      <p:grpSp>
        <p:nvGrpSpPr>
          <p:cNvPr id="370" name="组合 369"/>
          <p:cNvGrpSpPr/>
          <p:nvPr/>
        </p:nvGrpSpPr>
        <p:grpSpPr>
          <a:xfrm rot="0">
            <a:off x="4438650" y="3833495"/>
            <a:ext cx="3068320" cy="2809875"/>
            <a:chOff x="6838" y="5246"/>
            <a:chExt cx="4832" cy="11499"/>
          </a:xfrm>
        </p:grpSpPr>
        <p:sp>
          <p:nvSpPr>
            <p:cNvPr id="346" name="矩形 345"/>
            <p:cNvSpPr/>
            <p:nvPr/>
          </p:nvSpPr>
          <p:spPr>
            <a:xfrm>
              <a:off x="6838" y="5246"/>
              <a:ext cx="4832" cy="11499"/>
            </a:xfrm>
            <a:prstGeom prst="rect">
              <a:avLst/>
            </a:prstGeom>
            <a:gradFill>
              <a:gsLst>
                <a:gs pos="13000">
                  <a:schemeClr val="accent5">
                    <a:alpha val="100000"/>
                  </a:schemeClr>
                </a:gs>
                <a:gs pos="100000">
                  <a:schemeClr val="accent5">
                    <a:lumMod val="60000"/>
                    <a:lumOff val="40000"/>
                    <a:alpha val="100000"/>
                  </a:schemeClr>
                </a:gs>
              </a:gsLst>
              <a:lin ang="135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0">
                <a:solidFill>
                  <a:schemeClr val="lt1"/>
                </a:solidFill>
              </a:endParaRPr>
            </a:p>
          </p:txBody>
        </p:sp>
        <p:cxnSp>
          <p:nvCxnSpPr>
            <p:cNvPr id="347" name="直接连接符 346"/>
            <p:cNvCxnSpPr/>
            <p:nvPr/>
          </p:nvCxnSpPr>
          <p:spPr>
            <a:xfrm>
              <a:off x="7010" y="9092"/>
              <a:ext cx="4488" cy="2"/>
            </a:xfrm>
            <a:prstGeom prst="line">
              <a:avLst/>
            </a:prstGeom>
            <a:ln cap="rnd">
              <a:solidFill>
                <a:srgbClr val="FFFFFF">
                  <a:alpha val="33000"/>
                </a:srgbClr>
              </a:solidFill>
              <a:round/>
            </a:ln>
          </p:spPr>
          <p:style>
            <a:lnRef idx="2">
              <a:schemeClr val="accent1"/>
            </a:lnRef>
            <a:fillRef idx="0">
              <a:srgbClr val="FFFFFF"/>
            </a:fillRef>
            <a:effectRef idx="0">
              <a:srgbClr val="FFFFFF"/>
            </a:effectRef>
            <a:fontRef idx="minor">
              <a:schemeClr val="tx1"/>
            </a:fontRef>
          </p:style>
        </p:cxnSp>
        <p:sp>
          <p:nvSpPr>
            <p:cNvPr id="353" name="文本框 352"/>
            <p:cNvSpPr txBox="1"/>
            <p:nvPr/>
          </p:nvSpPr>
          <p:spPr>
            <a:xfrm>
              <a:off x="7385" y="5784"/>
              <a:ext cx="3737" cy="1981"/>
            </a:xfrm>
            <a:prstGeom prst="rect">
              <a:avLst/>
            </a:prstGeom>
            <a:noFill/>
          </p:spPr>
          <p:txBody>
            <a:bodyPr wrap="square" lIns="0" tIns="0" rIns="0" bIns="0" rtlCol="0">
              <a:noAutofit/>
            </a:bodyPr>
            <a:p>
              <a:pPr indent="0" algn="ctr" fontAlgn="auto">
                <a:lnSpc>
                  <a:spcPct val="140000"/>
                </a:lnSpc>
              </a:pPr>
              <a:r>
                <a:rPr lang="zh-CN" altLang="en-US" sz="1600" kern="0" dirty="0">
                  <a:ln>
                    <a:noFill/>
                    <a:prstDash val="sysDot"/>
                  </a:ln>
                  <a:solidFill>
                    <a:srgbClr val="FFFFFF"/>
                  </a:solidFill>
                  <a:latin typeface="+mn-ea"/>
                  <a:sym typeface="+mn-ea"/>
                </a:rPr>
                <a:t>通用大模型：</a:t>
              </a:r>
              <a:r>
                <a:rPr lang="en-US" altLang="zh-CN" sz="1600" kern="0" dirty="0">
                  <a:ln>
                    <a:noFill/>
                    <a:prstDash val="sysDot"/>
                  </a:ln>
                  <a:solidFill>
                    <a:srgbClr val="FFFFFF"/>
                  </a:solidFill>
                  <a:latin typeface="+mn-ea"/>
                  <a:sym typeface="+mn-ea"/>
                </a:rPr>
                <a:t>L0</a:t>
              </a:r>
              <a:endParaRPr lang="en-US" altLang="zh-CN" sz="1600" kern="0" dirty="0">
                <a:ln>
                  <a:noFill/>
                  <a:prstDash val="sysDot"/>
                </a:ln>
                <a:solidFill>
                  <a:srgbClr val="FFFFFF"/>
                </a:solidFill>
                <a:latin typeface="+mn-ea"/>
                <a:sym typeface="+mn-ea"/>
              </a:endParaRPr>
            </a:p>
          </p:txBody>
        </p:sp>
        <p:sp>
          <p:nvSpPr>
            <p:cNvPr id="356" name="文本框 355"/>
            <p:cNvSpPr txBox="1"/>
            <p:nvPr/>
          </p:nvSpPr>
          <p:spPr>
            <a:xfrm>
              <a:off x="7385" y="9661"/>
              <a:ext cx="3737" cy="1981"/>
            </a:xfrm>
            <a:prstGeom prst="rect">
              <a:avLst/>
            </a:prstGeom>
            <a:noFill/>
          </p:spPr>
          <p:txBody>
            <a:bodyPr wrap="square" lIns="0" tIns="0" rIns="0" bIns="0" rtlCol="0">
              <a:noAutofit/>
            </a:bodyPr>
            <a:p>
              <a:pPr indent="0" algn="ctr" fontAlgn="auto">
                <a:lnSpc>
                  <a:spcPct val="140000"/>
                </a:lnSpc>
              </a:pPr>
              <a:r>
                <a:rPr lang="zh-CN" altLang="en-US" sz="1600" kern="0" dirty="0">
                  <a:ln>
                    <a:noFill/>
                    <a:prstDash val="sysDot"/>
                  </a:ln>
                  <a:solidFill>
                    <a:srgbClr val="FFFFFF"/>
                  </a:solidFill>
                  <a:latin typeface="+mn-ea"/>
                  <a:sym typeface="+mn-ea"/>
                </a:rPr>
                <a:t>行业大模型：</a:t>
              </a:r>
              <a:r>
                <a:rPr lang="en-US" altLang="zh-CN" sz="1600" kern="0" dirty="0">
                  <a:ln>
                    <a:noFill/>
                    <a:prstDash val="sysDot"/>
                  </a:ln>
                  <a:solidFill>
                    <a:srgbClr val="FFFFFF"/>
                  </a:solidFill>
                  <a:latin typeface="+mn-ea"/>
                  <a:sym typeface="+mn-ea"/>
                </a:rPr>
                <a:t>L1</a:t>
              </a:r>
              <a:endParaRPr lang="en-US" altLang="zh-CN" sz="1600" kern="0" dirty="0">
                <a:ln>
                  <a:noFill/>
                  <a:prstDash val="sysDot"/>
                </a:ln>
                <a:solidFill>
                  <a:srgbClr val="FFFFFF"/>
                </a:solidFill>
                <a:latin typeface="+mn-ea"/>
                <a:sym typeface="+mn-ea"/>
              </a:endParaRPr>
            </a:p>
          </p:txBody>
        </p:sp>
        <p:sp>
          <p:nvSpPr>
            <p:cNvPr id="359" name="文本框 358"/>
            <p:cNvSpPr txBox="1"/>
            <p:nvPr/>
          </p:nvSpPr>
          <p:spPr>
            <a:xfrm>
              <a:off x="7385" y="13448"/>
              <a:ext cx="3737" cy="1981"/>
            </a:xfrm>
            <a:prstGeom prst="rect">
              <a:avLst/>
            </a:prstGeom>
            <a:noFill/>
          </p:spPr>
          <p:txBody>
            <a:bodyPr wrap="square" lIns="0" tIns="0" rIns="0" bIns="0" rtlCol="0">
              <a:noAutofit/>
            </a:bodyPr>
            <a:p>
              <a:pPr indent="0" algn="ctr" fontAlgn="auto">
                <a:lnSpc>
                  <a:spcPct val="140000"/>
                </a:lnSpc>
              </a:pPr>
              <a:r>
                <a:rPr lang="zh-CN" altLang="en-US" sz="1600" kern="0" dirty="0">
                  <a:ln>
                    <a:noFill/>
                    <a:prstDash val="sysDot"/>
                  </a:ln>
                  <a:solidFill>
                    <a:srgbClr val="FFFFFF"/>
                  </a:solidFill>
                  <a:latin typeface="+mn-ea"/>
                  <a:sym typeface="+mn-ea"/>
                </a:rPr>
                <a:t>垂直大模型：</a:t>
              </a:r>
              <a:r>
                <a:rPr lang="en-US" altLang="zh-CN" sz="1600" kern="0" dirty="0">
                  <a:ln>
                    <a:noFill/>
                    <a:prstDash val="sysDot"/>
                  </a:ln>
                  <a:solidFill>
                    <a:srgbClr val="FFFFFF"/>
                  </a:solidFill>
                  <a:latin typeface="+mn-ea"/>
                  <a:sym typeface="+mn-ea"/>
                </a:rPr>
                <a:t>L2</a:t>
              </a:r>
              <a:endParaRPr lang="en-US" altLang="zh-CN" sz="1600" kern="0" dirty="0">
                <a:ln>
                  <a:noFill/>
                  <a:prstDash val="sysDot"/>
                </a:ln>
                <a:solidFill>
                  <a:srgbClr val="FFFFFF"/>
                </a:solidFill>
                <a:latin typeface="+mn-ea"/>
                <a:sym typeface="+mn-ea"/>
              </a:endParaRPr>
            </a:p>
          </p:txBody>
        </p:sp>
        <p:cxnSp>
          <p:nvCxnSpPr>
            <p:cNvPr id="369" name="直接连接符 368"/>
            <p:cNvCxnSpPr/>
            <p:nvPr/>
          </p:nvCxnSpPr>
          <p:spPr>
            <a:xfrm>
              <a:off x="7010" y="13091"/>
              <a:ext cx="4488" cy="2"/>
            </a:xfrm>
            <a:prstGeom prst="line">
              <a:avLst/>
            </a:prstGeom>
            <a:ln cap="rnd">
              <a:solidFill>
                <a:srgbClr val="FFFFFF">
                  <a:alpha val="33000"/>
                </a:srgbClr>
              </a:solidFill>
              <a:round/>
            </a:ln>
          </p:spPr>
          <p:style>
            <a:lnRef idx="2">
              <a:schemeClr val="accent1"/>
            </a:lnRef>
            <a:fillRef idx="0">
              <a:srgbClr val="FFFFFF"/>
            </a:fillRef>
            <a:effectRef idx="0">
              <a:srgbClr val="FFFFFF"/>
            </a:effectRef>
            <a:fontRef idx="minor">
              <a:schemeClr val="tx1"/>
            </a:fontRef>
          </p:style>
        </p:cxnSp>
      </p:grpSp>
      <p:sp>
        <p:nvSpPr>
          <p:cNvPr id="4" name="文本框 3"/>
          <p:cNvSpPr txBox="1"/>
          <p:nvPr/>
        </p:nvSpPr>
        <p:spPr>
          <a:xfrm>
            <a:off x="465455" y="3383915"/>
            <a:ext cx="3370580" cy="306705"/>
          </a:xfrm>
          <a:prstGeom prst="rect">
            <a:avLst/>
          </a:prstGeom>
          <a:ln>
            <a:solidFill>
              <a:schemeClr val="accent5"/>
            </a:solidFill>
          </a:ln>
        </p:spPr>
        <p:txBody>
          <a:bodyPr wrap="square" anchor="t" anchorCtr="0">
            <a:spAutoFit/>
          </a:bodyPr>
          <a:p>
            <a:pPr marL="12700" algn="ctr" rtl="0" eaLnBrk="0">
              <a:lnSpc>
                <a:spcPct val="100000"/>
              </a:lnSpc>
            </a:pPr>
            <a:r>
              <a:rPr lang="zh-CN" sz="1400" b="1"/>
              <a:t>按能力特性</a:t>
            </a:r>
            <a:r>
              <a:rPr lang="zh-CN" sz="1400" b="1">
                <a:sym typeface="+mn-ea"/>
              </a:rPr>
              <a:t>分类</a:t>
            </a:r>
            <a:endParaRPr lang="zh-CN" altLang="zh-CN" sz="1400" b="1">
              <a:sym typeface="+mn-ea"/>
            </a:endParaRPr>
          </a:p>
        </p:txBody>
      </p:sp>
      <p:sp>
        <p:nvSpPr>
          <p:cNvPr id="6" name="文本框 5"/>
          <p:cNvSpPr txBox="1"/>
          <p:nvPr/>
        </p:nvSpPr>
        <p:spPr>
          <a:xfrm>
            <a:off x="4269740" y="3383915"/>
            <a:ext cx="3370580" cy="306705"/>
          </a:xfrm>
          <a:prstGeom prst="rect">
            <a:avLst/>
          </a:prstGeom>
          <a:ln>
            <a:solidFill>
              <a:schemeClr val="accent5"/>
            </a:solidFill>
          </a:ln>
        </p:spPr>
        <p:txBody>
          <a:bodyPr wrap="square" anchor="t" anchorCtr="0">
            <a:spAutoFit/>
          </a:bodyPr>
          <a:p>
            <a:pPr marL="12700" algn="ctr" rtl="0" eaLnBrk="0">
              <a:lnSpc>
                <a:spcPct val="100000"/>
              </a:lnSpc>
            </a:pPr>
            <a:r>
              <a:rPr lang="zh-CN" sz="1400" b="1"/>
              <a:t>按应用领域</a:t>
            </a:r>
            <a:r>
              <a:rPr lang="zh-CN" sz="1400" b="1">
                <a:sym typeface="+mn-ea"/>
              </a:rPr>
              <a:t>分类</a:t>
            </a:r>
            <a:endParaRPr lang="zh-CN" altLang="zh-CN" sz="1400" b="1">
              <a:sym typeface="+mn-ea"/>
            </a:endParaRPr>
          </a:p>
        </p:txBody>
      </p:sp>
      <p:sp>
        <p:nvSpPr>
          <p:cNvPr id="8" name="矩形 7"/>
          <p:cNvSpPr/>
          <p:nvPr/>
        </p:nvSpPr>
        <p:spPr>
          <a:xfrm>
            <a:off x="4281805" y="3746500"/>
            <a:ext cx="3371215" cy="3039110"/>
          </a:xfrm>
          <a:prstGeom prst="rect">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9" name="文本框 8"/>
          <p:cNvSpPr txBox="1"/>
          <p:nvPr/>
        </p:nvSpPr>
        <p:spPr>
          <a:xfrm>
            <a:off x="3422015" y="2923540"/>
            <a:ext cx="4775835" cy="368300"/>
          </a:xfrm>
          <a:prstGeom prst="rect">
            <a:avLst/>
          </a:prstGeom>
        </p:spPr>
        <p:txBody>
          <a:bodyPr wrap="square">
            <a:spAutoFit/>
          </a:bodyPr>
          <a:p>
            <a:pPr marL="0" indent="0" algn="ctr"/>
            <a:r>
              <a:rPr lang="zh-CN" altLang="en-US" b="1"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为每个工程节点选择最适合的模型类型</a:t>
            </a:r>
            <a:endParaRPr lang="zh-CN" altLang="en-US" b="1"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336803" y="144012"/>
            <a:ext cx="8493516" cy="521970"/>
          </a:xfrm>
          <a:prstGeom prst="rect">
            <a:avLst/>
          </a:prstGeom>
        </p:spPr>
        <p:txBody>
          <a:bodyPr wrap="square">
            <a:spAutoFit/>
          </a:bodyPr>
          <a:p>
            <a:r>
              <a:rPr lang="en-US" altLang="zh-CN" sz="2795" b="1" dirty="0">
                <a:solidFill>
                  <a:srgbClr val="00A6C7"/>
                </a:solidFill>
                <a:latin typeface="+mn-ea"/>
                <a:ea typeface="微软雅黑" panose="020B0503020204020204" charset="-122"/>
                <a:cs typeface="微软雅黑" panose="020B0503020204020204" charset="-122"/>
                <a:sym typeface="+mn-ea"/>
              </a:rPr>
              <a:t>AI+</a:t>
            </a:r>
            <a:r>
              <a:rPr lang="zh-CN" altLang="en-US" sz="2795" b="1" dirty="0">
                <a:solidFill>
                  <a:srgbClr val="00A6C7"/>
                </a:solidFill>
                <a:latin typeface="+mn-ea"/>
                <a:ea typeface="微软雅黑" panose="020B0503020204020204" charset="-122"/>
                <a:cs typeface="微软雅黑" panose="020B0503020204020204" charset="-122"/>
                <a:sym typeface="+mn-ea"/>
              </a:rPr>
              <a:t>综合场景建设实施过程</a:t>
            </a:r>
            <a:endParaRPr lang="zh-CN" altLang="en-US" sz="2795" b="1" dirty="0">
              <a:solidFill>
                <a:srgbClr val="00A6C7"/>
              </a:solidFill>
              <a:latin typeface="+mn-ea"/>
              <a:ea typeface="微软雅黑" panose="020B0503020204020204" charset="-122"/>
              <a:cs typeface="微软雅黑" panose="020B0503020204020204" charset="-122"/>
              <a:sym typeface="+mn-ea"/>
            </a:endParaRPr>
          </a:p>
        </p:txBody>
      </p:sp>
      <p:sp>
        <p:nvSpPr>
          <p:cNvPr id="27" name="Title"/>
          <p:cNvSpPr>
            <a:spLocks noChangeAspect="1"/>
          </p:cNvSpPr>
          <p:nvPr>
            <p:custDataLst>
              <p:tags r:id="rId2"/>
            </p:custDataLst>
          </p:nvPr>
        </p:nvSpPr>
        <p:spPr>
          <a:xfrm>
            <a:off x="39497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1.</a:t>
            </a:r>
            <a:r>
              <a:rPr kumimoji="1" lang="en-US" altLang="zh-CN" sz="1200" b="1" dirty="0">
                <a:solidFill>
                  <a:schemeClr val="bg1">
                    <a:lumMod val="50000"/>
                  </a:schemeClr>
                </a:solidFill>
                <a:latin typeface="+mn-ea"/>
                <a:sym typeface="Arial" panose="020B0604020202020204" pitchFamily="34" charset="0"/>
              </a:rPr>
              <a:t>规划</a:t>
            </a:r>
            <a:r>
              <a:rPr kumimoji="1" lang="en-US" altLang="zh-CN" sz="1200" b="1" dirty="0">
                <a:solidFill>
                  <a:schemeClr val="bg1">
                    <a:lumMod val="50000"/>
                  </a:schemeClr>
                </a:solidFill>
                <a:latin typeface="+mn-ea"/>
                <a:sym typeface="Arial" panose="020B0604020202020204" pitchFamily="34" charset="0"/>
              </a:rPr>
              <a:t>AI+</a:t>
            </a:r>
            <a:r>
              <a:rPr kumimoji="1" lang="en-US" altLang="zh-CN" sz="1200" b="1" dirty="0">
                <a:solidFill>
                  <a:schemeClr val="bg1">
                    <a:lumMod val="50000"/>
                  </a:schemeClr>
                </a:solidFill>
                <a:latin typeface="+mn-ea"/>
                <a:sym typeface="Arial" panose="020B0604020202020204" pitchFamily="34" charset="0"/>
              </a:rPr>
              <a:t>场景</a:t>
            </a:r>
            <a:endParaRPr kumimoji="1" lang="en-US" altLang="zh-CN" sz="1200" b="1" dirty="0">
              <a:solidFill>
                <a:schemeClr val="bg1">
                  <a:lumMod val="50000"/>
                </a:schemeClr>
              </a:solidFill>
              <a:latin typeface="+mn-ea"/>
              <a:sym typeface="Arial" panose="020B0604020202020204" pitchFamily="34" charset="0"/>
            </a:endParaRPr>
          </a:p>
        </p:txBody>
      </p:sp>
      <p:sp>
        <p:nvSpPr>
          <p:cNvPr id="28" name="Title"/>
          <p:cNvSpPr>
            <a:spLocks noChangeAspect="1"/>
          </p:cNvSpPr>
          <p:nvPr>
            <p:custDataLst>
              <p:tags r:id="rId3"/>
            </p:custDataLst>
          </p:nvPr>
        </p:nvSpPr>
        <p:spPr>
          <a:xfrm>
            <a:off x="266636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2.数据准备</a:t>
            </a:r>
            <a:endParaRPr kumimoji="1" lang="en-US" altLang="zh-CN" sz="1200" b="1" dirty="0">
              <a:solidFill>
                <a:schemeClr val="bg1">
                  <a:lumMod val="50000"/>
                </a:schemeClr>
              </a:solidFill>
              <a:latin typeface="+mn-ea"/>
              <a:sym typeface="Arial" panose="020B0604020202020204" pitchFamily="34" charset="0"/>
            </a:endParaRPr>
          </a:p>
        </p:txBody>
      </p:sp>
      <p:sp>
        <p:nvSpPr>
          <p:cNvPr id="29" name="Title"/>
          <p:cNvSpPr>
            <a:spLocks noChangeAspect="1"/>
          </p:cNvSpPr>
          <p:nvPr>
            <p:custDataLst>
              <p:tags r:id="rId4"/>
            </p:custDataLst>
          </p:nvPr>
        </p:nvSpPr>
        <p:spPr>
          <a:xfrm>
            <a:off x="4937760" y="643890"/>
            <a:ext cx="2291080" cy="215900"/>
          </a:xfrm>
          <a:prstGeom prst="roundRect">
            <a:avLst>
              <a:gd name="adj" fmla="val 0"/>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rgbClr val="FFFFFF"/>
                </a:solidFill>
                <a:latin typeface="+mn-ea"/>
                <a:sym typeface="Arial" panose="020B0604020202020204" pitchFamily="34" charset="0"/>
              </a:rPr>
              <a:t>3.</a:t>
            </a:r>
            <a:r>
              <a:rPr kumimoji="1" lang="en-US" altLang="zh-CN" sz="1200" b="1" dirty="0">
                <a:solidFill>
                  <a:srgbClr val="FFFFFF"/>
                </a:solidFill>
                <a:latin typeface="+mn-ea"/>
                <a:sym typeface="Arial" panose="020B0604020202020204" pitchFamily="34" charset="0"/>
              </a:rPr>
              <a:t>模型选型</a:t>
            </a:r>
            <a:endParaRPr kumimoji="1" lang="en-US" altLang="zh-CN" sz="1200" b="1" dirty="0">
              <a:solidFill>
                <a:srgbClr val="FFFFFF"/>
              </a:solidFill>
              <a:latin typeface="+mn-ea"/>
              <a:sym typeface="Arial" panose="020B0604020202020204" pitchFamily="34" charset="0"/>
            </a:endParaRPr>
          </a:p>
        </p:txBody>
      </p:sp>
      <p:sp>
        <p:nvSpPr>
          <p:cNvPr id="30" name="Title"/>
          <p:cNvSpPr>
            <a:spLocks noChangeAspect="1"/>
          </p:cNvSpPr>
          <p:nvPr>
            <p:custDataLst>
              <p:tags r:id="rId5"/>
            </p:custDataLst>
          </p:nvPr>
        </p:nvSpPr>
        <p:spPr>
          <a:xfrm>
            <a:off x="720915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5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335" b="1" dirty="0">
                <a:solidFill>
                  <a:schemeClr val="bg1">
                    <a:lumMod val="50000"/>
                  </a:schemeClr>
                </a:solidFill>
                <a:latin typeface="+mn-ea"/>
                <a:sym typeface="Arial" panose="020B0604020202020204" pitchFamily="34" charset="0"/>
              </a:rPr>
              <a:t>4.</a:t>
            </a:r>
            <a:r>
              <a:rPr kumimoji="1" lang="zh-CN" altLang="en-US" sz="1335" b="1" dirty="0">
                <a:solidFill>
                  <a:schemeClr val="bg1">
                    <a:lumMod val="50000"/>
                  </a:schemeClr>
                </a:solidFill>
                <a:latin typeface="+mn-ea"/>
                <a:sym typeface="Arial" panose="020B0604020202020204" pitchFamily="34" charset="0"/>
              </a:rPr>
              <a:t>模型训练与微调</a:t>
            </a:r>
            <a:r>
              <a:rPr kumimoji="1" lang="en-US" altLang="zh-CN" sz="1335" b="1" dirty="0">
                <a:solidFill>
                  <a:schemeClr val="bg1">
                    <a:lumMod val="50000"/>
                  </a:schemeClr>
                </a:solidFill>
                <a:latin typeface="+mn-ea"/>
                <a:sym typeface="Arial" panose="020B0604020202020204" pitchFamily="34" charset="0"/>
              </a:rPr>
              <a:t>(</a:t>
            </a:r>
            <a:r>
              <a:rPr kumimoji="1" lang="zh-CN" altLang="en-US" sz="1335" b="1" dirty="0">
                <a:solidFill>
                  <a:schemeClr val="bg1">
                    <a:lumMod val="50000"/>
                  </a:schemeClr>
                </a:solidFill>
                <a:latin typeface="+mn-ea"/>
                <a:sym typeface="Arial" panose="020B0604020202020204" pitchFamily="34" charset="0"/>
              </a:rPr>
              <a:t>可选</a:t>
            </a:r>
            <a:r>
              <a:rPr kumimoji="1" lang="en-US" altLang="zh-CN" sz="1335" b="1" dirty="0">
                <a:solidFill>
                  <a:schemeClr val="bg1">
                    <a:lumMod val="50000"/>
                  </a:schemeClr>
                </a:solidFill>
                <a:latin typeface="+mn-ea"/>
                <a:sym typeface="Arial" panose="020B0604020202020204" pitchFamily="34" charset="0"/>
              </a:rPr>
              <a:t>)</a:t>
            </a:r>
            <a:endParaRPr kumimoji="1" lang="en-US" altLang="zh-CN" sz="1335" b="1" dirty="0">
              <a:solidFill>
                <a:schemeClr val="bg1">
                  <a:lumMod val="50000"/>
                </a:schemeClr>
              </a:solidFill>
              <a:latin typeface="+mn-ea"/>
              <a:sym typeface="Arial" panose="020B0604020202020204" pitchFamily="34" charset="0"/>
            </a:endParaRPr>
          </a:p>
        </p:txBody>
      </p:sp>
      <p:sp>
        <p:nvSpPr>
          <p:cNvPr id="31" name="Title"/>
          <p:cNvSpPr>
            <a:spLocks noChangeAspect="1"/>
          </p:cNvSpPr>
          <p:nvPr>
            <p:custDataLst>
              <p:tags r:id="rId6"/>
            </p:custDataLst>
          </p:nvPr>
        </p:nvSpPr>
        <p:spPr>
          <a:xfrm>
            <a:off x="948055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200" b="1" dirty="0">
                <a:solidFill>
                  <a:schemeClr val="bg1">
                    <a:lumMod val="50000"/>
                  </a:schemeClr>
                </a:solidFill>
                <a:latin typeface="+mn-ea"/>
                <a:sym typeface="Arial" panose="020B0604020202020204" pitchFamily="34" charset="0"/>
              </a:rPr>
              <a:t>5.</a:t>
            </a:r>
            <a:r>
              <a:rPr kumimoji="1" lang="zh-CN" altLang="en-US" sz="1200" b="1" dirty="0">
                <a:solidFill>
                  <a:schemeClr val="bg1">
                    <a:lumMod val="50000"/>
                  </a:schemeClr>
                </a:solidFill>
                <a:latin typeface="+mn-ea"/>
                <a:sym typeface="Arial" panose="020B0604020202020204" pitchFamily="34" charset="0"/>
              </a:rPr>
              <a:t>智能体开发与迭代</a:t>
            </a:r>
            <a:endParaRPr kumimoji="1" lang="zh-CN" altLang="en-US" sz="1200" b="1" dirty="0">
              <a:solidFill>
                <a:schemeClr val="bg1">
                  <a:lumMod val="50000"/>
                </a:schemeClr>
              </a:solidFill>
              <a:latin typeface="+mn-ea"/>
              <a:sym typeface="Arial" panose="020B0604020202020204" pitchFamily="34" charset="0"/>
            </a:endParaRPr>
          </a:p>
        </p:txBody>
      </p:sp>
      <p:graphicFrame>
        <p:nvGraphicFramePr>
          <p:cNvPr id="272" name="table 272"/>
          <p:cNvGraphicFramePr>
            <a:graphicFrameLocks noGrp="1"/>
          </p:cNvGraphicFramePr>
          <p:nvPr>
            <p:custDataLst>
              <p:tags r:id="rId7"/>
            </p:custDataLst>
          </p:nvPr>
        </p:nvGraphicFramePr>
        <p:xfrm>
          <a:off x="457200" y="2103755"/>
          <a:ext cx="11315065" cy="2917825"/>
        </p:xfrm>
        <a:graphic>
          <a:graphicData uri="http://schemas.openxmlformats.org/drawingml/2006/table">
            <a:tbl>
              <a:tblPr/>
              <a:tblGrid>
                <a:gridCol w="1826260"/>
                <a:gridCol w="1740535"/>
                <a:gridCol w="2905760"/>
                <a:gridCol w="2672080"/>
                <a:gridCol w="2170430"/>
              </a:tblGrid>
              <a:tr h="438785">
                <a:tc>
                  <a:txBody>
                    <a:bodyPr/>
                    <a:p>
                      <a:pPr indent="0" algn="ctr" rtl="0" eaLnBrk="0" fontAlgn="auto">
                        <a:lnSpc>
                          <a:spcPct val="100000"/>
                        </a:lnSpc>
                      </a:pPr>
                      <a:r>
                        <a:rPr sz="1400" b="1">
                          <a:solidFill>
                            <a:schemeClr val="bg1"/>
                          </a:solidFill>
                        </a:rPr>
                        <a:t>评测准确率范围</a:t>
                      </a:r>
                      <a:endParaRPr sz="1400" b="1">
                        <a:solidFill>
                          <a:schemeClr val="bg1"/>
                        </a:solidFill>
                      </a:endParaRPr>
                    </a:p>
                  </a:txBody>
                  <a:tcPr marL="0" marR="0" marT="0" marB="0" vert="horz" anchor="ctr" anchorCtr="0">
                    <a:lnL w="9525" cap="flat" cmpd="sng" algn="ctr">
                      <a:solidFill>
                        <a:srgbClr val="E5E7EB"/>
                      </a:solidFill>
                      <a:prstDash val="solid"/>
                      <a:round/>
                      <a:headEnd type="none" w="med" len="med"/>
                      <a:tailEnd type="none" w="med" len="med"/>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00A6C7"/>
                    </a:solidFill>
                  </a:tcPr>
                </a:tc>
                <a:tc>
                  <a:txBody>
                    <a:bodyPr/>
                    <a:p>
                      <a:pPr indent="0" algn="ctr" rtl="0" eaLnBrk="0" fontAlgn="auto">
                        <a:lnSpc>
                          <a:spcPct val="100000"/>
                        </a:lnSpc>
                      </a:pPr>
                      <a:r>
                        <a:rPr lang="zh-CN" sz="1400" b="1">
                          <a:solidFill>
                            <a:schemeClr val="bg1"/>
                          </a:solidFill>
                        </a:rPr>
                        <a:t>是否微调</a:t>
                      </a:r>
                      <a:r>
                        <a:rPr lang="zh-CN" sz="1400" b="1">
                          <a:solidFill>
                            <a:schemeClr val="bg1"/>
                          </a:solidFill>
                          <a:sym typeface="+mn-ea"/>
                        </a:rPr>
                        <a:t>模型</a:t>
                      </a:r>
                      <a:endParaRPr lang="zh-CN" sz="1400" b="1">
                        <a:solidFill>
                          <a:schemeClr val="bg1"/>
                        </a:solidFill>
                      </a:endParaRPr>
                    </a:p>
                  </a:txBody>
                  <a:tcPr marL="0" marR="0" marT="0" marB="0" vert="horz" anchor="ctr" anchorCtr="0">
                    <a:lnL>
                      <a:noFill/>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00A6C7"/>
                    </a:solidFill>
                  </a:tcPr>
                </a:tc>
                <a:tc>
                  <a:txBody>
                    <a:bodyPr/>
                    <a:p>
                      <a:pPr indent="0" algn="ctr" rtl="0" eaLnBrk="0" fontAlgn="auto">
                        <a:lnSpc>
                          <a:spcPct val="100000"/>
                        </a:lnSpc>
                      </a:pPr>
                      <a:r>
                        <a:rPr sz="1400" b="1">
                          <a:solidFill>
                            <a:schemeClr val="bg1"/>
                          </a:solidFill>
                        </a:rPr>
                        <a:t>适用场景</a:t>
                      </a:r>
                      <a:endParaRPr sz="1400" b="1">
                        <a:solidFill>
                          <a:schemeClr val="bg1"/>
                        </a:solidFill>
                      </a:endParaRPr>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00A6C7"/>
                    </a:solidFill>
                  </a:tcPr>
                </a:tc>
                <a:tc>
                  <a:txBody>
                    <a:bodyPr/>
                    <a:p>
                      <a:pPr indent="0" algn="ctr" rtl="0" eaLnBrk="0" fontAlgn="auto">
                        <a:lnSpc>
                          <a:spcPct val="100000"/>
                        </a:lnSpc>
                        <a:buNone/>
                      </a:pPr>
                      <a:r>
                        <a:rPr lang="zh-CN" sz="1400" b="1">
                          <a:solidFill>
                            <a:schemeClr val="bg1"/>
                          </a:solidFill>
                          <a:sym typeface="+mn-ea"/>
                        </a:rPr>
                        <a:t>数据要求</a:t>
                      </a:r>
                      <a:endParaRPr lang="zh-CN" altLang="en-US" sz="1400" b="1">
                        <a:solidFill>
                          <a:schemeClr val="bg1"/>
                        </a:solidFill>
                      </a:endParaRPr>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00A6C7"/>
                    </a:solidFill>
                  </a:tcPr>
                </a:tc>
                <a:tc>
                  <a:txBody>
                    <a:bodyPr/>
                    <a:p>
                      <a:pPr indent="0" algn="ctr" rtl="0" eaLnBrk="0" fontAlgn="auto">
                        <a:lnSpc>
                          <a:spcPct val="100000"/>
                        </a:lnSpc>
                        <a:buNone/>
                      </a:pPr>
                      <a:r>
                        <a:rPr lang="zh-CN" altLang="en-US" sz="1400" b="1">
                          <a:solidFill>
                            <a:schemeClr val="bg1"/>
                          </a:solidFill>
                        </a:rPr>
                        <a:t>策略</a:t>
                      </a:r>
                      <a:endParaRPr lang="zh-CN" altLang="en-US" sz="1400" b="1">
                        <a:solidFill>
                          <a:schemeClr val="bg1"/>
                        </a:solidFill>
                      </a:endParaRPr>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00A6C7"/>
                    </a:solidFill>
                  </a:tcPr>
                </a:tc>
              </a:tr>
              <a:tr h="601980">
                <a:tc rowSpan="2">
                  <a:txBody>
                    <a:bodyPr/>
                    <a:p>
                      <a:pPr indent="0" algn="ctr" rtl="0" eaLnBrk="0" fontAlgn="auto">
                        <a:lnSpc>
                          <a:spcPct val="100000"/>
                        </a:lnSpc>
                      </a:pPr>
                      <a:endParaRPr sz="1400"/>
                    </a:p>
                    <a:p>
                      <a:pPr indent="0" algn="ctr" rtl="0" eaLnBrk="0" fontAlgn="auto">
                        <a:lnSpc>
                          <a:spcPct val="100000"/>
                        </a:lnSpc>
                      </a:pPr>
                      <a:r>
                        <a:rPr sz="1400"/>
                        <a:t>低于30%</a:t>
                      </a:r>
                      <a:endParaRPr sz="1400"/>
                    </a:p>
                  </a:txBody>
                  <a:tcPr marL="0" marR="0" marT="0" marB="0" vert="horz" anchor="ctr" anchorCtr="0">
                    <a:lnL w="9525" cap="flat" cmpd="sng" algn="ctr">
                      <a:solidFill>
                        <a:srgbClr val="E5E7EB"/>
                      </a:solidFill>
                      <a:prstDash val="solid"/>
                      <a:round/>
                      <a:headEnd type="none" w="med" len="med"/>
                      <a:tailEnd type="none" w="med" len="med"/>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rowSpan="2">
                  <a:txBody>
                    <a:bodyPr/>
                    <a:p>
                      <a:pPr indent="0" algn="ctr" rtl="0" eaLnBrk="0" fontAlgn="auto">
                        <a:lnSpc>
                          <a:spcPct val="100000"/>
                        </a:lnSpc>
                      </a:pPr>
                      <a:r>
                        <a:rPr lang="zh-CN" sz="1400"/>
                        <a:t>微调（</a:t>
                      </a:r>
                      <a:r>
                        <a:rPr lang="zh-CN" sz="1200">
                          <a:solidFill>
                            <a:schemeClr val="tx1">
                              <a:lumMod val="50000"/>
                              <a:lumOff val="50000"/>
                            </a:schemeClr>
                          </a:solidFill>
                        </a:rPr>
                        <a:t>重新训练模型</a:t>
                      </a:r>
                      <a:r>
                        <a:rPr lang="zh-CN" sz="1400"/>
                        <a:t>）</a:t>
                      </a:r>
                      <a:endParaRPr lang="zh-CN" sz="1400"/>
                    </a:p>
                  </a:txBody>
                  <a:tcPr marL="0" marR="0" marT="0" marB="0" vert="horz" anchor="ctr" anchorCtr="0">
                    <a:lnL>
                      <a:noFill/>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rowSpan="2">
                  <a:txBody>
                    <a:bodyPr/>
                    <a:p>
                      <a:pPr indent="0" algn="ctr" rtl="0" eaLnBrk="0" fontAlgn="auto">
                        <a:lnSpc>
                          <a:spcPct val="100000"/>
                        </a:lnSpc>
                      </a:pPr>
                      <a:r>
                        <a:rPr sz="1400"/>
                        <a:t>模型表现较差</a:t>
                      </a:r>
                      <a:r>
                        <a:rPr lang="en-US" sz="1400"/>
                        <a:t>+</a:t>
                      </a:r>
                      <a:r>
                        <a:rPr lang="zh-CN" sz="1400">
                          <a:sym typeface="+mn-ea"/>
                        </a:rPr>
                        <a:t>高质量数据集（大量</a:t>
                      </a:r>
                      <a:r>
                        <a:rPr sz="1400">
                          <a:sym typeface="+mn-ea"/>
                        </a:rPr>
                        <a:t>数据</a:t>
                      </a:r>
                      <a:r>
                        <a:rPr lang="zh-CN" sz="1400">
                          <a:sym typeface="+mn-ea"/>
                        </a:rPr>
                        <a:t>）</a:t>
                      </a:r>
                      <a:endParaRPr lang="zh-CN" sz="1400">
                        <a:sym typeface="+mn-ea"/>
                      </a:endParaRPr>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rowSpan="2">
                  <a:txBody>
                    <a:bodyPr/>
                    <a:p>
                      <a:pPr indent="0" algn="ctr" rtl="0" eaLnBrk="0" fontAlgn="auto">
                        <a:lnSpc>
                          <a:spcPct val="100000"/>
                        </a:lnSpc>
                      </a:pPr>
                      <a:r>
                        <a:rPr sz="1400">
                          <a:sym typeface="+mn-ea"/>
                        </a:rPr>
                        <a:t>业务数据丰富</a:t>
                      </a:r>
                      <a:endParaRPr sz="1400"/>
                    </a:p>
                    <a:p>
                      <a:pPr indent="0" algn="ctr" rtl="0" eaLnBrk="0" fontAlgn="auto">
                        <a:lnSpc>
                          <a:spcPct val="100000"/>
                        </a:lnSpc>
                      </a:pPr>
                      <a:r>
                        <a:rPr sz="1400">
                          <a:sym typeface="+mn-ea"/>
                        </a:rPr>
                        <a:t>（数据量占模型尺寸的</a:t>
                      </a:r>
                      <a:r>
                        <a:rPr lang="en-US" sz="1400">
                          <a:sym typeface="+mn-ea"/>
                        </a:rPr>
                        <a:t>1</a:t>
                      </a:r>
                      <a:r>
                        <a:rPr sz="1400">
                          <a:sym typeface="+mn-ea"/>
                        </a:rPr>
                        <a:t>0%）</a:t>
                      </a:r>
                      <a:endParaRPr lang="zh-CN" altLang="en-US" sz="1400">
                        <a:sym typeface="+mn-ea"/>
                      </a:endParaRPr>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p>
                      <a:pPr indent="0" algn="ctr" rtl="0" eaLnBrk="0" fontAlgn="auto">
                        <a:lnSpc>
                          <a:spcPct val="100000"/>
                        </a:lnSpc>
                        <a:buNone/>
                      </a:pPr>
                      <a:r>
                        <a:rPr lang="zh-CN" altLang="en-US" sz="1400">
                          <a:sym typeface="+mn-ea"/>
                        </a:rPr>
                        <a:t>提示词</a:t>
                      </a:r>
                      <a:r>
                        <a:rPr lang="en-US" altLang="zh-CN" sz="1400">
                          <a:sym typeface="+mn-ea"/>
                        </a:rPr>
                        <a:t>+</a:t>
                      </a:r>
                      <a:r>
                        <a:rPr lang="zh-CN" altLang="en-US" sz="1400">
                          <a:sym typeface="+mn-ea"/>
                        </a:rPr>
                        <a:t>知识库（</a:t>
                      </a:r>
                      <a:r>
                        <a:rPr lang="en-US" altLang="zh-CN" sz="1400">
                          <a:sym typeface="+mn-ea"/>
                        </a:rPr>
                        <a:t>RAG</a:t>
                      </a:r>
                      <a:r>
                        <a:rPr lang="zh-CN" altLang="en-US" sz="1400">
                          <a:sym typeface="+mn-ea"/>
                        </a:rPr>
                        <a:t>）</a:t>
                      </a:r>
                      <a:r>
                        <a:rPr lang="en-US" altLang="zh-CN" sz="1400">
                          <a:sym typeface="+mn-ea"/>
                        </a:rPr>
                        <a:t>+</a:t>
                      </a:r>
                      <a:r>
                        <a:rPr lang="zh-CN" altLang="en-US" sz="1400">
                          <a:sym typeface="+mn-ea"/>
                        </a:rPr>
                        <a:t>模型微调</a:t>
                      </a:r>
                      <a:endParaRPr lang="zh-CN" altLang="en-US" sz="1400">
                        <a:sym typeface="+mn-ea"/>
                      </a:endParaRPr>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0">
                <a:tc vMerge="1">
                  <a:tcPr marL="0" marR="0" marT="0" marB="0" vert="horz" anchor="ctr" anchorCtr="0">
                    <a:lnL w="9525" cap="flat" cmpd="sng" algn="ctr">
                      <a:solidFill>
                        <a:srgbClr val="E5E7EB"/>
                      </a:solidFill>
                      <a:prstDash val="solid"/>
                      <a:round/>
                      <a:headEnd type="none" w="med" len="med"/>
                      <a:tailEnd type="none" w="med" len="med"/>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vMerge="1">
                  <a:tcPr marL="0" marR="0" marT="0" marB="0" vert="horz" anchor="ctr" anchorCtr="0">
                    <a:lnL>
                      <a:noFill/>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vMerge="1">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vMerge="1">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rowSpan="2">
                  <a:txBody>
                    <a:bodyPr/>
                    <a:p>
                      <a:pPr indent="0" algn="ctr" rtl="0" eaLnBrk="0" fontAlgn="auto">
                        <a:lnSpc>
                          <a:spcPct val="100000"/>
                        </a:lnSpc>
                        <a:buNone/>
                      </a:pPr>
                      <a:r>
                        <a:rPr lang="zh-CN" altLang="en-US" sz="1400">
                          <a:sym typeface="+mn-ea"/>
                        </a:rPr>
                        <a:t>提示词</a:t>
                      </a:r>
                      <a:r>
                        <a:rPr lang="en-US" altLang="zh-CN" sz="1400">
                          <a:sym typeface="+mn-ea"/>
                        </a:rPr>
                        <a:t>+</a:t>
                      </a:r>
                      <a:r>
                        <a:rPr lang="zh-CN" altLang="en-US" sz="1400">
                          <a:sym typeface="+mn-ea"/>
                        </a:rPr>
                        <a:t>知识库</a:t>
                      </a:r>
                      <a:r>
                        <a:rPr lang="en-US" altLang="zh-CN" sz="1400">
                          <a:sym typeface="+mn-ea"/>
                        </a:rPr>
                        <a:t>RAG</a:t>
                      </a:r>
                      <a:r>
                        <a:rPr lang="zh-CN" altLang="en-US" sz="1400">
                          <a:sym typeface="+mn-ea"/>
                        </a:rPr>
                        <a:t>）</a:t>
                      </a:r>
                      <a:r>
                        <a:rPr lang="en-US" altLang="zh-CN" sz="1400">
                          <a:sym typeface="+mn-ea"/>
                        </a:rPr>
                        <a:t>+</a:t>
                      </a:r>
                      <a:r>
                        <a:rPr lang="zh-CN" altLang="en-US" sz="1400">
                          <a:sym typeface="+mn-ea"/>
                        </a:rPr>
                        <a:t>模型微调</a:t>
                      </a:r>
                      <a:endParaRPr lang="zh-CN" altLang="en-US" sz="1400">
                        <a:sym typeface="+mn-ea"/>
                      </a:endParaRPr>
                    </a:p>
                    <a:p>
                      <a:pPr indent="0" algn="ctr" rtl="0" eaLnBrk="0" fontAlgn="auto">
                        <a:lnSpc>
                          <a:spcPct val="100000"/>
                        </a:lnSpc>
                        <a:buNone/>
                      </a:pPr>
                      <a:endParaRPr lang="zh-CN" altLang="en-US" sz="1400">
                        <a:sym typeface="+mn-ea"/>
                      </a:endParaRPr>
                    </a:p>
                  </a:txBody>
                  <a:tcPr marL="0" marR="0" marT="0" marB="0" vert="horz" anchor="ctr" anchorCtr="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640080">
                <a:tc>
                  <a:txBody>
                    <a:bodyPr/>
                    <a:p>
                      <a:pPr indent="0" algn="ctr" rtl="0" eaLnBrk="0" fontAlgn="auto">
                        <a:lnSpc>
                          <a:spcPct val="100000"/>
                        </a:lnSpc>
                      </a:pPr>
                      <a:r>
                        <a:rPr sz="1400"/>
                        <a:t>30%-60%</a:t>
                      </a:r>
                      <a:endParaRPr sz="1400"/>
                    </a:p>
                  </a:txBody>
                  <a:tcPr marL="0" marR="0" marT="0" marB="0" vert="horz" anchor="ctr" anchorCtr="0">
                    <a:lnL w="9525" cap="flat" cmpd="sng" algn="ctr">
                      <a:solidFill>
                        <a:srgbClr val="E5E7EB"/>
                      </a:solidFill>
                      <a:prstDash val="solid"/>
                      <a:round/>
                      <a:headEnd type="none" w="med" len="med"/>
                      <a:tailEnd type="none" w="med" len="med"/>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a:txBody>
                    <a:bodyPr/>
                    <a:p>
                      <a:pPr indent="0" algn="ctr" rtl="0" eaLnBrk="0" fontAlgn="auto">
                        <a:lnSpc>
                          <a:spcPct val="100000"/>
                        </a:lnSpc>
                      </a:pPr>
                      <a:r>
                        <a:rPr lang="zh-CN" sz="1400">
                          <a:sym typeface="+mn-ea"/>
                        </a:rPr>
                        <a:t>微调</a:t>
                      </a:r>
                      <a:endParaRPr sz="1400"/>
                    </a:p>
                  </a:txBody>
                  <a:tcPr marL="0" marR="0" marT="0" marB="0" vert="horz" anchor="ctr" anchorCtr="0">
                    <a:lnL>
                      <a:noFill/>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a:txBody>
                    <a:bodyPr/>
                    <a:p>
                      <a:pPr indent="0" algn="ctr" rtl="0" eaLnBrk="0" fontAlgn="auto">
                        <a:lnSpc>
                          <a:spcPct val="100000"/>
                        </a:lnSpc>
                      </a:pPr>
                      <a:r>
                        <a:rPr sz="1400">
                          <a:sym typeface="+mn-ea"/>
                        </a:rPr>
                        <a:t>模型表现</a:t>
                      </a:r>
                      <a:r>
                        <a:rPr sz="1400"/>
                        <a:t>中等+</a:t>
                      </a:r>
                      <a:r>
                        <a:rPr lang="zh-CN" sz="1400"/>
                        <a:t>高质量数据集（适量数据）</a:t>
                      </a:r>
                      <a:endParaRPr lang="zh-CN" sz="1400"/>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a:txBody>
                    <a:bodyPr/>
                    <a:p>
                      <a:pPr indent="0" algn="ctr" rtl="0" eaLnBrk="0" fontAlgn="auto">
                        <a:lnSpc>
                          <a:spcPct val="100000"/>
                        </a:lnSpc>
                        <a:buNone/>
                      </a:pPr>
                      <a:r>
                        <a:rPr lang="en-US" sz="1400">
                          <a:sym typeface="+mn-ea"/>
                        </a:rPr>
                        <a:t>1</a:t>
                      </a:r>
                      <a:r>
                        <a:rPr sz="1400">
                          <a:sym typeface="+mn-ea"/>
                        </a:rPr>
                        <a:t>万-10万的指令集微调数据</a:t>
                      </a:r>
                      <a:endParaRPr lang="zh-CN" altLang="en-US" sz="1400"/>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vMerge="1">
                  <a:tcPr marL="0" marR="0" marT="0" marB="0" vert="horz" anchor="ctr" anchorCtr="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616585">
                <a:tc>
                  <a:txBody>
                    <a:bodyPr/>
                    <a:p>
                      <a:pPr indent="0" algn="ctr" rtl="0" eaLnBrk="0" fontAlgn="auto">
                        <a:lnSpc>
                          <a:spcPct val="100000"/>
                        </a:lnSpc>
                      </a:pPr>
                      <a:r>
                        <a:rPr sz="1400"/>
                        <a:t>60%-80%</a:t>
                      </a:r>
                      <a:endParaRPr sz="1400"/>
                    </a:p>
                  </a:txBody>
                  <a:tcPr marL="0" marR="0" marT="0" marB="0" vert="horz" anchor="ctr" anchorCtr="0">
                    <a:lnL w="9525" cap="flat" cmpd="sng" algn="ctr">
                      <a:solidFill>
                        <a:srgbClr val="E5E7EB"/>
                      </a:solidFill>
                      <a:prstDash val="solid"/>
                      <a:round/>
                      <a:headEnd type="none" w="med" len="med"/>
                      <a:tailEnd type="none" w="med" len="med"/>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p>
                      <a:pPr indent="0" algn="ctr" rtl="0" eaLnBrk="0" fontAlgn="auto">
                        <a:lnSpc>
                          <a:spcPct val="100000"/>
                        </a:lnSpc>
                      </a:pPr>
                      <a:r>
                        <a:rPr lang="zh-CN" sz="1400"/>
                        <a:t>否</a:t>
                      </a:r>
                      <a:endParaRPr lang="zh-CN" sz="1400"/>
                    </a:p>
                  </a:txBody>
                  <a:tcPr marL="0" marR="0" marT="0" marB="0" vert="horz" anchor="ctr" anchorCtr="0">
                    <a:lnL>
                      <a:noFill/>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p>
                      <a:pPr indent="0" algn="ctr" rtl="0" eaLnBrk="0" fontAlgn="auto">
                        <a:lnSpc>
                          <a:spcPct val="100000"/>
                        </a:lnSpc>
                      </a:pPr>
                      <a:r>
                        <a:rPr sz="1400">
                          <a:sym typeface="+mn-ea"/>
                        </a:rPr>
                        <a:t>模型表现</a:t>
                      </a:r>
                      <a:r>
                        <a:rPr lang="zh-CN" sz="1400">
                          <a:sym typeface="+mn-ea"/>
                        </a:rPr>
                        <a:t>较好</a:t>
                      </a:r>
                      <a:r>
                        <a:rPr sz="1400">
                          <a:sym typeface="+mn-ea"/>
                        </a:rPr>
                        <a:t>+</a:t>
                      </a:r>
                      <a:r>
                        <a:rPr lang="zh-CN" sz="1400">
                          <a:sym typeface="+mn-ea"/>
                        </a:rPr>
                        <a:t>适量数据</a:t>
                      </a:r>
                      <a:endParaRPr lang="zh-CN" sz="1400">
                        <a:sym typeface="+mn-ea"/>
                      </a:endParaRPr>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p>
                      <a:pPr indent="0" algn="ctr" rtl="0" eaLnBrk="0" fontAlgn="auto">
                        <a:lnSpc>
                          <a:spcPct val="100000"/>
                        </a:lnSpc>
                        <a:buNone/>
                      </a:pPr>
                      <a:r>
                        <a:rPr sz="1400">
                          <a:sym typeface="+mn-ea"/>
                        </a:rPr>
                        <a:t>无特定数据量要求</a:t>
                      </a:r>
                      <a:endParaRPr lang="zh-CN" altLang="en-US" sz="1400">
                        <a:sym typeface="+mn-ea"/>
                      </a:endParaRPr>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rowSpan="2">
                  <a:txBody>
                    <a:bodyPr/>
                    <a:p>
                      <a:pPr indent="0" algn="ctr" rtl="0" eaLnBrk="0" fontAlgn="auto">
                        <a:lnSpc>
                          <a:spcPct val="100000"/>
                        </a:lnSpc>
                        <a:buNone/>
                      </a:pPr>
                      <a:r>
                        <a:rPr lang="zh-CN" altLang="en-US" sz="1400">
                          <a:sym typeface="+mn-ea"/>
                        </a:rPr>
                        <a:t>提示词</a:t>
                      </a:r>
                      <a:r>
                        <a:rPr lang="en-US" altLang="zh-CN" sz="1400">
                          <a:sym typeface="+mn-ea"/>
                        </a:rPr>
                        <a:t>+</a:t>
                      </a:r>
                      <a:r>
                        <a:rPr lang="zh-CN" altLang="en-US" sz="1400">
                          <a:sym typeface="+mn-ea"/>
                        </a:rPr>
                        <a:t>通用模型</a:t>
                      </a:r>
                      <a:r>
                        <a:rPr lang="en-US" altLang="zh-CN" sz="1400">
                          <a:sym typeface="+mn-ea"/>
                        </a:rPr>
                        <a:t>+</a:t>
                      </a:r>
                      <a:r>
                        <a:rPr lang="zh-CN" altLang="en-US" sz="1400">
                          <a:sym typeface="+mn-ea"/>
                        </a:rPr>
                        <a:t>知识库</a:t>
                      </a:r>
                      <a:r>
                        <a:rPr lang="en-US" altLang="zh-CN" sz="1400">
                          <a:sym typeface="+mn-ea"/>
                        </a:rPr>
                        <a:t>RAG</a:t>
                      </a:r>
                      <a:r>
                        <a:rPr lang="zh-CN" altLang="en-US" sz="1400">
                          <a:sym typeface="+mn-ea"/>
                        </a:rPr>
                        <a:t>）</a:t>
                      </a:r>
                      <a:endParaRPr lang="zh-CN" altLang="en-US" sz="1400">
                        <a:sym typeface="+mn-ea"/>
                      </a:endParaRPr>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0">
                <a:tc rowSpan="2">
                  <a:txBody>
                    <a:bodyPr/>
                    <a:p>
                      <a:pPr indent="0" algn="ctr" rtl="0" eaLnBrk="0" fontAlgn="auto">
                        <a:lnSpc>
                          <a:spcPct val="100000"/>
                        </a:lnSpc>
                      </a:pPr>
                      <a:r>
                        <a:rPr sz="1400"/>
                        <a:t>80%以上</a:t>
                      </a:r>
                      <a:endParaRPr sz="1400"/>
                    </a:p>
                  </a:txBody>
                  <a:tcPr marL="0" marR="0" marT="0" marB="0" vert="horz" anchor="ctr" anchorCtr="0">
                    <a:lnL w="9525" cap="flat" cmpd="sng" algn="ctr">
                      <a:solidFill>
                        <a:srgbClr val="E5E7EB"/>
                      </a:solidFill>
                      <a:prstDash val="solid"/>
                      <a:round/>
                      <a:headEnd type="none" w="med" len="med"/>
                      <a:tailEnd type="none" w="med" len="med"/>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rowSpan="2">
                  <a:txBody>
                    <a:bodyPr/>
                    <a:p>
                      <a:pPr indent="0" algn="ctr" rtl="0" eaLnBrk="0" fontAlgn="auto">
                        <a:lnSpc>
                          <a:spcPct val="100000"/>
                        </a:lnSpc>
                      </a:pPr>
                      <a:r>
                        <a:rPr lang="zh-CN" sz="1400">
                          <a:sym typeface="+mn-ea"/>
                        </a:rPr>
                        <a:t>否</a:t>
                      </a:r>
                      <a:endParaRPr lang="zh-CN" sz="1400"/>
                    </a:p>
                    <a:p>
                      <a:pPr indent="0" algn="ctr" rtl="0" eaLnBrk="0" fontAlgn="auto">
                        <a:lnSpc>
                          <a:spcPct val="100000"/>
                        </a:lnSpc>
                      </a:pPr>
                      <a:endParaRPr lang="zh-CN" sz="1400"/>
                    </a:p>
                  </a:txBody>
                  <a:tcPr marL="0" marR="0" marT="0" marB="0" vert="horz" anchor="ctr" anchorCtr="0">
                    <a:lnL>
                      <a:noFill/>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rowSpan="2">
                  <a:txBody>
                    <a:bodyPr/>
                    <a:p>
                      <a:pPr indent="0" algn="ctr" rtl="0" eaLnBrk="0" fontAlgn="auto">
                        <a:lnSpc>
                          <a:spcPct val="100000"/>
                        </a:lnSpc>
                      </a:pPr>
                      <a:r>
                        <a:rPr sz="1400">
                          <a:sym typeface="+mn-ea"/>
                        </a:rPr>
                        <a:t>模型表现</a:t>
                      </a:r>
                      <a:r>
                        <a:rPr lang="zh-CN" sz="1400">
                          <a:sym typeface="+mn-ea"/>
                        </a:rPr>
                        <a:t>优秀</a:t>
                      </a:r>
                      <a:endParaRPr sz="1400"/>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rowSpan="2">
                  <a:txBody>
                    <a:bodyPr/>
                    <a:p>
                      <a:pPr indent="0" algn="ctr" rtl="0" eaLnBrk="0" fontAlgn="auto">
                        <a:lnSpc>
                          <a:spcPct val="100000"/>
                        </a:lnSpc>
                        <a:buNone/>
                      </a:pPr>
                      <a:r>
                        <a:rPr sz="1400">
                          <a:sym typeface="+mn-ea"/>
                        </a:rPr>
                        <a:t>无特定数据量要求</a:t>
                      </a:r>
                      <a:endParaRPr lang="zh-CN" altLang="en-US" sz="1400"/>
                    </a:p>
                  </a:txBody>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vMerge="1">
                  <a:tcPr marL="0" marR="0" marT="0" marB="0" vert="horz" anchor="ctr" anchorCtr="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620395">
                <a:tc vMerge="1">
                  <a:tcPr marL="0" marR="0" marT="0" marB="0" vert="horz" anchor="ctr" anchorCtr="0">
                    <a:lnL w="9525" cap="flat" cmpd="sng" algn="ctr">
                      <a:solidFill>
                        <a:srgbClr val="E5E7EB"/>
                      </a:solidFill>
                      <a:prstDash val="solid"/>
                      <a:round/>
                      <a:headEnd type="none" w="med" len="med"/>
                      <a:tailEnd type="none" w="med" len="med"/>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vMerge="1">
                  <a:tcPr marL="0" marR="0" marT="0" marB="0" vert="horz" anchor="ctr" anchorCtr="0">
                    <a:lnL>
                      <a:noFill/>
                    </a:lnL>
                    <a:ln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vMerge="1">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vMerge="1">
                  <a:tcPr marL="0" marR="0" marT="0" marB="0" vert="horz" anchor="ctr" anchorCtr="0">
                    <a:lnL>
                      <a:noFill/>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5">
                        <a:lumMod val="20000"/>
                        <a:lumOff val="80000"/>
                      </a:schemeClr>
                    </a:solidFill>
                  </a:tcPr>
                </a:tc>
                <a:tc>
                  <a:txBody>
                    <a:bodyPr/>
                    <a:p>
                      <a:pPr indent="0" algn="ctr" rtl="0" eaLnBrk="0" fontAlgn="auto">
                        <a:lnSpc>
                          <a:spcPct val="100000"/>
                        </a:lnSpc>
                        <a:buNone/>
                      </a:pPr>
                      <a:r>
                        <a:rPr lang="zh-CN" altLang="en-US" sz="1400">
                          <a:sym typeface="+mn-ea"/>
                        </a:rPr>
                        <a:t>提示词</a:t>
                      </a:r>
                      <a:r>
                        <a:rPr lang="en-US" altLang="zh-CN" sz="1400">
                          <a:sym typeface="+mn-ea"/>
                        </a:rPr>
                        <a:t>+</a:t>
                      </a:r>
                      <a:r>
                        <a:rPr lang="zh-CN" altLang="en-US" sz="1400">
                          <a:sym typeface="+mn-ea"/>
                        </a:rPr>
                        <a:t>通用模型</a:t>
                      </a:r>
                      <a:endParaRPr lang="zh-CN" altLang="en-US" sz="1400">
                        <a:sym typeface="+mn-ea"/>
                      </a:endParaRPr>
                    </a:p>
                  </a:txBody>
                  <a:tcPr marL="0" marR="0" marT="0" marB="0" vert="horz" anchor="ctr" anchorCtr="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35" name="文本框 34"/>
          <p:cNvSpPr txBox="1"/>
          <p:nvPr/>
        </p:nvSpPr>
        <p:spPr>
          <a:xfrm>
            <a:off x="817880" y="6416675"/>
            <a:ext cx="10890885" cy="337185"/>
          </a:xfrm>
          <a:prstGeom prst="rect">
            <a:avLst/>
          </a:prstGeom>
        </p:spPr>
        <p:txBody>
          <a:bodyPr wrap="square">
            <a:spAutoFit/>
          </a:bodyPr>
          <a:p>
            <a:pPr marL="0" indent="0">
              <a:spcBef>
                <a:spcPct val="0"/>
              </a:spcBef>
              <a:spcAft>
                <a:spcPct val="0"/>
              </a:spcAft>
            </a:pPr>
            <a:r>
              <a:rPr lang="zh-CN" altLang="en-US" sz="16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模型选型并非一刀切</a:t>
            </a:r>
            <a:r>
              <a:rPr lang="zh-CN" altLang="en-US" sz="16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，而是根据现有模型的性能和可用的数据资源进行动态调整</a:t>
            </a:r>
            <a:r>
              <a:rPr lang="zh-CN" altLang="en-US" sz="16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rPr>
              <a:t>，以达到最佳的业务效果。</a:t>
            </a:r>
            <a:endParaRPr lang="zh-CN" altLang="en-US" sz="1600" i="0">
              <a:gradFill>
                <a:gsLst>
                  <a:gs pos="50410">
                    <a:srgbClr val="FB9B36"/>
                  </a:gs>
                  <a:gs pos="0">
                    <a:srgbClr val="FE564D"/>
                  </a:gs>
                  <a:gs pos="100000">
                    <a:srgbClr val="F9CA26"/>
                  </a:gs>
                </a:gsLst>
                <a:lin ang="5400000" scaled="1"/>
              </a:gradFill>
              <a:latin typeface="微软雅黑" panose="020B0503020204020204" charset="-122"/>
              <a:ea typeface="微软雅黑" panose="020B0503020204020204" charset="-122"/>
            </a:endParaRPr>
          </a:p>
        </p:txBody>
      </p:sp>
      <p:pic>
        <p:nvPicPr>
          <p:cNvPr id="6" name="图片 5" descr="灯泡"/>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6575" y="6450965"/>
            <a:ext cx="241300" cy="284480"/>
          </a:xfrm>
          <a:prstGeom prst="rect">
            <a:avLst/>
          </a:prstGeom>
        </p:spPr>
      </p:pic>
      <p:sp>
        <p:nvSpPr>
          <p:cNvPr id="5" name="文本框 4"/>
          <p:cNvSpPr txBox="1"/>
          <p:nvPr/>
        </p:nvSpPr>
        <p:spPr>
          <a:xfrm>
            <a:off x="1857375" y="1766570"/>
            <a:ext cx="7689850" cy="337185"/>
          </a:xfrm>
          <a:prstGeom prst="rect">
            <a:avLst/>
          </a:prstGeom>
        </p:spPr>
        <p:txBody>
          <a:bodyPr wrap="square">
            <a:spAutoFit/>
          </a:bodyPr>
          <a:p>
            <a:pPr marL="0" indent="0"/>
            <a:r>
              <a:rPr lang="zh-CN" altLang="en-US" sz="1600" b="0" i="0">
                <a:solidFill>
                  <a:srgbClr val="000000"/>
                </a:solidFill>
                <a:latin typeface="Noto Sans SC" panose="020B0200000000000000" charset="-122"/>
                <a:ea typeface="Noto Sans SC" panose="020B0200000000000000" charset="-122"/>
              </a:rPr>
              <a:t>根据模型评测准确率和可用数据资源，选择最适合的策略</a:t>
            </a:r>
            <a:endParaRPr lang="zh-CN" altLang="en-US" sz="1600" b="0" i="0">
              <a:solidFill>
                <a:srgbClr val="000000"/>
              </a:solidFill>
              <a:latin typeface="Noto Sans SC" panose="020B0200000000000000" charset="-122"/>
              <a:ea typeface="Noto Sans SC" panose="020B0200000000000000" charset="-122"/>
            </a:endParaRPr>
          </a:p>
        </p:txBody>
      </p:sp>
      <p:sp>
        <p:nvSpPr>
          <p:cNvPr id="7" name="文本框 6"/>
          <p:cNvSpPr txBox="1"/>
          <p:nvPr/>
        </p:nvSpPr>
        <p:spPr>
          <a:xfrm>
            <a:off x="709930" y="1766570"/>
            <a:ext cx="1036955" cy="337185"/>
          </a:xfrm>
          <a:prstGeom prst="rect">
            <a:avLst/>
          </a:prstGeom>
          <a:noFill/>
        </p:spPr>
        <p:txBody>
          <a:bodyPr wrap="square" rtlCol="0" anchor="t">
            <a:spAutoFit/>
          </a:bodyPr>
          <a:p>
            <a:pPr algn="l" rtl="0">
              <a:lnSpc>
                <a:spcPct val="100000"/>
              </a:lnSpc>
              <a:buClrTx/>
              <a:buSzTx/>
              <a:buFontTx/>
            </a:pPr>
            <a:r>
              <a:rPr lang="zh-CN" altLang="en-US" sz="1600" b="1" dirty="0">
                <a:solidFill>
                  <a:srgbClr val="00A6C7"/>
                </a:solidFill>
                <a:latin typeface="+mn-ea"/>
                <a:ea typeface="微软雅黑" panose="020B0503020204020204" charset="-122"/>
                <a:cs typeface="微软雅黑" panose="020B0503020204020204" charset="-122"/>
                <a:sym typeface="+mn-ea"/>
              </a:rPr>
              <a:t>决策表</a:t>
            </a:r>
            <a:endParaRPr lang="zh-CN" altLang="en-US" sz="1600" b="1" dirty="0">
              <a:solidFill>
                <a:srgbClr val="00A6C7"/>
              </a:solidFill>
              <a:latin typeface="+mn-ea"/>
              <a:ea typeface="微软雅黑" panose="020B0503020204020204" charset="-122"/>
              <a:cs typeface="微软雅黑" panose="020B0503020204020204" charset="-122"/>
              <a:sym typeface="+mn-ea"/>
            </a:endParaRPr>
          </a:p>
        </p:txBody>
      </p:sp>
      <p:grpSp>
        <p:nvGrpSpPr>
          <p:cNvPr id="4" name="组合 3"/>
          <p:cNvGrpSpPr/>
          <p:nvPr/>
        </p:nvGrpSpPr>
        <p:grpSpPr>
          <a:xfrm>
            <a:off x="394970" y="5430520"/>
            <a:ext cx="11313160" cy="926465"/>
            <a:chOff x="721" y="8198"/>
            <a:chExt cx="17816" cy="1845"/>
          </a:xfrm>
        </p:grpSpPr>
        <p:grpSp>
          <p:nvGrpSpPr>
            <p:cNvPr id="15" name="组合 14"/>
            <p:cNvGrpSpPr/>
            <p:nvPr/>
          </p:nvGrpSpPr>
          <p:grpSpPr>
            <a:xfrm>
              <a:off x="721" y="8198"/>
              <a:ext cx="17817" cy="812"/>
              <a:chOff x="427" y="8198"/>
              <a:chExt cx="18690" cy="812"/>
            </a:xfrm>
          </p:grpSpPr>
          <p:sp>
            <p:nvSpPr>
              <p:cNvPr id="10" name="文本框 9"/>
              <p:cNvSpPr txBox="1"/>
              <p:nvPr/>
            </p:nvSpPr>
            <p:spPr>
              <a:xfrm>
                <a:off x="427" y="8198"/>
                <a:ext cx="3570" cy="813"/>
              </a:xfrm>
              <a:prstGeom prst="rect">
                <a:avLst/>
              </a:prstGeom>
              <a:solidFill>
                <a:schemeClr val="accent5">
                  <a:lumMod val="75000"/>
                </a:schemeClr>
              </a:solidFill>
            </p:spPr>
            <p:txBody>
              <a:bodyPr wrap="square" anchor="ctr" anchorCtr="0">
                <a:noAutofit/>
              </a:bodyPr>
              <a:p>
                <a:pPr algn="ctr"/>
                <a:r>
                  <a:rPr lang="zh-CN" altLang="en-US" sz="1400" b="1">
                    <a:solidFill>
                      <a:schemeClr val="bg1"/>
                    </a:solidFill>
                    <a:latin typeface="微软雅黑" panose="020B0503020204020204" charset="-122"/>
                    <a:ea typeface="微软雅黑" panose="020B0503020204020204" charset="-122"/>
                  </a:rPr>
                  <a:t>响应速度</a:t>
                </a:r>
                <a:endParaRPr lang="zh-CN" altLang="en-US" sz="1400" b="1">
                  <a:solidFill>
                    <a:schemeClr val="bg1"/>
                  </a:solidFill>
                  <a:latin typeface="微软雅黑" panose="020B0503020204020204" charset="-122"/>
                  <a:ea typeface="微软雅黑" panose="020B0503020204020204" charset="-122"/>
                </a:endParaRPr>
              </a:p>
            </p:txBody>
          </p:sp>
          <p:sp>
            <p:nvSpPr>
              <p:cNvPr id="11" name="文本框 10"/>
              <p:cNvSpPr txBox="1"/>
              <p:nvPr/>
            </p:nvSpPr>
            <p:spPr>
              <a:xfrm>
                <a:off x="4207" y="8198"/>
                <a:ext cx="3570" cy="813"/>
              </a:xfrm>
              <a:prstGeom prst="rect">
                <a:avLst/>
              </a:prstGeom>
              <a:solidFill>
                <a:schemeClr val="accent5">
                  <a:lumMod val="75000"/>
                </a:schemeClr>
              </a:solidFill>
            </p:spPr>
            <p:txBody>
              <a:bodyPr wrap="square" anchor="ctr" anchorCtr="0">
                <a:noAutofit/>
              </a:bodyPr>
              <a:p>
                <a:pPr algn="ctr"/>
                <a:r>
                  <a:rPr lang="zh-CN" altLang="en-US" sz="1400" b="1">
                    <a:solidFill>
                      <a:schemeClr val="bg1"/>
                    </a:solidFill>
                    <a:latin typeface="微软雅黑" panose="020B0503020204020204" charset="-122"/>
                    <a:ea typeface="微软雅黑" panose="020B0503020204020204" charset="-122"/>
                  </a:rPr>
                  <a:t>输入长度与多轮交互能力</a:t>
                </a:r>
                <a:endParaRPr lang="zh-CN" altLang="en-US" sz="1400" b="1">
                  <a:solidFill>
                    <a:schemeClr val="bg1"/>
                  </a:solidFill>
                  <a:latin typeface="微软雅黑" panose="020B0503020204020204" charset="-122"/>
                  <a:ea typeface="微软雅黑" panose="020B0503020204020204" charset="-122"/>
                </a:endParaRPr>
              </a:p>
            </p:txBody>
          </p:sp>
          <p:sp>
            <p:nvSpPr>
              <p:cNvPr id="12" name="文本框 11"/>
              <p:cNvSpPr txBox="1"/>
              <p:nvPr/>
            </p:nvSpPr>
            <p:spPr>
              <a:xfrm>
                <a:off x="7987" y="8198"/>
                <a:ext cx="3570" cy="813"/>
              </a:xfrm>
              <a:prstGeom prst="rect">
                <a:avLst/>
              </a:prstGeom>
              <a:solidFill>
                <a:schemeClr val="accent5">
                  <a:lumMod val="75000"/>
                </a:schemeClr>
              </a:solidFill>
            </p:spPr>
            <p:txBody>
              <a:bodyPr wrap="square" anchor="ctr" anchorCtr="0">
                <a:noAutofit/>
              </a:bodyPr>
              <a:p>
                <a:pPr algn="ctr"/>
                <a:r>
                  <a:rPr lang="zh-CN" altLang="en-US" sz="1400" b="1">
                    <a:solidFill>
                      <a:schemeClr val="bg1"/>
                    </a:solidFill>
                    <a:latin typeface="微软雅黑" panose="020B0503020204020204" charset="-122"/>
                    <a:ea typeface="微软雅黑" panose="020B0503020204020204" charset="-122"/>
                  </a:rPr>
                  <a:t>问答准确率</a:t>
                </a:r>
                <a:endParaRPr lang="zh-CN" altLang="en-US" sz="1400" b="1">
                  <a:solidFill>
                    <a:schemeClr val="bg1"/>
                  </a:solidFill>
                  <a:latin typeface="微软雅黑" panose="020B0503020204020204" charset="-122"/>
                  <a:ea typeface="微软雅黑" panose="020B0503020204020204" charset="-122"/>
                </a:endParaRPr>
              </a:p>
            </p:txBody>
          </p:sp>
          <p:sp>
            <p:nvSpPr>
              <p:cNvPr id="13" name="文本框 12"/>
              <p:cNvSpPr txBox="1"/>
              <p:nvPr/>
            </p:nvSpPr>
            <p:spPr>
              <a:xfrm>
                <a:off x="11767" y="8198"/>
                <a:ext cx="3570" cy="813"/>
              </a:xfrm>
              <a:prstGeom prst="rect">
                <a:avLst/>
              </a:prstGeom>
              <a:solidFill>
                <a:schemeClr val="accent5">
                  <a:lumMod val="75000"/>
                </a:schemeClr>
              </a:solidFill>
            </p:spPr>
            <p:txBody>
              <a:bodyPr wrap="square" anchor="ctr" anchorCtr="0">
                <a:noAutofit/>
              </a:bodyPr>
              <a:p>
                <a:pPr algn="ctr"/>
                <a:r>
                  <a:rPr lang="zh-CN" altLang="en-US" sz="1400" b="1">
                    <a:solidFill>
                      <a:schemeClr val="bg1"/>
                    </a:solidFill>
                    <a:latin typeface="微软雅黑" panose="020B0503020204020204" charset="-122"/>
                    <a:ea typeface="微软雅黑" panose="020B0503020204020204" charset="-122"/>
                  </a:rPr>
                  <a:t>语言个性化程度</a:t>
                </a:r>
                <a:endParaRPr lang="zh-CN" altLang="en-US" sz="1400" b="1">
                  <a:solidFill>
                    <a:schemeClr val="bg1"/>
                  </a:solidFill>
                  <a:latin typeface="微软雅黑" panose="020B0503020204020204" charset="-122"/>
                  <a:ea typeface="微软雅黑" panose="020B0503020204020204" charset="-122"/>
                </a:endParaRPr>
              </a:p>
            </p:txBody>
          </p:sp>
          <p:sp>
            <p:nvSpPr>
              <p:cNvPr id="14" name="文本框 13"/>
              <p:cNvSpPr txBox="1"/>
              <p:nvPr/>
            </p:nvSpPr>
            <p:spPr>
              <a:xfrm>
                <a:off x="15547" y="8198"/>
                <a:ext cx="3570" cy="813"/>
              </a:xfrm>
              <a:prstGeom prst="rect">
                <a:avLst/>
              </a:prstGeom>
              <a:solidFill>
                <a:schemeClr val="accent5">
                  <a:lumMod val="75000"/>
                </a:schemeClr>
              </a:solidFill>
            </p:spPr>
            <p:txBody>
              <a:bodyPr wrap="square" anchor="ctr" anchorCtr="0">
                <a:noAutofit/>
              </a:bodyPr>
              <a:p>
                <a:pPr algn="ctr"/>
                <a:r>
                  <a:rPr lang="zh-CN" altLang="en-US" sz="1400" b="1">
                    <a:solidFill>
                      <a:schemeClr val="bg1"/>
                    </a:solidFill>
                    <a:latin typeface="微软雅黑" panose="020B0503020204020204" charset="-122"/>
                    <a:ea typeface="微软雅黑" panose="020B0503020204020204" charset="-122"/>
                  </a:rPr>
                  <a:t>答案可信度</a:t>
                </a:r>
                <a:endParaRPr lang="zh-CN" altLang="en-US" sz="1400" b="1">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721" y="9231"/>
              <a:ext cx="17817" cy="812"/>
              <a:chOff x="427" y="8198"/>
              <a:chExt cx="18690" cy="812"/>
            </a:xfrm>
          </p:grpSpPr>
          <p:sp>
            <p:nvSpPr>
              <p:cNvPr id="17" name="文本框 16"/>
              <p:cNvSpPr txBox="1"/>
              <p:nvPr/>
            </p:nvSpPr>
            <p:spPr>
              <a:xfrm>
                <a:off x="427" y="8198"/>
                <a:ext cx="3570" cy="813"/>
              </a:xfrm>
              <a:prstGeom prst="rect">
                <a:avLst/>
              </a:prstGeom>
              <a:solidFill>
                <a:schemeClr val="accent5">
                  <a:lumMod val="75000"/>
                </a:schemeClr>
              </a:solidFill>
            </p:spPr>
            <p:txBody>
              <a:bodyPr wrap="square" anchor="ctr" anchorCtr="0">
                <a:noAutofit/>
              </a:bodyPr>
              <a:p>
                <a:pPr algn="ctr"/>
                <a:r>
                  <a:rPr lang="zh-CN" altLang="en-US" sz="1400" b="1">
                    <a:solidFill>
                      <a:schemeClr val="bg1"/>
                    </a:solidFill>
                    <a:latin typeface="微软雅黑" panose="020B0503020204020204" charset="-122"/>
                    <a:ea typeface="微软雅黑" panose="020B0503020204020204" charset="-122"/>
                  </a:rPr>
                  <a:t>知识库构建难度</a:t>
                </a:r>
                <a:endParaRPr lang="zh-CN" altLang="en-US" sz="1400" b="1">
                  <a:solidFill>
                    <a:schemeClr val="bg1"/>
                  </a:solidFill>
                  <a:latin typeface="微软雅黑" panose="020B0503020204020204" charset="-122"/>
                  <a:ea typeface="微软雅黑" panose="020B0503020204020204" charset="-122"/>
                </a:endParaRPr>
              </a:p>
            </p:txBody>
          </p:sp>
          <p:sp>
            <p:nvSpPr>
              <p:cNvPr id="18" name="文本框 17"/>
              <p:cNvSpPr txBox="1"/>
              <p:nvPr/>
            </p:nvSpPr>
            <p:spPr>
              <a:xfrm>
                <a:off x="4207" y="8198"/>
                <a:ext cx="3570" cy="813"/>
              </a:xfrm>
              <a:prstGeom prst="rect">
                <a:avLst/>
              </a:prstGeom>
              <a:solidFill>
                <a:schemeClr val="accent5">
                  <a:lumMod val="75000"/>
                </a:schemeClr>
              </a:solidFill>
            </p:spPr>
            <p:txBody>
              <a:bodyPr wrap="square" anchor="ctr" anchorCtr="0">
                <a:noAutofit/>
              </a:bodyPr>
              <a:p>
                <a:pPr algn="ctr"/>
                <a:r>
                  <a:rPr lang="zh-CN" altLang="en-US" sz="1400" b="1">
                    <a:solidFill>
                      <a:schemeClr val="bg1"/>
                    </a:solidFill>
                    <a:latin typeface="微软雅黑" panose="020B0503020204020204" charset="-122"/>
                    <a:ea typeface="微软雅黑" panose="020B0503020204020204" charset="-122"/>
                  </a:rPr>
                  <a:t>信息安全系数</a:t>
                </a:r>
                <a:endParaRPr lang="zh-CN" altLang="en-US" sz="1400" b="1">
                  <a:solidFill>
                    <a:schemeClr val="bg1"/>
                  </a:solidFill>
                  <a:latin typeface="微软雅黑" panose="020B0503020204020204" charset="-122"/>
                  <a:ea typeface="微软雅黑" panose="020B0503020204020204" charset="-122"/>
                </a:endParaRPr>
              </a:p>
            </p:txBody>
          </p:sp>
          <p:sp>
            <p:nvSpPr>
              <p:cNvPr id="19" name="文本框 18"/>
              <p:cNvSpPr txBox="1"/>
              <p:nvPr/>
            </p:nvSpPr>
            <p:spPr>
              <a:xfrm>
                <a:off x="7987" y="8198"/>
                <a:ext cx="3570" cy="813"/>
              </a:xfrm>
              <a:prstGeom prst="rect">
                <a:avLst/>
              </a:prstGeom>
              <a:solidFill>
                <a:schemeClr val="accent5">
                  <a:lumMod val="75000"/>
                </a:schemeClr>
              </a:solidFill>
            </p:spPr>
            <p:txBody>
              <a:bodyPr wrap="square" anchor="ctr" anchorCtr="0">
                <a:noAutofit/>
              </a:bodyPr>
              <a:p>
                <a:pPr algn="ctr"/>
                <a:r>
                  <a:rPr lang="zh-CN" altLang="en-US" sz="1400" b="1">
                    <a:solidFill>
                      <a:schemeClr val="bg1"/>
                    </a:solidFill>
                    <a:latin typeface="微软雅黑" panose="020B0503020204020204" charset="-122"/>
                    <a:ea typeface="微软雅黑" panose="020B0503020204020204" charset="-122"/>
                  </a:rPr>
                  <a:t>垂域训练能力</a:t>
                </a:r>
                <a:endParaRPr lang="zh-CN" altLang="en-US" sz="1400" b="1">
                  <a:solidFill>
                    <a:schemeClr val="bg1"/>
                  </a:solidFill>
                  <a:latin typeface="微软雅黑" panose="020B0503020204020204" charset="-122"/>
                  <a:ea typeface="微软雅黑" panose="020B0503020204020204" charset="-122"/>
                </a:endParaRPr>
              </a:p>
            </p:txBody>
          </p:sp>
          <p:sp>
            <p:nvSpPr>
              <p:cNvPr id="20" name="文本框 19"/>
              <p:cNvSpPr txBox="1"/>
              <p:nvPr/>
            </p:nvSpPr>
            <p:spPr>
              <a:xfrm>
                <a:off x="11767" y="8198"/>
                <a:ext cx="3570" cy="813"/>
              </a:xfrm>
              <a:prstGeom prst="rect">
                <a:avLst/>
              </a:prstGeom>
              <a:solidFill>
                <a:schemeClr val="accent5">
                  <a:lumMod val="75000"/>
                </a:schemeClr>
              </a:solidFill>
            </p:spPr>
            <p:txBody>
              <a:bodyPr wrap="square" anchor="ctr" anchorCtr="0">
                <a:noAutofit/>
              </a:bodyPr>
              <a:p>
                <a:pPr algn="ctr"/>
                <a:r>
                  <a:rPr lang="zh-CN" altLang="en-US" sz="1400" b="1">
                    <a:solidFill>
                      <a:schemeClr val="bg1"/>
                    </a:solidFill>
                    <a:latin typeface="微软雅黑" panose="020B0503020204020204" charset="-122"/>
                    <a:ea typeface="微软雅黑" panose="020B0503020204020204" charset="-122"/>
                  </a:rPr>
                  <a:t>集成扩展能力</a:t>
                </a:r>
                <a:endParaRPr lang="zh-CN" altLang="en-US" sz="1400" b="1">
                  <a:solidFill>
                    <a:schemeClr val="bg1"/>
                  </a:solidFill>
                  <a:latin typeface="微软雅黑" panose="020B0503020204020204" charset="-122"/>
                  <a:ea typeface="微软雅黑" panose="020B0503020204020204" charset="-122"/>
                </a:endParaRPr>
              </a:p>
            </p:txBody>
          </p:sp>
          <p:sp>
            <p:nvSpPr>
              <p:cNvPr id="21" name="文本框 20"/>
              <p:cNvSpPr txBox="1"/>
              <p:nvPr/>
            </p:nvSpPr>
            <p:spPr>
              <a:xfrm>
                <a:off x="15547" y="8198"/>
                <a:ext cx="3570" cy="813"/>
              </a:xfrm>
              <a:prstGeom prst="rect">
                <a:avLst/>
              </a:prstGeom>
              <a:solidFill>
                <a:schemeClr val="accent5">
                  <a:lumMod val="75000"/>
                </a:schemeClr>
              </a:solidFill>
            </p:spPr>
            <p:txBody>
              <a:bodyPr wrap="square" anchor="ctr" anchorCtr="0">
                <a:noAutofit/>
              </a:bodyPr>
              <a:p>
                <a:pPr algn="ctr"/>
                <a:r>
                  <a:rPr lang="zh-CN" altLang="en-US" sz="1400" b="1">
                    <a:solidFill>
                      <a:schemeClr val="bg1"/>
                    </a:solidFill>
                    <a:latin typeface="微软雅黑" panose="020B0503020204020204" charset="-122"/>
                    <a:ea typeface="微软雅黑" panose="020B0503020204020204" charset="-122"/>
                  </a:rPr>
                  <a:t>成本效益</a:t>
                </a:r>
                <a:endParaRPr lang="zh-CN" altLang="en-US" sz="1400" b="1">
                  <a:solidFill>
                    <a:schemeClr val="bg1"/>
                  </a:solidFill>
                  <a:latin typeface="微软雅黑" panose="020B0503020204020204" charset="-122"/>
                  <a:ea typeface="微软雅黑" panose="020B0503020204020204" charset="-122"/>
                </a:endParaRPr>
              </a:p>
            </p:txBody>
          </p:sp>
        </p:grpSp>
      </p:grpSp>
      <p:sp>
        <p:nvSpPr>
          <p:cNvPr id="3" name="文本框 2"/>
          <p:cNvSpPr txBox="1"/>
          <p:nvPr/>
        </p:nvSpPr>
        <p:spPr>
          <a:xfrm>
            <a:off x="647065" y="5068570"/>
            <a:ext cx="2111375" cy="337185"/>
          </a:xfrm>
          <a:prstGeom prst="rect">
            <a:avLst/>
          </a:prstGeom>
          <a:noFill/>
        </p:spPr>
        <p:txBody>
          <a:bodyPr wrap="square" rtlCol="0" anchor="t">
            <a:spAutoFit/>
          </a:bodyPr>
          <a:p>
            <a:pPr algn="l" rtl="0">
              <a:lnSpc>
                <a:spcPct val="100000"/>
              </a:lnSpc>
              <a:buClrTx/>
              <a:buSzTx/>
              <a:buFontTx/>
            </a:pPr>
            <a:r>
              <a:rPr lang="zh-CN" altLang="en-US" sz="1600" b="1" dirty="0">
                <a:solidFill>
                  <a:srgbClr val="00A6C7"/>
                </a:solidFill>
                <a:latin typeface="+mn-ea"/>
                <a:ea typeface="微软雅黑" panose="020B0503020204020204" charset="-122"/>
                <a:cs typeface="微软雅黑" panose="020B0503020204020204" charset="-122"/>
                <a:sym typeface="+mn-ea"/>
              </a:rPr>
              <a:t>决策因素</a:t>
            </a:r>
            <a:endParaRPr lang="en-US" altLang="zh-CN" sz="1600" b="1" dirty="0">
              <a:solidFill>
                <a:srgbClr val="00A6C7"/>
              </a:solidFill>
              <a:latin typeface="+mn-ea"/>
              <a:ea typeface="微软雅黑" panose="020B0503020204020204" charset="-122"/>
              <a:cs typeface="微软雅黑" panose="020B0503020204020204" charset="-122"/>
              <a:sym typeface="+mn-ea"/>
            </a:endParaRPr>
          </a:p>
        </p:txBody>
      </p:sp>
      <p:sp>
        <p:nvSpPr>
          <p:cNvPr id="22" name="矩形 21"/>
          <p:cNvSpPr/>
          <p:nvPr/>
        </p:nvSpPr>
        <p:spPr>
          <a:xfrm>
            <a:off x="457200" y="1014730"/>
            <a:ext cx="11315065" cy="567055"/>
          </a:xfrm>
          <a:prstGeom prst="rect">
            <a:avLst/>
          </a:prstGeom>
        </p:spPr>
        <p:style>
          <a:lnRef idx="0">
            <a:srgbClr val="FFFFFF"/>
          </a:lnRef>
          <a:fillRef idx="1">
            <a:schemeClr val="accent5"/>
          </a:fillRef>
          <a:effectRef idx="1">
            <a:schemeClr val="accent5"/>
          </a:effectRef>
          <a:fontRef idx="minor">
            <a:schemeClr val="dk1"/>
          </a:fontRef>
        </p:style>
        <p:txBody>
          <a:bodyPr rtlCol="0" anchor="ctr"/>
          <a:p>
            <a:pPr algn="l"/>
            <a:r>
              <a:rPr lang="zh-CN" altLang="en-US" sz="1600">
                <a:solidFill>
                  <a:schemeClr val="bg1"/>
                </a:solidFill>
              </a:rPr>
              <a:t>常用方法</a:t>
            </a:r>
            <a:endParaRPr lang="zh-CN" altLang="en-US" sz="1600">
              <a:solidFill>
                <a:schemeClr val="bg1"/>
              </a:solidFill>
            </a:endParaRPr>
          </a:p>
        </p:txBody>
      </p:sp>
      <p:sp>
        <p:nvSpPr>
          <p:cNvPr id="23" name="矩形 22"/>
          <p:cNvSpPr/>
          <p:nvPr/>
        </p:nvSpPr>
        <p:spPr>
          <a:xfrm>
            <a:off x="2385695" y="1164590"/>
            <a:ext cx="2458720" cy="2971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gradFill>
                  <a:gsLst>
                    <a:gs pos="50410">
                      <a:srgbClr val="FB9B36"/>
                    </a:gs>
                    <a:gs pos="0">
                      <a:srgbClr val="FE564D"/>
                    </a:gs>
                    <a:gs pos="100000">
                      <a:srgbClr val="F9CA26"/>
                    </a:gs>
                  </a:gsLst>
                  <a:lin ang="5400000" scaled="1"/>
                </a:gradFill>
              </a:rPr>
              <a:t>首先选用高性能通用模型</a:t>
            </a:r>
            <a:endParaRPr lang="en-US" altLang="zh-CN" sz="1400">
              <a:gradFill>
                <a:gsLst>
                  <a:gs pos="50410">
                    <a:srgbClr val="FB9B36"/>
                  </a:gs>
                  <a:gs pos="0">
                    <a:srgbClr val="FE564D"/>
                  </a:gs>
                  <a:gs pos="100000">
                    <a:srgbClr val="F9CA26"/>
                  </a:gs>
                </a:gsLst>
                <a:lin ang="5400000" scaled="1"/>
              </a:gradFill>
            </a:endParaRPr>
          </a:p>
        </p:txBody>
      </p:sp>
      <p:sp>
        <p:nvSpPr>
          <p:cNvPr id="24" name="矩形 23"/>
          <p:cNvSpPr/>
          <p:nvPr/>
        </p:nvSpPr>
        <p:spPr>
          <a:xfrm>
            <a:off x="4971415" y="1164590"/>
            <a:ext cx="2458720" cy="2971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gradFill>
                  <a:gsLst>
                    <a:gs pos="50410">
                      <a:srgbClr val="FB9B36"/>
                    </a:gs>
                    <a:gs pos="0">
                      <a:srgbClr val="FE564D"/>
                    </a:gs>
                    <a:gs pos="100000">
                      <a:srgbClr val="F9CA26"/>
                    </a:gs>
                  </a:gsLst>
                  <a:lin ang="5400000" scaled="1"/>
                </a:gradFill>
              </a:rPr>
              <a:t>快速进行最小业务验证</a:t>
            </a:r>
            <a:endParaRPr lang="en-US" altLang="zh-CN" sz="1400">
              <a:gradFill>
                <a:gsLst>
                  <a:gs pos="50410">
                    <a:srgbClr val="FB9B36"/>
                  </a:gs>
                  <a:gs pos="0">
                    <a:srgbClr val="FE564D"/>
                  </a:gs>
                  <a:gs pos="100000">
                    <a:srgbClr val="F9CA26"/>
                  </a:gs>
                </a:gsLst>
                <a:lin ang="5400000" scaled="1"/>
              </a:gradFill>
            </a:endParaRPr>
          </a:p>
        </p:txBody>
      </p:sp>
      <p:sp>
        <p:nvSpPr>
          <p:cNvPr id="25" name="矩形 24"/>
          <p:cNvSpPr/>
          <p:nvPr/>
        </p:nvSpPr>
        <p:spPr>
          <a:xfrm>
            <a:off x="7557135" y="1164590"/>
            <a:ext cx="2458720" cy="2971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accent5"/>
                </a:solidFill>
                <a:sym typeface="+mn-ea"/>
              </a:rPr>
              <a:t>优化</a:t>
            </a:r>
            <a:r>
              <a:rPr lang="zh-CN" altLang="en-US" sz="1400">
                <a:solidFill>
                  <a:schemeClr val="accent5"/>
                </a:solidFill>
              </a:rPr>
              <a:t>提示词</a:t>
            </a:r>
            <a:r>
              <a:rPr lang="en-US" altLang="zh-CN" sz="1400">
                <a:solidFill>
                  <a:schemeClr val="accent5"/>
                </a:solidFill>
              </a:rPr>
              <a:t>+</a:t>
            </a:r>
            <a:r>
              <a:rPr lang="zh-CN" altLang="en-US" sz="1400">
                <a:solidFill>
                  <a:schemeClr val="accent5"/>
                </a:solidFill>
              </a:rPr>
              <a:t>知识库</a:t>
            </a:r>
            <a:endParaRPr lang="zh-CN" altLang="en-US" sz="1400">
              <a:solidFill>
                <a:schemeClr val="accent5"/>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336803" y="144012"/>
            <a:ext cx="8493516" cy="521970"/>
          </a:xfrm>
          <a:prstGeom prst="rect">
            <a:avLst/>
          </a:prstGeom>
        </p:spPr>
        <p:txBody>
          <a:bodyPr wrap="square">
            <a:spAutoFit/>
          </a:bodyPr>
          <a:p>
            <a:r>
              <a:rPr lang="en-US" altLang="zh-CN" sz="2795" b="1" dirty="0">
                <a:solidFill>
                  <a:srgbClr val="00A6C7"/>
                </a:solidFill>
                <a:latin typeface="+mn-ea"/>
                <a:ea typeface="微软雅黑" panose="020B0503020204020204" charset="-122"/>
                <a:cs typeface="微软雅黑" panose="020B0503020204020204" charset="-122"/>
                <a:sym typeface="+mn-ea"/>
              </a:rPr>
              <a:t>AI+</a:t>
            </a:r>
            <a:r>
              <a:rPr lang="zh-CN" altLang="en-US" sz="2795" b="1" dirty="0">
                <a:solidFill>
                  <a:srgbClr val="00A6C7"/>
                </a:solidFill>
                <a:latin typeface="+mn-ea"/>
                <a:ea typeface="微软雅黑" panose="020B0503020204020204" charset="-122"/>
                <a:cs typeface="微软雅黑" panose="020B0503020204020204" charset="-122"/>
                <a:sym typeface="+mn-ea"/>
              </a:rPr>
              <a:t>综合场景建设实施过程</a:t>
            </a:r>
            <a:endParaRPr lang="zh-CN" altLang="en-US" sz="2795" b="1" dirty="0">
              <a:solidFill>
                <a:srgbClr val="00A6C7"/>
              </a:solidFill>
              <a:latin typeface="+mn-ea"/>
              <a:ea typeface="微软雅黑" panose="020B0503020204020204" charset="-122"/>
              <a:cs typeface="微软雅黑" panose="020B0503020204020204" charset="-122"/>
              <a:sym typeface="+mn-ea"/>
            </a:endParaRPr>
          </a:p>
        </p:txBody>
      </p:sp>
      <p:sp>
        <p:nvSpPr>
          <p:cNvPr id="27" name="Title"/>
          <p:cNvSpPr>
            <a:spLocks noChangeAspect="1"/>
          </p:cNvSpPr>
          <p:nvPr>
            <p:custDataLst>
              <p:tags r:id="rId2"/>
            </p:custDataLst>
          </p:nvPr>
        </p:nvSpPr>
        <p:spPr>
          <a:xfrm>
            <a:off x="39497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1.</a:t>
            </a:r>
            <a:r>
              <a:rPr kumimoji="1" lang="en-US" altLang="zh-CN" sz="1200" b="1" dirty="0">
                <a:solidFill>
                  <a:schemeClr val="bg1">
                    <a:lumMod val="50000"/>
                  </a:schemeClr>
                </a:solidFill>
                <a:latin typeface="+mn-ea"/>
                <a:sym typeface="Arial" panose="020B0604020202020204" pitchFamily="34" charset="0"/>
              </a:rPr>
              <a:t>规划</a:t>
            </a:r>
            <a:r>
              <a:rPr kumimoji="1" lang="en-US" altLang="zh-CN" sz="1200" b="1" dirty="0">
                <a:solidFill>
                  <a:schemeClr val="bg1">
                    <a:lumMod val="50000"/>
                  </a:schemeClr>
                </a:solidFill>
                <a:latin typeface="+mn-ea"/>
                <a:sym typeface="Arial" panose="020B0604020202020204" pitchFamily="34" charset="0"/>
              </a:rPr>
              <a:t>AI+</a:t>
            </a:r>
            <a:r>
              <a:rPr kumimoji="1" lang="en-US" altLang="zh-CN" sz="1200" b="1" dirty="0">
                <a:solidFill>
                  <a:schemeClr val="bg1">
                    <a:lumMod val="50000"/>
                  </a:schemeClr>
                </a:solidFill>
                <a:latin typeface="+mn-ea"/>
                <a:sym typeface="Arial" panose="020B0604020202020204" pitchFamily="34" charset="0"/>
              </a:rPr>
              <a:t>场景</a:t>
            </a:r>
            <a:endParaRPr kumimoji="1" lang="en-US" altLang="zh-CN" sz="1200" b="1" dirty="0">
              <a:solidFill>
                <a:schemeClr val="bg1">
                  <a:lumMod val="50000"/>
                </a:schemeClr>
              </a:solidFill>
              <a:latin typeface="+mn-ea"/>
              <a:sym typeface="Arial" panose="020B0604020202020204" pitchFamily="34" charset="0"/>
            </a:endParaRPr>
          </a:p>
        </p:txBody>
      </p:sp>
      <p:sp>
        <p:nvSpPr>
          <p:cNvPr id="28" name="Title"/>
          <p:cNvSpPr>
            <a:spLocks noChangeAspect="1"/>
          </p:cNvSpPr>
          <p:nvPr>
            <p:custDataLst>
              <p:tags r:id="rId3"/>
            </p:custDataLst>
          </p:nvPr>
        </p:nvSpPr>
        <p:spPr>
          <a:xfrm>
            <a:off x="266636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2.数据准备</a:t>
            </a:r>
            <a:endParaRPr kumimoji="1" lang="en-US" altLang="zh-CN" sz="1200" b="1" dirty="0">
              <a:solidFill>
                <a:schemeClr val="bg1">
                  <a:lumMod val="50000"/>
                </a:schemeClr>
              </a:solidFill>
              <a:latin typeface="+mn-ea"/>
              <a:sym typeface="Arial" panose="020B0604020202020204" pitchFamily="34" charset="0"/>
            </a:endParaRPr>
          </a:p>
        </p:txBody>
      </p:sp>
      <p:sp>
        <p:nvSpPr>
          <p:cNvPr id="29" name="Title"/>
          <p:cNvSpPr>
            <a:spLocks noChangeAspect="1"/>
          </p:cNvSpPr>
          <p:nvPr>
            <p:custDataLst>
              <p:tags r:id="rId4"/>
            </p:custDataLst>
          </p:nvPr>
        </p:nvSpPr>
        <p:spPr>
          <a:xfrm>
            <a:off x="493776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3.</a:t>
            </a:r>
            <a:r>
              <a:rPr kumimoji="1" lang="en-US" altLang="zh-CN" sz="1200" b="1" dirty="0">
                <a:solidFill>
                  <a:schemeClr val="bg1">
                    <a:lumMod val="50000"/>
                  </a:schemeClr>
                </a:solidFill>
                <a:latin typeface="+mn-ea"/>
                <a:sym typeface="Arial" panose="020B0604020202020204" pitchFamily="34" charset="0"/>
              </a:rPr>
              <a:t>模型选型</a:t>
            </a:r>
            <a:endParaRPr kumimoji="1" lang="en-US" altLang="zh-CN" sz="1200" b="1" dirty="0">
              <a:solidFill>
                <a:schemeClr val="bg1">
                  <a:lumMod val="50000"/>
                </a:schemeClr>
              </a:solidFill>
              <a:latin typeface="+mn-ea"/>
              <a:sym typeface="Arial" panose="020B0604020202020204" pitchFamily="34" charset="0"/>
            </a:endParaRPr>
          </a:p>
        </p:txBody>
      </p:sp>
      <p:sp>
        <p:nvSpPr>
          <p:cNvPr id="30" name="Title"/>
          <p:cNvSpPr>
            <a:spLocks noChangeAspect="1"/>
          </p:cNvSpPr>
          <p:nvPr>
            <p:custDataLst>
              <p:tags r:id="rId5"/>
            </p:custDataLst>
          </p:nvPr>
        </p:nvSpPr>
        <p:spPr>
          <a:xfrm>
            <a:off x="7209155" y="643890"/>
            <a:ext cx="2291080" cy="215900"/>
          </a:xfrm>
          <a:prstGeom prst="roundRect">
            <a:avLst>
              <a:gd name="adj" fmla="val 0"/>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rgbClr val="FFFFFF"/>
                </a:solidFill>
                <a:latin typeface="+mn-ea"/>
                <a:sym typeface="Arial" panose="020B0604020202020204" pitchFamily="34" charset="0"/>
              </a:rPr>
              <a:t>4.</a:t>
            </a:r>
            <a:r>
              <a:rPr kumimoji="1" lang="en-US" altLang="zh-CN" sz="1200" b="1" dirty="0">
                <a:solidFill>
                  <a:srgbClr val="FFFFFF"/>
                </a:solidFill>
                <a:latin typeface="+mn-ea"/>
                <a:sym typeface="Arial" panose="020B0604020202020204" pitchFamily="34" charset="0"/>
              </a:rPr>
              <a:t>模型训练与微调</a:t>
            </a:r>
            <a:r>
              <a:rPr kumimoji="1" lang="en-US" altLang="zh-CN" sz="1200" b="1" dirty="0">
                <a:solidFill>
                  <a:srgbClr val="FFFFFF"/>
                </a:solidFill>
                <a:latin typeface="+mn-ea"/>
                <a:sym typeface="Arial" panose="020B0604020202020204" pitchFamily="34" charset="0"/>
              </a:rPr>
              <a:t>(</a:t>
            </a:r>
            <a:r>
              <a:rPr kumimoji="1" lang="en-US" altLang="zh-CN" sz="1200" b="1" dirty="0">
                <a:solidFill>
                  <a:srgbClr val="FFFFFF"/>
                </a:solidFill>
                <a:latin typeface="+mn-ea"/>
                <a:sym typeface="Arial" panose="020B0604020202020204" pitchFamily="34" charset="0"/>
              </a:rPr>
              <a:t>可选</a:t>
            </a:r>
            <a:r>
              <a:rPr kumimoji="1" lang="en-US" altLang="zh-CN" sz="1200" b="1" dirty="0">
                <a:solidFill>
                  <a:srgbClr val="FFFFFF"/>
                </a:solidFill>
                <a:latin typeface="+mn-ea"/>
                <a:sym typeface="Arial" panose="020B0604020202020204" pitchFamily="34" charset="0"/>
              </a:rPr>
              <a:t>)</a:t>
            </a:r>
            <a:endParaRPr kumimoji="1" lang="en-US" altLang="zh-CN" sz="1200" b="1" dirty="0">
              <a:solidFill>
                <a:srgbClr val="FFFFFF"/>
              </a:solidFill>
              <a:latin typeface="+mn-ea"/>
              <a:sym typeface="Arial" panose="020B0604020202020204" pitchFamily="34" charset="0"/>
            </a:endParaRPr>
          </a:p>
        </p:txBody>
      </p:sp>
      <p:sp>
        <p:nvSpPr>
          <p:cNvPr id="31" name="Title"/>
          <p:cNvSpPr>
            <a:spLocks noChangeAspect="1"/>
          </p:cNvSpPr>
          <p:nvPr>
            <p:custDataLst>
              <p:tags r:id="rId6"/>
            </p:custDataLst>
          </p:nvPr>
        </p:nvSpPr>
        <p:spPr>
          <a:xfrm>
            <a:off x="948055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5.</a:t>
            </a:r>
            <a:r>
              <a:rPr kumimoji="1" lang="en-US" altLang="zh-CN" sz="1200" b="1" dirty="0">
                <a:solidFill>
                  <a:schemeClr val="bg1">
                    <a:lumMod val="50000"/>
                  </a:schemeClr>
                </a:solidFill>
                <a:latin typeface="+mn-ea"/>
                <a:sym typeface="Arial" panose="020B0604020202020204" pitchFamily="34" charset="0"/>
              </a:rPr>
              <a:t>智能体开发与迭代</a:t>
            </a:r>
            <a:endParaRPr kumimoji="1" lang="en-US" altLang="zh-CN" sz="1200" b="1" dirty="0">
              <a:solidFill>
                <a:schemeClr val="bg1">
                  <a:lumMod val="50000"/>
                </a:schemeClr>
              </a:solidFill>
              <a:latin typeface="+mn-ea"/>
              <a:sym typeface="Arial" panose="020B0604020202020204" pitchFamily="34" charset="0"/>
            </a:endParaRPr>
          </a:p>
        </p:txBody>
      </p:sp>
      <p:grpSp>
        <p:nvGrpSpPr>
          <p:cNvPr id="4" name="group 2"/>
          <p:cNvGrpSpPr/>
          <p:nvPr/>
        </p:nvGrpSpPr>
        <p:grpSpPr>
          <a:xfrm rot="21600000">
            <a:off x="268224" y="1379220"/>
            <a:ext cx="11337290" cy="5309870"/>
            <a:chOff x="0" y="0"/>
            <a:chExt cx="11337290" cy="5309870"/>
          </a:xfrm>
        </p:grpSpPr>
        <p:sp>
          <p:nvSpPr>
            <p:cNvPr id="5" name="path 38"/>
            <p:cNvSpPr/>
            <p:nvPr/>
          </p:nvSpPr>
          <p:spPr>
            <a:xfrm>
              <a:off x="7605395" y="22860"/>
              <a:ext cx="3731895" cy="5287010"/>
            </a:xfrm>
            <a:custGeom>
              <a:avLst/>
              <a:gdLst/>
              <a:ahLst/>
              <a:cxnLst/>
              <a:rect l="0" t="0" r="0" b="0"/>
              <a:pathLst>
                <a:path w="4389" h="8325">
                  <a:moveTo>
                    <a:pt x="0" y="0"/>
                  </a:moveTo>
                  <a:lnTo>
                    <a:pt x="4389" y="0"/>
                  </a:lnTo>
                  <a:lnTo>
                    <a:pt x="4389" y="8325"/>
                  </a:lnTo>
                  <a:lnTo>
                    <a:pt x="0" y="8325"/>
                  </a:lnTo>
                  <a:lnTo>
                    <a:pt x="0" y="0"/>
                  </a:lnTo>
                  <a:close/>
                </a:path>
              </a:pathLst>
            </a:custGeom>
            <a:solidFill>
              <a:schemeClr val="accent5">
                <a:lumMod val="75000"/>
                <a:alpha val="10000"/>
              </a:schemeClr>
            </a:solidFill>
            <a:ln w="0" cap="flat">
              <a:noFill/>
              <a:prstDash val="solid"/>
              <a:miter lim="0"/>
            </a:ln>
          </p:spPr>
          <p:txBody>
            <a:bodyPr rtlCol="0"/>
            <a:lstStyle/>
            <a:p>
              <a:pPr algn="ctr"/>
              <a:endParaRPr lang="zh-CN" altLang="en-US"/>
            </a:p>
          </p:txBody>
        </p:sp>
        <p:sp>
          <p:nvSpPr>
            <p:cNvPr id="6" name="path 40"/>
            <p:cNvSpPr/>
            <p:nvPr/>
          </p:nvSpPr>
          <p:spPr>
            <a:xfrm>
              <a:off x="0" y="0"/>
              <a:ext cx="7605395" cy="5309870"/>
            </a:xfrm>
            <a:custGeom>
              <a:avLst/>
              <a:gdLst/>
              <a:ahLst/>
              <a:cxnLst/>
              <a:rect l="0" t="0" r="0" b="0"/>
              <a:pathLst>
                <a:path w="13466" h="8361">
                  <a:moveTo>
                    <a:pt x="0" y="0"/>
                  </a:moveTo>
                  <a:lnTo>
                    <a:pt x="13466" y="0"/>
                  </a:lnTo>
                  <a:lnTo>
                    <a:pt x="13466" y="8361"/>
                  </a:lnTo>
                  <a:lnTo>
                    <a:pt x="0" y="8361"/>
                  </a:lnTo>
                  <a:lnTo>
                    <a:pt x="0" y="0"/>
                  </a:lnTo>
                  <a:close/>
                </a:path>
              </a:pathLst>
            </a:custGeom>
            <a:solidFill>
              <a:srgbClr val="F2F2F2">
                <a:alpha val="100000"/>
              </a:srgbClr>
            </a:solidFill>
            <a:ln w="0" cap="flat">
              <a:noFill/>
              <a:prstDash val="solid"/>
              <a:miter lim="0"/>
            </a:ln>
          </p:spPr>
          <p:txBody>
            <a:bodyPr rtlCol="0"/>
            <a:lstStyle/>
            <a:p>
              <a:pPr algn="ctr"/>
              <a:endParaRPr lang="zh-CN" altLang="en-US"/>
            </a:p>
          </p:txBody>
        </p:sp>
      </p:grpSp>
      <p:sp>
        <p:nvSpPr>
          <p:cNvPr id="14" name="矩形 13"/>
          <p:cNvSpPr/>
          <p:nvPr/>
        </p:nvSpPr>
        <p:spPr>
          <a:xfrm>
            <a:off x="769620" y="2077085"/>
            <a:ext cx="2768600" cy="38938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4047490" y="2077085"/>
            <a:ext cx="2768600" cy="38938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8361045" y="2077085"/>
            <a:ext cx="2768600" cy="389382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textbox 48"/>
          <p:cNvSpPr/>
          <p:nvPr/>
        </p:nvSpPr>
        <p:spPr>
          <a:xfrm>
            <a:off x="4270375" y="2386330"/>
            <a:ext cx="2261870" cy="3037840"/>
          </a:xfrm>
          <a:prstGeom prst="rect">
            <a:avLst/>
          </a:prstGeom>
          <a:noFill/>
          <a:ln w="0" cap="flat">
            <a:noFill/>
            <a:prstDash val="solid"/>
            <a:miter lim="0"/>
          </a:ln>
        </p:spPr>
        <p:txBody>
          <a:bodyPr vert="horz" wrap="square" lIns="0" tIns="0" rIns="0" bIns="0"/>
          <a:lstStyle/>
          <a:p>
            <a:pPr algn="l" rtl="0" eaLnBrk="0">
              <a:lnSpc>
                <a:spcPct val="150000"/>
              </a:lnSpc>
            </a:pPr>
            <a:endParaRPr sz="100" dirty="0">
              <a:latin typeface="Arial" panose="020B0604020202020204"/>
              <a:ea typeface="Arial" panose="020B0604020202020204"/>
              <a:cs typeface="Arial" panose="020B0604020202020204"/>
            </a:endParaRPr>
          </a:p>
          <a:p>
            <a:pPr algn="ctr" rtl="0" eaLnBrk="0">
              <a:lnSpc>
                <a:spcPct val="150000"/>
              </a:lnSpc>
              <a:buClrTx/>
              <a:buSzTx/>
              <a:buFontTx/>
            </a:pPr>
            <a:r>
              <a:rPr lang="zh-CN" sz="2000" b="1" kern="0" spc="-70" dirty="0">
                <a:solidFill>
                  <a:srgbClr val="27ADCB">
                    <a:alpha val="100000"/>
                  </a:srgbClr>
                </a:solidFill>
                <a:latin typeface="微软雅黑" panose="020B0503020204020204" charset="-122"/>
                <a:ea typeface="微软雅黑" panose="020B0503020204020204" charset="-122"/>
                <a:cs typeface="微软雅黑" panose="020B0503020204020204" charset="-122"/>
              </a:rPr>
              <a:t>提示词</a:t>
            </a:r>
            <a:endParaRPr sz="1000" dirty="0">
              <a:latin typeface="Arial" panose="020B0604020202020204"/>
              <a:ea typeface="Arial" panose="020B0604020202020204"/>
              <a:cs typeface="Arial" panose="020B0604020202020204"/>
            </a:endParaRPr>
          </a:p>
          <a:p>
            <a:pPr marL="141605" algn="l" rtl="0" eaLnBrk="0">
              <a:lnSpc>
                <a:spcPct val="150000"/>
              </a:lnSpc>
              <a:spcBef>
                <a:spcPts val="360"/>
              </a:spcBef>
            </a:pP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通过构建提示词工程</a:t>
            </a:r>
            <a:r>
              <a:rPr sz="1200" kern="0" spc="-13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，引导大</a:t>
            </a: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模型做出正确回答。</a:t>
            </a:r>
            <a:endParaRPr sz="1200" b="1" dirty="0">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marL="142240" algn="l" rtl="0" eaLnBrk="0">
              <a:lnSpc>
                <a:spcPct val="150000"/>
              </a:lnSpc>
              <a:spcBef>
                <a:spcPts val="900"/>
              </a:spcBef>
            </a:pPr>
            <a:r>
              <a:rPr sz="12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优点：快速实现、灵活</a:t>
            </a: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调整且</a:t>
            </a: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无需额外训练</a:t>
            </a:r>
            <a:r>
              <a:rPr sz="1200" kern="0" spc="-14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，适用于通用任</a:t>
            </a:r>
            <a:r>
              <a:rPr sz="12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务和资源受限场景；成本</a:t>
            </a: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低。</a:t>
            </a:r>
            <a:endParaRPr sz="1200" dirty="0">
              <a:latin typeface="微软雅黑" panose="020B0503020204020204" charset="-122"/>
              <a:ea typeface="微软雅黑" panose="020B0503020204020204" charset="-122"/>
              <a:cs typeface="微软雅黑" panose="020B0503020204020204" charset="-122"/>
            </a:endParaRPr>
          </a:p>
          <a:p>
            <a:pPr marL="142240" algn="l" rtl="0" eaLnBrk="0">
              <a:lnSpc>
                <a:spcPct val="150000"/>
              </a:lnSpc>
              <a:spcBef>
                <a:spcPts val="900"/>
              </a:spcBef>
            </a:pP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缺点：依赖基础模型</a:t>
            </a:r>
            <a:r>
              <a:rPr sz="1200" kern="0" spc="-13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，无法达</a:t>
            </a: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到最佳性能。</a:t>
            </a:r>
            <a:endPar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endParaRPr>
          </a:p>
          <a:p>
            <a:pPr marL="142240" algn="l" rtl="0" eaLnBrk="0">
              <a:lnSpc>
                <a:spcPct val="90000"/>
              </a:lnSpc>
              <a:spcBef>
                <a:spcPts val="900"/>
              </a:spcBef>
              <a:buClrTx/>
              <a:buSzTx/>
              <a:buFontTx/>
            </a:pPr>
            <a:r>
              <a:rPr sz="1200" kern="0" spc="-20" dirty="0">
                <a:solidFill>
                  <a:schemeClr val="accent5">
                    <a:lumMod val="75000"/>
                  </a:schemeClr>
                </a:solidFill>
                <a:latin typeface="微软雅黑" panose="020B0503020204020204" charset="-122"/>
                <a:ea typeface="微软雅黑" panose="020B0503020204020204" charset="-122"/>
                <a:cs typeface="微软雅黑" panose="020B0503020204020204" charset="-122"/>
              </a:rPr>
              <a:t>“教我如何游泳” ，没有提示词引导 ， 回复 “去专业的游泳馆” ；有提示词引导 ，AI回复正确学习步骤</a:t>
            </a:r>
            <a:r>
              <a:rPr sz="1200" kern="0" spc="-20" dirty="0">
                <a:solidFill>
                  <a:schemeClr val="accent5"/>
                </a:solidFill>
                <a:latin typeface="微软雅黑" panose="020B0503020204020204" charset="-122"/>
                <a:ea typeface="微软雅黑" panose="020B0503020204020204" charset="-122"/>
                <a:cs typeface="微软雅黑" panose="020B0503020204020204" charset="-122"/>
              </a:rPr>
              <a:t>。</a:t>
            </a:r>
            <a:endParaRPr sz="1200" kern="0" spc="-2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0" name="textbox 52"/>
          <p:cNvSpPr/>
          <p:nvPr/>
        </p:nvSpPr>
        <p:spPr>
          <a:xfrm>
            <a:off x="8618855" y="2386330"/>
            <a:ext cx="2261870" cy="2921635"/>
          </a:xfrm>
          <a:prstGeom prst="rect">
            <a:avLst/>
          </a:prstGeom>
          <a:noFill/>
          <a:ln w="0" cap="flat">
            <a:noFill/>
            <a:prstDash val="solid"/>
            <a:miter lim="0"/>
          </a:ln>
        </p:spPr>
        <p:txBody>
          <a:bodyPr vert="horz" wrap="square" lIns="0" tIns="0" rIns="0" bIns="0"/>
          <a:lstStyle/>
          <a:p>
            <a:pPr algn="ctr" rtl="0" eaLnBrk="0">
              <a:lnSpc>
                <a:spcPct val="81000"/>
              </a:lnSpc>
            </a:pPr>
            <a:r>
              <a:rPr sz="2000" b="1" kern="0" spc="-10" dirty="0">
                <a:solidFill>
                  <a:srgbClr val="279FD8">
                    <a:alpha val="100000"/>
                  </a:srgbClr>
                </a:solidFill>
                <a:latin typeface="微软雅黑" panose="020B0503020204020204" charset="-122"/>
                <a:ea typeface="微软雅黑" panose="020B0503020204020204" charset="-122"/>
                <a:cs typeface="微软雅黑" panose="020B0503020204020204" charset="-122"/>
              </a:rPr>
              <a:t>微调</a:t>
            </a:r>
            <a:r>
              <a:rPr lang="zh-CN" sz="2000" b="1" kern="0" spc="-10" dirty="0">
                <a:solidFill>
                  <a:srgbClr val="279FD8">
                    <a:alpha val="100000"/>
                  </a:srgbClr>
                </a:solidFill>
                <a:latin typeface="微软雅黑" panose="020B0503020204020204" charset="-122"/>
                <a:ea typeface="微软雅黑" panose="020B0503020204020204" charset="-122"/>
                <a:cs typeface="微软雅黑" panose="020B0503020204020204" charset="-122"/>
              </a:rPr>
              <a:t>（垂直模型）</a:t>
            </a:r>
            <a:endParaRPr sz="2000" dirty="0">
              <a:latin typeface="微软雅黑" panose="020B0503020204020204" charset="-122"/>
              <a:ea typeface="微软雅黑" panose="020B0503020204020204" charset="-122"/>
              <a:cs typeface="微软雅黑" panose="020B0503020204020204" charset="-122"/>
            </a:endParaRPr>
          </a:p>
          <a:p>
            <a:pPr algn="l" rtl="0" eaLnBrk="0">
              <a:lnSpc>
                <a:spcPct val="150000"/>
              </a:lnSpc>
            </a:pPr>
            <a:endParaRPr sz="1000" dirty="0">
              <a:latin typeface="Arial" panose="020B0604020202020204"/>
              <a:ea typeface="Arial" panose="020B0604020202020204"/>
              <a:cs typeface="Arial" panose="020B0604020202020204"/>
            </a:endParaRPr>
          </a:p>
          <a:p>
            <a:pPr marL="34290" algn="l" rtl="0" eaLnBrk="0">
              <a:lnSpc>
                <a:spcPct val="150000"/>
              </a:lnSpc>
              <a:spcBef>
                <a:spcPts val="365"/>
              </a:spcBef>
            </a:pP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基于垂直领域的专用数据</a:t>
            </a:r>
            <a:r>
              <a:rPr sz="1200" kern="0" spc="-10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，二</a:t>
            </a:r>
            <a:r>
              <a:rPr sz="12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次训练使得模型在</a:t>
            </a:r>
            <a:r>
              <a:rPr sz="1200" b="1"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领域</a:t>
            </a:r>
            <a:r>
              <a:rPr sz="1200" b="1"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知识、语言风格</a:t>
            </a: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上得到优化。</a:t>
            </a:r>
            <a:endParaRPr sz="1200" dirty="0">
              <a:latin typeface="微软雅黑" panose="020B0503020204020204" charset="-122"/>
              <a:ea typeface="微软雅黑" panose="020B0503020204020204" charset="-122"/>
              <a:cs typeface="微软雅黑" panose="020B0503020204020204" charset="-122"/>
            </a:endParaRPr>
          </a:p>
          <a:p>
            <a:pPr marL="34290" algn="l" rtl="0" eaLnBrk="0">
              <a:lnSpc>
                <a:spcPct val="150000"/>
              </a:lnSpc>
              <a:spcBef>
                <a:spcPts val="895"/>
              </a:spcBef>
            </a:pPr>
            <a:r>
              <a:rPr sz="12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优点：能使模型</a:t>
            </a:r>
            <a:r>
              <a:rPr sz="1200" b="1"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深入学</a:t>
            </a:r>
            <a:r>
              <a:rPr sz="1200" b="1"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习领域</a:t>
            </a:r>
            <a:r>
              <a:rPr sz="1200" b="1"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知识</a:t>
            </a:r>
            <a:r>
              <a:rPr sz="1200" b="1" kern="0" spc="-15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，响应更贴近专业要求</a:t>
            </a:r>
            <a:endParaRPr sz="1200" dirty="0">
              <a:latin typeface="微软雅黑" panose="020B0503020204020204" charset="-122"/>
              <a:ea typeface="微软雅黑" panose="020B0503020204020204" charset="-122"/>
              <a:cs typeface="微软雅黑" panose="020B0503020204020204" charset="-122"/>
            </a:endParaRPr>
          </a:p>
          <a:p>
            <a:pPr marL="34925" algn="l" rtl="0" eaLnBrk="0">
              <a:lnSpc>
                <a:spcPct val="150000"/>
              </a:lnSpc>
              <a:spcBef>
                <a:spcPts val="890"/>
              </a:spcBef>
            </a:pP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缺点</a:t>
            </a:r>
            <a:r>
              <a:rPr sz="1200" kern="0" spc="-13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：①需要准备</a:t>
            </a:r>
            <a:r>
              <a:rPr sz="1200" b="1"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高质量的数据集</a:t>
            </a:r>
            <a:r>
              <a:rPr sz="1200" b="1" kern="0" spc="-13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a:t>
            </a:r>
            <a:r>
              <a:rPr sz="1200" b="1"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训练成本高 </a:t>
            </a: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②需要专业</a:t>
            </a:r>
            <a:r>
              <a:rPr sz="12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算法工程师、数据工程</a:t>
            </a: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师等一系列专家。</a:t>
            </a:r>
            <a:endParaRPr sz="1200" dirty="0">
              <a:latin typeface="微软雅黑" panose="020B0503020204020204" charset="-122"/>
              <a:ea typeface="微软雅黑" panose="020B0503020204020204" charset="-122"/>
              <a:cs typeface="微软雅黑" panose="020B0503020204020204" charset="-122"/>
            </a:endParaRPr>
          </a:p>
        </p:txBody>
      </p:sp>
      <p:sp>
        <p:nvSpPr>
          <p:cNvPr id="11" name="textbox 54"/>
          <p:cNvSpPr/>
          <p:nvPr/>
        </p:nvSpPr>
        <p:spPr>
          <a:xfrm>
            <a:off x="1022985" y="2386330"/>
            <a:ext cx="2261870" cy="2903855"/>
          </a:xfrm>
          <a:prstGeom prst="rect">
            <a:avLst/>
          </a:prstGeom>
          <a:noFill/>
          <a:ln w="0" cap="flat">
            <a:noFill/>
            <a:prstDash val="solid"/>
            <a:miter lim="0"/>
          </a:ln>
        </p:spPr>
        <p:txBody>
          <a:bodyPr vert="horz" wrap="square" lIns="0" tIns="0" rIns="0" bIns="0"/>
          <a:lstStyle/>
          <a:p>
            <a:pPr algn="ctr" rtl="0" eaLnBrk="0">
              <a:lnSpc>
                <a:spcPct val="88000"/>
              </a:lnSpc>
            </a:pPr>
            <a:r>
              <a:rPr lang="zh-CN" sz="2000" b="1" kern="0" spc="-70" dirty="0">
                <a:solidFill>
                  <a:srgbClr val="27ADCB">
                    <a:alpha val="100000"/>
                  </a:srgbClr>
                </a:solidFill>
                <a:latin typeface="微软雅黑" panose="020B0503020204020204" charset="-122"/>
                <a:ea typeface="微软雅黑" panose="020B0503020204020204" charset="-122"/>
                <a:cs typeface="微软雅黑" panose="020B0503020204020204" charset="-122"/>
              </a:rPr>
              <a:t>知识库（</a:t>
            </a:r>
            <a:r>
              <a:rPr sz="2000" b="1" kern="0" spc="-70" dirty="0">
                <a:solidFill>
                  <a:srgbClr val="27ADCB">
                    <a:alpha val="100000"/>
                  </a:srgbClr>
                </a:solidFill>
                <a:latin typeface="微软雅黑" panose="020B0503020204020204" charset="-122"/>
                <a:ea typeface="微软雅黑" panose="020B0503020204020204" charset="-122"/>
                <a:cs typeface="微软雅黑" panose="020B0503020204020204" charset="-122"/>
              </a:rPr>
              <a:t>RAG</a:t>
            </a:r>
            <a:r>
              <a:rPr lang="zh-CN" sz="2000" b="1" kern="0" spc="-70" dirty="0">
                <a:solidFill>
                  <a:srgbClr val="27ADCB">
                    <a:alpha val="100000"/>
                  </a:srgbClr>
                </a:solidFill>
                <a:latin typeface="微软雅黑" panose="020B0503020204020204" charset="-122"/>
                <a:ea typeface="微软雅黑" panose="020B0503020204020204" charset="-122"/>
                <a:cs typeface="微软雅黑" panose="020B0503020204020204" charset="-122"/>
              </a:rPr>
              <a:t>）</a:t>
            </a:r>
            <a:endParaRPr sz="2000" dirty="0">
              <a:solidFill>
                <a:srgbClr val="27ADCB"/>
              </a:solidFill>
              <a:latin typeface="微软雅黑" panose="020B0503020204020204" charset="-122"/>
              <a:ea typeface="微软雅黑" panose="020B0503020204020204" charset="-122"/>
              <a:cs typeface="微软雅黑" panose="020B0503020204020204" charset="-122"/>
            </a:endParaRPr>
          </a:p>
          <a:p>
            <a:pPr algn="l" rtl="0" eaLnBrk="0">
              <a:lnSpc>
                <a:spcPct val="151000"/>
              </a:lnSpc>
            </a:pPr>
            <a:endParaRPr sz="1000" dirty="0">
              <a:latin typeface="Arial" panose="020B0604020202020204"/>
              <a:ea typeface="Arial" panose="020B0604020202020204"/>
              <a:cs typeface="Arial" panose="020B0604020202020204"/>
            </a:endParaRPr>
          </a:p>
          <a:p>
            <a:pPr marL="13970" algn="l" rtl="0" eaLnBrk="0">
              <a:lnSpc>
                <a:spcPct val="150000"/>
              </a:lnSpc>
              <a:spcBef>
                <a:spcPts val="370"/>
              </a:spcBef>
            </a:pPr>
            <a:r>
              <a:rPr sz="1200" b="1"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不直接修改模型的参数</a:t>
            </a:r>
            <a:r>
              <a:rPr sz="1200" b="1" kern="0" spc="-14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，而是通过引入一个检索模块</a:t>
            </a:r>
            <a:r>
              <a:rPr sz="1200" kern="0" spc="-13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sz="1200" kern="0" spc="-20" dirty="0">
                <a:solidFill>
                  <a:srgbClr val="262626">
                    <a:alpha val="100000"/>
                  </a:srgbClr>
                </a:solidFill>
                <a:latin typeface="微软雅黑" panose="020B0503020204020204" charset="-122"/>
                <a:ea typeface="微软雅黑" panose="020B0503020204020204" charset="-122"/>
                <a:cs typeface="微软雅黑" panose="020B0503020204020204" charset="-122"/>
              </a:rPr>
              <a:t>，在生</a:t>
            </a:r>
            <a:r>
              <a:rPr sz="12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成回答时从外部知识库（</a:t>
            </a: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如文</a:t>
            </a:r>
            <a:r>
              <a:rPr sz="12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档、数据库）中检索最新</a:t>
            </a: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或专业的知识来辅助回答。</a:t>
            </a:r>
            <a:endParaRPr sz="1200" dirty="0">
              <a:latin typeface="微软雅黑" panose="020B0503020204020204" charset="-122"/>
              <a:ea typeface="微软雅黑" panose="020B0503020204020204" charset="-122"/>
              <a:cs typeface="微软雅黑" panose="020B0503020204020204" charset="-122"/>
            </a:endParaRPr>
          </a:p>
          <a:p>
            <a:pPr marL="13970" algn="l" rtl="0" eaLnBrk="0">
              <a:lnSpc>
                <a:spcPct val="150000"/>
              </a:lnSpc>
              <a:spcBef>
                <a:spcPts val="895"/>
              </a:spcBef>
            </a:pPr>
            <a:r>
              <a:rPr sz="12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优点：可以动态更新知</a:t>
            </a: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识库，</a:t>
            </a:r>
            <a:r>
              <a:rPr sz="1200" b="1"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适用于信息更新较快</a:t>
            </a:r>
            <a:r>
              <a:rPr sz="1200" b="1"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的场景</a:t>
            </a: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a:t>
            </a:r>
            <a:endParaRPr sz="1200" dirty="0">
              <a:latin typeface="微软雅黑" panose="020B0503020204020204" charset="-122"/>
              <a:ea typeface="微软雅黑" panose="020B0503020204020204" charset="-122"/>
              <a:cs typeface="微软雅黑" panose="020B0503020204020204" charset="-122"/>
            </a:endParaRPr>
          </a:p>
          <a:p>
            <a:pPr marL="13970" algn="l" rtl="0" eaLnBrk="0">
              <a:lnSpc>
                <a:spcPct val="150000"/>
              </a:lnSpc>
              <a:spcBef>
                <a:spcPts val="885"/>
              </a:spcBef>
            </a:pPr>
            <a:r>
              <a:rPr sz="1200"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缺点：依赖外部检索系</a:t>
            </a:r>
            <a:r>
              <a:rPr sz="1200" kern="0" spc="-10" dirty="0">
                <a:solidFill>
                  <a:srgbClr val="262626">
                    <a:alpha val="100000"/>
                  </a:srgbClr>
                </a:solidFill>
                <a:latin typeface="微软雅黑" panose="020B0503020204020204" charset="-122"/>
                <a:ea typeface="微软雅黑" panose="020B0503020204020204" charset="-122"/>
                <a:cs typeface="微软雅黑" panose="020B0503020204020204" charset="-122"/>
              </a:rPr>
              <a:t>统的质量和响应速度。</a:t>
            </a:r>
            <a:endParaRPr sz="1200" dirty="0">
              <a:latin typeface="微软雅黑" panose="020B0503020204020204" charset="-122"/>
              <a:ea typeface="微软雅黑" panose="020B0503020204020204" charset="-122"/>
              <a:cs typeface="微软雅黑" panose="020B0503020204020204" charset="-122"/>
            </a:endParaRPr>
          </a:p>
        </p:txBody>
      </p:sp>
      <p:sp>
        <p:nvSpPr>
          <p:cNvPr id="12" name="textbox 56"/>
          <p:cNvSpPr/>
          <p:nvPr/>
        </p:nvSpPr>
        <p:spPr>
          <a:xfrm>
            <a:off x="349885" y="1496695"/>
            <a:ext cx="7523480" cy="252730"/>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ctr" rtl="0" eaLnBrk="0">
              <a:lnSpc>
                <a:spcPct val="88000"/>
              </a:lnSpc>
            </a:pPr>
            <a:r>
              <a:rPr sz="17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不做</a:t>
            </a:r>
            <a:r>
              <a:rPr lang="zh-CN" sz="17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模型微调</a:t>
            </a:r>
            <a:r>
              <a:rPr sz="1700" b="1"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1700" dirty="0">
              <a:latin typeface="微软雅黑" panose="020B0503020204020204" charset="-122"/>
              <a:ea typeface="微软雅黑" panose="020B0503020204020204" charset="-122"/>
              <a:cs typeface="微软雅黑" panose="020B0503020204020204" charset="-122"/>
            </a:endParaRPr>
          </a:p>
        </p:txBody>
      </p:sp>
      <p:sp>
        <p:nvSpPr>
          <p:cNvPr id="13" name="textbox 62"/>
          <p:cNvSpPr/>
          <p:nvPr/>
        </p:nvSpPr>
        <p:spPr>
          <a:xfrm>
            <a:off x="11794004" y="6297786"/>
            <a:ext cx="127635" cy="186689"/>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75000"/>
              </a:lnSpc>
            </a:pPr>
            <a:r>
              <a:rPr sz="1400" kern="0" spc="10" dirty="0">
                <a:solidFill>
                  <a:srgbClr val="898989">
                    <a:alpha val="100000"/>
                  </a:srgbClr>
                </a:solidFill>
                <a:latin typeface="Arial" panose="020B0604020202020204"/>
                <a:ea typeface="Arial" panose="020B0604020202020204"/>
                <a:cs typeface="Arial" panose="020B0604020202020204"/>
              </a:rPr>
              <a:t>4</a:t>
            </a:r>
            <a:endParaRPr sz="1400" dirty="0">
              <a:latin typeface="Arial" panose="020B0604020202020204"/>
              <a:ea typeface="Arial" panose="020B0604020202020204"/>
              <a:cs typeface="Arial" panose="020B0604020202020204"/>
            </a:endParaRPr>
          </a:p>
        </p:txBody>
      </p:sp>
      <p:sp>
        <p:nvSpPr>
          <p:cNvPr id="3" name="文本框 2"/>
          <p:cNvSpPr txBox="1"/>
          <p:nvPr/>
        </p:nvSpPr>
        <p:spPr>
          <a:xfrm>
            <a:off x="8086090" y="1428115"/>
            <a:ext cx="3318510" cy="321310"/>
          </a:xfrm>
          <a:prstGeom prst="rect">
            <a:avLst/>
          </a:prstGeom>
          <a:noFill/>
        </p:spPr>
        <p:txBody>
          <a:bodyPr wrap="square" rtlCol="0" anchor="t">
            <a:spAutoFit/>
          </a:bodyPr>
          <a:p>
            <a:pPr marL="12700" algn="ctr" rtl="0" eaLnBrk="0">
              <a:lnSpc>
                <a:spcPct val="88000"/>
              </a:lnSpc>
            </a:pPr>
            <a:r>
              <a:rPr lang="zh-CN" sz="17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rPr>
              <a:t>模型微调</a:t>
            </a:r>
            <a:endParaRPr lang="zh-CN" sz="17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336803" y="144012"/>
            <a:ext cx="8493516" cy="521970"/>
          </a:xfrm>
          <a:prstGeom prst="rect">
            <a:avLst/>
          </a:prstGeom>
        </p:spPr>
        <p:txBody>
          <a:bodyPr wrap="square">
            <a:spAutoFit/>
          </a:bodyPr>
          <a:p>
            <a:r>
              <a:rPr lang="en-US" altLang="zh-CN" sz="2795" b="1" dirty="0">
                <a:solidFill>
                  <a:srgbClr val="00A6C7"/>
                </a:solidFill>
                <a:latin typeface="+mn-ea"/>
                <a:ea typeface="微软雅黑" panose="020B0503020204020204" charset="-122"/>
                <a:cs typeface="微软雅黑" panose="020B0503020204020204" charset="-122"/>
                <a:sym typeface="+mn-ea"/>
              </a:rPr>
              <a:t>AI+</a:t>
            </a:r>
            <a:r>
              <a:rPr lang="zh-CN" altLang="en-US" sz="2795" b="1" dirty="0">
                <a:solidFill>
                  <a:srgbClr val="00A6C7"/>
                </a:solidFill>
                <a:latin typeface="+mn-ea"/>
                <a:ea typeface="微软雅黑" panose="020B0503020204020204" charset="-122"/>
                <a:cs typeface="微软雅黑" panose="020B0503020204020204" charset="-122"/>
                <a:sym typeface="+mn-ea"/>
              </a:rPr>
              <a:t>综合场景建设实施过程</a:t>
            </a:r>
            <a:endParaRPr lang="zh-CN" altLang="en-US" sz="2795" b="1" dirty="0">
              <a:solidFill>
                <a:srgbClr val="00A6C7"/>
              </a:solidFill>
              <a:latin typeface="+mn-ea"/>
              <a:ea typeface="微软雅黑" panose="020B0503020204020204" charset="-122"/>
              <a:cs typeface="微软雅黑" panose="020B0503020204020204" charset="-122"/>
              <a:sym typeface="+mn-ea"/>
            </a:endParaRPr>
          </a:p>
        </p:txBody>
      </p:sp>
      <p:sp>
        <p:nvSpPr>
          <p:cNvPr id="27" name="Title"/>
          <p:cNvSpPr>
            <a:spLocks noChangeAspect="1"/>
          </p:cNvSpPr>
          <p:nvPr>
            <p:custDataLst>
              <p:tags r:id="rId2"/>
            </p:custDataLst>
          </p:nvPr>
        </p:nvSpPr>
        <p:spPr>
          <a:xfrm>
            <a:off x="39497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1.</a:t>
            </a:r>
            <a:r>
              <a:rPr kumimoji="1" lang="en-US" altLang="zh-CN" sz="1200" b="1" dirty="0">
                <a:solidFill>
                  <a:schemeClr val="bg1">
                    <a:lumMod val="50000"/>
                  </a:schemeClr>
                </a:solidFill>
                <a:latin typeface="+mn-ea"/>
                <a:sym typeface="Arial" panose="020B0604020202020204" pitchFamily="34" charset="0"/>
              </a:rPr>
              <a:t>规划</a:t>
            </a:r>
            <a:r>
              <a:rPr kumimoji="1" lang="en-US" altLang="zh-CN" sz="1200" b="1" dirty="0">
                <a:solidFill>
                  <a:schemeClr val="bg1">
                    <a:lumMod val="50000"/>
                  </a:schemeClr>
                </a:solidFill>
                <a:latin typeface="+mn-ea"/>
                <a:sym typeface="Arial" panose="020B0604020202020204" pitchFamily="34" charset="0"/>
              </a:rPr>
              <a:t>AI+</a:t>
            </a:r>
            <a:r>
              <a:rPr kumimoji="1" lang="en-US" altLang="zh-CN" sz="1200" b="1" dirty="0">
                <a:solidFill>
                  <a:schemeClr val="bg1">
                    <a:lumMod val="50000"/>
                  </a:schemeClr>
                </a:solidFill>
                <a:latin typeface="+mn-ea"/>
                <a:sym typeface="Arial" panose="020B0604020202020204" pitchFamily="34" charset="0"/>
              </a:rPr>
              <a:t>场景</a:t>
            </a:r>
            <a:endParaRPr kumimoji="1" lang="en-US" altLang="zh-CN" sz="1200" b="1" dirty="0">
              <a:solidFill>
                <a:schemeClr val="bg1">
                  <a:lumMod val="50000"/>
                </a:schemeClr>
              </a:solidFill>
              <a:latin typeface="+mn-ea"/>
              <a:sym typeface="Arial" panose="020B0604020202020204" pitchFamily="34" charset="0"/>
            </a:endParaRPr>
          </a:p>
        </p:txBody>
      </p:sp>
      <p:sp>
        <p:nvSpPr>
          <p:cNvPr id="28" name="Title"/>
          <p:cNvSpPr>
            <a:spLocks noChangeAspect="1"/>
          </p:cNvSpPr>
          <p:nvPr>
            <p:custDataLst>
              <p:tags r:id="rId3"/>
            </p:custDataLst>
          </p:nvPr>
        </p:nvSpPr>
        <p:spPr>
          <a:xfrm>
            <a:off x="266636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2.数据准备</a:t>
            </a:r>
            <a:endParaRPr kumimoji="1" lang="en-US" altLang="zh-CN" sz="1200" b="1" dirty="0">
              <a:solidFill>
                <a:schemeClr val="bg1">
                  <a:lumMod val="50000"/>
                </a:schemeClr>
              </a:solidFill>
              <a:latin typeface="+mn-ea"/>
              <a:sym typeface="Arial" panose="020B0604020202020204" pitchFamily="34" charset="0"/>
            </a:endParaRPr>
          </a:p>
        </p:txBody>
      </p:sp>
      <p:sp>
        <p:nvSpPr>
          <p:cNvPr id="29" name="Title"/>
          <p:cNvSpPr>
            <a:spLocks noChangeAspect="1"/>
          </p:cNvSpPr>
          <p:nvPr>
            <p:custDataLst>
              <p:tags r:id="rId4"/>
            </p:custDataLst>
          </p:nvPr>
        </p:nvSpPr>
        <p:spPr>
          <a:xfrm>
            <a:off x="493776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3.</a:t>
            </a:r>
            <a:r>
              <a:rPr kumimoji="1" lang="en-US" altLang="zh-CN" sz="1200" b="1" dirty="0">
                <a:solidFill>
                  <a:schemeClr val="bg1">
                    <a:lumMod val="50000"/>
                  </a:schemeClr>
                </a:solidFill>
                <a:latin typeface="+mn-ea"/>
                <a:sym typeface="Arial" panose="020B0604020202020204" pitchFamily="34" charset="0"/>
              </a:rPr>
              <a:t>模型选型</a:t>
            </a:r>
            <a:endParaRPr kumimoji="1" lang="en-US" altLang="zh-CN" sz="1200" b="1" dirty="0">
              <a:solidFill>
                <a:schemeClr val="bg1">
                  <a:lumMod val="50000"/>
                </a:schemeClr>
              </a:solidFill>
              <a:latin typeface="+mn-ea"/>
              <a:sym typeface="Arial" panose="020B0604020202020204" pitchFamily="34" charset="0"/>
            </a:endParaRPr>
          </a:p>
        </p:txBody>
      </p:sp>
      <p:sp>
        <p:nvSpPr>
          <p:cNvPr id="30" name="Title"/>
          <p:cNvSpPr>
            <a:spLocks noChangeAspect="1"/>
          </p:cNvSpPr>
          <p:nvPr>
            <p:custDataLst>
              <p:tags r:id="rId5"/>
            </p:custDataLst>
          </p:nvPr>
        </p:nvSpPr>
        <p:spPr>
          <a:xfrm>
            <a:off x="7209155" y="643890"/>
            <a:ext cx="2291080" cy="215900"/>
          </a:xfrm>
          <a:prstGeom prst="roundRect">
            <a:avLst>
              <a:gd name="adj" fmla="val 0"/>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rgbClr val="FFFFFF"/>
                </a:solidFill>
                <a:latin typeface="+mn-ea"/>
                <a:sym typeface="Arial" panose="020B0604020202020204" pitchFamily="34" charset="0"/>
              </a:rPr>
              <a:t>4.</a:t>
            </a:r>
            <a:r>
              <a:rPr kumimoji="1" lang="en-US" altLang="zh-CN" sz="1200" b="1" dirty="0">
                <a:solidFill>
                  <a:srgbClr val="FFFFFF"/>
                </a:solidFill>
                <a:latin typeface="+mn-ea"/>
                <a:sym typeface="Arial" panose="020B0604020202020204" pitchFamily="34" charset="0"/>
              </a:rPr>
              <a:t>模型训练与微调</a:t>
            </a:r>
            <a:r>
              <a:rPr kumimoji="1" lang="en-US" altLang="zh-CN" sz="1200" b="1" dirty="0">
                <a:solidFill>
                  <a:srgbClr val="FFFFFF"/>
                </a:solidFill>
                <a:latin typeface="+mn-ea"/>
                <a:sym typeface="Arial" panose="020B0604020202020204" pitchFamily="34" charset="0"/>
              </a:rPr>
              <a:t>(</a:t>
            </a:r>
            <a:r>
              <a:rPr kumimoji="1" lang="en-US" altLang="zh-CN" sz="1200" b="1" dirty="0">
                <a:solidFill>
                  <a:srgbClr val="FFFFFF"/>
                </a:solidFill>
                <a:latin typeface="+mn-ea"/>
                <a:sym typeface="Arial" panose="020B0604020202020204" pitchFamily="34" charset="0"/>
              </a:rPr>
              <a:t>可选</a:t>
            </a:r>
            <a:r>
              <a:rPr kumimoji="1" lang="en-US" altLang="zh-CN" sz="1200" b="1" dirty="0">
                <a:solidFill>
                  <a:srgbClr val="FFFFFF"/>
                </a:solidFill>
                <a:latin typeface="+mn-ea"/>
                <a:sym typeface="Arial" panose="020B0604020202020204" pitchFamily="34" charset="0"/>
              </a:rPr>
              <a:t>)</a:t>
            </a:r>
            <a:endParaRPr kumimoji="1" lang="en-US" altLang="zh-CN" sz="1200" b="1" dirty="0">
              <a:solidFill>
                <a:srgbClr val="FFFFFF"/>
              </a:solidFill>
              <a:latin typeface="+mn-ea"/>
              <a:sym typeface="Arial" panose="020B0604020202020204" pitchFamily="34" charset="0"/>
            </a:endParaRPr>
          </a:p>
        </p:txBody>
      </p:sp>
      <p:sp>
        <p:nvSpPr>
          <p:cNvPr id="31" name="Title"/>
          <p:cNvSpPr>
            <a:spLocks noChangeAspect="1"/>
          </p:cNvSpPr>
          <p:nvPr>
            <p:custDataLst>
              <p:tags r:id="rId6"/>
            </p:custDataLst>
          </p:nvPr>
        </p:nvSpPr>
        <p:spPr>
          <a:xfrm>
            <a:off x="948055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5.</a:t>
            </a:r>
            <a:r>
              <a:rPr kumimoji="1" lang="en-US" altLang="zh-CN" sz="1200" b="1" dirty="0">
                <a:solidFill>
                  <a:schemeClr val="bg1">
                    <a:lumMod val="50000"/>
                  </a:schemeClr>
                </a:solidFill>
                <a:latin typeface="+mn-ea"/>
                <a:sym typeface="Arial" panose="020B0604020202020204" pitchFamily="34" charset="0"/>
              </a:rPr>
              <a:t>智能体开发与迭代</a:t>
            </a:r>
            <a:endParaRPr kumimoji="1" lang="en-US" altLang="zh-CN" sz="1200" b="1" dirty="0">
              <a:solidFill>
                <a:schemeClr val="bg1">
                  <a:lumMod val="50000"/>
                </a:schemeClr>
              </a:solidFill>
              <a:latin typeface="+mn-ea"/>
              <a:sym typeface="Arial" panose="020B0604020202020204" pitchFamily="34" charset="0"/>
            </a:endParaRPr>
          </a:p>
        </p:txBody>
      </p:sp>
      <p:sp>
        <p:nvSpPr>
          <p:cNvPr id="7" name="文本框 6"/>
          <p:cNvSpPr txBox="1"/>
          <p:nvPr/>
        </p:nvSpPr>
        <p:spPr>
          <a:xfrm>
            <a:off x="394970" y="1010285"/>
            <a:ext cx="11315065" cy="521970"/>
          </a:xfrm>
          <a:prstGeom prst="rect">
            <a:avLst/>
          </a:prstGeom>
        </p:spPr>
        <p:txBody>
          <a:bodyPr wrap="square">
            <a:spAutoFit/>
          </a:bodyPr>
          <a:p>
            <a:r>
              <a:rPr lang="zh-CN" altLang="en-US" sz="1400"/>
              <a:t>尽管大语言模型通过海量预训练数据学习到了丰富的通用知识，但在面对某些预训练覆盖不足的垂直领域时，仍表现出适应性不足的短板。在这类场景下，单纯依靠提示工程往往难以实现高质量的领域适配。为了提升模型在特定领域的表现，通常需要对模型参数进行进一步微调。</a:t>
            </a:r>
            <a:endParaRPr lang="zh-CN" altLang="en-US" sz="1400"/>
          </a:p>
        </p:txBody>
      </p:sp>
      <p:sp>
        <p:nvSpPr>
          <p:cNvPr id="36" name="文本框 35"/>
          <p:cNvSpPr txBox="1"/>
          <p:nvPr/>
        </p:nvSpPr>
        <p:spPr>
          <a:xfrm>
            <a:off x="104140" y="2440305"/>
            <a:ext cx="815340" cy="4187825"/>
          </a:xfrm>
          <a:prstGeom prst="rect">
            <a:avLst/>
          </a:prstGeom>
        </p:spPr>
        <p:style>
          <a:lnRef idx="0">
            <a:srgbClr val="FFFFFF"/>
          </a:lnRef>
          <a:fillRef idx="1">
            <a:schemeClr val="accent5"/>
          </a:fillRef>
          <a:effectRef idx="0">
            <a:srgbClr val="FFFFFF"/>
          </a:effectRef>
          <a:fontRef idx="minor">
            <a:schemeClr val="dk1"/>
          </a:fontRef>
        </p:style>
        <p:txBody>
          <a:bodyPr vert="mongolianVert" wrap="square" anchor="ctr" anchorCtr="0">
            <a:noAutofit/>
          </a:bodyPr>
          <a:p>
            <a:pPr algn="ct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参数高效微调</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45" name="组合 44"/>
          <p:cNvGrpSpPr/>
          <p:nvPr/>
        </p:nvGrpSpPr>
        <p:grpSpPr>
          <a:xfrm>
            <a:off x="1998345" y="2564130"/>
            <a:ext cx="10045678" cy="4063365"/>
            <a:chOff x="2588" y="4038"/>
            <a:chExt cx="16379" cy="6399"/>
          </a:xfrm>
        </p:grpSpPr>
        <p:pic>
          <p:nvPicPr>
            <p:cNvPr id="9" name="图片 8"/>
            <p:cNvPicPr>
              <a:picLocks noChangeAspect="1"/>
            </p:cNvPicPr>
            <p:nvPr/>
          </p:nvPicPr>
          <p:blipFill>
            <a:blip r:embed="rId7"/>
            <a:stretch>
              <a:fillRect/>
            </a:stretch>
          </p:blipFill>
          <p:spPr>
            <a:xfrm>
              <a:off x="2588" y="5877"/>
              <a:ext cx="16379" cy="4560"/>
            </a:xfrm>
            <a:prstGeom prst="rect">
              <a:avLst/>
            </a:prstGeom>
          </p:spPr>
        </p:pic>
        <p:sp>
          <p:nvSpPr>
            <p:cNvPr id="17" name="文本框 16"/>
            <p:cNvSpPr txBox="1"/>
            <p:nvPr/>
          </p:nvSpPr>
          <p:spPr>
            <a:xfrm>
              <a:off x="3000" y="4038"/>
              <a:ext cx="5200" cy="483"/>
            </a:xfrm>
            <a:prstGeom prst="rect">
              <a:avLst/>
            </a:prstGeom>
          </p:spPr>
          <p:txBody>
            <a:bodyPr wrap="square">
              <a:spAutoFit/>
            </a:bodyPr>
            <a:p>
              <a:pPr algn="ctr"/>
              <a:r>
                <a:rPr lang="zh-CN" altLang="en-US" sz="1400" b="1">
                  <a:solidFill>
                    <a:schemeClr val="tx1"/>
                  </a:solidFill>
                </a:rPr>
                <a:t>参数附加方法</a:t>
              </a:r>
              <a:endParaRPr lang="zh-CN" altLang="en-US" sz="1400" b="1">
                <a:solidFill>
                  <a:schemeClr val="tx1"/>
                </a:solidFill>
              </a:endParaRPr>
            </a:p>
          </p:txBody>
        </p:sp>
        <p:sp>
          <p:nvSpPr>
            <p:cNvPr id="18" name="文本框 17"/>
            <p:cNvSpPr txBox="1"/>
            <p:nvPr/>
          </p:nvSpPr>
          <p:spPr>
            <a:xfrm>
              <a:off x="3000" y="4461"/>
              <a:ext cx="5200" cy="725"/>
            </a:xfrm>
            <a:prstGeom prst="rect">
              <a:avLst/>
            </a:prstGeom>
          </p:spPr>
          <p:txBody>
            <a:bodyPr wrap="square">
              <a:spAutoFit/>
            </a:bodyPr>
            <a:p>
              <a:r>
                <a:rPr lang="zh-CN" altLang="en-US" sz="1200"/>
                <a:t>通过在原模型结构中引入少量新参数模块，实现领域特定能力的注入</a:t>
              </a:r>
              <a:endParaRPr lang="zh-CN" altLang="en-US" sz="1200"/>
            </a:p>
          </p:txBody>
        </p:sp>
        <p:sp>
          <p:nvSpPr>
            <p:cNvPr id="19" name="文本框 18"/>
            <p:cNvSpPr txBox="1"/>
            <p:nvPr/>
          </p:nvSpPr>
          <p:spPr>
            <a:xfrm>
              <a:off x="8635" y="4038"/>
              <a:ext cx="4898" cy="483"/>
            </a:xfrm>
            <a:prstGeom prst="rect">
              <a:avLst/>
            </a:prstGeom>
          </p:spPr>
          <p:txBody>
            <a:bodyPr wrap="square">
              <a:spAutoFit/>
            </a:bodyPr>
            <a:p>
              <a:pPr algn="ctr"/>
              <a:r>
                <a:rPr lang="zh-CN" altLang="en-US" sz="1400" b="1">
                  <a:solidFill>
                    <a:schemeClr val="tx1"/>
                  </a:solidFill>
                </a:rPr>
                <a:t>参数选择方法</a:t>
              </a:r>
              <a:endParaRPr lang="zh-CN" altLang="en-US" sz="1400" b="1">
                <a:solidFill>
                  <a:schemeClr val="tx1"/>
                </a:solidFill>
              </a:endParaRPr>
            </a:p>
          </p:txBody>
        </p:sp>
        <p:sp>
          <p:nvSpPr>
            <p:cNvPr id="20" name="文本框 19"/>
            <p:cNvSpPr txBox="1"/>
            <p:nvPr/>
          </p:nvSpPr>
          <p:spPr>
            <a:xfrm>
              <a:off x="8416" y="4400"/>
              <a:ext cx="5117" cy="725"/>
            </a:xfrm>
            <a:prstGeom prst="rect">
              <a:avLst/>
            </a:prstGeom>
          </p:spPr>
          <p:txBody>
            <a:bodyPr wrap="square">
              <a:spAutoFit/>
            </a:bodyPr>
            <a:p>
              <a:r>
                <a:rPr lang="zh-CN" altLang="en-US" sz="1200"/>
                <a:t>在原有参数中选择并微调对目标任务影响最大的部分，减少整体调整范围</a:t>
              </a:r>
              <a:endParaRPr lang="zh-CN" altLang="en-US" sz="1200"/>
            </a:p>
          </p:txBody>
        </p:sp>
        <p:sp>
          <p:nvSpPr>
            <p:cNvPr id="21" name="文本框 20"/>
            <p:cNvSpPr txBox="1"/>
            <p:nvPr/>
          </p:nvSpPr>
          <p:spPr>
            <a:xfrm>
              <a:off x="13605" y="4038"/>
              <a:ext cx="4898" cy="483"/>
            </a:xfrm>
            <a:prstGeom prst="rect">
              <a:avLst/>
            </a:prstGeom>
          </p:spPr>
          <p:txBody>
            <a:bodyPr wrap="square">
              <a:spAutoFit/>
            </a:bodyPr>
            <a:p>
              <a:pPr algn="ctr"/>
              <a:r>
                <a:rPr lang="zh-CN" altLang="en-US" sz="1400" b="1">
                  <a:solidFill>
                    <a:schemeClr val="tx1"/>
                  </a:solidFill>
                </a:rPr>
                <a:t>低秩适配方法</a:t>
              </a:r>
              <a:endParaRPr lang="zh-CN" altLang="en-US" sz="1400" b="1">
                <a:solidFill>
                  <a:schemeClr val="tx1"/>
                </a:solidFill>
              </a:endParaRPr>
            </a:p>
          </p:txBody>
        </p:sp>
        <p:sp>
          <p:nvSpPr>
            <p:cNvPr id="22" name="文本框 21"/>
            <p:cNvSpPr txBox="1"/>
            <p:nvPr/>
          </p:nvSpPr>
          <p:spPr>
            <a:xfrm>
              <a:off x="13605" y="4461"/>
              <a:ext cx="4898" cy="434"/>
            </a:xfrm>
            <a:prstGeom prst="rect">
              <a:avLst/>
            </a:prstGeom>
          </p:spPr>
          <p:txBody>
            <a:bodyPr wrap="square">
              <a:spAutoFit/>
            </a:bodyPr>
            <a:p>
              <a:r>
                <a:rPr lang="zh-CN" altLang="en-US" sz="1200"/>
                <a:t>以低秩矩阵对模型参数进行建模和调整。</a:t>
              </a:r>
              <a:endParaRPr lang="zh-CN" altLang="en-US" sz="1200"/>
            </a:p>
          </p:txBody>
        </p:sp>
        <p:sp>
          <p:nvSpPr>
            <p:cNvPr id="33" name="文本框 32"/>
            <p:cNvSpPr txBox="1"/>
            <p:nvPr/>
          </p:nvSpPr>
          <p:spPr>
            <a:xfrm>
              <a:off x="3000" y="5107"/>
              <a:ext cx="5054" cy="725"/>
            </a:xfrm>
            <a:prstGeom prst="rect">
              <a:avLst/>
            </a:prstGeom>
          </p:spPr>
          <p:txBody>
            <a:bodyPr wrap="square">
              <a:spAutoFit/>
            </a:bodyPr>
            <a:p>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方法：适配器微调</a:t>
              </a:r>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、提示微调、前缀微调</a:t>
              </a:r>
              <a:r>
                <a:rPr lang="en-US" altLang="zh-CN" sz="1200">
                  <a:solidFill>
                    <a:schemeClr val="accent5">
                      <a:lumMod val="75000"/>
                    </a:schemeClr>
                  </a:solidFill>
                  <a:latin typeface="微软雅黑" panose="020B0503020204020204" charset="-122"/>
                  <a:ea typeface="微软雅黑" panose="020B0503020204020204" charset="-122"/>
                  <a:cs typeface="微软雅黑" panose="020B0503020204020204" charset="-122"/>
                </a:rPr>
                <a:t> </a:t>
              </a:r>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和</a:t>
              </a:r>
              <a:r>
                <a:rPr lang="en-US" altLang="zh-CN" sz="1200">
                  <a:solidFill>
                    <a:schemeClr val="accent5">
                      <a:lumMod val="75000"/>
                    </a:schemeClr>
                  </a:solidFill>
                  <a:latin typeface="微软雅黑" panose="020B0503020204020204" charset="-122"/>
                  <a:ea typeface="微软雅黑" panose="020B0503020204020204" charset="-122"/>
                  <a:cs typeface="微软雅黑" panose="020B0503020204020204" charset="-122"/>
                </a:rPr>
                <a:t> </a:t>
              </a:r>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代理微调</a:t>
              </a:r>
              <a:r>
                <a:rPr lang="en-US" altLang="zh-CN" sz="1200">
                  <a:solidFill>
                    <a:schemeClr val="accent5">
                      <a:lumMod val="75000"/>
                    </a:schemeClr>
                  </a:solidFill>
                  <a:latin typeface="微软雅黑" panose="020B0503020204020204" charset="-122"/>
                  <a:ea typeface="微软雅黑" panose="020B0503020204020204" charset="-122"/>
                  <a:cs typeface="微软雅黑" panose="020B0503020204020204" charset="-122"/>
                </a:rPr>
                <a:t> </a:t>
              </a:r>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等。</a:t>
              </a:r>
              <a:endPar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8539" y="5107"/>
              <a:ext cx="4829" cy="725"/>
            </a:xfrm>
            <a:prstGeom prst="rect">
              <a:avLst/>
            </a:prstGeom>
          </p:spPr>
          <p:txBody>
            <a:bodyPr wrap="square">
              <a:spAutoFit/>
            </a:bodyPr>
            <a:p>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方法：</a:t>
              </a:r>
              <a:r>
                <a:rPr lang="en-US" altLang="zh-CN" sz="1200">
                  <a:solidFill>
                    <a:schemeClr val="accent5">
                      <a:lumMod val="75000"/>
                    </a:schemeClr>
                  </a:solidFill>
                  <a:latin typeface="微软雅黑" panose="020B0503020204020204" charset="-122"/>
                  <a:ea typeface="微软雅黑" panose="020B0503020204020204" charset="-122"/>
                  <a:cs typeface="微软雅黑" panose="020B0503020204020204" charset="-122"/>
                </a:rPr>
                <a:t>BitFit</a:t>
              </a:r>
              <a:r>
                <a:rPr lang="en-US"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 </a:t>
              </a:r>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a:t>
              </a:r>
              <a:r>
                <a:rPr lang="en-US" altLang="zh-CN" sz="1200">
                  <a:solidFill>
                    <a:schemeClr val="accent5">
                      <a:lumMod val="75000"/>
                    </a:schemeClr>
                  </a:solidFill>
                  <a:latin typeface="微软雅黑" panose="020B0503020204020204" charset="-122"/>
                  <a:ea typeface="微软雅黑" panose="020B0503020204020204" charset="-122"/>
                  <a:cs typeface="微软雅黑" panose="020B0503020204020204" charset="-122"/>
                </a:rPr>
                <a:t>Child-tuning</a:t>
              </a:r>
              <a:r>
                <a:rPr lang="en-US"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 </a:t>
              </a:r>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以及</a:t>
              </a:r>
              <a:r>
                <a:rPr lang="en-US"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 </a:t>
              </a:r>
              <a:r>
                <a:rPr lang="en-US" altLang="zh-CN" sz="1200">
                  <a:solidFill>
                    <a:schemeClr val="accent5">
                      <a:lumMod val="75000"/>
                    </a:schemeClr>
                  </a:solidFill>
                  <a:latin typeface="微软雅黑" panose="020B0503020204020204" charset="-122"/>
                  <a:ea typeface="微软雅黑" panose="020B0503020204020204" charset="-122"/>
                  <a:cs typeface="微软雅黑" panose="020B0503020204020204" charset="-122"/>
                </a:rPr>
                <a:t>FishMask</a:t>
              </a:r>
              <a:r>
                <a:rPr lang="en-US"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 </a:t>
              </a:r>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等。</a:t>
              </a:r>
              <a:endPar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13629" y="5107"/>
              <a:ext cx="5098" cy="725"/>
            </a:xfrm>
            <a:prstGeom prst="rect">
              <a:avLst/>
            </a:prstGeom>
          </p:spPr>
          <p:txBody>
            <a:bodyPr wrap="square">
              <a:spAutoFit/>
            </a:bodyPr>
            <a:p>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sym typeface="+mn-ea"/>
                </a:rPr>
                <a:t>方法：</a:t>
              </a:r>
              <a:r>
                <a:rPr lang="en-US" altLang="zh-CN" sz="1200">
                  <a:solidFill>
                    <a:schemeClr val="accent5">
                      <a:lumMod val="75000"/>
                    </a:schemeClr>
                  </a:solidFill>
                  <a:latin typeface="微软雅黑" panose="020B0503020204020204" charset="-122"/>
                  <a:ea typeface="微软雅黑" panose="020B0503020204020204" charset="-122"/>
                  <a:cs typeface="微软雅黑" panose="020B0503020204020204" charset="-122"/>
                </a:rPr>
                <a:t>LoRA </a:t>
              </a:r>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是经典的低秩适配方法，后续有</a:t>
              </a:r>
              <a:r>
                <a:rPr lang="en-US"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 </a:t>
              </a:r>
              <a:r>
                <a:rPr lang="en-US" altLang="zh-CN" sz="1200">
                  <a:solidFill>
                    <a:schemeClr val="accent5">
                      <a:lumMod val="75000"/>
                    </a:schemeClr>
                  </a:solidFill>
                  <a:latin typeface="微软雅黑" panose="020B0503020204020204" charset="-122"/>
                  <a:ea typeface="微软雅黑" panose="020B0503020204020204" charset="-122"/>
                  <a:cs typeface="微软雅黑" panose="020B0503020204020204" charset="-122"/>
                </a:rPr>
                <a:t>AdaLoRA</a:t>
              </a:r>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a:t>
              </a:r>
              <a:r>
                <a:rPr lang="en-US" altLang="zh-CN" sz="1200">
                  <a:solidFill>
                    <a:schemeClr val="accent5">
                      <a:lumMod val="75000"/>
                    </a:schemeClr>
                  </a:solidFill>
                  <a:latin typeface="微软雅黑" panose="020B0503020204020204" charset="-122"/>
                  <a:ea typeface="微软雅黑" panose="020B0503020204020204" charset="-122"/>
                  <a:cs typeface="微软雅黑" panose="020B0503020204020204" charset="-122"/>
                </a:rPr>
                <a:t>DyLoRA</a:t>
              </a:r>
              <a:r>
                <a:rPr lang="en-US"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  </a:t>
              </a:r>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以及</a:t>
              </a:r>
              <a:r>
                <a:rPr lang="en-US"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 </a:t>
              </a:r>
              <a:r>
                <a:rPr lang="en-US" altLang="zh-CN" sz="1200">
                  <a:solidFill>
                    <a:schemeClr val="accent5">
                      <a:lumMod val="75000"/>
                    </a:schemeClr>
                  </a:solidFill>
                  <a:latin typeface="微软雅黑" panose="020B0503020204020204" charset="-122"/>
                  <a:ea typeface="微软雅黑" panose="020B0503020204020204" charset="-122"/>
                  <a:cs typeface="微软雅黑" panose="020B0503020204020204" charset="-122"/>
                </a:rPr>
                <a:t>DoRA</a:t>
              </a:r>
              <a:r>
                <a:rPr lang="en-US"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 </a:t>
              </a:r>
              <a:r>
                <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rPr>
                <a:t>等变体</a:t>
              </a:r>
              <a:endParaRPr lang="zh-CN" altLang="en-US" sz="1200">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p:txBody>
        </p:sp>
        <p:cxnSp>
          <p:nvCxnSpPr>
            <p:cNvPr id="37" name="直接连接符 36"/>
            <p:cNvCxnSpPr/>
            <p:nvPr/>
          </p:nvCxnSpPr>
          <p:spPr>
            <a:xfrm>
              <a:off x="13520" y="4135"/>
              <a:ext cx="0" cy="2041"/>
            </a:xfrm>
            <a:prstGeom prst="line">
              <a:avLst/>
            </a:prstGeom>
            <a:ln>
              <a:solidFill>
                <a:schemeClr val="accent5">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38" name="直接连接符 37"/>
            <p:cNvCxnSpPr/>
            <p:nvPr/>
          </p:nvCxnSpPr>
          <p:spPr>
            <a:xfrm>
              <a:off x="8390" y="4135"/>
              <a:ext cx="0" cy="2041"/>
            </a:xfrm>
            <a:prstGeom prst="line">
              <a:avLst/>
            </a:prstGeom>
            <a:ln>
              <a:solidFill>
                <a:schemeClr val="accent5">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grpSp>
      <p:sp>
        <p:nvSpPr>
          <p:cNvPr id="39" name="文本框 38"/>
          <p:cNvSpPr txBox="1"/>
          <p:nvPr/>
        </p:nvSpPr>
        <p:spPr>
          <a:xfrm>
            <a:off x="104140" y="1610995"/>
            <a:ext cx="815340" cy="668655"/>
          </a:xfrm>
          <a:prstGeom prst="rect">
            <a:avLst/>
          </a:prstGeom>
        </p:spPr>
        <p:style>
          <a:lnRef idx="0">
            <a:srgbClr val="FFFFFF"/>
          </a:lnRef>
          <a:fillRef idx="1">
            <a:schemeClr val="accent5"/>
          </a:fillRef>
          <a:effectRef idx="0">
            <a:srgbClr val="FFFFFF"/>
          </a:effectRef>
          <a:fontRef idx="minor">
            <a:schemeClr val="dk1"/>
          </a:fontRef>
        </p:style>
        <p:txBody>
          <a:bodyPr wrap="square">
            <a:noAutofit/>
          </a:bodyPr>
          <a:p>
            <a:pPr algn="ct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全参数微调</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1" name="矩形 40"/>
          <p:cNvSpPr/>
          <p:nvPr/>
        </p:nvSpPr>
        <p:spPr>
          <a:xfrm>
            <a:off x="992505" y="2439670"/>
            <a:ext cx="11061065" cy="4277995"/>
          </a:xfrm>
          <a:prstGeom prst="rect">
            <a:avLst/>
          </a:prstGeom>
          <a:noFill/>
          <a:ln>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矩形 41"/>
          <p:cNvSpPr/>
          <p:nvPr/>
        </p:nvSpPr>
        <p:spPr>
          <a:xfrm>
            <a:off x="991870" y="1610995"/>
            <a:ext cx="11061700" cy="666750"/>
          </a:xfrm>
          <a:prstGeom prst="rect">
            <a:avLst/>
          </a:prstGeom>
          <a:noFill/>
          <a:ln>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文本框 42"/>
          <p:cNvSpPr txBox="1"/>
          <p:nvPr/>
        </p:nvSpPr>
        <p:spPr>
          <a:xfrm>
            <a:off x="1052830" y="1682750"/>
            <a:ext cx="10838815" cy="460375"/>
          </a:xfrm>
          <a:prstGeom prst="rect">
            <a:avLst/>
          </a:prstGeom>
          <a:noFill/>
        </p:spPr>
        <p:txBody>
          <a:bodyPr wrap="square" rtlCol="0">
            <a:spAutoFit/>
          </a:bodyPr>
          <a:p>
            <a:r>
              <a:rPr lang="zh-CN" altLang="en-US" sz="1200" b="1">
                <a:solidFill>
                  <a:schemeClr val="accent5">
                    <a:lumMod val="75000"/>
                  </a:schemeClr>
                </a:solidFill>
                <a:latin typeface="微软雅黑" panose="020B0503020204020204" charset="-122"/>
                <a:ea typeface="微软雅黑" panose="020B0503020204020204" charset="-122"/>
                <a:cs typeface="微软雅黑" panose="020B0503020204020204" charset="-122"/>
              </a:rPr>
              <a:t>更新模型的所有</a:t>
            </a:r>
            <a:r>
              <a:rPr lang="zh-CN" altLang="en-US" sz="1200" b="1">
                <a:solidFill>
                  <a:schemeClr val="accent5">
                    <a:lumMod val="75000"/>
                  </a:schemeClr>
                </a:solidFill>
                <a:latin typeface="微软雅黑" panose="020B0503020204020204" charset="-122"/>
                <a:ea typeface="微软雅黑" panose="020B0503020204020204" charset="-122"/>
                <a:cs typeface="微软雅黑" panose="020B0503020204020204" charset="-122"/>
              </a:rPr>
              <a:t>参数</a:t>
            </a:r>
            <a:r>
              <a:rPr lang="zh-CN" altLang="en-US" sz="1200">
                <a:latin typeface="微软雅黑" panose="020B0503020204020204" charset="-122"/>
                <a:ea typeface="微软雅黑" panose="020B0503020204020204" charset="-122"/>
                <a:cs typeface="微软雅黑" panose="020B0503020204020204" charset="-122"/>
              </a:rPr>
              <a:t>，全面适配新任务。这一方式如同让学生重新学习一门全新专业，</a:t>
            </a:r>
            <a:r>
              <a:rPr lang="zh-CN" altLang="en-US" sz="1200" b="1">
                <a:solidFill>
                  <a:schemeClr val="accent5">
                    <a:lumMod val="75000"/>
                  </a:schemeClr>
                </a:solidFill>
                <a:latin typeface="微软雅黑" panose="020B0503020204020204" charset="-122"/>
                <a:ea typeface="微软雅黑" panose="020B0503020204020204" charset="-122"/>
                <a:cs typeface="微软雅黑" panose="020B0503020204020204" charset="-122"/>
              </a:rPr>
              <a:t>适用于任务与预训练目标差异显著、数据充足且算力充沛的场景，</a:t>
            </a:r>
            <a:r>
              <a:rPr lang="zh-CN" altLang="en-US" sz="1200">
                <a:latin typeface="微软雅黑" panose="020B0503020204020204" charset="-122"/>
                <a:ea typeface="微软雅黑" panose="020B0503020204020204" charset="-122"/>
                <a:cs typeface="微软雅黑" panose="020B0503020204020204" charset="-122"/>
              </a:rPr>
              <a:t>如从通用文本生成转向医疗影像诊断分析。不过，</a:t>
            </a:r>
            <a:r>
              <a:rPr lang="zh-CN" altLang="en-US" sz="1200" b="1">
                <a:solidFill>
                  <a:schemeClr val="accent5">
                    <a:lumMod val="75000"/>
                  </a:schemeClr>
                </a:solidFill>
                <a:latin typeface="微软雅黑" panose="020B0503020204020204" charset="-122"/>
                <a:ea typeface="微软雅黑" panose="020B0503020204020204" charset="-122"/>
                <a:cs typeface="微软雅黑" panose="020B0503020204020204" charset="-122"/>
              </a:rPr>
              <a:t>其计算成本高昂，容易引发 “灾难性遗忘”，</a:t>
            </a:r>
            <a:r>
              <a:rPr lang="zh-CN" altLang="en-US" sz="1200">
                <a:latin typeface="微软雅黑" panose="020B0503020204020204" charset="-122"/>
                <a:ea typeface="微软雅黑" panose="020B0503020204020204" charset="-122"/>
                <a:cs typeface="微软雅黑" panose="020B0503020204020204" charset="-122"/>
              </a:rPr>
              <a:t>导致模型对原有知识的记忆受损</a:t>
            </a:r>
            <a:r>
              <a:rPr lang="en-US" altLang="zh-CN" sz="1200">
                <a:latin typeface="微软雅黑" panose="020B0503020204020204" charset="-122"/>
                <a:ea typeface="微软雅黑" panose="020B0503020204020204" charset="-122"/>
                <a:cs typeface="微软雅黑" panose="020B0503020204020204" charset="-122"/>
              </a:rPr>
              <a:t> </a:t>
            </a:r>
            <a:r>
              <a:rPr lang="zh-CN" altLang="en-US" sz="1200">
                <a:latin typeface="微软雅黑" panose="020B0503020204020204" charset="-122"/>
                <a:ea typeface="微软雅黑" panose="020B0503020204020204" charset="-122"/>
                <a:cs typeface="微软雅黑" panose="020B0503020204020204" charset="-122"/>
              </a:rPr>
              <a:t>。</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1106805" y="2564130"/>
            <a:ext cx="846455" cy="3988435"/>
          </a:xfrm>
          <a:prstGeom prst="rect">
            <a:avLst/>
          </a:prstGeom>
          <a:ln>
            <a:solidFill>
              <a:schemeClr val="tx1"/>
            </a:solidFill>
            <a:prstDash val="sysDot"/>
          </a:ln>
        </p:spPr>
        <p:txBody>
          <a:bodyPr wrap="square">
            <a:noAutofit/>
          </a:bodyPr>
          <a:p>
            <a:pPr marL="0" indent="0" algn="l">
              <a:lnSpc>
                <a:spcPct val="150000"/>
              </a:lnSpc>
            </a:pPr>
            <a:r>
              <a:rPr lang="zh-CN" altLang="en-US" sz="1200" b="0" i="0">
                <a:solidFill>
                  <a:srgbClr val="4D4D4D"/>
                </a:solidFill>
                <a:latin typeface="微软雅黑" panose="020B0503020204020204" charset="-122"/>
                <a:ea typeface="微软雅黑" panose="020B0503020204020204" charset="-122"/>
              </a:rPr>
              <a:t>最大化性能提升的同时最小化参数调整量，在保持模型性能的同时，大幅降低计算资源需求与训练成本</a:t>
            </a:r>
            <a:endParaRPr lang="zh-CN" altLang="en-US" sz="1200" b="0" i="0">
              <a:solidFill>
                <a:srgbClr val="4D4D4D"/>
              </a:solidFill>
              <a:latin typeface="微软雅黑" panose="020B0503020204020204" charset="-122"/>
              <a:ea typeface="微软雅黑" panose="020B0503020204020204"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336803" y="144012"/>
            <a:ext cx="8493516" cy="521970"/>
          </a:xfrm>
          <a:prstGeom prst="rect">
            <a:avLst/>
          </a:prstGeom>
        </p:spPr>
        <p:txBody>
          <a:bodyPr wrap="square">
            <a:spAutoFit/>
          </a:bodyPr>
          <a:p>
            <a:r>
              <a:rPr lang="en-US" altLang="zh-CN" sz="2795" b="1" dirty="0">
                <a:solidFill>
                  <a:srgbClr val="00A6C7"/>
                </a:solidFill>
                <a:latin typeface="+mn-ea"/>
                <a:ea typeface="微软雅黑" panose="020B0503020204020204" charset="-122"/>
                <a:cs typeface="微软雅黑" panose="020B0503020204020204" charset="-122"/>
                <a:sym typeface="+mn-ea"/>
              </a:rPr>
              <a:t>AI+</a:t>
            </a:r>
            <a:r>
              <a:rPr lang="zh-CN" altLang="en-US" sz="2795" b="1" dirty="0">
                <a:solidFill>
                  <a:srgbClr val="00A6C7"/>
                </a:solidFill>
                <a:latin typeface="+mn-ea"/>
                <a:ea typeface="微软雅黑" panose="020B0503020204020204" charset="-122"/>
                <a:cs typeface="微软雅黑" panose="020B0503020204020204" charset="-122"/>
                <a:sym typeface="+mn-ea"/>
              </a:rPr>
              <a:t>综合场景建设实施过程</a:t>
            </a:r>
            <a:endParaRPr lang="zh-CN" altLang="en-US" sz="2795" b="1" dirty="0">
              <a:solidFill>
                <a:srgbClr val="00A6C7"/>
              </a:solidFill>
              <a:latin typeface="+mn-ea"/>
              <a:ea typeface="微软雅黑" panose="020B0503020204020204" charset="-122"/>
              <a:cs typeface="微软雅黑" panose="020B0503020204020204" charset="-122"/>
              <a:sym typeface="+mn-ea"/>
            </a:endParaRPr>
          </a:p>
        </p:txBody>
      </p:sp>
      <p:sp>
        <p:nvSpPr>
          <p:cNvPr id="3" name="Title"/>
          <p:cNvSpPr>
            <a:spLocks noChangeAspect="1"/>
          </p:cNvSpPr>
          <p:nvPr>
            <p:custDataLst>
              <p:tags r:id="rId2"/>
            </p:custDataLst>
          </p:nvPr>
        </p:nvSpPr>
        <p:spPr>
          <a:xfrm>
            <a:off x="39497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1.</a:t>
            </a:r>
            <a:r>
              <a:rPr kumimoji="1" lang="en-US" altLang="zh-CN" sz="1200" b="1" dirty="0">
                <a:solidFill>
                  <a:schemeClr val="bg1">
                    <a:lumMod val="50000"/>
                  </a:schemeClr>
                </a:solidFill>
                <a:latin typeface="+mn-ea"/>
                <a:sym typeface="Arial" panose="020B0604020202020204" pitchFamily="34" charset="0"/>
              </a:rPr>
              <a:t>规划</a:t>
            </a:r>
            <a:r>
              <a:rPr kumimoji="1" lang="en-US" altLang="zh-CN" sz="1200" b="1" dirty="0">
                <a:solidFill>
                  <a:schemeClr val="bg1">
                    <a:lumMod val="50000"/>
                  </a:schemeClr>
                </a:solidFill>
                <a:latin typeface="+mn-ea"/>
                <a:sym typeface="Arial" panose="020B0604020202020204" pitchFamily="34" charset="0"/>
              </a:rPr>
              <a:t>AI+</a:t>
            </a:r>
            <a:r>
              <a:rPr kumimoji="1" lang="en-US" altLang="zh-CN" sz="1200" b="1" dirty="0">
                <a:solidFill>
                  <a:schemeClr val="bg1">
                    <a:lumMod val="50000"/>
                  </a:schemeClr>
                </a:solidFill>
                <a:latin typeface="+mn-ea"/>
                <a:sym typeface="Arial" panose="020B0604020202020204" pitchFamily="34" charset="0"/>
              </a:rPr>
              <a:t>场景</a:t>
            </a:r>
            <a:endParaRPr kumimoji="1" lang="en-US" altLang="zh-CN" sz="1200" b="1" dirty="0">
              <a:solidFill>
                <a:schemeClr val="bg1">
                  <a:lumMod val="50000"/>
                </a:schemeClr>
              </a:solidFill>
              <a:latin typeface="+mn-ea"/>
              <a:sym typeface="Arial" panose="020B0604020202020204" pitchFamily="34" charset="0"/>
            </a:endParaRPr>
          </a:p>
        </p:txBody>
      </p:sp>
      <p:sp>
        <p:nvSpPr>
          <p:cNvPr id="4" name="Title"/>
          <p:cNvSpPr>
            <a:spLocks noChangeAspect="1"/>
          </p:cNvSpPr>
          <p:nvPr>
            <p:custDataLst>
              <p:tags r:id="rId3"/>
            </p:custDataLst>
          </p:nvPr>
        </p:nvSpPr>
        <p:spPr>
          <a:xfrm>
            <a:off x="266636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2.数据准备</a:t>
            </a:r>
            <a:endParaRPr kumimoji="1" lang="en-US" altLang="zh-CN" sz="1200" b="1" dirty="0">
              <a:solidFill>
                <a:schemeClr val="bg1">
                  <a:lumMod val="50000"/>
                </a:schemeClr>
              </a:solidFill>
              <a:latin typeface="+mn-ea"/>
              <a:sym typeface="Arial" panose="020B0604020202020204" pitchFamily="34" charset="0"/>
            </a:endParaRPr>
          </a:p>
        </p:txBody>
      </p:sp>
      <p:sp>
        <p:nvSpPr>
          <p:cNvPr id="5" name="Title"/>
          <p:cNvSpPr>
            <a:spLocks noChangeAspect="1"/>
          </p:cNvSpPr>
          <p:nvPr>
            <p:custDataLst>
              <p:tags r:id="rId4"/>
            </p:custDataLst>
          </p:nvPr>
        </p:nvSpPr>
        <p:spPr>
          <a:xfrm>
            <a:off x="493776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200" b="1" dirty="0">
                <a:solidFill>
                  <a:schemeClr val="bg1">
                    <a:lumMod val="50000"/>
                  </a:schemeClr>
                </a:solidFill>
                <a:latin typeface="+mn-ea"/>
                <a:sym typeface="Arial" panose="020B0604020202020204" pitchFamily="34" charset="0"/>
              </a:rPr>
              <a:t>3.</a:t>
            </a:r>
            <a:r>
              <a:rPr kumimoji="1" lang="zh-CN" altLang="en-US" sz="1200" b="1" dirty="0">
                <a:solidFill>
                  <a:schemeClr val="bg1">
                    <a:lumMod val="50000"/>
                  </a:schemeClr>
                </a:solidFill>
                <a:latin typeface="+mn-ea"/>
                <a:sym typeface="Arial" panose="020B0604020202020204" pitchFamily="34" charset="0"/>
              </a:rPr>
              <a:t>模型选型</a:t>
            </a:r>
            <a:endParaRPr kumimoji="1" lang="zh-CN" altLang="en-US" sz="1200" b="1" dirty="0">
              <a:solidFill>
                <a:schemeClr val="bg1">
                  <a:lumMod val="50000"/>
                </a:schemeClr>
              </a:solidFill>
              <a:latin typeface="+mn-ea"/>
              <a:sym typeface="Arial" panose="020B0604020202020204" pitchFamily="34" charset="0"/>
            </a:endParaRPr>
          </a:p>
        </p:txBody>
      </p:sp>
      <p:sp>
        <p:nvSpPr>
          <p:cNvPr id="6" name="Title"/>
          <p:cNvSpPr>
            <a:spLocks noChangeAspect="1"/>
          </p:cNvSpPr>
          <p:nvPr>
            <p:custDataLst>
              <p:tags r:id="rId5"/>
            </p:custDataLst>
          </p:nvPr>
        </p:nvSpPr>
        <p:spPr>
          <a:xfrm>
            <a:off x="720915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4.</a:t>
            </a:r>
            <a:r>
              <a:rPr kumimoji="1" lang="en-US" altLang="zh-CN" sz="1200" b="1" dirty="0">
                <a:solidFill>
                  <a:schemeClr val="bg1">
                    <a:lumMod val="50000"/>
                  </a:schemeClr>
                </a:solidFill>
                <a:latin typeface="+mn-ea"/>
                <a:sym typeface="Arial" panose="020B0604020202020204" pitchFamily="34" charset="0"/>
              </a:rPr>
              <a:t>模型训练与微调</a:t>
            </a:r>
            <a:r>
              <a:rPr kumimoji="1" lang="en-US" altLang="zh-CN" sz="1200" b="1" dirty="0">
                <a:solidFill>
                  <a:schemeClr val="bg1">
                    <a:lumMod val="50000"/>
                  </a:schemeClr>
                </a:solidFill>
                <a:latin typeface="+mn-ea"/>
                <a:sym typeface="Arial" panose="020B0604020202020204" pitchFamily="34" charset="0"/>
              </a:rPr>
              <a:t>(</a:t>
            </a:r>
            <a:r>
              <a:rPr kumimoji="1" lang="en-US" altLang="zh-CN" sz="1200" b="1" dirty="0">
                <a:solidFill>
                  <a:schemeClr val="bg1">
                    <a:lumMod val="50000"/>
                  </a:schemeClr>
                </a:solidFill>
                <a:latin typeface="+mn-ea"/>
                <a:sym typeface="Arial" panose="020B0604020202020204" pitchFamily="34" charset="0"/>
              </a:rPr>
              <a:t>可选</a:t>
            </a:r>
            <a:r>
              <a:rPr kumimoji="1" lang="en-US" altLang="zh-CN" sz="1200" b="1" dirty="0">
                <a:solidFill>
                  <a:schemeClr val="bg1">
                    <a:lumMod val="50000"/>
                  </a:schemeClr>
                </a:solidFill>
                <a:latin typeface="+mn-ea"/>
                <a:sym typeface="Arial" panose="020B0604020202020204" pitchFamily="34" charset="0"/>
              </a:rPr>
              <a:t>)</a:t>
            </a:r>
            <a:endParaRPr kumimoji="1" lang="en-US" altLang="zh-CN" sz="1200" b="1" dirty="0">
              <a:solidFill>
                <a:schemeClr val="bg1">
                  <a:lumMod val="50000"/>
                </a:schemeClr>
              </a:solidFill>
              <a:latin typeface="+mn-ea"/>
              <a:sym typeface="Arial" panose="020B0604020202020204" pitchFamily="34" charset="0"/>
            </a:endParaRPr>
          </a:p>
        </p:txBody>
      </p:sp>
      <p:sp>
        <p:nvSpPr>
          <p:cNvPr id="7" name="Title"/>
          <p:cNvSpPr>
            <a:spLocks noChangeAspect="1"/>
          </p:cNvSpPr>
          <p:nvPr>
            <p:custDataLst>
              <p:tags r:id="rId6"/>
            </p:custDataLst>
          </p:nvPr>
        </p:nvSpPr>
        <p:spPr>
          <a:xfrm>
            <a:off x="9480550" y="643890"/>
            <a:ext cx="2291080" cy="215900"/>
          </a:xfrm>
          <a:prstGeom prst="roundRect">
            <a:avLst>
              <a:gd name="adj" fmla="val 0"/>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rgbClr val="FFFFFF"/>
                </a:solidFill>
                <a:latin typeface="+mn-ea"/>
                <a:sym typeface="Arial" panose="020B0604020202020204" pitchFamily="34" charset="0"/>
              </a:rPr>
              <a:t>5.</a:t>
            </a:r>
            <a:r>
              <a:rPr kumimoji="1" lang="en-US" altLang="zh-CN" sz="1200" b="1" dirty="0">
                <a:solidFill>
                  <a:srgbClr val="FFFFFF"/>
                </a:solidFill>
                <a:latin typeface="+mn-ea"/>
                <a:sym typeface="Arial" panose="020B0604020202020204" pitchFamily="34" charset="0"/>
              </a:rPr>
              <a:t>智能体开发与迭代</a:t>
            </a:r>
            <a:endParaRPr kumimoji="1" lang="en-US" altLang="zh-CN" sz="1200" b="1" dirty="0">
              <a:solidFill>
                <a:srgbClr val="FFFFFF"/>
              </a:solidFill>
              <a:latin typeface="+mn-ea"/>
              <a:sym typeface="Arial" panose="020B0604020202020204" pitchFamily="34" charset="0"/>
            </a:endParaRPr>
          </a:p>
        </p:txBody>
      </p:sp>
      <p:graphicFrame>
        <p:nvGraphicFramePr>
          <p:cNvPr id="10" name="表格 9"/>
          <p:cNvGraphicFramePr/>
          <p:nvPr>
            <p:custDataLst>
              <p:tags r:id="rId7"/>
            </p:custDataLst>
          </p:nvPr>
        </p:nvGraphicFramePr>
        <p:xfrm>
          <a:off x="116840" y="1308100"/>
          <a:ext cx="11875135" cy="5238115"/>
        </p:xfrm>
        <a:graphic>
          <a:graphicData uri="http://schemas.openxmlformats.org/drawingml/2006/table">
            <a:tbl>
              <a:tblPr firstRow="1">
                <a:tableStyleId>{1145C2D4-26EA-4D46-9094-34C4210D4325}</a:tableStyleId>
              </a:tblPr>
              <a:tblGrid>
                <a:gridCol w="346075"/>
                <a:gridCol w="1226701"/>
                <a:gridCol w="2589809"/>
                <a:gridCol w="3043555"/>
                <a:gridCol w="1223645"/>
                <a:gridCol w="1275087"/>
                <a:gridCol w="591747"/>
                <a:gridCol w="480600"/>
                <a:gridCol w="532259"/>
                <a:gridCol w="565657"/>
              </a:tblGrid>
              <a:tr h="641350">
                <a:tc gridSpan="2">
                  <a:txBody>
                    <a:bodyPr/>
                    <a:p>
                      <a:pPr marL="0" indent="0" algn="ctr" fontAlgn="ctr" latinLnBrk="0">
                        <a:lnSpc>
                          <a:spcPts val="1100"/>
                        </a:lnSpc>
                        <a:spcBef>
                          <a:spcPct val="0"/>
                        </a:spcBef>
                        <a:spcAft>
                          <a:spcPct val="0"/>
                        </a:spcAft>
                      </a:pPr>
                      <a:r>
                        <a:rPr lang="zh-CN" altLang="en-US" sz="1200" b="1" i="0">
                          <a:solidFill>
                            <a:srgbClr val="4F4F4F"/>
                          </a:solidFill>
                          <a:latin typeface="微软雅黑" panose="020B0503020204020204" charset="-122"/>
                          <a:ea typeface="微软雅黑" panose="020B0503020204020204" charset="-122"/>
                        </a:rPr>
                        <a:t>微调方法</a:t>
                      </a:r>
                      <a:endParaRPr lang="zh-CN" altLang="en-US" sz="1200" b="1"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a:solidFill>
                        <a:schemeClr val="bg1">
                          <a:lumMod val="85000"/>
                        </a:schemeClr>
                      </a:solidFill>
                      <a:prstDash val="sysDot"/>
                    </a:lnB>
                  </a:tcPr>
                </a:tc>
                <a:tc hMerge="1">
                  <a:tcPr marL="51117" marR="51117" marT="51117" marB="51117" anchor="ctr" anchorCtr="0">
                    <a:lnR w="12700">
                      <a:solidFill>
                        <a:schemeClr val="bg1">
                          <a:lumMod val="85000"/>
                        </a:schemeClr>
                      </a:solidFill>
                      <a:prstDash val="sysDot"/>
                    </a:lnR>
                    <a:lnT w="12700">
                      <a:solidFill>
                        <a:schemeClr val="bg1">
                          <a:lumMod val="85000"/>
                        </a:schemeClr>
                      </a:solidFill>
                      <a:prstDash val="sysDot"/>
                    </a:lnT>
                    <a:lnB w="12700">
                      <a:solidFill>
                        <a:schemeClr val="bg1">
                          <a:lumMod val="85000"/>
                        </a:schemeClr>
                      </a:solidFill>
                      <a:prstDash val="sysDot"/>
                    </a:lnB>
                  </a:tcPr>
                </a:tc>
                <a:tc>
                  <a:txBody>
                    <a:bodyPr/>
                    <a:p>
                      <a:pPr marL="0" indent="0" algn="ctr" fontAlgn="ctr" latinLnBrk="0">
                        <a:lnSpc>
                          <a:spcPts val="1100"/>
                        </a:lnSpc>
                        <a:spcBef>
                          <a:spcPct val="0"/>
                        </a:spcBef>
                        <a:spcAft>
                          <a:spcPct val="0"/>
                        </a:spcAft>
                        <a:buNone/>
                      </a:pPr>
                      <a:r>
                        <a:rPr lang="zh-CN" altLang="en-US" sz="1200" b="1" i="0">
                          <a:solidFill>
                            <a:srgbClr val="4F4F4F"/>
                          </a:solidFill>
                          <a:latin typeface="微软雅黑" panose="020B0503020204020204" charset="-122"/>
                          <a:ea typeface="微软雅黑" panose="020B0503020204020204" charset="-122"/>
                        </a:rPr>
                        <a:t>适合场景</a:t>
                      </a:r>
                      <a:endParaRPr lang="zh-CN" altLang="en-US" sz="1200" b="1"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a:solidFill>
                        <a:schemeClr val="bg1">
                          <a:lumMod val="85000"/>
                        </a:schemeClr>
                      </a:solidFill>
                      <a:prstDash val="sysDot"/>
                    </a:lnB>
                  </a:tcPr>
                </a:tc>
                <a:tc>
                  <a:txBody>
                    <a:bodyPr/>
                    <a:p>
                      <a:pPr marL="0" indent="0" algn="ctr" fontAlgn="ctr" latinLnBrk="0">
                        <a:lnSpc>
                          <a:spcPts val="1100"/>
                        </a:lnSpc>
                        <a:spcBef>
                          <a:spcPct val="0"/>
                        </a:spcBef>
                        <a:spcAft>
                          <a:spcPct val="0"/>
                        </a:spcAft>
                        <a:buNone/>
                      </a:pPr>
                      <a:r>
                        <a:rPr lang="zh-CN" altLang="en-US" sz="1200" b="1" i="0">
                          <a:solidFill>
                            <a:srgbClr val="4F4F4F"/>
                          </a:solidFill>
                          <a:latin typeface="微软雅黑" panose="020B0503020204020204" charset="-122"/>
                          <a:ea typeface="微软雅黑" panose="020B0503020204020204" charset="-122"/>
                        </a:rPr>
                        <a:t>举例</a:t>
                      </a:r>
                      <a:endParaRPr lang="zh-CN" altLang="en-US" sz="1200" b="1"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1" i="0">
                          <a:solidFill>
                            <a:srgbClr val="4F4F4F"/>
                          </a:solidFill>
                          <a:latin typeface="微软雅黑" panose="020B0503020204020204" charset="-122"/>
                          <a:ea typeface="微软雅黑" panose="020B0503020204020204" charset="-122"/>
                        </a:rPr>
                        <a:t>优点</a:t>
                      </a:r>
                      <a:endParaRPr lang="zh-CN" altLang="en-US" sz="1200" b="1"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1" i="0">
                          <a:solidFill>
                            <a:srgbClr val="4F4F4F"/>
                          </a:solidFill>
                          <a:latin typeface="微软雅黑" panose="020B0503020204020204" charset="-122"/>
                          <a:ea typeface="微软雅黑" panose="020B0503020204020204" charset="-122"/>
                        </a:rPr>
                        <a:t>缺点</a:t>
                      </a:r>
                      <a:endParaRPr lang="zh-CN" altLang="en-US" sz="1200" b="1"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1" i="0">
                          <a:solidFill>
                            <a:srgbClr val="4F4F4F"/>
                          </a:solidFill>
                          <a:latin typeface="微软雅黑" panose="020B0503020204020204" charset="-122"/>
                          <a:ea typeface="微软雅黑" panose="020B0503020204020204" charset="-122"/>
                        </a:rPr>
                        <a:t>计算成本</a:t>
                      </a:r>
                      <a:endParaRPr lang="zh-CN" altLang="en-US" sz="1200" b="1"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1" i="0">
                          <a:solidFill>
                            <a:srgbClr val="4F4F4F"/>
                          </a:solidFill>
                          <a:latin typeface="微软雅黑" panose="020B0503020204020204" charset="-122"/>
                          <a:ea typeface="微软雅黑" panose="020B0503020204020204" charset="-122"/>
                        </a:rPr>
                        <a:t>数据需求量</a:t>
                      </a:r>
                      <a:endParaRPr lang="zh-CN" altLang="en-US" sz="1200" b="1"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1" i="0">
                          <a:solidFill>
                            <a:srgbClr val="4F4F4F"/>
                          </a:solidFill>
                          <a:latin typeface="微软雅黑" panose="020B0503020204020204" charset="-122"/>
                          <a:ea typeface="微软雅黑" panose="020B0503020204020204" charset="-122"/>
                        </a:rPr>
                        <a:t>过拟合风险</a:t>
                      </a:r>
                      <a:endParaRPr lang="zh-CN" altLang="en-US" sz="1200" b="1"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1" i="0">
                          <a:solidFill>
                            <a:srgbClr val="4F4F4F"/>
                          </a:solidFill>
                          <a:latin typeface="微软雅黑" panose="020B0503020204020204" charset="-122"/>
                          <a:ea typeface="微软雅黑" panose="020B0503020204020204" charset="-122"/>
                        </a:rPr>
                        <a:t>性能提升</a:t>
                      </a:r>
                      <a:endParaRPr lang="zh-CN" altLang="en-US" sz="1200" b="1"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a:solidFill>
                        <a:schemeClr val="bg1">
                          <a:lumMod val="85000"/>
                        </a:schemeClr>
                      </a:solidFill>
                      <a:prstDash val="sysDot"/>
                    </a:lnB>
                  </a:tcPr>
                </a:tc>
              </a:tr>
              <a:tr h="586740">
                <a:tc gridSpan="2">
                  <a:txBody>
                    <a:bodyPr/>
                    <a:p>
                      <a:pPr marL="0" indent="0" algn="ctr" fontAlgn="ctr" latinLnBrk="0">
                        <a:lnSpc>
                          <a:spcPts val="1100"/>
                        </a:lnSpc>
                        <a:spcBef>
                          <a:spcPct val="0"/>
                        </a:spcBef>
                        <a:spcAft>
                          <a:spcPct val="0"/>
                        </a:spcAft>
                      </a:pPr>
                      <a:r>
                        <a:rPr lang="zh-CN" altLang="en-US" sz="1200" b="1" i="0">
                          <a:solidFill>
                            <a:srgbClr val="4F4F4F"/>
                          </a:solidFill>
                          <a:latin typeface="微软雅黑" panose="020B0503020204020204" charset="-122"/>
                          <a:ea typeface="微软雅黑" panose="020B0503020204020204" charset="-122"/>
                        </a:rPr>
                        <a:t>全参数微调</a:t>
                      </a:r>
                      <a:endParaRPr lang="zh-CN" altLang="en-US" sz="1200" b="1"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hMerge="1">
                  <a:tcPr marL="51117" marR="51117" marT="51117" marB="51117" anchor="ctr" anchorCtr="0">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构建高精度、专业化的政务专用大模型</a:t>
                      </a:r>
                      <a:endParaRPr lang="en-US" altLang="zh-CN"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当需要建立一个深度适配政府业务的</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智能中枢</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时，可对通用大模型进行全面微调。</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性能提升高</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计算成本高、过拟合风险高、数据需求量大</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高</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大</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高</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高</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r>
              <a:tr h="641985">
                <a:tc rowSpan="6">
                  <a:txBody>
                    <a:bodyPr/>
                    <a:p>
                      <a:pPr marL="0" algn="ctr" defTabSz="913765" fontAlgn="ctr" latinLnBrk="0">
                        <a:lnSpc>
                          <a:spcPts val="1100"/>
                        </a:lnSpc>
                        <a:buClrTx/>
                        <a:buSzTx/>
                        <a:buFontTx/>
                      </a:pPr>
                      <a:r>
                        <a:rPr lang="zh-CN" altLang="en-US" sz="1200" b="1">
                          <a:solidFill>
                            <a:srgbClr val="4F4F4F"/>
                          </a:solidFill>
                          <a:latin typeface="微软雅黑" panose="020B0503020204020204" charset="-122"/>
                          <a:ea typeface="微软雅黑" panose="020B0503020204020204" charset="-122"/>
                          <a:sym typeface="+mn-ea"/>
                        </a:rPr>
                        <a:t>参数</a:t>
                      </a:r>
                      <a:endParaRPr lang="zh-CN" altLang="en-US" sz="1200" b="1">
                        <a:solidFill>
                          <a:srgbClr val="4F4F4F"/>
                        </a:solidFill>
                        <a:latin typeface="微软雅黑" panose="020B0503020204020204" charset="-122"/>
                        <a:ea typeface="微软雅黑" panose="020B0503020204020204" charset="-122"/>
                        <a:sym typeface="+mn-ea"/>
                      </a:endParaRPr>
                    </a:p>
                    <a:p>
                      <a:pPr marL="0" algn="ctr" defTabSz="913765" fontAlgn="ctr" latinLnBrk="0">
                        <a:lnSpc>
                          <a:spcPts val="1100"/>
                        </a:lnSpc>
                        <a:buClrTx/>
                        <a:buSzTx/>
                        <a:buFontTx/>
                      </a:pPr>
                      <a:r>
                        <a:rPr lang="zh-CN" altLang="en-US" sz="1200" b="1">
                          <a:solidFill>
                            <a:srgbClr val="4F4F4F"/>
                          </a:solidFill>
                          <a:latin typeface="微软雅黑" panose="020B0503020204020204" charset="-122"/>
                          <a:ea typeface="微软雅黑" panose="020B0503020204020204" charset="-122"/>
                          <a:sym typeface="+mn-ea"/>
                        </a:rPr>
                        <a:t>高效微调</a:t>
                      </a:r>
                      <a:endParaRPr lang="zh-CN" altLang="en-US" sz="1200" b="1">
                        <a:solidFill>
                          <a:srgbClr val="4F4F4F"/>
                        </a:solidFill>
                        <a:latin typeface="微软雅黑" panose="020B0503020204020204" charset="-122"/>
                        <a:ea typeface="微软雅黑" panose="020B0503020204020204" charset="-122"/>
                      </a:endParaRPr>
                    </a:p>
                    <a:p>
                      <a:pPr marL="0" algn="ctr" fontAlgn="ctr" latinLnBrk="0">
                        <a:lnSpc>
                          <a:spcPts val="1100"/>
                        </a:lnSpc>
                        <a:buClrTx/>
                        <a:buSzTx/>
                        <a:buFontTx/>
                      </a:pPr>
                      <a:endParaRPr lang="zh-CN" altLang="en-US" sz="1200" b="1"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低秩适配</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r>
                        <a:rPr lang="en-US" altLang="zh-CN" sz="1200" b="0" i="0">
                          <a:solidFill>
                            <a:srgbClr val="4F4F4F"/>
                          </a:solidFill>
                          <a:latin typeface="微软雅黑" panose="020B0503020204020204" charset="-122"/>
                          <a:ea typeface="微软雅黑" panose="020B0503020204020204" charset="-122"/>
                          <a:cs typeface="微软雅黑" panose="020B0503020204020204" charset="-122"/>
                        </a:rPr>
                        <a:t>LoRA</a:t>
                      </a: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资源受限下，不更换主模型，为不同部门</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插件式</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加载专属能力。</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一个基础模型</a:t>
                      </a:r>
                      <a:r>
                        <a:rPr lang="en-US" altLang="zh-CN" sz="1200" b="0" i="0">
                          <a:solidFill>
                            <a:srgbClr val="4F4F4F"/>
                          </a:solidFill>
                          <a:latin typeface="微软雅黑" panose="020B0503020204020204" charset="-122"/>
                          <a:ea typeface="微软雅黑" panose="020B0503020204020204" charset="-122"/>
                        </a:rPr>
                        <a:t> + </a:t>
                      </a:r>
                      <a:r>
                        <a:rPr lang="zh-CN" altLang="en-US" sz="1200" b="0" i="0">
                          <a:solidFill>
                            <a:srgbClr val="4F4F4F"/>
                          </a:solidFill>
                          <a:latin typeface="微软雅黑" panose="020B0503020204020204" charset="-122"/>
                          <a:ea typeface="微软雅黑" panose="020B0503020204020204" charset="-122"/>
                        </a:rPr>
                        <a:t>多个</a:t>
                      </a:r>
                      <a:r>
                        <a:rPr lang="en-US" altLang="zh-CN" sz="1200" b="0" i="0">
                          <a:solidFill>
                            <a:srgbClr val="4F4F4F"/>
                          </a:solidFill>
                          <a:latin typeface="微软雅黑" panose="020B0503020204020204" charset="-122"/>
                          <a:ea typeface="微软雅黑" panose="020B0503020204020204" charset="-122"/>
                        </a:rPr>
                        <a:t>LoRA</a:t>
                      </a:r>
                      <a:r>
                        <a:rPr lang="zh-CN" altLang="en-US" sz="1200" b="0" i="0">
                          <a:solidFill>
                            <a:srgbClr val="4F4F4F"/>
                          </a:solidFill>
                          <a:latin typeface="微软雅黑" panose="020B0503020204020204" charset="-122"/>
                          <a:ea typeface="微软雅黑" panose="020B0503020204020204" charset="-122"/>
                        </a:rPr>
                        <a:t>模块，分别用于</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占道经营识别</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垃圾分类巡查</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井盖破损检测</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，城管、环保、市政等部门按需调用，避免重复建设。</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计算成本低、训练速度快、避免过拟合</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性能提升有限</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低</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低</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r>
              <a:tr h="641350">
                <a:tc vMerge="1">
                  <a:tcPr marL="51117" marR="51117" marT="51117" marB="51117" anchor="ctr" anchorCtr="0">
                    <a:lnL w="12700">
                      <a:solidFill>
                        <a:schemeClr val="bg1">
                          <a:lumMod val="85000"/>
                        </a:schemeClr>
                      </a:solidFill>
                      <a:prstDash val="sysDot"/>
                    </a:lnL>
                    <a:lnR w="12700">
                      <a:solidFill>
                        <a:schemeClr val="bg1">
                          <a:lumMod val="85000"/>
                        </a:schemeClr>
                      </a:solidFill>
                      <a:prstDash val="sysDot"/>
                    </a:lnR>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量化低秩适配</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r>
                        <a:rPr lang="en-US" altLang="zh-CN" sz="1200" b="0" i="0">
                          <a:solidFill>
                            <a:srgbClr val="4F4F4F"/>
                          </a:solidFill>
                          <a:latin typeface="微软雅黑" panose="020B0503020204020204" charset="-122"/>
                          <a:ea typeface="微软雅黑" panose="020B0503020204020204" charset="-122"/>
                          <a:cs typeface="微软雅黑" panose="020B0503020204020204" charset="-122"/>
                        </a:rPr>
                        <a:t>QLoRA</a:t>
                      </a: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基层单位在普通电脑上运行智能应用，降低硬件门槛</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在没有高性能服务器的街道办、社区服务中心，也能本地化部署</a:t>
                      </a:r>
                      <a:r>
                        <a:rPr lang="en-US" altLang="zh-CN" sz="1200" b="0" i="0">
                          <a:solidFill>
                            <a:srgbClr val="4F4F4F"/>
                          </a:solidFill>
                          <a:latin typeface="微软雅黑" panose="020B0503020204020204" charset="-122"/>
                          <a:ea typeface="微软雅黑" panose="020B0503020204020204" charset="-122"/>
                        </a:rPr>
                        <a:t>AI</a:t>
                      </a:r>
                      <a:r>
                        <a:rPr lang="zh-CN" altLang="en-US" sz="1200" b="0" i="0">
                          <a:solidFill>
                            <a:srgbClr val="4F4F4F"/>
                          </a:solidFill>
                          <a:latin typeface="微软雅黑" panose="020B0503020204020204" charset="-122"/>
                          <a:ea typeface="微软雅黑" panose="020B0503020204020204" charset="-122"/>
                        </a:rPr>
                        <a:t>能力</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计算成本低、内存占用少、适用于大规模模型</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量化过程复杂</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低</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低</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r>
              <a:tr h="641350">
                <a:tc vMerge="1">
                  <a:tcPr marL="51117" marR="51117" marT="51117" marB="51117" anchor="ctr" anchorCtr="0">
                    <a:lnL w="12700">
                      <a:solidFill>
                        <a:schemeClr val="bg1">
                          <a:lumMod val="85000"/>
                        </a:schemeClr>
                      </a:solidFill>
                      <a:prstDash val="sysDot"/>
                    </a:lnL>
                    <a:lnR w="12700">
                      <a:solidFill>
                        <a:schemeClr val="bg1">
                          <a:lumMod val="85000"/>
                        </a:schemeClr>
                      </a:solidFill>
                      <a:prstDash val="sysDot"/>
                    </a:lnR>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适配器插入</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r>
                        <a:rPr lang="en-US" altLang="zh-CN" sz="1200" b="0" i="0">
                          <a:solidFill>
                            <a:srgbClr val="4F4F4F"/>
                          </a:solidFill>
                          <a:latin typeface="微软雅黑" panose="020B0503020204020204" charset="-122"/>
                          <a:ea typeface="微软雅黑" panose="020B0503020204020204" charset="-122"/>
                          <a:cs typeface="微软雅黑" panose="020B0503020204020204" charset="-122"/>
                        </a:rPr>
                        <a:t>Adapter Tuning</a:t>
                      </a: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模型能力长期演进，支持新业务快速接入</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新增</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生育津贴申领</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功能时，插入专用适配器模块，快速支持新流程，不影响原有</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公积金提取</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社保查询</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等功能稳定运行。</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计算成本低、训练速度快、多任务适应性好</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性能提升有限</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低</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低</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r>
              <a:tr h="641985">
                <a:tc vMerge="1">
                  <a:tcPr marL="51117" marR="51117" marT="51117" marB="51117" anchor="ctr" anchorCtr="0">
                    <a:lnL w="12700">
                      <a:solidFill>
                        <a:schemeClr val="bg1">
                          <a:lumMod val="85000"/>
                        </a:schemeClr>
                      </a:solidFill>
                      <a:prstDash val="sysDot"/>
                    </a:lnL>
                    <a:lnR w="12700">
                      <a:solidFill>
                        <a:schemeClr val="bg1">
                          <a:lumMod val="85000"/>
                        </a:schemeClr>
                      </a:solidFill>
                      <a:prstDash val="sysDot"/>
                    </a:lnR>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前缀微调</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r>
                        <a:rPr lang="en-US" altLang="zh-CN" sz="1200" b="0" i="0">
                          <a:solidFill>
                            <a:srgbClr val="4F4F4F"/>
                          </a:solidFill>
                          <a:latin typeface="微软雅黑" panose="020B0503020204020204" charset="-122"/>
                          <a:ea typeface="微软雅黑" panose="020B0503020204020204" charset="-122"/>
                          <a:cs typeface="微软雅黑" panose="020B0503020204020204" charset="-122"/>
                        </a:rPr>
                        <a:t>Prefix Tuning</a:t>
                      </a: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控制</a:t>
                      </a:r>
                      <a:r>
                        <a:rPr lang="en-US" altLang="zh-CN" sz="1200" b="0" i="0">
                          <a:solidFill>
                            <a:srgbClr val="4F4F4F"/>
                          </a:solidFill>
                          <a:latin typeface="微软雅黑" panose="020B0503020204020204" charset="-122"/>
                          <a:ea typeface="微软雅黑" panose="020B0503020204020204" charset="-122"/>
                          <a:cs typeface="微软雅黑" panose="020B0503020204020204" charset="-122"/>
                        </a:rPr>
                        <a:t>AI</a:t>
                      </a: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生成内容的语气、风格或政策口径</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通过前缀设置</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严肃、权威、简洁</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的生成风格，让</a:t>
                      </a:r>
                      <a:r>
                        <a:rPr lang="en-US" altLang="zh-CN" sz="1200" b="0" i="0">
                          <a:solidFill>
                            <a:srgbClr val="4F4F4F"/>
                          </a:solidFill>
                          <a:latin typeface="微软雅黑" panose="020B0503020204020204" charset="-122"/>
                          <a:ea typeface="微软雅黑" panose="020B0503020204020204" charset="-122"/>
                        </a:rPr>
                        <a:t>AI</a:t>
                      </a:r>
                      <a:r>
                        <a:rPr lang="zh-CN" altLang="en-US" sz="1200" b="0" i="0">
                          <a:solidFill>
                            <a:srgbClr val="4F4F4F"/>
                          </a:solidFill>
                          <a:latin typeface="微软雅黑" panose="020B0503020204020204" charset="-122"/>
                          <a:ea typeface="微软雅黑" panose="020B0503020204020204" charset="-122"/>
                        </a:rPr>
                        <a:t>自动撰写</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防汛工作通报</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疫情防控进展</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等政务简报，保持统一口径。</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计算成本低、训练速度快、适用于多种任务</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实现复杂</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低</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低</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r>
              <a:tr h="641985">
                <a:tc vMerge="1">
                  <a:tcPr marL="51117" marR="51117" marT="51117" marB="51117" anchor="ctr" anchorCtr="0">
                    <a:lnL w="12700">
                      <a:solidFill>
                        <a:schemeClr val="bg1">
                          <a:lumMod val="85000"/>
                        </a:schemeClr>
                      </a:solidFill>
                      <a:prstDash val="sysDot"/>
                    </a:lnL>
                    <a:lnR w="12700">
                      <a:solidFill>
                        <a:schemeClr val="bg1">
                          <a:lumMod val="85000"/>
                        </a:schemeClr>
                      </a:solidFill>
                      <a:prstDash val="sysDot"/>
                    </a:lnR>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提示微调</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r>
                        <a:rPr lang="en-US" altLang="zh-CN" sz="1200" b="0" i="0">
                          <a:solidFill>
                            <a:srgbClr val="4F4F4F"/>
                          </a:solidFill>
                          <a:latin typeface="微软雅黑" panose="020B0503020204020204" charset="-122"/>
                          <a:ea typeface="微软雅黑" panose="020B0503020204020204" charset="-122"/>
                          <a:cs typeface="微软雅黑" panose="020B0503020204020204" charset="-122"/>
                        </a:rPr>
                        <a:t>Prompt Tuning</a:t>
                      </a: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缺乏大量数据的新业务快速试点，实现</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小样本启动</a:t>
                      </a:r>
                      <a:r>
                        <a:rPr lang="en-US" altLang="zh-CN" sz="1200" b="0" i="0">
                          <a:solidFill>
                            <a:srgbClr val="4F4F4F"/>
                          </a:solidFill>
                          <a:latin typeface="微软雅黑" panose="020B0503020204020204" charset="-122"/>
                          <a:ea typeface="微软雅黑" panose="020B0503020204020204" charset="-122"/>
                        </a:rPr>
                        <a:t>”</a:t>
                      </a:r>
                      <a:endParaRPr lang="en-US" altLang="zh-CN"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在数据积累不足的初期阶段，仅有几十条农户申报数据，通过提示微调让</a:t>
                      </a:r>
                      <a:r>
                        <a:rPr lang="en-US" altLang="zh-CN" sz="1200" b="0" i="0">
                          <a:solidFill>
                            <a:srgbClr val="4F4F4F"/>
                          </a:solidFill>
                          <a:latin typeface="微软雅黑" panose="020B0503020204020204" charset="-122"/>
                          <a:ea typeface="微软雅黑" panose="020B0503020204020204" charset="-122"/>
                        </a:rPr>
                        <a:t>AI</a:t>
                      </a:r>
                      <a:r>
                        <a:rPr lang="zh-CN" altLang="en-US" sz="1200" b="0" i="0">
                          <a:solidFill>
                            <a:srgbClr val="4F4F4F"/>
                          </a:solidFill>
                          <a:latin typeface="微软雅黑" panose="020B0503020204020204" charset="-122"/>
                          <a:ea typeface="微软雅黑" panose="020B0503020204020204" charset="-122"/>
                        </a:rPr>
                        <a:t>初步识别</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申报材料完整性</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，辅助人工审核，缩短审批周期。</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简单易行、数据需求量小</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性能提升有限</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低</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小</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低</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solidFill>
                      <a:schemeClr val="accent5">
                        <a:lumMod val="20000"/>
                        <a:lumOff val="80000"/>
                      </a:schemeClr>
                    </a:solidFill>
                  </a:tcPr>
                </a:tc>
              </a:tr>
              <a:tr h="801370">
                <a:tc vMerge="1">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连续提示调优</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r>
                        <a:rPr lang="en-US" altLang="zh-CN" sz="1200" b="0" i="0">
                          <a:solidFill>
                            <a:srgbClr val="4F4F4F"/>
                          </a:solidFill>
                          <a:latin typeface="微软雅黑" panose="020B0503020204020204" charset="-122"/>
                          <a:ea typeface="微软雅黑" panose="020B0503020204020204" charset="-122"/>
                          <a:cs typeface="微软雅黑" panose="020B0503020204020204" charset="-122"/>
                        </a:rPr>
                        <a:t>P-Tuning / P-Tuning v2</a:t>
                      </a:r>
                      <a:r>
                        <a:rPr lang="zh-CN" altLang="en-US" sz="1200" b="0" i="0">
                          <a:solidFill>
                            <a:srgbClr val="4F4F4F"/>
                          </a:solidFill>
                          <a:latin typeface="微软雅黑" panose="020B0503020204020204" charset="-122"/>
                          <a:ea typeface="微软雅黑" panose="020B0503020204020204" charset="-122"/>
                          <a:cs typeface="微软雅黑" panose="020B0503020204020204" charset="-122"/>
                        </a:rPr>
                        <a:t>）</a:t>
                      </a:r>
                      <a:endParaRPr lang="zh-CN" altLang="en-US" sz="1200" b="0" i="0">
                        <a:solidFill>
                          <a:srgbClr val="4F4F4F"/>
                        </a:solidFill>
                        <a:latin typeface="微软雅黑" panose="020B0503020204020204" charset="-122"/>
                        <a:ea typeface="微软雅黑" panose="020B0503020204020204" charset="-122"/>
                        <a:cs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复杂政策理解与逻辑推理任务，提升</a:t>
                      </a:r>
                      <a:r>
                        <a:rPr lang="en-US" altLang="zh-CN" sz="1200" b="0" i="0">
                          <a:solidFill>
                            <a:srgbClr val="4F4F4F"/>
                          </a:solidFill>
                          <a:latin typeface="微软雅黑" panose="020B0503020204020204" charset="-122"/>
                          <a:ea typeface="微软雅黑" panose="020B0503020204020204" charset="-122"/>
                        </a:rPr>
                        <a:t>AI</a:t>
                      </a:r>
                      <a:r>
                        <a:rPr lang="zh-CN" altLang="en-US" sz="1200" b="0" i="0">
                          <a:solidFill>
                            <a:srgbClr val="4F4F4F"/>
                          </a:solidFill>
                          <a:latin typeface="微软雅黑" panose="020B0503020204020204" charset="-122"/>
                          <a:ea typeface="微软雅黑" panose="020B0503020204020204" charset="-122"/>
                        </a:rPr>
                        <a:t>判断准确性</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buNone/>
                      </a:pPr>
                      <a:r>
                        <a:rPr lang="zh-CN" altLang="en-US" sz="1200" b="0" i="0">
                          <a:solidFill>
                            <a:srgbClr val="4F4F4F"/>
                          </a:solidFill>
                          <a:latin typeface="微软雅黑" panose="020B0503020204020204" charset="-122"/>
                          <a:ea typeface="微软雅黑" panose="020B0503020204020204" charset="-122"/>
                        </a:rPr>
                        <a:t>输入</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某企业年营收</a:t>
                      </a:r>
                      <a:r>
                        <a:rPr lang="en-US" altLang="zh-CN" sz="1200" b="0" i="0">
                          <a:solidFill>
                            <a:srgbClr val="4F4F4F"/>
                          </a:solidFill>
                          <a:latin typeface="微软雅黑" panose="020B0503020204020204" charset="-122"/>
                          <a:ea typeface="微软雅黑" panose="020B0503020204020204" charset="-122"/>
                        </a:rPr>
                        <a:t>500</a:t>
                      </a:r>
                      <a:r>
                        <a:rPr lang="zh-CN" altLang="en-US" sz="1200" b="0" i="0">
                          <a:solidFill>
                            <a:srgbClr val="4F4F4F"/>
                          </a:solidFill>
                          <a:latin typeface="微软雅黑" panose="020B0503020204020204" charset="-122"/>
                          <a:ea typeface="微软雅黑" panose="020B0503020204020204" charset="-122"/>
                        </a:rPr>
                        <a:t>万、员工</a:t>
                      </a:r>
                      <a:r>
                        <a:rPr lang="en-US" altLang="zh-CN" sz="1200" b="0" i="0">
                          <a:solidFill>
                            <a:srgbClr val="4F4F4F"/>
                          </a:solidFill>
                          <a:latin typeface="微软雅黑" panose="020B0503020204020204" charset="-122"/>
                          <a:ea typeface="微软雅黑" panose="020B0503020204020204" charset="-122"/>
                        </a:rPr>
                        <a:t>30</a:t>
                      </a:r>
                      <a:r>
                        <a:rPr lang="zh-CN" altLang="en-US" sz="1200" b="0" i="0">
                          <a:solidFill>
                            <a:srgbClr val="4F4F4F"/>
                          </a:solidFill>
                          <a:latin typeface="微软雅黑" panose="020B0503020204020204" charset="-122"/>
                          <a:ea typeface="微软雅黑" panose="020B0503020204020204" charset="-122"/>
                        </a:rPr>
                        <a:t>人、属高新技术行业</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a:t>
                      </a:r>
                      <a:r>
                        <a:rPr lang="en-US" altLang="zh-CN" sz="1200" b="0" i="0">
                          <a:solidFill>
                            <a:srgbClr val="4F4F4F"/>
                          </a:solidFill>
                          <a:latin typeface="微软雅黑" panose="020B0503020204020204" charset="-122"/>
                          <a:ea typeface="微软雅黑" panose="020B0503020204020204" charset="-122"/>
                        </a:rPr>
                        <a:t>AI</a:t>
                      </a:r>
                      <a:r>
                        <a:rPr lang="zh-CN" altLang="en-US" sz="1200" b="0" i="0">
                          <a:solidFill>
                            <a:srgbClr val="4F4F4F"/>
                          </a:solidFill>
                          <a:latin typeface="微软雅黑" panose="020B0503020204020204" charset="-122"/>
                          <a:ea typeface="微软雅黑" panose="020B0503020204020204" charset="-122"/>
                        </a:rPr>
                        <a:t>通过深层提示推理，自动匹配</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中小企业创新基金</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税收减免</a:t>
                      </a:r>
                      <a:r>
                        <a:rPr lang="en-US" altLang="zh-CN" sz="1200" b="0" i="0">
                          <a:solidFill>
                            <a:srgbClr val="4F4F4F"/>
                          </a:solidFill>
                          <a:latin typeface="微软雅黑" panose="020B0503020204020204" charset="-122"/>
                          <a:ea typeface="微软雅黑" panose="020B0503020204020204" charset="-122"/>
                        </a:rPr>
                        <a:t>”</a:t>
                      </a:r>
                      <a:r>
                        <a:rPr lang="zh-CN" altLang="en-US" sz="1200" b="0" i="0">
                          <a:solidFill>
                            <a:srgbClr val="4F4F4F"/>
                          </a:solidFill>
                          <a:latin typeface="微软雅黑" panose="020B0503020204020204" charset="-122"/>
                          <a:ea typeface="微软雅黑" panose="020B0503020204020204" charset="-122"/>
                        </a:rPr>
                        <a:t>等多项可申报政策。</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灵活性高、适应复杂任务</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l"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计算复杂度高</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中</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c>
                  <a:txBody>
                    <a:bodyPr/>
                    <a:p>
                      <a:pPr marL="0" indent="0" algn="ctr" fontAlgn="ctr" latinLnBrk="0">
                        <a:lnSpc>
                          <a:spcPts val="1100"/>
                        </a:lnSpc>
                        <a:spcBef>
                          <a:spcPct val="0"/>
                        </a:spcBef>
                        <a:spcAft>
                          <a:spcPct val="0"/>
                        </a:spcAft>
                      </a:pPr>
                      <a:r>
                        <a:rPr lang="zh-CN" altLang="en-US" sz="1200" b="0" i="0">
                          <a:solidFill>
                            <a:srgbClr val="4F4F4F"/>
                          </a:solidFill>
                          <a:latin typeface="微软雅黑" panose="020B0503020204020204" charset="-122"/>
                          <a:ea typeface="微软雅黑" panose="020B0503020204020204" charset="-122"/>
                        </a:rPr>
                        <a:t>高</a:t>
                      </a:r>
                      <a:endParaRPr lang="zh-CN" altLang="en-US" sz="1200" b="0" i="0">
                        <a:solidFill>
                          <a:srgbClr val="4F4F4F"/>
                        </a:solidFill>
                        <a:latin typeface="微软雅黑" panose="020B0503020204020204" charset="-122"/>
                        <a:ea typeface="微软雅黑" panose="020B0503020204020204" charset="-122"/>
                      </a:endParaRPr>
                    </a:p>
                  </a:txBody>
                  <a:tcPr marL="51117" marR="51117" marT="51117" marB="51117" anchor="ctr" anchorCtr="0">
                    <a:lnL w="12700">
                      <a:solidFill>
                        <a:schemeClr val="bg1">
                          <a:lumMod val="85000"/>
                        </a:schemeClr>
                      </a:solidFill>
                      <a:prstDash val="sysDot"/>
                    </a:lnL>
                    <a:lnR w="12700">
                      <a:solidFill>
                        <a:schemeClr val="bg1">
                          <a:lumMod val="85000"/>
                        </a:schemeClr>
                      </a:solidFill>
                      <a:prstDash val="sysDot"/>
                    </a:lnR>
                    <a:lnT w="12700">
                      <a:solidFill>
                        <a:schemeClr val="bg1">
                          <a:lumMod val="85000"/>
                        </a:schemeClr>
                      </a:solidFill>
                      <a:prstDash val="sysDot"/>
                    </a:lnT>
                    <a:lnB w="12700" cmpd="sng">
                      <a:solidFill>
                        <a:schemeClr val="bg1">
                          <a:lumMod val="85000"/>
                        </a:schemeClr>
                      </a:solidFill>
                      <a:prstDash val="sysDot"/>
                    </a:lnB>
                  </a:tcPr>
                </a:tc>
              </a:tr>
            </a:tbl>
          </a:graphicData>
        </a:graphic>
      </p:graphicFrame>
      <p:sp>
        <p:nvSpPr>
          <p:cNvPr id="15" name="文本框 14"/>
          <p:cNvSpPr txBox="1"/>
          <p:nvPr/>
        </p:nvSpPr>
        <p:spPr>
          <a:xfrm>
            <a:off x="461010" y="955040"/>
            <a:ext cx="5080000" cy="257810"/>
          </a:xfrm>
          <a:prstGeom prst="rect">
            <a:avLst/>
          </a:prstGeom>
        </p:spPr>
        <p:txBody>
          <a:bodyPr>
            <a:spAutoFit/>
          </a:bodyPr>
          <a:p>
            <a:pPr marL="0" indent="0">
              <a:lnSpc>
                <a:spcPts val="1300"/>
              </a:lnSpc>
              <a:spcBef>
                <a:spcPts val="1200"/>
              </a:spcBef>
              <a:spcAft>
                <a:spcPts val="400"/>
              </a:spcAft>
            </a:pPr>
            <a:r>
              <a:rPr lang="zh-CN" altLang="en-US" sz="1600" b="1" i="0">
                <a:solidFill>
                  <a:schemeClr val="accent5">
                    <a:lumMod val="75000"/>
                  </a:schemeClr>
                </a:solidFill>
                <a:latin typeface="微软雅黑" panose="020B0503020204020204" charset="-122"/>
                <a:ea typeface="微软雅黑" panose="020B0503020204020204" charset="-122"/>
              </a:rPr>
              <a:t>微调方法对比</a:t>
            </a:r>
            <a:endParaRPr lang="zh-CN" altLang="en-US" sz="1600" b="1" i="0">
              <a:solidFill>
                <a:schemeClr val="accent5">
                  <a:lumMod val="75000"/>
                </a:schemeClr>
              </a:solidFill>
              <a:latin typeface="微软雅黑" panose="020B0503020204020204" charset="-122"/>
              <a:ea typeface="微软雅黑" panose="020B0503020204020204"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p:cNvSpPr/>
          <p:nvPr/>
        </p:nvSpPr>
        <p:spPr>
          <a:xfrm>
            <a:off x="0" y="6134735"/>
            <a:ext cx="12191365" cy="741045"/>
          </a:xfrm>
          <a:prstGeom prst="rect">
            <a:avLst/>
          </a:prstGeom>
        </p:spPr>
        <p:style>
          <a:lnRef idx="0">
            <a:srgbClr val="FFFFFF"/>
          </a:lnRef>
          <a:fillRef idx="1">
            <a:schemeClr val="accent5"/>
          </a:fillRef>
          <a:effectRef idx="0">
            <a:srgbClr val="FFFFFF"/>
          </a:effectRef>
          <a:fontRef idx="minor">
            <a:schemeClr val="dk1"/>
          </a:fontRef>
        </p:style>
        <p:txBody>
          <a:bodyPr rtlCol="0" anchor="ctr"/>
          <a:p>
            <a:pPr algn="ctr"/>
            <a:endParaRPr lang="zh-CN" altLang="en-US" sz="1400">
              <a:latin typeface="微软雅黑" panose="020B0503020204020204" charset="-122"/>
              <a:ea typeface="微软雅黑" panose="020B0503020204020204" charset="-122"/>
            </a:endParaRPr>
          </a:p>
        </p:txBody>
      </p:sp>
      <p:sp>
        <p:nvSpPr>
          <p:cNvPr id="48" name="矩形 47"/>
          <p:cNvSpPr/>
          <p:nvPr/>
        </p:nvSpPr>
        <p:spPr>
          <a:xfrm>
            <a:off x="8033385" y="1429385"/>
            <a:ext cx="3963670" cy="2413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矩形 49"/>
          <p:cNvSpPr/>
          <p:nvPr/>
        </p:nvSpPr>
        <p:spPr>
          <a:xfrm>
            <a:off x="8033385" y="4215130"/>
            <a:ext cx="3963670" cy="17272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矩形 43"/>
          <p:cNvSpPr/>
          <p:nvPr/>
        </p:nvSpPr>
        <p:spPr>
          <a:xfrm>
            <a:off x="304165" y="2115185"/>
            <a:ext cx="3079115" cy="1727200"/>
          </a:xfrm>
          <a:prstGeom prst="rect">
            <a:avLst/>
          </a:prstGeom>
        </p:spPr>
        <p:style>
          <a:lnRef idx="0">
            <a:srgbClr val="FFFFFF"/>
          </a:lnRef>
          <a:fillRef idx="2">
            <a:schemeClr val="accent1"/>
          </a:fillRef>
          <a:effectRef idx="0">
            <a:srgbClr val="FFFFFF"/>
          </a:effectRef>
          <a:fontRef idx="minor">
            <a:schemeClr val="dk1"/>
          </a:fontRef>
        </p:style>
        <p:txBody>
          <a:bodyPr rtlCol="0" anchor="ctr"/>
          <a:p>
            <a:pPr algn="ctr"/>
            <a:endParaRPr lang="zh-CN" altLang="en-US"/>
          </a:p>
        </p:txBody>
      </p:sp>
      <p:sp>
        <p:nvSpPr>
          <p:cNvPr id="45" name="矩形 44"/>
          <p:cNvSpPr/>
          <p:nvPr/>
        </p:nvSpPr>
        <p:spPr>
          <a:xfrm>
            <a:off x="3928110" y="2115185"/>
            <a:ext cx="3404870" cy="1727200"/>
          </a:xfrm>
          <a:prstGeom prst="rect">
            <a:avLst/>
          </a:prstGeom>
        </p:spPr>
        <p:style>
          <a:lnRef idx="0">
            <a:srgbClr val="FFFFFF"/>
          </a:lnRef>
          <a:fillRef idx="2">
            <a:schemeClr val="accent1"/>
          </a:fillRef>
          <a:effectRef idx="0">
            <a:srgbClr val="FFFFFF"/>
          </a:effectRef>
          <a:fontRef idx="minor">
            <a:schemeClr val="dk1"/>
          </a:fontRef>
        </p:style>
        <p:txBody>
          <a:bodyPr rtlCol="0" anchor="ctr"/>
          <a:p>
            <a:pPr algn="ctr"/>
            <a:endParaRPr lang="zh-CN" altLang="en-US"/>
          </a:p>
        </p:txBody>
      </p:sp>
      <p:sp>
        <p:nvSpPr>
          <p:cNvPr id="46" name="矩形 45"/>
          <p:cNvSpPr/>
          <p:nvPr/>
        </p:nvSpPr>
        <p:spPr>
          <a:xfrm>
            <a:off x="304165" y="4201160"/>
            <a:ext cx="3079115" cy="17272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矩形 46"/>
          <p:cNvSpPr/>
          <p:nvPr/>
        </p:nvSpPr>
        <p:spPr>
          <a:xfrm>
            <a:off x="3928110" y="4201160"/>
            <a:ext cx="3404870" cy="17272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矩形 1"/>
          <p:cNvSpPr/>
          <p:nvPr>
            <p:custDataLst>
              <p:tags r:id="rId1"/>
            </p:custDataLst>
          </p:nvPr>
        </p:nvSpPr>
        <p:spPr>
          <a:xfrm>
            <a:off x="336803" y="144012"/>
            <a:ext cx="8493516" cy="521970"/>
          </a:xfrm>
          <a:prstGeom prst="rect">
            <a:avLst/>
          </a:prstGeom>
        </p:spPr>
        <p:txBody>
          <a:bodyPr wrap="square">
            <a:spAutoFit/>
          </a:bodyPr>
          <a:p>
            <a:r>
              <a:rPr lang="en-US" altLang="zh-CN" sz="2795" b="1" dirty="0">
                <a:solidFill>
                  <a:srgbClr val="00A6C7"/>
                </a:solidFill>
                <a:latin typeface="+mn-ea"/>
                <a:ea typeface="微软雅黑" panose="020B0503020204020204" charset="-122"/>
                <a:cs typeface="微软雅黑" panose="020B0503020204020204" charset="-122"/>
                <a:sym typeface="+mn-ea"/>
              </a:rPr>
              <a:t>AI+</a:t>
            </a:r>
            <a:r>
              <a:rPr lang="zh-CN" altLang="en-US" sz="2795" b="1" dirty="0">
                <a:solidFill>
                  <a:srgbClr val="00A6C7"/>
                </a:solidFill>
                <a:latin typeface="+mn-ea"/>
                <a:ea typeface="微软雅黑" panose="020B0503020204020204" charset="-122"/>
                <a:cs typeface="微软雅黑" panose="020B0503020204020204" charset="-122"/>
                <a:sym typeface="+mn-ea"/>
              </a:rPr>
              <a:t>综合场景建设实施过程</a:t>
            </a:r>
            <a:endParaRPr lang="zh-CN" altLang="en-US" sz="2795" b="1" dirty="0">
              <a:solidFill>
                <a:srgbClr val="00A6C7"/>
              </a:solidFill>
              <a:latin typeface="+mn-ea"/>
              <a:ea typeface="微软雅黑" panose="020B0503020204020204" charset="-122"/>
              <a:cs typeface="微软雅黑" panose="020B0503020204020204" charset="-122"/>
              <a:sym typeface="+mn-ea"/>
            </a:endParaRPr>
          </a:p>
        </p:txBody>
      </p:sp>
      <p:sp>
        <p:nvSpPr>
          <p:cNvPr id="3" name="Title"/>
          <p:cNvSpPr>
            <a:spLocks noChangeAspect="1"/>
          </p:cNvSpPr>
          <p:nvPr>
            <p:custDataLst>
              <p:tags r:id="rId2"/>
            </p:custDataLst>
          </p:nvPr>
        </p:nvSpPr>
        <p:spPr>
          <a:xfrm>
            <a:off x="39497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1.</a:t>
            </a:r>
            <a:r>
              <a:rPr kumimoji="1" lang="en-US" altLang="zh-CN" sz="1200" b="1" dirty="0">
                <a:solidFill>
                  <a:schemeClr val="bg1">
                    <a:lumMod val="50000"/>
                  </a:schemeClr>
                </a:solidFill>
                <a:latin typeface="+mn-ea"/>
                <a:sym typeface="Arial" panose="020B0604020202020204" pitchFamily="34" charset="0"/>
              </a:rPr>
              <a:t>规划</a:t>
            </a:r>
            <a:r>
              <a:rPr kumimoji="1" lang="en-US" altLang="zh-CN" sz="1200" b="1" dirty="0">
                <a:solidFill>
                  <a:schemeClr val="bg1">
                    <a:lumMod val="50000"/>
                  </a:schemeClr>
                </a:solidFill>
                <a:latin typeface="+mn-ea"/>
                <a:sym typeface="Arial" panose="020B0604020202020204" pitchFamily="34" charset="0"/>
              </a:rPr>
              <a:t>AI+</a:t>
            </a:r>
            <a:r>
              <a:rPr kumimoji="1" lang="en-US" altLang="zh-CN" sz="1200" b="1" dirty="0">
                <a:solidFill>
                  <a:schemeClr val="bg1">
                    <a:lumMod val="50000"/>
                  </a:schemeClr>
                </a:solidFill>
                <a:latin typeface="+mn-ea"/>
                <a:sym typeface="Arial" panose="020B0604020202020204" pitchFamily="34" charset="0"/>
              </a:rPr>
              <a:t>场景</a:t>
            </a:r>
            <a:endParaRPr kumimoji="1" lang="en-US" altLang="zh-CN" sz="1200" b="1" dirty="0">
              <a:solidFill>
                <a:schemeClr val="bg1">
                  <a:lumMod val="50000"/>
                </a:schemeClr>
              </a:solidFill>
              <a:latin typeface="+mn-ea"/>
              <a:sym typeface="Arial" panose="020B0604020202020204" pitchFamily="34" charset="0"/>
            </a:endParaRPr>
          </a:p>
        </p:txBody>
      </p:sp>
      <p:sp>
        <p:nvSpPr>
          <p:cNvPr id="4" name="Title"/>
          <p:cNvSpPr>
            <a:spLocks noChangeAspect="1"/>
          </p:cNvSpPr>
          <p:nvPr>
            <p:custDataLst>
              <p:tags r:id="rId3"/>
            </p:custDataLst>
          </p:nvPr>
        </p:nvSpPr>
        <p:spPr>
          <a:xfrm>
            <a:off x="266636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2.数据准备</a:t>
            </a:r>
            <a:endParaRPr kumimoji="1" lang="en-US" altLang="zh-CN" sz="1200" b="1" dirty="0">
              <a:solidFill>
                <a:schemeClr val="bg1">
                  <a:lumMod val="50000"/>
                </a:schemeClr>
              </a:solidFill>
              <a:latin typeface="+mn-ea"/>
              <a:sym typeface="Arial" panose="020B0604020202020204" pitchFamily="34" charset="0"/>
            </a:endParaRPr>
          </a:p>
        </p:txBody>
      </p:sp>
      <p:sp>
        <p:nvSpPr>
          <p:cNvPr id="5" name="Title"/>
          <p:cNvSpPr>
            <a:spLocks noChangeAspect="1"/>
          </p:cNvSpPr>
          <p:nvPr>
            <p:custDataLst>
              <p:tags r:id="rId4"/>
            </p:custDataLst>
          </p:nvPr>
        </p:nvSpPr>
        <p:spPr>
          <a:xfrm>
            <a:off x="493776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200" b="1" dirty="0">
                <a:solidFill>
                  <a:schemeClr val="bg1">
                    <a:lumMod val="50000"/>
                  </a:schemeClr>
                </a:solidFill>
                <a:latin typeface="+mn-ea"/>
                <a:sym typeface="Arial" panose="020B0604020202020204" pitchFamily="34" charset="0"/>
              </a:rPr>
              <a:t>3.</a:t>
            </a:r>
            <a:r>
              <a:rPr kumimoji="1" lang="zh-CN" altLang="en-US" sz="1200" b="1" dirty="0">
                <a:solidFill>
                  <a:schemeClr val="bg1">
                    <a:lumMod val="50000"/>
                  </a:schemeClr>
                </a:solidFill>
                <a:latin typeface="+mn-ea"/>
                <a:sym typeface="Arial" panose="020B0604020202020204" pitchFamily="34" charset="0"/>
              </a:rPr>
              <a:t>模型选型</a:t>
            </a:r>
            <a:endParaRPr kumimoji="1" lang="zh-CN" altLang="en-US" sz="1200" b="1" dirty="0">
              <a:solidFill>
                <a:schemeClr val="bg1">
                  <a:lumMod val="50000"/>
                </a:schemeClr>
              </a:solidFill>
              <a:latin typeface="+mn-ea"/>
              <a:sym typeface="Arial" panose="020B0604020202020204" pitchFamily="34" charset="0"/>
            </a:endParaRPr>
          </a:p>
        </p:txBody>
      </p:sp>
      <p:sp>
        <p:nvSpPr>
          <p:cNvPr id="6" name="Title"/>
          <p:cNvSpPr>
            <a:spLocks noChangeAspect="1"/>
          </p:cNvSpPr>
          <p:nvPr>
            <p:custDataLst>
              <p:tags r:id="rId5"/>
            </p:custDataLst>
          </p:nvPr>
        </p:nvSpPr>
        <p:spPr>
          <a:xfrm>
            <a:off x="720915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4.</a:t>
            </a:r>
            <a:r>
              <a:rPr kumimoji="1" lang="en-US" altLang="zh-CN" sz="1200" b="1" dirty="0">
                <a:solidFill>
                  <a:schemeClr val="bg1">
                    <a:lumMod val="50000"/>
                  </a:schemeClr>
                </a:solidFill>
                <a:latin typeface="+mn-ea"/>
                <a:sym typeface="Arial" panose="020B0604020202020204" pitchFamily="34" charset="0"/>
              </a:rPr>
              <a:t>模型训练与微调</a:t>
            </a:r>
            <a:r>
              <a:rPr kumimoji="1" lang="en-US" altLang="zh-CN" sz="1200" b="1" dirty="0">
                <a:solidFill>
                  <a:schemeClr val="bg1">
                    <a:lumMod val="50000"/>
                  </a:schemeClr>
                </a:solidFill>
                <a:latin typeface="+mn-ea"/>
                <a:sym typeface="Arial" panose="020B0604020202020204" pitchFamily="34" charset="0"/>
              </a:rPr>
              <a:t>(</a:t>
            </a:r>
            <a:r>
              <a:rPr kumimoji="1" lang="en-US" altLang="zh-CN" sz="1200" b="1" dirty="0">
                <a:solidFill>
                  <a:schemeClr val="bg1">
                    <a:lumMod val="50000"/>
                  </a:schemeClr>
                </a:solidFill>
                <a:latin typeface="+mn-ea"/>
                <a:sym typeface="Arial" panose="020B0604020202020204" pitchFamily="34" charset="0"/>
              </a:rPr>
              <a:t>可选</a:t>
            </a:r>
            <a:r>
              <a:rPr kumimoji="1" lang="en-US" altLang="zh-CN" sz="1200" b="1" dirty="0">
                <a:solidFill>
                  <a:schemeClr val="bg1">
                    <a:lumMod val="50000"/>
                  </a:schemeClr>
                </a:solidFill>
                <a:latin typeface="+mn-ea"/>
                <a:sym typeface="Arial" panose="020B0604020202020204" pitchFamily="34" charset="0"/>
              </a:rPr>
              <a:t>)</a:t>
            </a:r>
            <a:endParaRPr kumimoji="1" lang="en-US" altLang="zh-CN" sz="1200" b="1" dirty="0">
              <a:solidFill>
                <a:schemeClr val="bg1">
                  <a:lumMod val="50000"/>
                </a:schemeClr>
              </a:solidFill>
              <a:latin typeface="+mn-ea"/>
              <a:sym typeface="Arial" panose="020B0604020202020204" pitchFamily="34" charset="0"/>
            </a:endParaRPr>
          </a:p>
        </p:txBody>
      </p:sp>
      <p:sp>
        <p:nvSpPr>
          <p:cNvPr id="7" name="Title"/>
          <p:cNvSpPr>
            <a:spLocks noChangeAspect="1"/>
          </p:cNvSpPr>
          <p:nvPr>
            <p:custDataLst>
              <p:tags r:id="rId6"/>
            </p:custDataLst>
          </p:nvPr>
        </p:nvSpPr>
        <p:spPr>
          <a:xfrm>
            <a:off x="9480550" y="643890"/>
            <a:ext cx="2291080" cy="215900"/>
          </a:xfrm>
          <a:prstGeom prst="roundRect">
            <a:avLst>
              <a:gd name="adj" fmla="val 0"/>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rgbClr val="FFFFFF"/>
                </a:solidFill>
                <a:latin typeface="+mn-ea"/>
                <a:sym typeface="Arial" panose="020B0604020202020204" pitchFamily="34" charset="0"/>
              </a:rPr>
              <a:t>5.</a:t>
            </a:r>
            <a:r>
              <a:rPr kumimoji="1" lang="en-US" altLang="zh-CN" sz="1200" b="1" dirty="0">
                <a:solidFill>
                  <a:srgbClr val="FFFFFF"/>
                </a:solidFill>
                <a:latin typeface="+mn-ea"/>
                <a:sym typeface="Arial" panose="020B0604020202020204" pitchFamily="34" charset="0"/>
              </a:rPr>
              <a:t>智能体开发与迭代</a:t>
            </a:r>
            <a:endParaRPr kumimoji="1" lang="en-US" altLang="zh-CN" sz="1200" b="1" dirty="0">
              <a:solidFill>
                <a:srgbClr val="FFFFFF"/>
              </a:solidFill>
              <a:latin typeface="+mn-ea"/>
              <a:sym typeface="Arial" panose="020B0604020202020204" pitchFamily="34" charset="0"/>
            </a:endParaRPr>
          </a:p>
        </p:txBody>
      </p:sp>
      <p:graphicFrame>
        <p:nvGraphicFramePr>
          <p:cNvPr id="9" name="Google Shape;1868;p78"/>
          <p:cNvGraphicFramePr/>
          <p:nvPr/>
        </p:nvGraphicFramePr>
        <p:xfrm>
          <a:off x="304186" y="2274341"/>
          <a:ext cx="7520950" cy="3506475"/>
        </p:xfrm>
        <a:graphic>
          <a:graphicData uri="http://schemas.openxmlformats.org/drawingml/2006/table">
            <a:tbl>
              <a:tblPr>
                <a:noFill/>
                <a:tableStyleId>{A828BEB5-E7EA-4C6A-9300-9049D458AF17}</a:tableStyleId>
              </a:tblPr>
              <a:tblGrid>
                <a:gridCol w="3015625"/>
                <a:gridCol w="4505325"/>
              </a:tblGrid>
              <a:tr h="3506475">
                <a:tc>
                  <a:txBody>
                    <a:bodyPr/>
                    <a:lstStyle/>
                    <a:p>
                      <a:pPr marL="0" marR="0" lvl="0" indent="0" algn="l" rtl="0">
                        <a:lnSpc>
                          <a:spcPct val="102000"/>
                        </a:lnSpc>
                        <a:spcBef>
                          <a:spcPts val="0"/>
                        </a:spcBef>
                        <a:spcAft>
                          <a:spcPts val="0"/>
                        </a:spcAft>
                        <a:buNone/>
                      </a:pPr>
                      <a:endParaRPr sz="400" u="none" strike="noStrike" cap="none">
                        <a:latin typeface="Arial" panose="020B0604020202020204"/>
                        <a:ea typeface="Arial" panose="020B0604020202020204"/>
                        <a:cs typeface="Arial" panose="020B0604020202020204"/>
                        <a:sym typeface="Arial" panose="020B0604020202020204"/>
                      </a:endParaRPr>
                    </a:p>
                    <a:p>
                      <a:pPr marL="613410" marR="0" lvl="0" indent="106045" algn="l" rtl="0">
                        <a:lnSpc>
                          <a:spcPct val="98000"/>
                        </a:lnSpc>
                        <a:spcBef>
                          <a:spcPts val="5"/>
                        </a:spcBef>
                        <a:spcAft>
                          <a:spcPts val="0"/>
                        </a:spcAft>
                        <a:buNone/>
                      </a:pPr>
                      <a:r>
                        <a:rPr lang="en-US" sz="1400" b="1"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① 定义目标与范围               </a:t>
                      </a:r>
                      <a:r>
                        <a:rPr lang="en-US" sz="1200" b="1"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(Define Goal &amp; Scope)</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l" rtl="0">
                        <a:lnSpc>
                          <a:spcPct val="150000"/>
                        </a:lnSpc>
                        <a:spcBef>
                          <a:spcPts val="0"/>
                        </a:spcBef>
                        <a:spcAft>
                          <a:spcPts val="0"/>
                        </a:spcAft>
                        <a:buNone/>
                      </a:pPr>
                      <a:endParaRPr sz="1000" u="none" strike="noStrike" cap="none">
                        <a:latin typeface="Arial" panose="020B0604020202020204"/>
                        <a:ea typeface="Arial" panose="020B0604020202020204"/>
                        <a:cs typeface="Arial" panose="020B0604020202020204"/>
                        <a:sym typeface="Arial" panose="020B0604020202020204"/>
                      </a:endParaRPr>
                    </a:p>
                    <a:p>
                      <a:pPr marL="172085" marR="0" lvl="0" indent="-165100" algn="l" rtl="0">
                        <a:lnSpc>
                          <a:spcPct val="89000"/>
                        </a:lnSpc>
                        <a:spcBef>
                          <a:spcPts val="360"/>
                        </a:spcBef>
                        <a:spcAft>
                          <a:spcPts val="0"/>
                        </a:spcAft>
                        <a:buNone/>
                      </a:pPr>
                      <a:r>
                        <a:rPr lang="en-US" sz="120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20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 ：明确Agent要解决什么核心问题？    其能力边界和成功标准是什么？</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985" marR="0" lvl="0" indent="0" algn="l" rtl="0">
                        <a:lnSpc>
                          <a:spcPct val="88000"/>
                        </a:lnSpc>
                        <a:spcBef>
                          <a:spcPts val="840"/>
                        </a:spcBef>
                        <a:spcAft>
                          <a:spcPts val="0"/>
                        </a:spcAft>
                        <a:buNone/>
                      </a:pPr>
                      <a:r>
                        <a:rPr lang="en-US" sz="120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20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关键词 ：问题定义、任务分解、 KPI设定</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l" rtl="0">
                        <a:lnSpc>
                          <a:spcPct val="123000"/>
                        </a:lnSpc>
                        <a:spcBef>
                          <a:spcPts val="0"/>
                        </a:spcBef>
                        <a:spcAft>
                          <a:spcPts val="0"/>
                        </a:spcAft>
                        <a:buNone/>
                      </a:pPr>
                      <a:endParaRPr sz="1000" u="none" strike="noStrike" cap="none">
                        <a:latin typeface="Arial" panose="020B0604020202020204"/>
                        <a:ea typeface="Arial" panose="020B0604020202020204"/>
                        <a:cs typeface="Arial" panose="020B0604020202020204"/>
                        <a:sym typeface="Arial" panose="020B0604020202020204"/>
                      </a:endParaRPr>
                    </a:p>
                    <a:p>
                      <a:pPr marL="0" marR="0" lvl="0" indent="0" algn="l" rtl="0">
                        <a:lnSpc>
                          <a:spcPct val="124000"/>
                        </a:lnSpc>
                        <a:spcBef>
                          <a:spcPts val="0"/>
                        </a:spcBef>
                        <a:spcAft>
                          <a:spcPts val="0"/>
                        </a:spcAft>
                        <a:buNone/>
                      </a:pPr>
                      <a:endParaRPr sz="1000" u="none" strike="noStrike" cap="none">
                        <a:latin typeface="Arial" panose="020B0604020202020204"/>
                        <a:ea typeface="Arial" panose="020B0604020202020204"/>
                        <a:cs typeface="Arial" panose="020B0604020202020204"/>
                        <a:sym typeface="Arial" panose="020B0604020202020204"/>
                      </a:endParaRPr>
                    </a:p>
                    <a:p>
                      <a:pPr marL="0" marR="0" lvl="0" indent="0" algn="l" rtl="0">
                        <a:lnSpc>
                          <a:spcPct val="124000"/>
                        </a:lnSpc>
                        <a:spcBef>
                          <a:spcPts val="0"/>
                        </a:spcBef>
                        <a:spcAft>
                          <a:spcPts val="0"/>
                        </a:spcAft>
                        <a:buNone/>
                      </a:pPr>
                      <a:endParaRPr sz="1000" u="none" strike="noStrike" cap="none">
                        <a:latin typeface="Arial" panose="020B0604020202020204"/>
                        <a:ea typeface="Arial" panose="020B0604020202020204"/>
                        <a:cs typeface="Arial" panose="020B0604020202020204"/>
                        <a:sym typeface="Arial" panose="020B0604020202020204"/>
                      </a:endParaRPr>
                    </a:p>
                    <a:p>
                      <a:pPr marL="0" marR="0" lvl="0" indent="0" algn="l" rtl="0">
                        <a:lnSpc>
                          <a:spcPct val="124000"/>
                        </a:lnSpc>
                        <a:spcBef>
                          <a:spcPts val="0"/>
                        </a:spcBef>
                        <a:spcAft>
                          <a:spcPts val="0"/>
                        </a:spcAft>
                        <a:buNone/>
                      </a:pPr>
                      <a:endParaRPr sz="1000" u="none" strike="noStrike" cap="none">
                        <a:latin typeface="Arial" panose="020B0604020202020204"/>
                        <a:ea typeface="Arial" panose="020B0604020202020204"/>
                        <a:cs typeface="Arial" panose="020B0604020202020204"/>
                        <a:sym typeface="Arial" panose="020B0604020202020204"/>
                      </a:endParaRPr>
                    </a:p>
                    <a:p>
                      <a:pPr marL="610870" marR="0" lvl="0" indent="0" algn="l" rtl="0">
                        <a:lnSpc>
                          <a:spcPct val="85000"/>
                        </a:lnSpc>
                        <a:spcBef>
                          <a:spcPts val="430"/>
                        </a:spcBef>
                        <a:spcAft>
                          <a:spcPts val="0"/>
                        </a:spcAft>
                        <a:buNone/>
                      </a:pPr>
                      <a:r>
                        <a:rPr lang="en-US" sz="1400" b="1"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⑥迭代优化与评估</a:t>
                      </a:r>
                      <a:endParaRPr sz="14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90500" marR="0" lvl="0" indent="0" algn="l" rtl="0">
                        <a:lnSpc>
                          <a:spcPct val="129000"/>
                        </a:lnSpc>
                        <a:spcBef>
                          <a:spcPts val="0"/>
                        </a:spcBef>
                        <a:spcAft>
                          <a:spcPts val="0"/>
                        </a:spcAft>
                        <a:buNone/>
                      </a:pPr>
                      <a:r>
                        <a:rPr lang="en-US" sz="1200" b="1"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(Iterate, Optimize &amp; Evaluate)</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65735" marR="0" lvl="0" indent="-165735" algn="l" rtl="0">
                        <a:lnSpc>
                          <a:spcPct val="97000"/>
                        </a:lnSpc>
                        <a:spcBef>
                          <a:spcPts val="1530"/>
                        </a:spcBef>
                        <a:spcAft>
                          <a:spcPts val="0"/>
                        </a:spcAft>
                        <a:buNone/>
                      </a:pPr>
                      <a:r>
                        <a:rPr lang="en-US" sz="120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20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 ：通过持续测试、收集反馈、监控性   能，不断调整和优化Agent的设计与实现。</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l" rtl="0">
                        <a:lnSpc>
                          <a:spcPct val="124000"/>
                        </a:lnSpc>
                        <a:spcBef>
                          <a:spcPts val="0"/>
                        </a:spcBef>
                        <a:spcAft>
                          <a:spcPts val="0"/>
                        </a:spcAft>
                        <a:buNone/>
                      </a:pPr>
                      <a:endParaRPr sz="400" u="none" strike="noStrike" cap="none">
                        <a:latin typeface="Arial" panose="020B0604020202020204"/>
                        <a:ea typeface="Arial" panose="020B0604020202020204"/>
                        <a:cs typeface="Arial" panose="020B0604020202020204"/>
                        <a:sym typeface="Arial" panose="020B0604020202020204"/>
                      </a:endParaRPr>
                    </a:p>
                    <a:p>
                      <a:pPr marL="163195" marR="0" lvl="0" indent="-163195" algn="l" rtl="0">
                        <a:lnSpc>
                          <a:spcPct val="98000"/>
                        </a:lnSpc>
                        <a:spcBef>
                          <a:spcPts val="5"/>
                        </a:spcBef>
                        <a:spcAft>
                          <a:spcPts val="0"/>
                        </a:spcAft>
                        <a:buNone/>
                      </a:pPr>
                      <a:r>
                        <a:rPr lang="en-US" sz="120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20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关键词 ：测试用例、用户反馈、性能监控、 A/B测试</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0" marR="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2000"/>
                        </a:lnSpc>
                        <a:spcBef>
                          <a:spcPts val="0"/>
                        </a:spcBef>
                        <a:spcAft>
                          <a:spcPts val="0"/>
                        </a:spcAft>
                        <a:buNone/>
                      </a:pPr>
                      <a:endParaRPr sz="100" u="none" strike="noStrike" cap="none">
                        <a:latin typeface="Arial" panose="020B0604020202020204"/>
                        <a:ea typeface="Arial" panose="020B0604020202020204"/>
                        <a:cs typeface="Arial" panose="020B0604020202020204"/>
                        <a:sym typeface="Arial" panose="020B0604020202020204"/>
                      </a:endParaRPr>
                    </a:p>
                    <a:p>
                      <a:pPr marL="1788160" marR="0" lvl="0" indent="0" algn="l" rtl="0">
                        <a:lnSpc>
                          <a:spcPct val="84000"/>
                        </a:lnSpc>
                        <a:spcBef>
                          <a:spcPts val="0"/>
                        </a:spcBef>
                        <a:spcAft>
                          <a:spcPts val="0"/>
                        </a:spcAft>
                        <a:buNone/>
                      </a:pPr>
                      <a:r>
                        <a:rPr lang="en-US" sz="1400" b="1"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②选择核心引擎</a:t>
                      </a:r>
                      <a:endParaRPr sz="14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647825" marR="0" lvl="0" indent="0" algn="l" rtl="0">
                        <a:lnSpc>
                          <a:spcPct val="129000"/>
                        </a:lnSpc>
                        <a:spcBef>
                          <a:spcPts val="0"/>
                        </a:spcBef>
                        <a:spcAft>
                          <a:spcPts val="0"/>
                        </a:spcAft>
                        <a:buNone/>
                      </a:pPr>
                      <a:r>
                        <a:rPr lang="en-US" sz="1200" b="1"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(Select Core Engine)</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l" rtl="0">
                        <a:lnSpc>
                          <a:spcPct val="145000"/>
                        </a:lnSpc>
                        <a:spcBef>
                          <a:spcPts val="0"/>
                        </a:spcBef>
                        <a:spcAft>
                          <a:spcPts val="0"/>
                        </a:spcAft>
                        <a:buNone/>
                      </a:pPr>
                      <a:endParaRPr sz="1000" u="none" strike="noStrike" cap="none">
                        <a:latin typeface="Arial" panose="020B0604020202020204"/>
                        <a:ea typeface="Arial" panose="020B0604020202020204"/>
                        <a:cs typeface="Arial" panose="020B0604020202020204"/>
                        <a:sym typeface="Arial" panose="020B0604020202020204"/>
                      </a:endParaRPr>
                    </a:p>
                    <a:p>
                      <a:pPr marL="766445" marR="0" lvl="0" indent="-164465" algn="l" rtl="0">
                        <a:lnSpc>
                          <a:spcPct val="97000"/>
                        </a:lnSpc>
                        <a:spcBef>
                          <a:spcPts val="365"/>
                        </a:spcBef>
                        <a:spcAft>
                          <a:spcPts val="0"/>
                        </a:spcAft>
                        <a:buNone/>
                      </a:pPr>
                      <a:r>
                        <a:rPr lang="en-US" sz="120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20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 ：选择适合任务的强大基础模型LLM ，作为             Agent的“大脑”。</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766445" marR="0" lvl="0" indent="-164465" algn="l" rtl="0">
                        <a:lnSpc>
                          <a:spcPct val="106000"/>
                        </a:lnSpc>
                        <a:spcBef>
                          <a:spcPts val="350"/>
                        </a:spcBef>
                        <a:spcAft>
                          <a:spcPts val="0"/>
                        </a:spcAft>
                        <a:buNone/>
                      </a:pPr>
                      <a:r>
                        <a:rPr lang="en-US" sz="120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20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关键词 ：LLM选型 (GPT, Claude, Gemini等)、               API集成</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l" rtl="0">
                        <a:lnSpc>
                          <a:spcPct val="100000"/>
                        </a:lnSpc>
                        <a:spcBef>
                          <a:spcPts val="0"/>
                        </a:spcBef>
                        <a:spcAft>
                          <a:spcPts val="0"/>
                        </a:spcAft>
                        <a:buNone/>
                      </a:pPr>
                      <a:endParaRPr sz="1000" u="none" strike="noStrike" cap="none">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000" u="none" strike="noStrike" cap="none">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000" u="none" strike="noStrike" cap="none">
                        <a:latin typeface="Arial" panose="020B0604020202020204"/>
                        <a:ea typeface="Arial" panose="020B0604020202020204"/>
                        <a:cs typeface="Arial" panose="020B0604020202020204"/>
                        <a:sym typeface="Arial" panose="020B0604020202020204"/>
                      </a:endParaRPr>
                    </a:p>
                    <a:p>
                      <a:pPr marL="0" marR="0" lvl="0" indent="0" algn="l" rtl="0">
                        <a:lnSpc>
                          <a:spcPct val="101000"/>
                        </a:lnSpc>
                        <a:spcBef>
                          <a:spcPts val="0"/>
                        </a:spcBef>
                        <a:spcAft>
                          <a:spcPts val="0"/>
                        </a:spcAft>
                        <a:buNone/>
                      </a:pPr>
                      <a:endParaRPr sz="1000" u="none" strike="noStrike" cap="none">
                        <a:latin typeface="Arial" panose="020B0604020202020204"/>
                        <a:ea typeface="Arial" panose="020B0604020202020204"/>
                        <a:cs typeface="Arial" panose="020B0604020202020204"/>
                        <a:sym typeface="Arial" panose="020B0604020202020204"/>
                      </a:endParaRPr>
                    </a:p>
                    <a:p>
                      <a:pPr marL="1470660" marR="0" lvl="0" indent="0" algn="l" rtl="0">
                        <a:lnSpc>
                          <a:spcPct val="85000"/>
                        </a:lnSpc>
                        <a:spcBef>
                          <a:spcPts val="425"/>
                        </a:spcBef>
                        <a:spcAft>
                          <a:spcPts val="0"/>
                        </a:spcAft>
                        <a:buNone/>
                      </a:pPr>
                      <a:r>
                        <a:rPr lang="en-US" sz="1400" b="1"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⑤实现规划与推理</a:t>
                      </a:r>
                      <a:endParaRPr sz="14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64235" marR="0" lvl="0" indent="0" algn="l" rtl="0">
                        <a:lnSpc>
                          <a:spcPct val="129000"/>
                        </a:lnSpc>
                        <a:spcBef>
                          <a:spcPts val="0"/>
                        </a:spcBef>
                        <a:spcAft>
                          <a:spcPts val="0"/>
                        </a:spcAft>
                        <a:buNone/>
                      </a:pPr>
                      <a:r>
                        <a:rPr lang="en-US" sz="1200" b="1"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(Implement Planning &amp; Reasoning)</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l" rtl="0">
                        <a:lnSpc>
                          <a:spcPct val="142000"/>
                        </a:lnSpc>
                        <a:spcBef>
                          <a:spcPts val="0"/>
                        </a:spcBef>
                        <a:spcAft>
                          <a:spcPts val="0"/>
                        </a:spcAft>
                        <a:buNone/>
                      </a:pPr>
                      <a:endParaRPr sz="1000" u="none" strike="noStrike" cap="none">
                        <a:latin typeface="Arial" panose="020B0604020202020204"/>
                        <a:ea typeface="Arial" panose="020B0604020202020204"/>
                        <a:cs typeface="Arial" panose="020B0604020202020204"/>
                        <a:sym typeface="Arial" panose="020B0604020202020204"/>
                      </a:endParaRPr>
                    </a:p>
                    <a:p>
                      <a:pPr marL="777875" marR="0" lvl="0" indent="-165100" algn="l" rtl="0">
                        <a:lnSpc>
                          <a:spcPct val="89000"/>
                        </a:lnSpc>
                        <a:spcBef>
                          <a:spcPts val="360"/>
                        </a:spcBef>
                        <a:spcAft>
                          <a:spcPts val="0"/>
                        </a:spcAft>
                        <a:buNone/>
                      </a:pPr>
                      <a:r>
                        <a:rPr lang="en-US" sz="120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20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 ：使Agent能够根据目标和当前状态，自主             规划步骤、进行决策、并从错误中学习、反思</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l" rtl="0">
                        <a:lnSpc>
                          <a:spcPct val="124000"/>
                        </a:lnSpc>
                        <a:spcBef>
                          <a:spcPts val="0"/>
                        </a:spcBef>
                        <a:spcAft>
                          <a:spcPts val="0"/>
                        </a:spcAft>
                        <a:buNone/>
                      </a:pPr>
                      <a:endParaRPr sz="400" u="none" strike="noStrike" cap="none">
                        <a:latin typeface="Arial" panose="020B0604020202020204"/>
                        <a:ea typeface="Arial" panose="020B0604020202020204"/>
                        <a:cs typeface="Arial" panose="020B0604020202020204"/>
                        <a:sym typeface="Arial" panose="020B0604020202020204"/>
                      </a:endParaRPr>
                    </a:p>
                    <a:p>
                      <a:pPr marL="778510" marR="0" lvl="0" indent="-165735" algn="l" rtl="0">
                        <a:lnSpc>
                          <a:spcPct val="99000"/>
                        </a:lnSpc>
                        <a:spcBef>
                          <a:spcPts val="0"/>
                        </a:spcBef>
                        <a:spcAft>
                          <a:spcPts val="0"/>
                        </a:spcAft>
                        <a:buNone/>
                      </a:pPr>
                      <a:r>
                        <a:rPr lang="en-US" sz="120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20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关键词 ：任务分解、 ReAct、Self-Reflection、              决策逻辑</a:t>
                      </a:r>
                      <a:endParaRPr sz="1200" u="none" strike="noStrike" cap="none">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0" marR="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10" name="Google Shape;1878;p78"/>
          <p:cNvSpPr/>
          <p:nvPr/>
        </p:nvSpPr>
        <p:spPr>
          <a:xfrm>
            <a:off x="8077200" y="1487170"/>
            <a:ext cx="3790950" cy="2200275"/>
          </a:xfrm>
          <a:prstGeom prst="rect">
            <a:avLst/>
          </a:prstGeom>
          <a:noFill/>
          <a:ln>
            <a:noFill/>
          </a:ln>
        </p:spPr>
        <p:txBody>
          <a:bodyPr spcFirstLastPara="1" wrap="square" lIns="0" tIns="0" rIns="0" bIns="0" anchor="t" anchorCtr="0">
            <a:noAutofit/>
          </a:bodyPr>
          <a:lstStyle/>
          <a:p>
            <a:pPr marL="0" marR="0" lvl="0" indent="0" algn="l" rtl="0">
              <a:lnSpc>
                <a:spcPct val="77000"/>
              </a:lnSpc>
              <a:spcBef>
                <a:spcPts val="0"/>
              </a:spcBef>
              <a:spcAft>
                <a:spcPts val="0"/>
              </a:spcAft>
              <a:buNone/>
            </a:pPr>
            <a:endParaRPr sz="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950595" marR="0" lvl="0" indent="0" algn="l" rtl="0">
              <a:lnSpc>
                <a:spcPct val="86000"/>
              </a:lnSpc>
              <a:spcBef>
                <a:spcPts val="0"/>
              </a:spcBef>
              <a:spcAft>
                <a:spcPts val="0"/>
              </a:spcAft>
              <a:buNone/>
            </a:pPr>
            <a:r>
              <a:rPr lang="en-US" sz="1400" b="1"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③系统设定与行动</a:t>
            </a:r>
            <a:endParaRPr sz="14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71195" marR="0" lvl="0" indent="0" algn="l" rtl="0">
              <a:lnSpc>
                <a:spcPct val="130000"/>
              </a:lnSpc>
              <a:spcBef>
                <a:spcPts val="0"/>
              </a:spcBef>
              <a:spcAft>
                <a:spcPts val="0"/>
              </a:spcAft>
              <a:buNone/>
            </a:pPr>
            <a:r>
              <a:rPr lang="en-US" sz="1200" b="1"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(System Setting &amp; Action)</a:t>
            </a:r>
            <a:endParaRPr sz="12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700" marR="0" lvl="0" indent="0" algn="l" rtl="0">
              <a:lnSpc>
                <a:spcPct val="129000"/>
              </a:lnSpc>
              <a:spcBef>
                <a:spcPts val="1295"/>
              </a:spcBef>
              <a:spcAft>
                <a:spcPts val="0"/>
              </a:spcAft>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200" b="0"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提示词工程 (Prompt Engineering):</a:t>
            </a:r>
            <a:endParaRPr sz="12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34365" marR="0" lvl="0" indent="-162560" algn="l" rtl="0">
              <a:lnSpc>
                <a:spcPct val="90000"/>
              </a:lnSpc>
              <a:spcBef>
                <a:spcPts val="60"/>
              </a:spcBef>
              <a:spcAft>
                <a:spcPts val="0"/>
              </a:spcAft>
              <a:buNone/>
            </a:pPr>
            <a:r>
              <a:rPr lang="en-US" sz="1100" b="0"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简述 ：精心设计与LLM交互的指令、角色、上下文   和输出格式。</a:t>
            </a:r>
            <a:endParaRPr sz="11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36270" marR="0" lvl="0" indent="-164465" algn="l" rtl="0">
              <a:lnSpc>
                <a:spcPct val="106000"/>
              </a:lnSpc>
              <a:spcBef>
                <a:spcPts val="30"/>
              </a:spcBef>
              <a:spcAft>
                <a:spcPts val="0"/>
              </a:spcAft>
              <a:buNone/>
            </a:pPr>
            <a:r>
              <a:rPr lang="en-US" sz="1100" b="0"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关键词 ：角色扮演、指令清晰、思维链 (CoT)、上   下文管理</a:t>
            </a:r>
            <a:endParaRPr sz="11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700" marR="0" lvl="0" indent="0" algn="l" rtl="0">
              <a:lnSpc>
                <a:spcPct val="123000"/>
              </a:lnSpc>
              <a:spcBef>
                <a:spcPts val="485"/>
              </a:spcBef>
              <a:spcAft>
                <a:spcPts val="0"/>
              </a:spcAft>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en-US" sz="1200" b="0"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工具调用 (Tool Usage / Function Calling):</a:t>
            </a:r>
            <a:endParaRPr sz="12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34365" marR="0" lvl="0" indent="-162560" algn="l" rtl="0">
              <a:lnSpc>
                <a:spcPct val="96000"/>
              </a:lnSpc>
              <a:spcBef>
                <a:spcPts val="5"/>
              </a:spcBef>
              <a:spcAft>
                <a:spcPts val="0"/>
              </a:spcAft>
              <a:buNone/>
            </a:pPr>
            <a:r>
              <a:rPr lang="en-US" sz="1100" b="0"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简述 ：赋予Agent使用外部API、数据库、代码执行器等工具的能力，扩展其行动边界。</a:t>
            </a:r>
            <a:endParaRPr sz="11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471805" marR="0" lvl="0" indent="0" algn="l" rtl="0">
              <a:lnSpc>
                <a:spcPct val="129000"/>
              </a:lnSpc>
              <a:spcBef>
                <a:spcPts val="100"/>
              </a:spcBef>
              <a:spcAft>
                <a:spcPts val="0"/>
              </a:spcAft>
              <a:buNone/>
            </a:pPr>
            <a:r>
              <a:rPr lang="en-US" sz="1100" b="0"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关键词 ：API封装、工具描述、执行与结果反馈</a:t>
            </a:r>
            <a:endParaRPr sz="11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1" name="Google Shape;1879;p78"/>
          <p:cNvPicPr preferRelativeResize="0"/>
          <p:nvPr/>
        </p:nvPicPr>
        <p:blipFill rotWithShape="1">
          <a:blip r:embed="rId7"/>
          <a:srcRect/>
          <a:stretch>
            <a:fillRect/>
          </a:stretch>
        </p:blipFill>
        <p:spPr>
          <a:xfrm>
            <a:off x="8549222" y="3687749"/>
            <a:ext cx="99745" cy="89827"/>
          </a:xfrm>
          <a:prstGeom prst="rect">
            <a:avLst/>
          </a:prstGeom>
          <a:noFill/>
          <a:ln>
            <a:noFill/>
          </a:ln>
        </p:spPr>
      </p:pic>
      <p:pic>
        <p:nvPicPr>
          <p:cNvPr id="12" name="Google Shape;1880;p78"/>
          <p:cNvPicPr preferRelativeResize="0"/>
          <p:nvPr/>
        </p:nvPicPr>
        <p:blipFill rotWithShape="1">
          <a:blip r:embed="rId8"/>
          <a:srcRect/>
          <a:stretch>
            <a:fillRect/>
          </a:stretch>
        </p:blipFill>
        <p:spPr>
          <a:xfrm>
            <a:off x="8549222" y="3351803"/>
            <a:ext cx="99745" cy="87236"/>
          </a:xfrm>
          <a:prstGeom prst="rect">
            <a:avLst/>
          </a:prstGeom>
          <a:noFill/>
          <a:ln>
            <a:noFill/>
          </a:ln>
        </p:spPr>
      </p:pic>
      <p:pic>
        <p:nvPicPr>
          <p:cNvPr id="13" name="Google Shape;1881;p78"/>
          <p:cNvPicPr preferRelativeResize="0"/>
          <p:nvPr/>
        </p:nvPicPr>
        <p:blipFill rotWithShape="1">
          <a:blip r:embed="rId9"/>
          <a:srcRect/>
          <a:stretch>
            <a:fillRect/>
          </a:stretch>
        </p:blipFill>
        <p:spPr>
          <a:xfrm>
            <a:off x="8549222" y="2748965"/>
            <a:ext cx="99745" cy="89827"/>
          </a:xfrm>
          <a:prstGeom prst="rect">
            <a:avLst/>
          </a:prstGeom>
          <a:noFill/>
          <a:ln>
            <a:noFill/>
          </a:ln>
        </p:spPr>
      </p:pic>
      <p:pic>
        <p:nvPicPr>
          <p:cNvPr id="14" name="Google Shape;1882;p78"/>
          <p:cNvPicPr preferRelativeResize="0"/>
          <p:nvPr/>
        </p:nvPicPr>
        <p:blipFill rotWithShape="1">
          <a:blip r:embed="rId9"/>
          <a:srcRect/>
          <a:stretch>
            <a:fillRect/>
          </a:stretch>
        </p:blipFill>
        <p:spPr>
          <a:xfrm>
            <a:off x="8549222" y="2416733"/>
            <a:ext cx="99745" cy="89827"/>
          </a:xfrm>
          <a:prstGeom prst="rect">
            <a:avLst/>
          </a:prstGeom>
          <a:noFill/>
          <a:ln>
            <a:noFill/>
          </a:ln>
        </p:spPr>
      </p:pic>
      <p:sp>
        <p:nvSpPr>
          <p:cNvPr id="15" name="Google Shape;1883;p78"/>
          <p:cNvSpPr/>
          <p:nvPr/>
        </p:nvSpPr>
        <p:spPr>
          <a:xfrm>
            <a:off x="363811" y="1199387"/>
            <a:ext cx="7247255" cy="73215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None/>
            </a:pPr>
            <a:endParaRPr sz="100" b="0" i="0" u="none" strike="noStrike" cap="none">
              <a:solidFill>
                <a:srgbClr val="27ADCB"/>
              </a:solidFill>
              <a:latin typeface="Arial" panose="020B0604020202020204"/>
              <a:ea typeface="Arial" panose="020B0604020202020204"/>
              <a:cs typeface="Arial" panose="020B0604020202020204"/>
              <a:sym typeface="Arial" panose="020B0604020202020204"/>
            </a:endParaRPr>
          </a:p>
          <a:p>
            <a:pPr marL="12700" marR="0" lvl="0" indent="0" algn="l" rtl="0">
              <a:lnSpc>
                <a:spcPct val="91000"/>
              </a:lnSpc>
              <a:spcBef>
                <a:spcPts val="0"/>
              </a:spcBef>
              <a:spcAft>
                <a:spcPts val="0"/>
              </a:spcAft>
              <a:buNone/>
            </a:pPr>
            <a:r>
              <a:rPr lang="en-US" sz="2000" b="1" i="0" u="none" strike="noStrike" cap="none">
                <a:solidFill>
                  <a:srgbClr val="27ADCB"/>
                </a:solidFill>
                <a:latin typeface="微软雅黑" panose="020B0503020204020204" charset="-122"/>
                <a:ea typeface="微软雅黑" panose="020B0503020204020204" charset="-122"/>
                <a:cs typeface="微软雅黑" panose="020B0503020204020204" charset="-122"/>
                <a:sym typeface="微软雅黑" panose="020B0503020204020204" charset="-122"/>
              </a:rPr>
              <a:t>构建一个功能完善的AIAgent是一个复杂的系统工程，但其核心</a:t>
            </a:r>
            <a:endParaRPr sz="2000" b="0" i="0" u="none" strike="noStrike" cap="none">
              <a:solidFill>
                <a:srgbClr val="27ADC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700" marR="0" lvl="0" indent="0" algn="l" rtl="0">
              <a:lnSpc>
                <a:spcPct val="168000"/>
              </a:lnSpc>
              <a:spcBef>
                <a:spcPts val="0"/>
              </a:spcBef>
              <a:spcAft>
                <a:spcPts val="0"/>
              </a:spcAft>
              <a:buNone/>
            </a:pPr>
            <a:r>
              <a:rPr lang="en-US" sz="2000" b="1" i="0" u="none" strike="noStrike" cap="none">
                <a:solidFill>
                  <a:srgbClr val="27ADCB"/>
                </a:solidFill>
                <a:latin typeface="微软雅黑" panose="020B0503020204020204" charset="-122"/>
                <a:ea typeface="微软雅黑" panose="020B0503020204020204" charset="-122"/>
                <a:cs typeface="微软雅黑" panose="020B0503020204020204" charset="-122"/>
                <a:sym typeface="微软雅黑" panose="020B0503020204020204" charset="-122"/>
              </a:rPr>
              <a:t>构建思路主要包括以下几个关键环节：</a:t>
            </a:r>
            <a:endParaRPr lang="en-US" sz="2000" b="1" i="0" u="none" strike="noStrike" cap="none">
              <a:solidFill>
                <a:srgbClr val="27ADC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Google Shape;1884;p78"/>
          <p:cNvSpPr/>
          <p:nvPr/>
        </p:nvSpPr>
        <p:spPr>
          <a:xfrm>
            <a:off x="8199863" y="4411827"/>
            <a:ext cx="3668395" cy="1222375"/>
          </a:xfrm>
          <a:prstGeom prst="rect">
            <a:avLst/>
          </a:prstGeom>
          <a:noFill/>
          <a:ln>
            <a:noFill/>
          </a:ln>
        </p:spPr>
        <p:txBody>
          <a:bodyPr spcFirstLastPara="1" wrap="square" lIns="0" tIns="0" rIns="0" bIns="0" anchor="t" anchorCtr="0">
            <a:noAutofit/>
          </a:bodyPr>
          <a:lstStyle/>
          <a:p>
            <a:pPr marL="0" marR="0" lvl="0" indent="0" algn="l" rtl="0">
              <a:lnSpc>
                <a:spcPct val="86000"/>
              </a:lnSpc>
              <a:spcBef>
                <a:spcPts val="0"/>
              </a:spcBef>
              <a:spcAft>
                <a:spcPts val="0"/>
              </a:spcAft>
              <a:buNone/>
            </a:pPr>
            <a:endParaRPr sz="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31240" marR="0" lvl="0" indent="0" algn="l" rtl="0">
              <a:lnSpc>
                <a:spcPct val="85000"/>
              </a:lnSpc>
              <a:spcBef>
                <a:spcPts val="0"/>
              </a:spcBef>
              <a:spcAft>
                <a:spcPts val="0"/>
              </a:spcAft>
              <a:buNone/>
            </a:pPr>
            <a:r>
              <a:rPr lang="en-US" sz="1400" b="1"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④构建记忆机制</a:t>
            </a:r>
            <a:endParaRPr sz="14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417830" marR="0" lvl="0" indent="0" algn="l" rtl="0">
              <a:lnSpc>
                <a:spcPct val="130000"/>
              </a:lnSpc>
              <a:spcBef>
                <a:spcPts val="0"/>
              </a:spcBef>
              <a:spcAft>
                <a:spcPts val="0"/>
              </a:spcAft>
              <a:buNone/>
            </a:pPr>
            <a:r>
              <a:rPr lang="en-US" sz="1200" b="1"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(ConstructMemoryMechanism)</a:t>
            </a:r>
            <a:endParaRPr sz="12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l" rtl="0">
              <a:lnSpc>
                <a:spcPct val="117000"/>
              </a:lnSpc>
              <a:spcBef>
                <a:spcPts val="0"/>
              </a:spcBef>
              <a:spcAft>
                <a:spcPts val="0"/>
              </a:spcAft>
              <a:buNone/>
            </a:pPr>
            <a:endParaRPr sz="1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78435" marR="0" lvl="0" indent="-165735" algn="l" rtl="0">
              <a:lnSpc>
                <a:spcPct val="94000"/>
              </a:lnSpc>
              <a:spcBef>
                <a:spcPts val="370"/>
              </a:spcBef>
              <a:spcAft>
                <a:spcPts val="0"/>
              </a:spcAft>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a:t>
            </a:r>
            <a:r>
              <a:rPr lang="en-US" sz="1200" b="0"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简述：为Agent配备短期记忆（如对话历史）和长期记忆（如知识库、用户偏好）。</a:t>
            </a:r>
            <a:endParaRPr sz="12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l" rtl="0">
              <a:lnSpc>
                <a:spcPct val="111000"/>
              </a:lnSpc>
              <a:spcBef>
                <a:spcPts val="0"/>
              </a:spcBef>
              <a:spcAft>
                <a:spcPts val="0"/>
              </a:spcAft>
              <a:buNone/>
            </a:pPr>
            <a:endParaRPr sz="5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2700" marR="0" lvl="0" indent="0" algn="l" rtl="0">
              <a:lnSpc>
                <a:spcPct val="89000"/>
              </a:lnSpc>
              <a:spcBef>
                <a:spcPts val="5"/>
              </a:spcBef>
              <a:spcAft>
                <a:spcPts val="0"/>
              </a:spcAft>
              <a:buNone/>
            </a:pPr>
            <a:r>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t>•</a:t>
            </a:r>
            <a:r>
              <a:rPr lang="en-US" sz="1200" b="0" i="0" u="none" strike="noStrike" cap="non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关键词：上下文窗口、向量数据库、知识图谱</a:t>
            </a:r>
            <a:endParaRPr sz="12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Google Shape;1888;p78"/>
          <p:cNvSpPr/>
          <p:nvPr/>
        </p:nvSpPr>
        <p:spPr>
          <a:xfrm>
            <a:off x="709930" y="6192520"/>
            <a:ext cx="11769725" cy="353060"/>
          </a:xfrm>
          <a:prstGeom prst="rect">
            <a:avLst/>
          </a:prstGeom>
          <a:noFill/>
          <a:ln>
            <a:noFill/>
          </a:ln>
        </p:spPr>
        <p:txBody>
          <a:bodyPr spcFirstLastPara="1" wrap="square" lIns="0" tIns="0" rIns="0" bIns="0" anchor="t" anchorCtr="0">
            <a:noAutofit/>
          </a:bodyPr>
          <a:lstStyle/>
          <a:p>
            <a:pPr marL="0" marR="0" lvl="0" indent="0" algn="ctr" rtl="0">
              <a:lnSpc>
                <a:spcPct val="150000"/>
              </a:lnSpc>
              <a:spcBef>
                <a:spcPts val="0"/>
              </a:spcBef>
              <a:spcAft>
                <a:spcPts val="0"/>
              </a:spcAft>
              <a:buNone/>
            </a:pPr>
            <a:r>
              <a:rPr lang="en-US" sz="1400" b="1" i="0" u="none" strike="noStrike" cap="none">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这是一个高度简化的流程。实际Agent开发涉及复杂的工程实践、多模块协同以及持续的迭代优化。</a:t>
            </a:r>
            <a:endParaRPr lang="en-US" sz="1400" b="1" i="0" u="none" strike="noStrike" cap="none">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marR="0" lvl="0" indent="0" algn="ctr" rtl="0">
              <a:lnSpc>
                <a:spcPct val="150000"/>
              </a:lnSpc>
              <a:spcBef>
                <a:spcPts val="0"/>
              </a:spcBef>
              <a:spcAft>
                <a:spcPts val="0"/>
              </a:spcAft>
              <a:buNone/>
            </a:pPr>
            <a:r>
              <a:rPr lang="en-US" sz="1400" b="1" i="0" u="none" strike="noStrike" cap="none">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关键在于：</a:t>
            </a:r>
            <a:r>
              <a:rPr lang="en-US" sz="1400" b="1" i="0" u="none" strike="noStrike" cap="none">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目标驱动、模型赋能、工具拓展、迭代演进。</a:t>
            </a:r>
            <a:endParaRPr lang="en-US" sz="1400" b="1" i="0" u="none" strike="noStrike" cap="none">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1" name="右箭头 50"/>
          <p:cNvSpPr/>
          <p:nvPr/>
        </p:nvSpPr>
        <p:spPr>
          <a:xfrm rot="10800000">
            <a:off x="3477895" y="4662805"/>
            <a:ext cx="355600" cy="7200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右箭头 51"/>
          <p:cNvSpPr/>
          <p:nvPr/>
        </p:nvSpPr>
        <p:spPr>
          <a:xfrm rot="10800000">
            <a:off x="7505065" y="4662805"/>
            <a:ext cx="355600" cy="7200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右箭头 52"/>
          <p:cNvSpPr/>
          <p:nvPr/>
        </p:nvSpPr>
        <p:spPr>
          <a:xfrm>
            <a:off x="3477895" y="2719070"/>
            <a:ext cx="355600" cy="7200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右箭头 53"/>
          <p:cNvSpPr/>
          <p:nvPr/>
        </p:nvSpPr>
        <p:spPr>
          <a:xfrm>
            <a:off x="7505065" y="2719070"/>
            <a:ext cx="355600" cy="7200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右箭头 54"/>
          <p:cNvSpPr/>
          <p:nvPr/>
        </p:nvSpPr>
        <p:spPr>
          <a:xfrm rot="5580000">
            <a:off x="9794875" y="3766820"/>
            <a:ext cx="355600" cy="7200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336803" y="144012"/>
            <a:ext cx="8493516" cy="521970"/>
          </a:xfrm>
          <a:prstGeom prst="rect">
            <a:avLst/>
          </a:prstGeom>
        </p:spPr>
        <p:txBody>
          <a:bodyPr wrap="square">
            <a:spAutoFit/>
          </a:bodyPr>
          <a:p>
            <a:r>
              <a:rPr lang="en-US" altLang="zh-CN" sz="2795" b="1" dirty="0">
                <a:solidFill>
                  <a:srgbClr val="00A6C7"/>
                </a:solidFill>
                <a:latin typeface="+mn-ea"/>
                <a:ea typeface="微软雅黑" panose="020B0503020204020204" charset="-122"/>
                <a:cs typeface="微软雅黑" panose="020B0503020204020204" charset="-122"/>
                <a:sym typeface="+mn-ea"/>
              </a:rPr>
              <a:t>AI+</a:t>
            </a:r>
            <a:r>
              <a:rPr lang="zh-CN" altLang="en-US" sz="2795" b="1" dirty="0">
                <a:solidFill>
                  <a:srgbClr val="00A6C7"/>
                </a:solidFill>
                <a:latin typeface="+mn-ea"/>
                <a:ea typeface="微软雅黑" panose="020B0503020204020204" charset="-122"/>
                <a:cs typeface="微软雅黑" panose="020B0503020204020204" charset="-122"/>
                <a:sym typeface="+mn-ea"/>
              </a:rPr>
              <a:t>综合场景建设实施过程</a:t>
            </a:r>
            <a:endParaRPr lang="zh-CN" altLang="en-US" sz="2795" b="1" dirty="0">
              <a:solidFill>
                <a:srgbClr val="00A6C7"/>
              </a:solidFill>
              <a:latin typeface="+mn-ea"/>
              <a:ea typeface="微软雅黑" panose="020B0503020204020204" charset="-122"/>
              <a:cs typeface="微软雅黑" panose="020B0503020204020204" charset="-122"/>
              <a:sym typeface="+mn-ea"/>
            </a:endParaRPr>
          </a:p>
        </p:txBody>
      </p:sp>
      <p:grpSp>
        <p:nvGrpSpPr>
          <p:cNvPr id="20" name="组合 19"/>
          <p:cNvGrpSpPr/>
          <p:nvPr/>
        </p:nvGrpSpPr>
        <p:grpSpPr>
          <a:xfrm rot="0">
            <a:off x="331471" y="1010149"/>
            <a:ext cx="10925175" cy="932815"/>
            <a:chOff x="-103701" y="564527"/>
            <a:chExt cx="10835400" cy="932777"/>
          </a:xfrm>
        </p:grpSpPr>
        <p:grpSp>
          <p:nvGrpSpPr>
            <p:cNvPr id="21" name="组合 20"/>
            <p:cNvGrpSpPr/>
            <p:nvPr/>
          </p:nvGrpSpPr>
          <p:grpSpPr>
            <a:xfrm>
              <a:off x="-103701" y="564527"/>
              <a:ext cx="10835398" cy="932777"/>
              <a:chOff x="65793" y="3584125"/>
              <a:chExt cx="8189941" cy="932777"/>
            </a:xfrm>
          </p:grpSpPr>
          <p:sp>
            <p:nvSpPr>
              <p:cNvPr id="22" name="Text"/>
              <p:cNvSpPr/>
              <p:nvPr/>
            </p:nvSpPr>
            <p:spPr>
              <a:xfrm>
                <a:off x="1318680" y="3584125"/>
                <a:ext cx="6937054" cy="932777"/>
              </a:xfrm>
              <a:prstGeom prst="rect">
                <a:avLst/>
              </a:prstGeom>
              <a:solidFill>
                <a:srgbClr val="00A4C5">
                  <a:alpha val="15000"/>
                </a:srgbClr>
              </a:solidFill>
              <a:ln w="12700" cap="flat" cmpd="sng" algn="ctr">
                <a:noFill/>
                <a:prstDash val="solid"/>
                <a:miter lim="800000"/>
              </a:ln>
              <a:effectLst/>
            </p:spPr>
            <p:txBody>
              <a:bodyPr wrap="square" lIns="91440" tIns="0" rIns="91440" bIns="0"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nSpc>
                    <a:spcPct val="130000"/>
                  </a:lnSpc>
                </a:pPr>
                <a:endParaRPr lang="zh-CN" altLang="en-US" b="1" dirty="0">
                  <a:solidFill>
                    <a:srgbClr val="000000"/>
                  </a:solidFill>
                  <a:latin typeface="微软雅黑" panose="020B0503020204020204" charset="-122"/>
                  <a:ea typeface="微软雅黑" panose="020B0503020204020204" charset="-122"/>
                </a:endParaRPr>
              </a:p>
            </p:txBody>
          </p:sp>
          <p:sp>
            <p:nvSpPr>
              <p:cNvPr id="23" name="圆角矩形 35"/>
              <p:cNvSpPr/>
              <p:nvPr/>
            </p:nvSpPr>
            <p:spPr>
              <a:xfrm>
                <a:off x="65793" y="3685721"/>
                <a:ext cx="1253363" cy="663548"/>
              </a:xfrm>
              <a:prstGeom prst="rect">
                <a:avLst/>
              </a:prstGeom>
              <a:solidFill>
                <a:srgbClr val="00A4C5"/>
              </a:solidFill>
              <a:ln w="12700" cap="rnd" cmpd="sng" algn="ctr">
                <a:noFill/>
                <a:prstDash val="solid"/>
                <a:round/>
              </a:ln>
              <a:effectLst/>
            </p:spPr>
            <p:txBody>
              <a:bodyPr rot="0" spcFirstLastPara="0" vert="horz" wrap="square" lIns="91440" tIns="45720" rIns="91440" bIns="45720" numCol="1" spcCol="0" rtlCol="0" fromWordArt="0" anchor="ctr" anchorCtr="0" forceAA="0" compatLnSpc="1">
                <a:normAutofit lnSpcReduction="20000"/>
              </a:bodyP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defTabSz="914400"/>
                <a:r>
                  <a:rPr lang="zh-CN" altLang="en-US" sz="2000" b="1" dirty="0">
                    <a:solidFill>
                      <a:srgbClr val="FFFFFF"/>
                    </a:solidFill>
                    <a:latin typeface="微软雅黑" panose="020B0503020204020204" charset="-122"/>
                    <a:ea typeface="微软雅黑" panose="020B0503020204020204" charset="-122"/>
                  </a:rPr>
                  <a:t>数字重重庆</a:t>
                </a:r>
                <a:br>
                  <a:rPr lang="zh-CN" altLang="en-US" sz="2000" b="1" dirty="0">
                    <a:solidFill>
                      <a:srgbClr val="FFFFFF"/>
                    </a:solidFill>
                    <a:latin typeface="微软雅黑" panose="020B0503020204020204" charset="-122"/>
                    <a:ea typeface="微软雅黑" panose="020B0503020204020204" charset="-122"/>
                  </a:rPr>
                </a:br>
                <a:r>
                  <a:rPr lang="en-US" altLang="zh-CN" sz="2000" b="1" dirty="0">
                    <a:solidFill>
                      <a:srgbClr val="FFFFFF"/>
                    </a:solidFill>
                    <a:latin typeface="微软雅黑" panose="020B0503020204020204" charset="-122"/>
                    <a:ea typeface="微软雅黑" panose="020B0503020204020204" charset="-122"/>
                  </a:rPr>
                  <a:t>AI</a:t>
                </a:r>
                <a:r>
                  <a:rPr lang="zh-CN" altLang="en-US" sz="2000" b="1" dirty="0">
                    <a:solidFill>
                      <a:srgbClr val="FFFFFF"/>
                    </a:solidFill>
                    <a:latin typeface="微软雅黑" panose="020B0503020204020204" charset="-122"/>
                    <a:ea typeface="微软雅黑" panose="020B0503020204020204" charset="-122"/>
                  </a:rPr>
                  <a:t>底座</a:t>
                </a:r>
                <a:endParaRPr lang="zh-CN" altLang="en-US" sz="2000" b="1" dirty="0">
                  <a:solidFill>
                    <a:srgbClr val="FFFFFF"/>
                  </a:solidFill>
                  <a:latin typeface="微软雅黑" panose="020B0503020204020204" charset="-122"/>
                  <a:ea typeface="微软雅黑" panose="020B0503020204020204" charset="-122"/>
                </a:endParaRPr>
              </a:p>
            </p:txBody>
          </p:sp>
        </p:grpSp>
        <p:sp>
          <p:nvSpPr>
            <p:cNvPr id="25" name="文本框 24"/>
            <p:cNvSpPr txBox="1"/>
            <p:nvPr/>
          </p:nvSpPr>
          <p:spPr>
            <a:xfrm>
              <a:off x="1680472" y="564700"/>
              <a:ext cx="9051227" cy="921983"/>
            </a:xfrm>
            <a:prstGeom prst="rect">
              <a:avLst/>
            </a:prstGeom>
            <a:noFill/>
          </p:spPr>
          <p:txBody>
            <a:bodyPr wrap="square">
              <a:spAutoFit/>
            </a:bodyPr>
            <a:lstStyle/>
            <a:p>
              <a:pPr algn="just">
                <a:lnSpc>
                  <a:spcPct val="150000"/>
                </a:lnSpc>
              </a:pPr>
              <a:r>
                <a:rPr lang="zh-CN" altLang="en-US" dirty="0">
                  <a:latin typeface="微软雅黑" panose="020B0503020204020204" charset="-122"/>
                </a:rPr>
                <a:t>让各级各部门根据业务需求，选择最适合的</a:t>
              </a:r>
              <a:r>
                <a:rPr lang="en-US" altLang="zh-CN" dirty="0">
                  <a:latin typeface="微软雅黑" panose="020B0503020204020204" charset="-122"/>
                </a:rPr>
                <a:t>AI</a:t>
              </a:r>
              <a:r>
                <a:rPr lang="zh-CN" altLang="en-US" dirty="0">
                  <a:latin typeface="微软雅黑" panose="020B0503020204020204" charset="-122"/>
                </a:rPr>
                <a:t>赋能路径，用好</a:t>
              </a:r>
              <a:r>
                <a:rPr lang="en-US" altLang="zh-CN" dirty="0">
                  <a:latin typeface="微软雅黑" panose="020B0503020204020204" charset="-122"/>
                </a:rPr>
                <a:t>AI</a:t>
              </a:r>
              <a:r>
                <a:rPr lang="zh-CN" altLang="en-US" dirty="0">
                  <a:latin typeface="微软雅黑" panose="020B0503020204020204" charset="-122"/>
                </a:rPr>
                <a:t>底座，实现更好赋能应用场景打造和基本能力建设。</a:t>
              </a:r>
              <a:endParaRPr lang="zh-CN" altLang="en-US" dirty="0">
                <a:latin typeface="微软雅黑" panose="020B0503020204020204" charset="-122"/>
              </a:endParaRPr>
            </a:p>
          </p:txBody>
        </p:sp>
      </p:grpSp>
      <p:grpSp>
        <p:nvGrpSpPr>
          <p:cNvPr id="26" name="组合 25"/>
          <p:cNvGrpSpPr/>
          <p:nvPr/>
        </p:nvGrpSpPr>
        <p:grpSpPr>
          <a:xfrm>
            <a:off x="331470" y="2277110"/>
            <a:ext cx="10605770" cy="4164330"/>
            <a:chOff x="522" y="3586"/>
            <a:chExt cx="16702" cy="6558"/>
          </a:xfrm>
        </p:grpSpPr>
        <p:sp>
          <p:nvSpPr>
            <p:cNvPr id="27" name="îśḻíḋé"/>
            <p:cNvSpPr/>
            <p:nvPr/>
          </p:nvSpPr>
          <p:spPr>
            <a:xfrm>
              <a:off x="814" y="4744"/>
              <a:ext cx="3576" cy="3279"/>
            </a:xfrm>
            <a:prstGeom prst="roundRect">
              <a:avLst>
                <a:gd name="adj" fmla="val 0"/>
              </a:avLst>
            </a:prstGeom>
            <a:solidFill>
              <a:srgbClr val="00A4C5">
                <a:alpha val="15000"/>
              </a:srgbClr>
            </a:solidFill>
            <a:ln w="6055" cap="flat">
              <a:noFill/>
              <a:prstDash val="solid"/>
              <a:miter/>
            </a:ln>
          </p:spPr>
          <p:txBody>
            <a:bodyPr wrap="square" lIns="91440" tIns="45720" rIns="91440" bIns="45720" rtlCol="0" anchor="ctr">
              <a:noAutofit/>
            </a:bodyPr>
            <a:p>
              <a:pPr>
                <a:lnSpc>
                  <a:spcPct val="130000"/>
                </a:lnSpc>
              </a:pPr>
              <a:endParaRPr kumimoji="1" lang="en-US" altLang="zh-CN" sz="1000" dirty="0">
                <a:solidFill>
                  <a:srgbClr val="000000"/>
                </a:solidFill>
                <a:latin typeface="微软雅黑" panose="020B0503020204020204" charset="-122"/>
              </a:endParaRPr>
            </a:p>
          </p:txBody>
        </p:sp>
        <p:sp>
          <p:nvSpPr>
            <p:cNvPr id="28" name="Title"/>
            <p:cNvSpPr>
              <a:spLocks noChangeAspect="1"/>
            </p:cNvSpPr>
            <p:nvPr/>
          </p:nvSpPr>
          <p:spPr>
            <a:xfrm>
              <a:off x="522" y="3586"/>
              <a:ext cx="3056" cy="768"/>
            </a:xfrm>
            <a:prstGeom prst="roundRect">
              <a:avLst>
                <a:gd name="adj" fmla="val 0"/>
              </a:avLst>
            </a:prstGeom>
            <a:solidFill>
              <a:srgbClr val="00A6C7"/>
            </a:solidFill>
            <a:ln w="12700" cap="flat" cmpd="sng" algn="ctr">
              <a:noFill/>
              <a:prstDash val="solid"/>
              <a:miter lim="800000"/>
            </a:ln>
            <a:effectLst/>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kumimoji="1" lang="zh-CN" altLang="en-US" b="1" dirty="0">
                  <a:solidFill>
                    <a:srgbClr val="FFFFFF"/>
                  </a:solidFill>
                  <a:latin typeface="微软雅黑" panose="020B0503020204020204" charset="-122"/>
                  <a:ea typeface="微软雅黑" panose="020B0503020204020204" charset="-122"/>
                  <a:sym typeface="Arial" panose="020B0604020202020204" pitchFamily="34" charset="0"/>
                </a:rPr>
                <a:t>四种方式</a:t>
              </a:r>
              <a:endParaRPr kumimoji="1" lang="en-US" altLang="zh-CN" b="1" dirty="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29" name="文本框 28"/>
            <p:cNvSpPr txBox="1"/>
            <p:nvPr/>
          </p:nvSpPr>
          <p:spPr>
            <a:xfrm>
              <a:off x="814" y="5135"/>
              <a:ext cx="3576" cy="2337"/>
            </a:xfrm>
            <a:prstGeom prst="rect">
              <a:avLst/>
            </a:prstGeom>
            <a:noFill/>
          </p:spPr>
          <p:txBody>
            <a:bodyPr wrap="square">
              <a:noAutofit/>
            </a:bodyPr>
            <a:lstStyle/>
            <a:p>
              <a:pPr algn="ctr">
                <a:lnSpc>
                  <a:spcPct val="114000"/>
                </a:lnSpc>
              </a:pPr>
              <a:r>
                <a:rPr lang="zh-CN" altLang="en-US" sz="2400" b="1" dirty="0">
                  <a:solidFill>
                    <a:srgbClr val="00A4C5"/>
                  </a:solidFill>
                  <a:latin typeface="微软雅黑" panose="020B0503020204020204" charset="-122"/>
                </a:rPr>
                <a:t>直接使用</a:t>
              </a:r>
              <a:endParaRPr lang="zh-CN" altLang="en-US" b="1" dirty="0">
                <a:solidFill>
                  <a:srgbClr val="00A4C5"/>
                </a:solidFill>
                <a:latin typeface="微软雅黑" panose="020B0503020204020204" charset="-122"/>
              </a:endParaRPr>
            </a:p>
            <a:p>
              <a:pPr algn="ctr">
                <a:lnSpc>
                  <a:spcPct val="114000"/>
                </a:lnSpc>
              </a:pPr>
              <a:endParaRPr lang="zh-CN" altLang="en-US" sz="1600" dirty="0">
                <a:latin typeface="微软雅黑" panose="020B0503020204020204" charset="-122"/>
              </a:endParaRPr>
            </a:p>
            <a:p>
              <a:pPr algn="ctr">
                <a:lnSpc>
                  <a:spcPct val="114000"/>
                </a:lnSpc>
              </a:pPr>
              <a:r>
                <a:rPr lang="en-US" altLang="zh-CN" sz="1600" dirty="0">
                  <a:latin typeface="微软雅黑" panose="020B0503020204020204" charset="-122"/>
                </a:rPr>
                <a:t>“</a:t>
              </a:r>
              <a:r>
                <a:rPr lang="zh-CN" altLang="en-US" sz="1600" dirty="0">
                  <a:latin typeface="微软雅黑" panose="020B0503020204020204" charset="-122"/>
                </a:rPr>
                <a:t>一张图</a:t>
              </a:r>
              <a:r>
                <a:rPr lang="en-US" altLang="zh-CN" sz="1600" dirty="0">
                  <a:latin typeface="微软雅黑" panose="020B0503020204020204" charset="-122"/>
                </a:rPr>
                <a:t>”</a:t>
              </a:r>
              <a:r>
                <a:rPr lang="zh-CN" altLang="en-US" sz="1600" dirty="0">
                  <a:latin typeface="微软雅黑" panose="020B0503020204020204" charset="-122"/>
                </a:rPr>
                <a:t>的</a:t>
              </a:r>
              <a:r>
                <a:rPr lang="en-US" altLang="zh-CN" sz="1600" dirty="0">
                  <a:latin typeface="微软雅黑" panose="020B0503020204020204" charset="-122"/>
                </a:rPr>
                <a:t>AI</a:t>
              </a:r>
              <a:r>
                <a:rPr lang="zh-CN" altLang="en-US" sz="1600" dirty="0">
                  <a:latin typeface="微软雅黑" panose="020B0503020204020204" charset="-122"/>
                </a:rPr>
                <a:t>助手、综合场景驾驶舱</a:t>
              </a:r>
              <a:endParaRPr lang="zh-CN" altLang="en-US" sz="1600" dirty="0">
                <a:latin typeface="微软雅黑" panose="020B0503020204020204" charset="-122"/>
              </a:endParaRPr>
            </a:p>
            <a:p>
              <a:pPr algn="ctr">
                <a:lnSpc>
                  <a:spcPct val="114000"/>
                </a:lnSpc>
              </a:pPr>
              <a:r>
                <a:rPr lang="zh-CN" altLang="en-US" sz="1200" dirty="0">
                  <a:solidFill>
                    <a:schemeClr val="tx1">
                      <a:lumMod val="50000"/>
                      <a:lumOff val="50000"/>
                    </a:schemeClr>
                  </a:solidFill>
                  <a:latin typeface="微软雅黑" panose="020B0503020204020204" charset="-122"/>
                </a:rPr>
                <a:t>（三级治理中心）</a:t>
              </a:r>
              <a:endParaRPr lang="zh-CN" altLang="en-US" sz="1200" dirty="0">
                <a:solidFill>
                  <a:schemeClr val="tx1">
                    <a:lumMod val="50000"/>
                    <a:lumOff val="50000"/>
                  </a:schemeClr>
                </a:solidFill>
                <a:latin typeface="微软雅黑" panose="020B0503020204020204" charset="-122"/>
              </a:endParaRPr>
            </a:p>
          </p:txBody>
        </p:sp>
        <p:sp>
          <p:nvSpPr>
            <p:cNvPr id="30" name="îśḻíḋé"/>
            <p:cNvSpPr/>
            <p:nvPr/>
          </p:nvSpPr>
          <p:spPr>
            <a:xfrm>
              <a:off x="5016" y="4744"/>
              <a:ext cx="3576" cy="3279"/>
            </a:xfrm>
            <a:prstGeom prst="roundRect">
              <a:avLst>
                <a:gd name="adj" fmla="val 0"/>
              </a:avLst>
            </a:prstGeom>
            <a:solidFill>
              <a:srgbClr val="00A4C5">
                <a:alpha val="15000"/>
              </a:srgbClr>
            </a:solidFill>
            <a:ln w="6055" cap="flat">
              <a:noFill/>
              <a:prstDash val="solid"/>
              <a:miter/>
            </a:ln>
          </p:spPr>
          <p:txBody>
            <a:bodyPr wrap="square" lIns="91440" tIns="45720" rIns="91440" bIns="45720" rtlCol="0" anchor="ctr">
              <a:noAutofit/>
            </a:bodyPr>
            <a:p>
              <a:pPr>
                <a:lnSpc>
                  <a:spcPct val="130000"/>
                </a:lnSpc>
              </a:pPr>
              <a:endParaRPr kumimoji="1" lang="en-US" altLang="zh-CN" sz="1000" dirty="0">
                <a:solidFill>
                  <a:srgbClr val="000000"/>
                </a:solidFill>
                <a:latin typeface="微软雅黑" panose="020B0503020204020204" charset="-122"/>
              </a:endParaRPr>
            </a:p>
          </p:txBody>
        </p:sp>
        <p:sp>
          <p:nvSpPr>
            <p:cNvPr id="31" name="文本框 30"/>
            <p:cNvSpPr txBox="1"/>
            <p:nvPr/>
          </p:nvSpPr>
          <p:spPr>
            <a:xfrm>
              <a:off x="5016" y="5135"/>
              <a:ext cx="3576" cy="2337"/>
            </a:xfrm>
            <a:prstGeom prst="rect">
              <a:avLst/>
            </a:prstGeom>
            <a:noFill/>
          </p:spPr>
          <p:txBody>
            <a:bodyPr wrap="square">
              <a:noAutofit/>
            </a:bodyPr>
            <a:p>
              <a:pPr algn="ctr">
                <a:lnSpc>
                  <a:spcPct val="114000"/>
                </a:lnSpc>
              </a:pPr>
              <a:r>
                <a:rPr lang="zh-CN" altLang="en-US" sz="2400" b="1" dirty="0">
                  <a:solidFill>
                    <a:srgbClr val="00A4C5"/>
                  </a:solidFill>
                  <a:latin typeface="微软雅黑" panose="020B0503020204020204" charset="-122"/>
                </a:rPr>
                <a:t>智能体配置</a:t>
              </a:r>
              <a:endParaRPr lang="zh-CN" altLang="en-US" sz="1600" dirty="0">
                <a:latin typeface="微软雅黑" panose="020B0503020204020204" charset="-122"/>
              </a:endParaRPr>
            </a:p>
            <a:p>
              <a:pPr algn="ctr">
                <a:lnSpc>
                  <a:spcPct val="114000"/>
                </a:lnSpc>
              </a:pPr>
              <a:endParaRPr lang="en-US" sz="1600" dirty="0">
                <a:latin typeface="微软雅黑" panose="020B0503020204020204" charset="-122"/>
              </a:endParaRPr>
            </a:p>
            <a:p>
              <a:pPr algn="ctr">
                <a:lnSpc>
                  <a:spcPct val="114000"/>
                </a:lnSpc>
              </a:pPr>
              <a:r>
                <a:rPr lang="en-US" sz="1600" dirty="0">
                  <a:latin typeface="微软雅黑" panose="020B0503020204020204" charset="-122"/>
                </a:rPr>
                <a:t>8</a:t>
              </a:r>
              <a:r>
                <a:rPr lang="zh-CN" altLang="en-US" sz="1600" dirty="0">
                  <a:latin typeface="微软雅黑" panose="020B0503020204020204" charset="-122"/>
                </a:rPr>
                <a:t>个通用智能体组件</a:t>
              </a:r>
              <a:endParaRPr lang="zh-CN" altLang="en-US" sz="1600" dirty="0">
                <a:latin typeface="微软雅黑" panose="020B0503020204020204" charset="-122"/>
              </a:endParaRPr>
            </a:p>
          </p:txBody>
        </p:sp>
        <p:sp>
          <p:nvSpPr>
            <p:cNvPr id="32" name="îśḻíḋé"/>
            <p:cNvSpPr/>
            <p:nvPr/>
          </p:nvSpPr>
          <p:spPr>
            <a:xfrm>
              <a:off x="9332" y="4744"/>
              <a:ext cx="3576" cy="3279"/>
            </a:xfrm>
            <a:prstGeom prst="roundRect">
              <a:avLst>
                <a:gd name="adj" fmla="val 0"/>
              </a:avLst>
            </a:prstGeom>
            <a:solidFill>
              <a:srgbClr val="00A4C5">
                <a:alpha val="15000"/>
              </a:srgbClr>
            </a:solidFill>
            <a:ln w="6055" cap="flat">
              <a:noFill/>
              <a:prstDash val="solid"/>
              <a:miter/>
            </a:ln>
          </p:spPr>
          <p:txBody>
            <a:bodyPr wrap="square" lIns="91440" tIns="45720" rIns="91440" bIns="45720" rtlCol="0" anchor="ctr">
              <a:noAutofit/>
            </a:bodyPr>
            <a:p>
              <a:pPr>
                <a:lnSpc>
                  <a:spcPct val="130000"/>
                </a:lnSpc>
              </a:pPr>
              <a:endParaRPr kumimoji="1" lang="en-US" altLang="zh-CN" sz="1000" dirty="0">
                <a:solidFill>
                  <a:srgbClr val="000000"/>
                </a:solidFill>
                <a:latin typeface="微软雅黑" panose="020B0503020204020204" charset="-122"/>
              </a:endParaRPr>
            </a:p>
          </p:txBody>
        </p:sp>
        <p:sp>
          <p:nvSpPr>
            <p:cNvPr id="33" name="文本框 32"/>
            <p:cNvSpPr txBox="1"/>
            <p:nvPr/>
          </p:nvSpPr>
          <p:spPr>
            <a:xfrm>
              <a:off x="9332" y="5135"/>
              <a:ext cx="3576" cy="2337"/>
            </a:xfrm>
            <a:prstGeom prst="rect">
              <a:avLst/>
            </a:prstGeom>
            <a:noFill/>
          </p:spPr>
          <p:txBody>
            <a:bodyPr wrap="square">
              <a:noAutofit/>
            </a:bodyPr>
            <a:p>
              <a:pPr algn="ctr">
                <a:lnSpc>
                  <a:spcPct val="114000"/>
                </a:lnSpc>
              </a:pPr>
              <a:r>
                <a:rPr lang="zh-CN" altLang="en-US" sz="2400" b="1" dirty="0">
                  <a:solidFill>
                    <a:srgbClr val="00A4C5"/>
                  </a:solidFill>
                  <a:latin typeface="微软雅黑" panose="020B0503020204020204" charset="-122"/>
                </a:rPr>
                <a:t>智能体开发</a:t>
              </a:r>
              <a:endParaRPr lang="zh-CN" altLang="en-US" sz="1600" dirty="0">
                <a:latin typeface="微软雅黑" panose="020B0503020204020204" charset="-122"/>
              </a:endParaRPr>
            </a:p>
            <a:p>
              <a:pPr algn="ctr">
                <a:lnSpc>
                  <a:spcPct val="114000"/>
                </a:lnSpc>
              </a:pPr>
              <a:endParaRPr lang="en-US" sz="1600" dirty="0">
                <a:latin typeface="微软雅黑" panose="020B0503020204020204" charset="-122"/>
              </a:endParaRPr>
            </a:p>
            <a:p>
              <a:pPr algn="ctr">
                <a:lnSpc>
                  <a:spcPct val="114000"/>
                </a:lnSpc>
              </a:pPr>
              <a:r>
                <a:rPr lang="zh-CN" altLang="en-US" sz="1600" dirty="0">
                  <a:latin typeface="微软雅黑" panose="020B0503020204020204" charset="-122"/>
                </a:rPr>
                <a:t>智能体开发平台</a:t>
              </a:r>
              <a:endParaRPr lang="zh-CN" altLang="en-US" sz="1600" dirty="0">
                <a:latin typeface="微软雅黑" panose="020B0503020204020204" charset="-122"/>
              </a:endParaRPr>
            </a:p>
          </p:txBody>
        </p:sp>
        <p:sp>
          <p:nvSpPr>
            <p:cNvPr id="34" name="îśḻíḋé"/>
            <p:cNvSpPr/>
            <p:nvPr/>
          </p:nvSpPr>
          <p:spPr>
            <a:xfrm>
              <a:off x="13648" y="4744"/>
              <a:ext cx="3576" cy="3279"/>
            </a:xfrm>
            <a:prstGeom prst="roundRect">
              <a:avLst>
                <a:gd name="adj" fmla="val 0"/>
              </a:avLst>
            </a:prstGeom>
            <a:solidFill>
              <a:srgbClr val="00A4C5">
                <a:alpha val="15000"/>
              </a:srgbClr>
            </a:solidFill>
            <a:ln w="6055" cap="flat">
              <a:noFill/>
              <a:prstDash val="solid"/>
              <a:miter/>
            </a:ln>
          </p:spPr>
          <p:txBody>
            <a:bodyPr wrap="square" lIns="91440" tIns="45720" rIns="91440" bIns="45720" rtlCol="0" anchor="ctr">
              <a:noAutofit/>
            </a:bodyPr>
            <a:p>
              <a:pPr>
                <a:lnSpc>
                  <a:spcPct val="130000"/>
                </a:lnSpc>
              </a:pPr>
              <a:endParaRPr kumimoji="1" lang="en-US" altLang="zh-CN" sz="1000" dirty="0">
                <a:solidFill>
                  <a:srgbClr val="000000"/>
                </a:solidFill>
                <a:latin typeface="微软雅黑" panose="020B0503020204020204" charset="-122"/>
              </a:endParaRPr>
            </a:p>
          </p:txBody>
        </p:sp>
        <p:sp>
          <p:nvSpPr>
            <p:cNvPr id="35" name="文本框 34"/>
            <p:cNvSpPr txBox="1"/>
            <p:nvPr/>
          </p:nvSpPr>
          <p:spPr>
            <a:xfrm>
              <a:off x="13648" y="5135"/>
              <a:ext cx="3576" cy="2337"/>
            </a:xfrm>
            <a:prstGeom prst="rect">
              <a:avLst/>
            </a:prstGeom>
            <a:noFill/>
          </p:spPr>
          <p:txBody>
            <a:bodyPr wrap="square">
              <a:noAutofit/>
            </a:bodyPr>
            <a:p>
              <a:pPr algn="ctr">
                <a:lnSpc>
                  <a:spcPct val="114000"/>
                </a:lnSpc>
              </a:pPr>
              <a:r>
                <a:rPr lang="zh-CN" altLang="en-US" sz="2400" b="1" dirty="0">
                  <a:solidFill>
                    <a:srgbClr val="00A4C5"/>
                  </a:solidFill>
                  <a:latin typeface="微软雅黑" panose="020B0503020204020204" charset="-122"/>
                </a:rPr>
                <a:t>代码开发</a:t>
              </a:r>
              <a:endParaRPr lang="zh-CN" altLang="en-US" sz="1600" dirty="0">
                <a:latin typeface="微软雅黑" panose="020B0503020204020204" charset="-122"/>
              </a:endParaRPr>
            </a:p>
            <a:p>
              <a:pPr algn="ctr">
                <a:lnSpc>
                  <a:spcPct val="114000"/>
                </a:lnSpc>
              </a:pPr>
              <a:endParaRPr lang="en-US" sz="1600" dirty="0">
                <a:latin typeface="微软雅黑" panose="020B0503020204020204" charset="-122"/>
              </a:endParaRPr>
            </a:p>
            <a:p>
              <a:pPr algn="ctr">
                <a:lnSpc>
                  <a:spcPct val="114000"/>
                </a:lnSpc>
              </a:pPr>
              <a:r>
                <a:rPr lang="zh-CN" altLang="en-US" sz="1600" dirty="0">
                  <a:latin typeface="微软雅黑" panose="020B0503020204020204" charset="-122"/>
                </a:rPr>
                <a:t>提供模型和算力</a:t>
              </a:r>
              <a:endParaRPr lang="zh-CN" altLang="en-US" sz="1600" dirty="0">
                <a:latin typeface="微软雅黑" panose="020B0503020204020204" charset="-122"/>
              </a:endParaRPr>
            </a:p>
          </p:txBody>
        </p:sp>
        <p:sp>
          <p:nvSpPr>
            <p:cNvPr id="36" name="右箭头 35"/>
            <p:cNvSpPr/>
            <p:nvPr/>
          </p:nvSpPr>
          <p:spPr>
            <a:xfrm>
              <a:off x="3984" y="9173"/>
              <a:ext cx="10904" cy="178"/>
            </a:xfrm>
            <a:prstGeom prst="rightArrow">
              <a:avLst/>
            </a:prstGeom>
            <a:solidFill>
              <a:srgbClr val="00A4C5"/>
            </a:solidFill>
            <a:ln w="12700" cap="flat" cmpd="sng" algn="ctr">
              <a:solidFill>
                <a:srgbClr val="00A4C5">
                  <a:lumMod val="75000"/>
                </a:srgbClr>
              </a:solidFill>
              <a:prstDash val="solid"/>
              <a:miter lim="800000"/>
            </a:ln>
            <a:effectLst/>
          </p:spPr>
          <p:txBody>
            <a:bodyPr rtlCol="0" anchor="ctr"/>
            <a:p>
              <a:pPr algn="ctr"/>
              <a:endParaRPr lang="zh-CN" altLang="en-US">
                <a:solidFill>
                  <a:srgbClr val="FFFFFF"/>
                </a:solidFill>
                <a:latin typeface="微软雅黑" panose="020B0503020204020204" charset="-122"/>
                <a:ea typeface="微软雅黑" panose="020B0503020204020204" charset="-122"/>
              </a:endParaRPr>
            </a:p>
          </p:txBody>
        </p:sp>
        <p:sp>
          <p:nvSpPr>
            <p:cNvPr id="37" name="文本框 36"/>
            <p:cNvSpPr txBox="1"/>
            <p:nvPr/>
          </p:nvSpPr>
          <p:spPr>
            <a:xfrm>
              <a:off x="8446" y="9547"/>
              <a:ext cx="2690" cy="597"/>
            </a:xfrm>
            <a:prstGeom prst="rect">
              <a:avLst/>
            </a:prstGeom>
            <a:noFill/>
          </p:spPr>
          <p:txBody>
            <a:bodyPr wrap="square" rtlCol="0">
              <a:noAutofit/>
            </a:bodyPr>
            <a:p>
              <a:pPr algn="ctr"/>
              <a:r>
                <a:rPr lang="zh-CN" altLang="en-US" sz="2000" b="1">
                  <a:solidFill>
                    <a:srgbClr val="00A4C5"/>
                  </a:solidFill>
                </a:rPr>
                <a:t>由易到难</a:t>
              </a:r>
              <a:endParaRPr lang="zh-CN" altLang="en-US" sz="2000" b="1">
                <a:solidFill>
                  <a:srgbClr val="00A4C5"/>
                </a:solidFill>
              </a:endParaRPr>
            </a:p>
          </p:txBody>
        </p:sp>
        <p:sp>
          <p:nvSpPr>
            <p:cNvPr id="38" name="文本框 37"/>
            <p:cNvSpPr txBox="1"/>
            <p:nvPr/>
          </p:nvSpPr>
          <p:spPr>
            <a:xfrm>
              <a:off x="814" y="8413"/>
              <a:ext cx="2981" cy="434"/>
            </a:xfrm>
            <a:prstGeom prst="rect">
              <a:avLst/>
            </a:prstGeom>
            <a:noFill/>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开发周期：</a:t>
              </a:r>
              <a:r>
                <a:rPr lang="en-US" altLang="zh-CN" sz="1200">
                  <a:latin typeface="微软雅黑" panose="020B0503020204020204" charset="-122"/>
                  <a:ea typeface="微软雅黑" panose="020B0503020204020204" charset="-122"/>
                  <a:cs typeface="微软雅黑" panose="020B0503020204020204" charset="-122"/>
                </a:rPr>
                <a:t>0</a:t>
              </a:r>
              <a:r>
                <a:rPr lang="zh-CN" altLang="en-US" sz="1200">
                  <a:latin typeface="微软雅黑" panose="020B0503020204020204" charset="-122"/>
                  <a:ea typeface="微软雅黑" panose="020B0503020204020204" charset="-122"/>
                  <a:cs typeface="微软雅黑" panose="020B0503020204020204" charset="-122"/>
                </a:rPr>
                <a:t>天</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nvSpPr>
          <p:spPr>
            <a:xfrm>
              <a:off x="5313" y="8413"/>
              <a:ext cx="2981" cy="434"/>
            </a:xfrm>
            <a:prstGeom prst="rect">
              <a:avLst/>
            </a:prstGeom>
            <a:noFill/>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开发周期：</a:t>
              </a:r>
              <a:r>
                <a:rPr lang="en-US" altLang="zh-CN" sz="1200">
                  <a:latin typeface="微软雅黑" panose="020B0503020204020204" charset="-122"/>
                  <a:ea typeface="微软雅黑" panose="020B0503020204020204" charset="-122"/>
                  <a:cs typeface="微软雅黑" panose="020B0503020204020204" charset="-122"/>
                </a:rPr>
                <a:t>1-5</a:t>
              </a:r>
              <a:r>
                <a:rPr lang="zh-CN" altLang="en-US" sz="1200">
                  <a:latin typeface="微软雅黑" panose="020B0503020204020204" charset="-122"/>
                  <a:ea typeface="微软雅黑" panose="020B0503020204020204" charset="-122"/>
                  <a:cs typeface="微软雅黑" panose="020B0503020204020204" charset="-122"/>
                </a:rPr>
                <a:t>天</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9629" y="8381"/>
              <a:ext cx="2981" cy="434"/>
            </a:xfrm>
            <a:prstGeom prst="rect">
              <a:avLst/>
            </a:prstGeom>
            <a:noFill/>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开发周期：</a:t>
              </a:r>
              <a:r>
                <a:rPr lang="en-US" altLang="zh-CN" sz="1200">
                  <a:latin typeface="微软雅黑" panose="020B0503020204020204" charset="-122"/>
                  <a:ea typeface="微软雅黑" panose="020B0503020204020204" charset="-122"/>
                  <a:cs typeface="微软雅黑" panose="020B0503020204020204" charset="-122"/>
                </a:rPr>
                <a:t>10-30</a:t>
              </a:r>
              <a:r>
                <a:rPr lang="zh-CN" altLang="en-US" sz="1200">
                  <a:latin typeface="微软雅黑" panose="020B0503020204020204" charset="-122"/>
                  <a:ea typeface="微软雅黑" panose="020B0503020204020204" charset="-122"/>
                  <a:cs typeface="微软雅黑" panose="020B0503020204020204" charset="-122"/>
                </a:rPr>
                <a:t>天</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14123" y="8381"/>
              <a:ext cx="2981" cy="434"/>
            </a:xfrm>
            <a:prstGeom prst="rect">
              <a:avLst/>
            </a:prstGeom>
            <a:noFill/>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开发周期：</a:t>
              </a:r>
              <a:r>
                <a:rPr lang="en-US" sz="1200">
                  <a:latin typeface="微软雅黑" panose="020B0503020204020204" charset="-122"/>
                  <a:ea typeface="微软雅黑" panose="020B0503020204020204" charset="-122"/>
                  <a:cs typeface="微软雅黑" panose="020B0503020204020204" charset="-122"/>
                </a:rPr>
                <a:t>3</a:t>
              </a:r>
              <a:r>
                <a:rPr lang="zh-CN" altLang="en-US" sz="1200">
                  <a:latin typeface="微软雅黑" panose="020B0503020204020204" charset="-122"/>
                  <a:ea typeface="微软雅黑" panose="020B0503020204020204" charset="-122"/>
                  <a:cs typeface="微软雅黑" panose="020B0503020204020204" charset="-122"/>
                </a:rPr>
                <a:t>个月以上</a:t>
              </a:r>
              <a:endParaRPr lang="zh-CN" altLang="en-US" sz="1200">
                <a:latin typeface="微软雅黑" panose="020B0503020204020204" charset="-122"/>
                <a:ea typeface="微软雅黑" panose="020B0503020204020204" charset="-122"/>
                <a:cs typeface="微软雅黑" panose="020B0503020204020204" charset="-122"/>
              </a:endParaRPr>
            </a:p>
          </p:txBody>
        </p:sp>
      </p:grpSp>
      <p:sp>
        <p:nvSpPr>
          <p:cNvPr id="3" name="Title"/>
          <p:cNvSpPr>
            <a:spLocks noChangeAspect="1"/>
          </p:cNvSpPr>
          <p:nvPr>
            <p:custDataLst>
              <p:tags r:id="rId2"/>
            </p:custDataLst>
          </p:nvPr>
        </p:nvSpPr>
        <p:spPr>
          <a:xfrm>
            <a:off x="39497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1.</a:t>
            </a:r>
            <a:r>
              <a:rPr kumimoji="1" lang="en-US" altLang="zh-CN" sz="1200" b="1" dirty="0">
                <a:solidFill>
                  <a:schemeClr val="bg1">
                    <a:lumMod val="50000"/>
                  </a:schemeClr>
                </a:solidFill>
                <a:latin typeface="+mn-ea"/>
                <a:sym typeface="Arial" panose="020B0604020202020204" pitchFamily="34" charset="0"/>
              </a:rPr>
              <a:t>规划</a:t>
            </a:r>
            <a:r>
              <a:rPr kumimoji="1" lang="en-US" altLang="zh-CN" sz="1200" b="1" dirty="0">
                <a:solidFill>
                  <a:schemeClr val="bg1">
                    <a:lumMod val="50000"/>
                  </a:schemeClr>
                </a:solidFill>
                <a:latin typeface="+mn-ea"/>
                <a:sym typeface="Arial" panose="020B0604020202020204" pitchFamily="34" charset="0"/>
              </a:rPr>
              <a:t>AI+</a:t>
            </a:r>
            <a:r>
              <a:rPr kumimoji="1" lang="en-US" altLang="zh-CN" sz="1200" b="1" dirty="0">
                <a:solidFill>
                  <a:schemeClr val="bg1">
                    <a:lumMod val="50000"/>
                  </a:schemeClr>
                </a:solidFill>
                <a:latin typeface="+mn-ea"/>
                <a:sym typeface="Arial" panose="020B0604020202020204" pitchFamily="34" charset="0"/>
              </a:rPr>
              <a:t>场景</a:t>
            </a:r>
            <a:endParaRPr kumimoji="1" lang="en-US" altLang="zh-CN" sz="1200" b="1" dirty="0">
              <a:solidFill>
                <a:schemeClr val="bg1">
                  <a:lumMod val="50000"/>
                </a:schemeClr>
              </a:solidFill>
              <a:latin typeface="+mn-ea"/>
              <a:sym typeface="Arial" panose="020B0604020202020204" pitchFamily="34" charset="0"/>
            </a:endParaRPr>
          </a:p>
        </p:txBody>
      </p:sp>
      <p:sp>
        <p:nvSpPr>
          <p:cNvPr id="4" name="Title"/>
          <p:cNvSpPr>
            <a:spLocks noChangeAspect="1"/>
          </p:cNvSpPr>
          <p:nvPr>
            <p:custDataLst>
              <p:tags r:id="rId3"/>
            </p:custDataLst>
          </p:nvPr>
        </p:nvSpPr>
        <p:spPr>
          <a:xfrm>
            <a:off x="266636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2.数据准备</a:t>
            </a:r>
            <a:endParaRPr kumimoji="1" lang="en-US" altLang="zh-CN" sz="1200" b="1" dirty="0">
              <a:solidFill>
                <a:schemeClr val="bg1">
                  <a:lumMod val="50000"/>
                </a:schemeClr>
              </a:solidFill>
              <a:latin typeface="+mn-ea"/>
              <a:sym typeface="Arial" panose="020B0604020202020204" pitchFamily="34" charset="0"/>
            </a:endParaRPr>
          </a:p>
        </p:txBody>
      </p:sp>
      <p:sp>
        <p:nvSpPr>
          <p:cNvPr id="5" name="Title"/>
          <p:cNvSpPr>
            <a:spLocks noChangeAspect="1"/>
          </p:cNvSpPr>
          <p:nvPr>
            <p:custDataLst>
              <p:tags r:id="rId4"/>
            </p:custDataLst>
          </p:nvPr>
        </p:nvSpPr>
        <p:spPr>
          <a:xfrm>
            <a:off x="4937760"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wrap="square" lIns="91440" tIns="45720" rIns="91440" bIns="45720" rtlCol="0" anchor="ctr" anchorCtr="0">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200" b="1" dirty="0">
                <a:solidFill>
                  <a:schemeClr val="bg1">
                    <a:lumMod val="50000"/>
                  </a:schemeClr>
                </a:solidFill>
                <a:latin typeface="+mn-ea"/>
                <a:sym typeface="Arial" panose="020B0604020202020204" pitchFamily="34" charset="0"/>
              </a:rPr>
              <a:t>3.</a:t>
            </a:r>
            <a:r>
              <a:rPr kumimoji="1" lang="zh-CN" altLang="en-US" sz="1200" b="1" dirty="0">
                <a:solidFill>
                  <a:schemeClr val="bg1">
                    <a:lumMod val="50000"/>
                  </a:schemeClr>
                </a:solidFill>
                <a:latin typeface="+mn-ea"/>
                <a:sym typeface="Arial" panose="020B0604020202020204" pitchFamily="34" charset="0"/>
              </a:rPr>
              <a:t>模型选型</a:t>
            </a:r>
            <a:endParaRPr kumimoji="1" lang="zh-CN" altLang="en-US" sz="1200" b="1" dirty="0">
              <a:solidFill>
                <a:schemeClr val="bg1">
                  <a:lumMod val="50000"/>
                </a:schemeClr>
              </a:solidFill>
              <a:latin typeface="+mn-ea"/>
              <a:sym typeface="Arial" panose="020B0604020202020204" pitchFamily="34" charset="0"/>
            </a:endParaRPr>
          </a:p>
        </p:txBody>
      </p:sp>
      <p:sp>
        <p:nvSpPr>
          <p:cNvPr id="6" name="Title"/>
          <p:cNvSpPr>
            <a:spLocks noChangeAspect="1"/>
          </p:cNvSpPr>
          <p:nvPr>
            <p:custDataLst>
              <p:tags r:id="rId5"/>
            </p:custDataLst>
          </p:nvPr>
        </p:nvSpPr>
        <p:spPr>
          <a:xfrm>
            <a:off x="7209155" y="643890"/>
            <a:ext cx="2291080" cy="215900"/>
          </a:xfrm>
          <a:prstGeom prst="roundRect">
            <a:avLst>
              <a:gd name="adj" fmla="val 0"/>
            </a:avLst>
          </a:prstGeom>
          <a:solidFill>
            <a:schemeClr val="accent2"/>
          </a:solidFill>
          <a:ln>
            <a:solidFill>
              <a:schemeClr val="bg1"/>
            </a:solidFill>
          </a:ln>
        </p:spPr>
        <p:style>
          <a:lnRef idx="0">
            <a:srgbClr val="FFFFFF"/>
          </a:lnRef>
          <a:fillRef idx="1">
            <a:schemeClr val="accent1"/>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chemeClr val="bg1">
                    <a:lumMod val="50000"/>
                  </a:schemeClr>
                </a:solidFill>
                <a:latin typeface="+mn-ea"/>
                <a:sym typeface="Arial" panose="020B0604020202020204" pitchFamily="34" charset="0"/>
              </a:rPr>
              <a:t>4.</a:t>
            </a:r>
            <a:r>
              <a:rPr kumimoji="1" lang="en-US" altLang="zh-CN" sz="1200" b="1" dirty="0">
                <a:solidFill>
                  <a:schemeClr val="bg1">
                    <a:lumMod val="50000"/>
                  </a:schemeClr>
                </a:solidFill>
                <a:latin typeface="+mn-ea"/>
                <a:sym typeface="Arial" panose="020B0604020202020204" pitchFamily="34" charset="0"/>
              </a:rPr>
              <a:t>模型训练与微调</a:t>
            </a:r>
            <a:r>
              <a:rPr kumimoji="1" lang="en-US" altLang="zh-CN" sz="1200" b="1" dirty="0">
                <a:solidFill>
                  <a:schemeClr val="bg1">
                    <a:lumMod val="50000"/>
                  </a:schemeClr>
                </a:solidFill>
                <a:latin typeface="+mn-ea"/>
                <a:sym typeface="Arial" panose="020B0604020202020204" pitchFamily="34" charset="0"/>
              </a:rPr>
              <a:t>(</a:t>
            </a:r>
            <a:r>
              <a:rPr kumimoji="1" lang="en-US" altLang="zh-CN" sz="1200" b="1" dirty="0">
                <a:solidFill>
                  <a:schemeClr val="bg1">
                    <a:lumMod val="50000"/>
                  </a:schemeClr>
                </a:solidFill>
                <a:latin typeface="+mn-ea"/>
                <a:sym typeface="Arial" panose="020B0604020202020204" pitchFamily="34" charset="0"/>
              </a:rPr>
              <a:t>可选</a:t>
            </a:r>
            <a:r>
              <a:rPr kumimoji="1" lang="en-US" altLang="zh-CN" sz="1200" b="1" dirty="0">
                <a:solidFill>
                  <a:schemeClr val="bg1">
                    <a:lumMod val="50000"/>
                  </a:schemeClr>
                </a:solidFill>
                <a:latin typeface="+mn-ea"/>
                <a:sym typeface="Arial" panose="020B0604020202020204" pitchFamily="34" charset="0"/>
              </a:rPr>
              <a:t>)</a:t>
            </a:r>
            <a:endParaRPr kumimoji="1" lang="en-US" altLang="zh-CN" sz="1200" b="1" dirty="0">
              <a:solidFill>
                <a:schemeClr val="bg1">
                  <a:lumMod val="50000"/>
                </a:schemeClr>
              </a:solidFill>
              <a:latin typeface="+mn-ea"/>
              <a:sym typeface="Arial" panose="020B0604020202020204" pitchFamily="34" charset="0"/>
            </a:endParaRPr>
          </a:p>
        </p:txBody>
      </p:sp>
      <p:sp>
        <p:nvSpPr>
          <p:cNvPr id="7" name="Title"/>
          <p:cNvSpPr>
            <a:spLocks noChangeAspect="1"/>
          </p:cNvSpPr>
          <p:nvPr>
            <p:custDataLst>
              <p:tags r:id="rId6"/>
            </p:custDataLst>
          </p:nvPr>
        </p:nvSpPr>
        <p:spPr>
          <a:xfrm>
            <a:off x="9480550" y="643890"/>
            <a:ext cx="2291080" cy="215900"/>
          </a:xfrm>
          <a:prstGeom prst="roundRect">
            <a:avLst>
              <a:gd name="adj" fmla="val 0"/>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rmAutofit fontScale="6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kumimoji="1" lang="en-US" altLang="zh-CN" sz="1200" b="1" dirty="0">
                <a:solidFill>
                  <a:srgbClr val="FFFFFF"/>
                </a:solidFill>
                <a:latin typeface="+mn-ea"/>
                <a:sym typeface="Arial" panose="020B0604020202020204" pitchFamily="34" charset="0"/>
              </a:rPr>
              <a:t>5.</a:t>
            </a:r>
            <a:r>
              <a:rPr kumimoji="1" lang="en-US" altLang="zh-CN" sz="1200" b="1" dirty="0">
                <a:solidFill>
                  <a:srgbClr val="FFFFFF"/>
                </a:solidFill>
                <a:latin typeface="+mn-ea"/>
                <a:sym typeface="Arial" panose="020B0604020202020204" pitchFamily="34" charset="0"/>
              </a:rPr>
              <a:t>智能体开发与迭代</a:t>
            </a:r>
            <a:endParaRPr kumimoji="1" lang="en-US" altLang="zh-CN" sz="1200" b="1" dirty="0">
              <a:solidFill>
                <a:srgbClr val="FFFFFF"/>
              </a:solidFill>
              <a:latin typeface="+mn-ea"/>
              <a:sym typeface="Arial" panose="020B0604020202020204" pitchFamily="3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991611" y="2949870"/>
            <a:ext cx="4208780" cy="835025"/>
          </a:xfrm>
          <a:prstGeom prst="rect">
            <a:avLst/>
          </a:prstGeom>
          <a:noFill/>
        </p:spPr>
        <p:txBody>
          <a:bodyPr wrap="none" lIns="91440" tIns="45720" rIns="91440" bIns="45720">
            <a:spAutoFit/>
          </a:bodyPr>
          <a:lstStyle/>
          <a:p>
            <a:pPr algn="ctr">
              <a:lnSpc>
                <a:spcPts val="5800"/>
              </a:lnSpc>
              <a:defRPr/>
            </a:pPr>
            <a:r>
              <a:rPr lang="zh-CN" altLang="en-US" sz="6600" b="1" spc="600" dirty="0">
                <a:solidFill>
                  <a:srgbClr val="27ADCB"/>
                </a:solidFill>
                <a:latin typeface="微软雅黑" panose="020B0503020204020204" charset="-122"/>
                <a:ea typeface="微软雅黑" panose="020B0503020204020204" charset="-122"/>
                <a:sym typeface="Arial" panose="020B0604020202020204" pitchFamily="34" charset="0"/>
              </a:rPr>
              <a:t>谢谢聆听</a:t>
            </a:r>
            <a:r>
              <a:rPr lang="en-US" altLang="zh-CN" sz="6600" b="1" spc="600" dirty="0">
                <a:solidFill>
                  <a:srgbClr val="27ADCB"/>
                </a:solidFill>
                <a:latin typeface="微软雅黑" panose="020B0503020204020204" charset="-122"/>
                <a:ea typeface="微软雅黑" panose="020B0503020204020204" charset="-122"/>
                <a:sym typeface="Arial" panose="020B0604020202020204" pitchFamily="34" charset="0"/>
              </a:rPr>
              <a:t>！</a:t>
            </a:r>
            <a:endParaRPr lang="en-US" altLang="zh-CN" sz="6600" b="1" spc="600" dirty="0">
              <a:solidFill>
                <a:srgbClr val="27ADCB"/>
              </a:solidFill>
              <a:latin typeface="微软雅黑" panose="020B0503020204020204" charset="-122"/>
              <a:ea typeface="微软雅黑" panose="020B0503020204020204" charset="-122"/>
              <a:sym typeface="Arial" panose="020B0604020202020204" pitchFamily="34" charset="0"/>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LayoutZOrder" val="2"/>
  <p:tag name="KSO_WM_UNIT_ID" val="_1**"/>
  <p:tag name="KSO_WM_BEAUTIFY_FLAG" val="#wm#"/>
  <p:tag name="KSO_WM_TAG_VERSION" val="3.0"/>
  <p:tag name="KSO_WM_UNIT_LAYERLEVEL" val="1"/>
  <p:tag name="KSO_WM_TEMPLATE_CATEGORY" val="custom"/>
  <p:tag name="KSO_WM_TEMPLATE_USER_THEME" val="1"/>
</p:tagLst>
</file>

<file path=ppt/tags/tag2.xml><?xml version="1.0" encoding="utf-8"?>
<p:tagLst xmlns:p="http://schemas.openxmlformats.org/presentationml/2006/main">
  <p:tag name="LayoutZOrder" val="3"/>
  <p:tag name="KSO_WM_UNIT_ID" val="_1**"/>
  <p:tag name="KSO_WM_BEAUTIFY_FLAG" val="#wm#"/>
  <p:tag name="KSO_WM_TAG_VERSION" val="3.0"/>
  <p:tag name="KSO_WM_UNIT_LAYERLEVEL" val="1"/>
  <p:tag name="KSO_WM_TEMPLATE_CATEGORY" val="custom"/>
  <p:tag name="KSO_WM_TEMPLATE_USER_THEME" val="1"/>
</p:tagLst>
</file>

<file path=ppt/tags/tag3.xml><?xml version="1.0" encoding="utf-8"?>
<p:tagLst xmlns:p="http://schemas.openxmlformats.org/presentationml/2006/main">
  <p:tag name="LayoutZOrder" val="2"/>
  <p:tag name="KSO_WM_UNIT_ID" val="_1**"/>
  <p:tag name="KSO_WM_BEAUTIFY_FLAG" val="#wm#"/>
  <p:tag name="KSO_WM_TAG_VERSION" val="3.0"/>
  <p:tag name="KSO_WM_UNIT_LAYERLEVEL" val="1"/>
  <p:tag name="KSO_WM_TEMPLATE_CATEGORY" val="custom"/>
  <p:tag name="KSO_WM_TEMPLATE_USER_THEME" val="1"/>
</p:tagLst>
</file>

<file path=ppt/tags/tag4.xml><?xml version="1.0" encoding="utf-8"?>
<p:tagLst xmlns:p="http://schemas.openxmlformats.org/presentationml/2006/main">
  <p:tag name="KSO_WM_UNIT_TYPE" val="f"/>
  <p:tag name="KSO_WM_UNIT_INDEX" val="1"/>
  <p:tag name="KSO_WM_UNIT_ID" val="_2*f*1"/>
  <p:tag name="KSO_WM_BEAUTIFY_FLAG" val="#wm#"/>
  <p:tag name="KSO_WM_TAG_VERSION" val="3.0"/>
  <p:tag name="KSO_WM_UNIT_LAYERLEVEL" val="1"/>
  <p:tag name="KSO_WM_TEMPLATE_CATEGORY" val="custom"/>
  <p:tag name="KSO_WM_TEMPLATE_USER_THEME" val="1"/>
</p:tagLst>
</file>

<file path=ppt/tags/tag5.xml><?xml version="1.0" encoding="utf-8"?>
<p:tagLst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6.xml><?xml version="1.0" encoding="utf-8"?>
<p:tagLst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7.xml><?xml version="1.0" encoding="utf-8"?>
<p:tagLst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8.xml><?xml version="1.0" encoding="utf-8"?>
<p:tagLst xmlns:p="http://schemas.openxmlformats.org/presentationml/2006/main">
  <p:tag name="KSO_WM_UNIT_TYPE" val="a"/>
  <p:tag name="KSO_WM_UNIT_INDEX" val="1"/>
  <p:tag name="KSO_WM_UNIT_ID" val="_2*a*1"/>
  <p:tag name="KSO_WM_BEAUTIFY_FLAG" val="#wm#"/>
  <p:tag name="KSO_WM_TAG_VERSION" val="3.0"/>
  <p:tag name="KSO_WM_UNIT_LAYERLEVEL" val="1"/>
  <p:tag name="KSO_WM_TEMPLATE_CATEGORY" val="custom"/>
  <p:tag name="KSO_WM_TEMPLATE_USER_THEME" val="1"/>
</p:tagLst>
</file>

<file path=ppt/tags/tag9.xml><?xml version="1.0" encoding="utf-8"?>
<p:tagLst xmlns:p="http://schemas.openxmlformats.org/presentationml/2006/main">
  <p:tag name="LayoutZOrder" val="1"/>
  <p:tag name="KSO_WM_UNIT_ID" val="_3**"/>
  <p:tag name="KSO_WM_BEAUTIFY_FLAG" val="#wm#"/>
  <p:tag name="KSO_WM_TAG_VERSION" val="3.0"/>
  <p:tag name="KSO_WM_UNIT_LAYERLEVEL" val="1"/>
  <p:tag name="KSO_WM_TEMPLATE_CATEGORY" val="custom"/>
  <p:tag name="KSO_WM_TEMPLATE_USER_THEME" val="1"/>
</p:tagLst>
</file>

<file path=ppt/tags/tag10.xml><?xml version="1.0" encoding="utf-8"?>
<p:tagLst xmlns:p="http://schemas.openxmlformats.org/presentationml/2006/main">
  <p:tag name="LayoutZOrder" val="2"/>
  <p:tag name="KSO_WM_UNIT_ID" val="_3**"/>
  <p:tag name="KSO_WM_BEAUTIFY_FLAG" val="#wm#"/>
  <p:tag name="KSO_WM_TAG_VERSION" val="3.0"/>
  <p:tag name="KSO_WM_UNIT_LAYERLEVEL" val="1"/>
  <p:tag name="KSO_WM_TEMPLATE_CATEGORY" val="custom"/>
  <p:tag name="KSO_WM_TEMPLATE_USER_THEME" val="1"/>
</p:tagLst>
</file>

<file path=ppt/tags/tag11.xml><?xml version="1.0" encoding="utf-8"?>
<p:tagLst xmlns:p="http://schemas.openxmlformats.org/presentationml/2006/main">
  <p:tag name="LayoutZOrder" val="3"/>
  <p:tag name="KSO_WM_UNIT_ID" val="_3**"/>
  <p:tag name="KSO_WM_BEAUTIFY_FLAG" val="#wm#"/>
  <p:tag name="KSO_WM_TAG_VERSION" val="3.0"/>
  <p:tag name="KSO_WM_UNIT_LAYERLEVEL" val="1"/>
  <p:tag name="KSO_WM_TEMPLATE_CATEGORY" val="custom"/>
  <p:tag name="KSO_WM_TEMPLATE_USER_THEME"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16.xml><?xml version="1.0" encoding="utf-8"?>
<p:tagLst xmlns:p="http://schemas.openxmlformats.org/presentationml/2006/main">
  <p:tag name="LayoutZOrder" val="1"/>
  <p:tag name="KSO_WM_UNIT_ID" val="_4**"/>
  <p:tag name="KSO_WM_BEAUTIFY_FLAG" val="#wm#"/>
  <p:tag name="KSO_WM_TAG_VERSION" val="3.0"/>
  <p:tag name="KSO_WM_UNIT_LAYERLEVEL" val="1"/>
  <p:tag name="KSO_WM_TEMPLATE_CATEGORY" val="custom"/>
  <p:tag name="KSO_WM_TEMPLATE_USER_THEME" val="1"/>
</p:tagLst>
</file>

<file path=ppt/tags/tag17.xml><?xml version="1.0" encoding="utf-8"?>
<p:tagLst xmlns:p="http://schemas.openxmlformats.org/presentationml/2006/main">
  <p:tag name="LayoutZOrder" val="2"/>
  <p:tag name="KSO_WM_UNIT_ID" val="_4**"/>
  <p:tag name="KSO_WM_BEAUTIFY_FLAG" val="#wm#"/>
  <p:tag name="KSO_WM_TAG_VERSION" val="3.0"/>
  <p:tag name="KSO_WM_UNIT_LAYERLEVEL" val="1"/>
  <p:tag name="KSO_WM_TEMPLATE_CATEGORY" val="custom"/>
  <p:tag name="KSO_WM_TEMPLATE_USER_THEME" val="1"/>
</p:tagLst>
</file>

<file path=ppt/tags/tag18.xml><?xml version="1.0" encoding="utf-8"?>
<p:tagLst xmlns:p="http://schemas.openxmlformats.org/presentationml/2006/main">
  <p:tag name="LayoutZOrder" val="3"/>
  <p:tag name="KSO_WM_UNIT_ID" val="_4**"/>
  <p:tag name="KSO_WM_BEAUTIFY_FLAG" val="#wm#"/>
  <p:tag name="KSO_WM_TAG_VERSION" val="3.0"/>
  <p:tag name="KSO_WM_UNIT_LAYERLEVEL" val="1"/>
  <p:tag name="KSO_WM_TEMPLATE_CATEGORY" val="custom"/>
  <p:tag name="KSO_WM_TEMPLATE_USER_THEME"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22.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 name="KSO_WM_TEMPLATE_CATEGORY" val="custom"/>
  <p:tag name="KSO_WM_TEMPLATE_USER_THEME"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PRESET_TEXT" val="单击此处编辑副标题"/>
  <p:tag name="KSO_WM_UNIT_NOCLEAR" val="0"/>
  <p:tag name="KSO_WM_UNIT_TYPE" val="b"/>
  <p:tag name="KSO_WM_UNIT_INDEX" val="1"/>
  <p:tag name="KSO_WM_UNIT_ISCONTENTSTITLE" val="0"/>
  <p:tag name="KSO_WM_UNIT_ISNUMDGMTITLE" val="0"/>
  <p:tag name="KSO_WM_TEMPLATE_CATEGORY" val="custom"/>
  <p:tag name="KSO_WM_TEMPLATE_USER_THEME"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 name="KSO_WM_TEMPLATE_CATEGORY" val="custom"/>
  <p:tag name="KSO_WM_TEMPLATE_USER_THEME" val="1"/>
</p:tagLst>
</file>

<file path=ppt/tags/tag25.xml><?xml version="1.0" encoding="utf-8"?>
<p:tagLst xmlns:p="http://schemas.openxmlformats.org/presentationml/2006/main">
  <p:tag name="KSO_WM_UNIT_TYPE" val="f"/>
  <p:tag name="KSO_WM_UNIT_INDEX" val="1"/>
  <p:tag name="KSO_WM_UNIT_ID" val="_5*f*1"/>
  <p:tag name="KSO_WM_BEAUTIFY_FLAG" val="#wm#"/>
  <p:tag name="KSO_WM_TAG_VERSION" val="3.0"/>
  <p:tag name="KSO_WM_UNIT_LAYERLEVEL" val="1"/>
  <p:tag name="KSO_WM_TEMPLATE_CATEGORY" val="custom"/>
  <p:tag name="KSO_WM_TEMPLATE_USER_THEME" val="1"/>
</p:tagLst>
</file>

<file path=ppt/tags/tag26.xml><?xml version="1.0" encoding="utf-8"?>
<p:tagLst xmlns:p="http://schemas.openxmlformats.org/presentationml/2006/main">
  <p:tag name="KSO_WM_UNIT_TYPE" val="f"/>
  <p:tag name="KSO_WM_UNIT_INDEX" val="2"/>
  <p:tag name="KSO_WM_UNIT_ID" val="_5*f*2"/>
  <p:tag name="KSO_WM_BEAUTIFY_FLAG" val="#wm#"/>
  <p:tag name="KSO_WM_TAG_VERSION" val="3.0"/>
  <p:tag name="KSO_WM_UNIT_LAYERLEVEL" val="1"/>
  <p:tag name="KSO_WM_TEMPLATE_CATEGORY" val="custom"/>
  <p:tag name="KSO_WM_TEMPLATE_USER_THEME" val="1"/>
</p:tagLst>
</file>

<file path=ppt/tags/tag27.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28.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29.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30.xml><?xml version="1.0" encoding="utf-8"?>
<p:tagLst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Lst>
</file>

<file path=ppt/tags/tag31.xml><?xml version="1.0" encoding="utf-8"?>
<p:tagLst xmlns:p="http://schemas.openxmlformats.org/presentationml/2006/main">
  <p:tag name="KSO_WM_UNIT_TYPE" val="f"/>
  <p:tag name="KSO_WM_UNIT_INDEX" val="1"/>
  <p:tag name="KSO_WM_UNIT_ID" val="_6*f*1"/>
  <p:tag name="KSO_WM_BEAUTIFY_FLAG" val="#wm#"/>
  <p:tag name="KSO_WM_TAG_VERSION" val="3.0"/>
  <p:tag name="KSO_WM_UNIT_LAYERLEVEL" val="1"/>
  <p:tag name="KSO_WM_TEMPLATE_CATEGORY" val="custom"/>
  <p:tag name="KSO_WM_TEMPLATE_USER_THEME" val="1"/>
</p:tagLst>
</file>

<file path=ppt/tags/tag32.xml><?xml version="1.0" encoding="utf-8"?>
<p:tagLst xmlns:p="http://schemas.openxmlformats.org/presentationml/2006/main">
  <p:tag name="KSO_WM_UNIT_TYPE" val="f"/>
  <p:tag name="KSO_WM_UNIT_INDEX" val="2"/>
  <p:tag name="KSO_WM_UNIT_ID" val="_6*f*2"/>
  <p:tag name="KSO_WM_BEAUTIFY_FLAG" val="#wm#"/>
  <p:tag name="KSO_WM_TAG_VERSION" val="3.0"/>
  <p:tag name="KSO_WM_UNIT_LAYERLEVEL" val="1"/>
  <p:tag name="KSO_WM_TEMPLATE_CATEGORY" val="custom"/>
  <p:tag name="KSO_WM_TEMPLATE_USER_THEME" val="1"/>
</p:tagLst>
</file>

<file path=ppt/tags/tag33.xml><?xml version="1.0" encoding="utf-8"?>
<p:tagLst xmlns:p="http://schemas.openxmlformats.org/presentationml/2006/main">
  <p:tag name="KSO_WM_UNIT_TYPE" val="f"/>
  <p:tag name="KSO_WM_UNIT_INDEX" val="3"/>
  <p:tag name="KSO_WM_UNIT_ID" val="_6*f*3"/>
  <p:tag name="KSO_WM_BEAUTIFY_FLAG" val="#wm#"/>
  <p:tag name="KSO_WM_TAG_VERSION" val="3.0"/>
  <p:tag name="KSO_WM_UNIT_LAYERLEVEL" val="1"/>
  <p:tag name="KSO_WM_TEMPLATE_CATEGORY" val="custom"/>
  <p:tag name="KSO_WM_TEMPLATE_USER_THEME" val="1"/>
</p:tagLst>
</file>

<file path=ppt/tags/tag34.xml><?xml version="1.0" encoding="utf-8"?>
<p:tagLst xmlns:p="http://schemas.openxmlformats.org/presentationml/2006/main">
  <p:tag name="KSO_WM_UNIT_TYPE" val="f"/>
  <p:tag name="KSO_WM_UNIT_INDEX" val="4"/>
  <p:tag name="KSO_WM_UNIT_ID" val="_6*f*4"/>
  <p:tag name="KSO_WM_BEAUTIFY_FLAG" val="#wm#"/>
  <p:tag name="KSO_WM_TAG_VERSION" val="3.0"/>
  <p:tag name="KSO_WM_UNIT_LAYERLEVEL" val="1"/>
  <p:tag name="KSO_WM_TEMPLATE_CATEGORY" val="custom"/>
  <p:tag name="KSO_WM_TEMPLATE_USER_THEME" val="1"/>
</p:tagLst>
</file>

<file path=ppt/tags/tag35.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36.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37.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38.xml><?xml version="1.0" encoding="utf-8"?>
<p:tagLst xmlns:p="http://schemas.openxmlformats.org/presentationml/2006/main">
  <p:tag name="KSO_WM_UNIT_TYPE" val="a"/>
  <p:tag name="KSO_WM_UNIT_INDEX" val="1"/>
  <p:tag name="KSO_WM_UNIT_ID" val="_6*a*1"/>
  <p:tag name="KSO_WM_BEAUTIFY_FLAG" val="#wm#"/>
  <p:tag name="KSO_WM_TAG_VERSION" val="3.0"/>
  <p:tag name="KSO_WM_UNIT_LAYERLEVEL" val="1"/>
  <p:tag name="KSO_WM_TEMPLATE_CATEGORY" val="custom"/>
  <p:tag name="KSO_WM_TEMPLATE_USER_THEME" val="1"/>
</p:tagLst>
</file>

<file path=ppt/tags/tag39.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40.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41.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42.xml><?xml version="1.0" encoding="utf-8"?>
<p:tagLst xmlns:p="http://schemas.openxmlformats.org/presentationml/2006/main">
  <p:tag name="KSO_WM_UNIT_TYPE" val="a"/>
  <p:tag name="KSO_WM_UNIT_INDEX" val="1"/>
  <p:tag name="KSO_WM_UNIT_ID" val="_7*a*1"/>
  <p:tag name="KSO_WM_BEAUTIFY_FLAG" val="#wm#"/>
  <p:tag name="KSO_WM_TAG_VERSION" val="3.0"/>
  <p:tag name="KSO_WM_UNIT_LAYERLEVEL" val="1"/>
  <p:tag name="KSO_WM_TEMPLATE_CATEGORY" val="custom"/>
  <p:tag name="KSO_WM_TEMPLATE_USER_THEME" val="1"/>
</p:tagLst>
</file>

<file path=ppt/tags/tag43.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44.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45.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46.xml><?xml version="1.0" encoding="utf-8"?>
<p:tagLst xmlns:p="http://schemas.openxmlformats.org/presentationml/2006/main">
  <p:tag name="KSO_WM_UNIT_TYPE" val="f"/>
  <p:tag name="KSO_WM_UNIT_INDEX" val="1"/>
  <p:tag name="KSO_WM_UNIT_ID" val="_9*f*1"/>
  <p:tag name="KSO_WM_BEAUTIFY_FLAG" val="#wm#"/>
  <p:tag name="KSO_WM_TAG_VERSION" val="3.0"/>
  <p:tag name="KSO_WM_UNIT_LAYERLEVEL" val="1"/>
  <p:tag name="KSO_WM_TEMPLATE_CATEGORY" val="custom"/>
  <p:tag name="KSO_WM_TEMPLATE_USER_THEME" val="1"/>
</p:tagLst>
</file>

<file path=ppt/tags/tag47.xml><?xml version="1.0" encoding="utf-8"?>
<p:tagLst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48.xml><?xml version="1.0" encoding="utf-8"?>
<p:tagLst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49.xml><?xml version="1.0" encoding="utf-8"?>
<p:tagLst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50.xml><?xml version="1.0" encoding="utf-8"?>
<p:tagLst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51.xml><?xml version="1.0" encoding="utf-8"?>
<p:tagLst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52.xml><?xml version="1.0" encoding="utf-8"?>
<p:tagLst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53.xml><?xml version="1.0" encoding="utf-8"?>
<p:tagLst xmlns:p="http://schemas.openxmlformats.org/presentationml/2006/main">
  <p:tag name="KSO_WM_UNIT_TYPE" val="f"/>
  <p:tag name="KSO_WM_UNIT_INDEX" val="1"/>
  <p:tag name="KSO_WM_UNIT_ID" val="_10*f*1"/>
  <p:tag name="KSO_WM_BEAUTIFY_FLAG" val="#wm#"/>
  <p:tag name="KSO_WM_TAG_VERSION" val="3.0"/>
  <p:tag name="KSO_WM_UNIT_LAYERLEVEL" val="1"/>
  <p:tag name="KSO_WM_TEMPLATE_CATEGORY" val="custom"/>
  <p:tag name="KSO_WM_TEMPLATE_USER_THEME" val="1"/>
</p:tagLst>
</file>

<file path=ppt/tags/tag54.xml><?xml version="1.0" encoding="utf-8"?>
<p:tagLst xmlns:p="http://schemas.openxmlformats.org/presentationml/2006/main">
  <p:tag name="KSO_WM_UNIT_TYPE" val="a"/>
  <p:tag name="KSO_WM_UNIT_INDEX" val="1"/>
  <p:tag name="KSO_WM_UNIT_ID" val="_10*a*1"/>
  <p:tag name="KSO_WM_BEAUTIFY_FLAG" val="#wm#"/>
  <p:tag name="KSO_WM_TAG_VERSION" val="3.0"/>
  <p:tag name="KSO_WM_UNIT_LAYERLEVEL" val="1"/>
  <p:tag name="KSO_WM_TEMPLATE_CATEGORY" val="custom"/>
  <p:tag name="KSO_WM_TEMPLATE_USER_THEME" val="1"/>
</p:tagLst>
</file>

<file path=ppt/tags/tag55.xml><?xml version="1.0" encoding="utf-8"?>
<p:tagLst xmlns:p="http://schemas.openxmlformats.org/presentationml/2006/main">
  <p:tag name="LayoutZOrder" val="2"/>
  <p:tag name="KSO_WM_UNIT_ID" val="_11**"/>
  <p:tag name="KSO_WM_BEAUTIFY_FLAG" val="#wm#"/>
  <p:tag name="KSO_WM_TAG_VERSION" val="3.0"/>
  <p:tag name="KSO_WM_UNIT_LAYERLEVEL" val="1"/>
  <p:tag name="KSO_WM_TEMPLATE_CATEGORY" val="custom"/>
  <p:tag name="KSO_WM_TEMPLATE_USER_THEME" val="1"/>
</p:tagLst>
</file>

<file path=ppt/tags/tag56.xml><?xml version="1.0" encoding="utf-8"?>
<p:tagLst xmlns:p="http://schemas.openxmlformats.org/presentationml/2006/main">
  <p:tag name="LayoutZOrder" val="3"/>
  <p:tag name="KSO_WM_UNIT_ID" val="_11**"/>
  <p:tag name="KSO_WM_BEAUTIFY_FLAG" val="#wm#"/>
  <p:tag name="KSO_WM_TAG_VERSION" val="3.0"/>
  <p:tag name="KSO_WM_UNIT_LAYERLEVEL" val="1"/>
  <p:tag name="KSO_WM_TEMPLATE_CATEGORY" val="custom"/>
  <p:tag name="KSO_WM_TEMPLATE_USER_THEME"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 name="KSO_WM_TEMPLATE_CATEGORY" val="custom"/>
  <p:tag name="KSO_WM_TEMPLATE_USER_THEME"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 name="KSO_WM_TEMPLATE_CATEGORY" val="custom"/>
  <p:tag name="KSO_WM_TEMPLATE_USER_THEME" val="1"/>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fgm#"/>
  <p:tag name="KSO_WM_FIGMA_FLAG" val="#fgm#"/>
  <p:tag name="KSO_WM_UNIT_INDEX" val="1"/>
  <p:tag name="KSO_WM_UNIT_TYPE" val="a"/>
  <p:tag name="KSO_WM_LAYOUT_CHECK_HASH" val="a2c72cdb9e4a1945d504d66f80f40802efbed662"/>
  <p:tag name="KSO_WM_NEWLAYOUT_ID" val="10"/>
</p:tagLst>
</file>

<file path=ppt/tags/tag65.xml><?xml version="1.0" encoding="utf-8"?>
<p:tagLst xmlns:p="http://schemas.openxmlformats.org/presentationml/2006/main">
  <p:tag name="KSO_WM_BEAUTIFY_FLAG" val="#fgm#"/>
  <p:tag name="KSO_WM_FIGMA_FLAG" val="#fgm#"/>
  <p:tag name="KSO_WM_UNIT_INDEX" val="1"/>
  <p:tag name="KSO_WM_UNIT_TYPE" val="f"/>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68.xml><?xml version="1.0" encoding="utf-8"?>
<p:tagLst xmlns:p="http://schemas.openxmlformats.org/presentationml/2006/main">
  <p:tag name="KSO_WM_UNIT_FILL_FORE_SCHEMECOLOR_INDEX_BRIGHTNESS" val="-0.15"/>
  <p:tag name="KSO_WM_UNIT_FILL_FORE_SCHEMECOLOR_INDEX" val="14"/>
  <p:tag name="KSO_WM_UNIT_FILL_TYPE" val="1"/>
</p:tagLst>
</file>

<file path=ppt/tags/tag69.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70.xml><?xml version="1.0" encoding="utf-8"?>
<p:tagLst xmlns:p="http://schemas.openxmlformats.org/presentationml/2006/main">
  <p:tag name="KSO_WM_UNIT_FILL_FORE_SCHEMECOLOR_INDEX_BRIGHTNESS" val="-0.15"/>
  <p:tag name="KSO_WM_UNIT_FILL_FORE_SCHEMECOLOR_INDEX" val="14"/>
  <p:tag name="KSO_WM_UNIT_FILL_TYPE" val="1"/>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SLIDE_CONTENT_ORIENTATION" val=""/>
  <p:tag name="KSO_WM_SLIDE_HAS_MASK" val="0"/>
  <p:tag name="KSO_WM_SLIDE_ITEM_CNT" val="0"/>
  <p:tag name="KSO_WM_SLIDE_TYPE" val="text"/>
  <p:tag name="KSO_WM_TEMPLATE_SUBCATEGORY" val="29"/>
  <p:tag name="KSO_WM_BEAUTIFY_FLAG" val="#wm#"/>
  <p:tag name="KSO_WM_TEMPLATE_SLIDE_ID" val="slide_0e3763c640ea4c61"/>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1087_3*n_h_h_f*1_2_4_1"/>
  <p:tag name="KSO_WM_TEMPLATE_CATEGORY" val="diagram"/>
  <p:tag name="KSO_WM_TEMPLATE_INDEX" val="20231087"/>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UNIT_TEXT_TYPE"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9,9,9,9,9,9]}"/>
</p:tagLst>
</file>

<file path=ppt/tags/tag1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1087_3*n_h_h_f*1_2_3_1"/>
  <p:tag name="KSO_WM_TEMPLATE_CATEGORY" val="diagram"/>
  <p:tag name="KSO_WM_TEMPLATE_INDEX" val="20231087"/>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UNIT_TEXT_TYPE"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9,9,9,9,9,9]}"/>
</p:tagLst>
</file>

<file path=ppt/tags/tag12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087_3*n_h_h_f*1_2_2_1"/>
  <p:tag name="KSO_WM_TEMPLATE_CATEGORY" val="diagram"/>
  <p:tag name="KSO_WM_TEMPLATE_INDEX" val="20231087"/>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UNIT_TEXT_TYPE"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9,9,9,9,9,9]}"/>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2_1"/>
  <p:tag name="KSO_WM_TEMPLATE_CATEGORY" val="diagram"/>
  <p:tag name="KSO_WM_TEMPLATE_INDEX" val="20231087"/>
  <p:tag name="KSO_WM_UNIT_LAYERLEVEL" val="1_1_1"/>
  <p:tag name="KSO_WM_TAG_VERSION" val="3.0"/>
  <p:tag name="KSO_WM_DIAGRAM_GROUP_CODE" val="n1-1"/>
  <p:tag name="KSO_WM_UNIT_TYPE" val="n_h_i"/>
  <p:tag name="KSO_WM_UNIT_INDEX" val="1_2_1"/>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theme_color_indexes&quot;:[9,9,9,9,9,9]}"/>
</p:tagLst>
</file>

<file path=ppt/tags/tag1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087_3*n_h_h_f*1_2_1_1"/>
  <p:tag name="KSO_WM_TEMPLATE_CATEGORY" val="diagram"/>
  <p:tag name="KSO_WM_TEMPLATE_INDEX" val="20231087"/>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UNIT_TEXT_TYPE"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9,9,9,9,9,9]}"/>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31087_3*n_h_h_i*1_2_3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1087_3*n_h_h_i*1_2_2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087_3*n_h_h_i*1_2_1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1"/>
  <p:tag name="KSO_WM_UNIT_ID" val="diagram20231087_3*n_h_h_i*1_2_4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3*n_h_h_x*1_2_1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UNIT_VALUE" val="74*63"/>
  <p:tag name="KSO_WM_UNIT_TYPE" val="n_h_h_x"/>
  <p:tag name="KSO_WM_UNIT_INDEX" val="1_2_1_1"/>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2"/>
  <p:tag name="KSO_WM_UNIT_FILL_FORE_SCHEMECOLOR_INDEX_BRIGHTNESS" val="0"/>
  <p:tag name="MH_SHAPE_GUID" val="184"/>
  <p:tag name="KSO_WM_DIAGRAM_USE_COLOR_VALUE" val="{&quot;color_scheme&quot;:1,&quot;theme_color_indexes&quot;:[9,9,9,9,9,9]}"/>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3*n_h_h_x*1_2_3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UNIT_VALUE" val="64*64"/>
  <p:tag name="KSO_WM_UNIT_TYPE" val="n_h_h_x"/>
  <p:tag name="KSO_WM_UNIT_INDEX" val="1_2_3_1"/>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2"/>
  <p:tag name="KSO_WM_UNIT_FILL_FORE_SCHEMECOLOR_INDEX_BRIGHTNESS" val="0"/>
  <p:tag name="MH_SHAPE_GUID" val="186"/>
  <p:tag name="KSO_WM_DIAGRAM_USE_COLOR_VALUE" val="{&quot;color_scheme&quot;:1,&quot;theme_color_indexes&quot;:[9,9,9,9,9,9]}"/>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3*n_h_h_x*1_2_2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UNIT_VALUE" val="65*58"/>
  <p:tag name="KSO_WM_UNIT_TYPE" val="n_h_h_x"/>
  <p:tag name="KSO_WM_UNIT_INDEX" val="1_2_2_1"/>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2"/>
  <p:tag name="KSO_WM_UNIT_FILL_FORE_SCHEMECOLOR_INDEX_BRIGHTNESS" val="0"/>
  <p:tag name="MH_SHAPE_GUID" val="185"/>
  <p:tag name="KSO_WM_DIAGRAM_USE_COLOR_VALUE" val="{&quot;color_scheme&quot;:1,&quot;theme_color_indexes&quot;:[9,9,9,9,9,9]}"/>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3*n_h_h_x*1_2_4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UNIT_VALUE" val="60*51"/>
  <p:tag name="KSO_WM_UNIT_TYPE" val="n_h_h_x"/>
  <p:tag name="KSO_WM_UNIT_INDEX" val="1_2_4_1"/>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2"/>
  <p:tag name="KSO_WM_UNIT_FILL_FORE_SCHEMECOLOR_INDEX_BRIGHTNESS" val="0"/>
  <p:tag name="MH_SHAPE_GUID" val="187"/>
  <p:tag name="KSO_WM_DIAGRAM_USE_COLOR_VALUE" val="{&quot;color_scheme&quot;:1,&quot;theme_color_indexes&quot;:[9,9,9,9,9,9]}"/>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10"/>
  <p:tag name="KSO_WM_TEMPLATE_CATEGORY" val="diagram"/>
  <p:tag name="KSO_WM_TEMPLATE_INDEX" val="20231087"/>
  <p:tag name="KSO_WM_UNIT_LAYERLEVEL" val="1_1_1"/>
  <p:tag name="KSO_WM_TAG_VERSION" val="3.0"/>
  <p:tag name="KSO_WM_DIAGRAM_GROUP_CODE" val="n1-1"/>
  <p:tag name="KSO_WM_UNIT_TYPE" val="n_h_i"/>
  <p:tag name="KSO_WM_UNIT_INDEX" val="1_1_10"/>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4000000059604645,&quot;colorType&quot;:1,&quot;foreColorIndex&quot;:5,&quot;pos&quot;:0.03999999910593033,&quot;transparency&quot;:0},{&quot;brightness&quot;:-0.019999999552965164,&quot;colorType&quot;:1,&quot;foreColorIndex&quot;:14,&quot;pos&quot;:0.44999998807907104,&quot;transparency&quot;:0.75},{&quot;brightness&quot;:0.4000000059604645,&quot;colorType&quot;:1,&quot;foreColorIndex&quot;:5,&quot;pos&quot;:1,&quot;transparency&quot;:0}],&quot;type&quot;:3},&quot;glow&quot;:{&quot;colorType&quot;:0},&quot;line&quot;:{&quot;gradient&quot;:[{&quot;brightness&quot;:0,&quot;colorType&quot;:1,&quot;foreColorIndex&quot;:5,&quot;pos&quot;:0,&quot;transparency&quot;:1},{&quot;brightness&quot;:0,&quot;colorType&quot;:1,&quot;foreColorIndex&quot;:5,&quot;pos&quot;:0.7300000190734863,&quot;transparency&quot;:0.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11"/>
  <p:tag name="KSO_WM_TEMPLATE_CATEGORY" val="diagram"/>
  <p:tag name="KSO_WM_TEMPLATE_INDEX" val="20231087"/>
  <p:tag name="KSO_WM_UNIT_LAYERLEVEL" val="1_1_1"/>
  <p:tag name="KSO_WM_TAG_VERSION" val="3.0"/>
  <p:tag name="KSO_WM_DIAGRAM_GROUP_CODE" val="n1-1"/>
  <p:tag name="KSO_WM_UNIT_TYPE" val="n_h_i"/>
  <p:tag name="KSO_WM_UNIT_INDEX" val="1_1_11"/>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20000000298023224,&quot;transparency&quot;:0.5899999737739563},{&quot;brightness&quot;:0,&quot;colorType&quot;:1,&quot;foreColorIndex&quot;:5,&quot;pos&quot;:0,&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theme_color_indexes&quot;:[9,9,9,9,9,9]}"/>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6"/>
  <p:tag name="KSO_WM_TEMPLATE_CATEGORY" val="diagram"/>
  <p:tag name="KSO_WM_TEMPLATE_INDEX" val="20231087"/>
  <p:tag name="KSO_WM_UNIT_LAYERLEVEL" val="1_1_1"/>
  <p:tag name="KSO_WM_TAG_VERSION" val="3.0"/>
  <p:tag name="KSO_WM_DIAGRAM_GROUP_CODE" val="n1-1"/>
  <p:tag name="KSO_WM_UNIT_TYPE" val="n_h_i"/>
  <p:tag name="KSO_WM_UNIT_INDEX" val="1_1_6"/>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solid&quot;:{&quot;brightness&quot;:0.800000011920929,&quot;colorType&quot;:1,&quot;foreColorIndex&quot;:5,&quot;transparency&quot;:0.5600000023841858},&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8"/>
  <p:tag name="KSO_WM_DIAGRAM_USE_COLOR_VALUE" val="{&quot;color_scheme&quot;:1,&quot;theme_color_indexes&quot;:[9,9,9,9,9,9]}"/>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9"/>
  <p:tag name="KSO_WM_TEMPLATE_CATEGORY" val="diagram"/>
  <p:tag name="KSO_WM_TEMPLATE_INDEX" val="20231087"/>
  <p:tag name="KSO_WM_UNIT_LAYERLEVEL" val="1_1_1"/>
  <p:tag name="KSO_WM_TAG_VERSION" val="3.0"/>
  <p:tag name="KSO_WM_DIAGRAM_GROUP_CODE" val="n1-1"/>
  <p:tag name="KSO_WM_UNIT_TYPE" val="n_h_i"/>
  <p:tag name="KSO_WM_UNIT_INDEX" val="1_1_9"/>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20000000298023224,&quot;colorType&quot;:1,&quot;foreColorIndex&quot;:5,&quot;pos&quot;:0,&quot;transparency&quot;:0.4000000059604645},{&quot;brightness&quot;:0.699999988079071,&quot;colorType&quot;:1,&quot;foreColorIndex&quot;:5,&quot;pos&quot;:0.7699999809265137,&quot;transparency&quot;:0.5},{&quot;brightness&quot;:0.3799999952316284,&quot;colorType&quot;:1,&quot;foreColorIndex&quot;:5,&quot;pos&quot;:1,&quot;transparency&quot;:0.5}],&quot;type&quot;:3},&quot;glow&quot;:{&quot;colorType&quot;:0},&quot;line&quot;:{&quot;gradient&quot;:[{&quot;brightness&quot;:0,&quot;colorType&quot;:1,&quot;foreColorIndex&quot;:5,&quot;pos&quot;:0,&quot;transparency&quot;:1},{&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8"/>
  <p:tag name="KSO_WM_TEMPLATE_CATEGORY" val="diagram"/>
  <p:tag name="KSO_WM_TEMPLATE_INDEX" val="20231087"/>
  <p:tag name="KSO_WM_UNIT_LAYERLEVEL" val="1_1_1"/>
  <p:tag name="KSO_WM_TAG_VERSION" val="3.0"/>
  <p:tag name="KSO_WM_DIAGRAM_GROUP_CODE" val="n1-1"/>
  <p:tag name="KSO_WM_UNIT_TYPE" val="n_h_i"/>
  <p:tag name="KSO_WM_UNIT_INDEX" val="1_1_8"/>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type&quot;:0},&quot;glow&quot;:{&quot;colorType&quot;:0},&quot;line&quot;:{&quot;gradient&quot;:[{&quot;brightness&quot;:0,&quot;colorType&quot;:1,&quot;foreColorIndex&quot;:5,&quot;pos&quot;:0,&quot;transparency&quot;:0.949999988079071},{&quot;brightness&quot;:0,&quot;colorType&quot;:1,&quot;foreColorIndex&quot;:5,&quot;pos&quot;:0.6399999856948853,&quot;transparency&quot;:0.75},{&quot;brightness&quot;:0,&quot;colorType&quot;:1,&quot;foreColorIndex&quot;:5,&quot;pos&quot;:1,&quot;transparency&quot;:1},{&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theme_color_indexes&quot;:[9,9,9,9,9,9]}"/>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7"/>
  <p:tag name="KSO_WM_TEMPLATE_CATEGORY" val="diagram"/>
  <p:tag name="KSO_WM_TEMPLATE_INDEX" val="20231087"/>
  <p:tag name="KSO_WM_UNIT_LAYERLEVEL" val="1_1_1"/>
  <p:tag name="KSO_WM_TAG_VERSION" val="3.0"/>
  <p:tag name="KSO_WM_DIAGRAM_GROUP_CODE" val="n1-1"/>
  <p:tag name="KSO_WM_UNIT_TYPE" val="n_h_i"/>
  <p:tag name="KSO_WM_UNIT_INDEX" val="1_1_7"/>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quot;colorType&quot;:1,&quot;foreColorIndex&quot;:5,&quot;pos&quot;:0,&quot;transparency&quot;:1},{&quot;brightness&quot;:0,&quot;colorType&quot;:1,&quot;foreColorIndex&quot;:16,&quot;pos&quot;:0.3700000047683716,&quot;transparency&quot;:0},{&quot;brightness&quot;:0,&quot;colorType&quot;:1,&quot;foreColorIndex&quot;:16,&quot;pos&quot;:0.8100000023841858,&quot;transparency&quot;:0},{&quot;brightness&quot;:0.4000000059604645,&quot;colorType&quot;:1,&quot;foreColorIndex&quot;:5,&quot;pos&quot;:1,&quot;transparency&quot;:0}],&quot;type&quot;:3},&quot;glow&quot;:{&quot;colorType&quot;:0},&quot;line&quot;:{&quot;gradient&quot;:[{&quot;brightness&quot;:0,&quot;colorType&quot;:1,&quot;foreColorIndex&quot;:5,&quot;pos&quot;:0,&quot;transparency&quot;:0.800000011920929},{&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5"/>
  <p:tag name="KSO_WM_TEMPLATE_CATEGORY" val="diagram"/>
  <p:tag name="KSO_WM_TEMPLATE_INDEX" val="20231087"/>
  <p:tag name="KSO_WM_UNIT_LAYERLEVEL" val="1_1_1"/>
  <p:tag name="KSO_WM_TAG_VERSION" val="3.0"/>
  <p:tag name="KSO_WM_DIAGRAM_GROUP_CODE" val="n1-1"/>
  <p:tag name="KSO_WM_UNIT_TYPE" val="n_h_i"/>
  <p:tag name="KSO_WM_UNIT_INDEX" val="1_1_5"/>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quot;colorType&quot;:1,&quot;foreColorIndex&quot;:5,&quot;pos&quot;:0,&quot;transparency&quot;:0.4699999988079071},{&quot;brightness&quot;:0,&quot;colorType&quot;:1,&quot;foreColorIndex&quot;:14,&quot;pos&quot;:0.6600000262260437,&quot;transparency&quot;:0.8100000023841858},{&quot;brightness&quot;:0,&quot;colorType&quot;:1,&quot;foreColorIndex&quot;:5,&quot;pos&quot;:0.25,&quot;transparency&quot;:0.6899999976158142}],&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12"/>
  <p:tag name="KSO_WM_TEMPLATE_CATEGORY" val="diagram"/>
  <p:tag name="KSO_WM_TEMPLATE_INDEX" val="20231087"/>
  <p:tag name="KSO_WM_UNIT_LAYERLEVEL" val="1_1_1"/>
  <p:tag name="KSO_WM_TAG_VERSION" val="3.0"/>
  <p:tag name="KSO_WM_DIAGRAM_GROUP_CODE" val="n1-1"/>
  <p:tag name="KSO_WM_UNIT_TYPE" val="n_h_i"/>
  <p:tag name="KSO_WM_UNIT_INDEX" val="1_1_12"/>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type&quot;:0},&quot;glow&quot;:{&quot;colorType&quot;:0},&quot;line&quot;:{&quot;gradient&quot;:[{&quot;brightness&quot;:0,&quot;colorType&quot;:1,&quot;foreColorIndex&quot;:16,&quot;pos&quot;:1,&quot;transparency&quot;:0},{&quot;brightness&quot;:0,&quot;colorType&quot;:1,&quot;foreColorIndex&quot;:5,&quot;pos&quot;:0.38999998569488525,&quot;transparency&quot;:0.3799999952316284},{&quot;brightness&quot;:0,&quot;colorType&quot;:1,&quot;foreColorIndex&quot;:5,&quot;pos&quot;:0.20000000298023224,&quot;transparency&quot;:0.46000000834465027},{&quot;brightness&quot;:0.5,&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theme_color_indexes&quot;:[9,9,9,9,9,9]}"/>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2"/>
  <p:tag name="KSO_WM_TEMPLATE_CATEGORY" val="diagram"/>
  <p:tag name="KSO_WM_TEMPLATE_INDEX" val="20231087"/>
  <p:tag name="KSO_WM_UNIT_LAYERLEVEL" val="1_1_1"/>
  <p:tag name="KSO_WM_TAG_VERSION" val="3.0"/>
  <p:tag name="KSO_WM_DIAGRAM_GROUP_CODE" val="n1-1"/>
  <p:tag name="KSO_WM_UNIT_TYPE" val="n_h_i"/>
  <p:tag name="KSO_WM_UNIT_INDEX" val="1_1_2"/>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6000000238418579,&quot;colorType&quot;:1,&quot;foreColorIndex&quot;:5,&quot;pos&quot;:0.009999999776482582,&quot;transparency&quot;:0},{&quot;brightness&quot;:0.8999999761581421,&quot;colorType&quot;:1,&quot;foreColorIndex&quot;:5,&quot;pos&quot;:0.8600000143051147,&quot;transparency&quot;:0.2700000107288360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1"/>
  <p:tag name="KSO_WM_TEMPLATE_CATEGORY" val="diagram"/>
  <p:tag name="KSO_WM_TEMPLATE_INDEX" val="20231087"/>
  <p:tag name="KSO_WM_UNIT_LAYERLEVEL" val="1_1_1"/>
  <p:tag name="KSO_WM_TAG_VERSION" val="3.0"/>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4"/>
  <p:tag name="KSO_WM_TEMPLATE_CATEGORY" val="diagram"/>
  <p:tag name="KSO_WM_TEMPLATE_INDEX" val="20231087"/>
  <p:tag name="KSO_WM_UNIT_LAYERLEVEL" val="1_1_1"/>
  <p:tag name="KSO_WM_TAG_VERSION" val="3.0"/>
  <p:tag name="KSO_WM_DIAGRAM_GROUP_CODE" val="n1-1"/>
  <p:tag name="KSO_WM_UNIT_TYPE" val="n_h_i"/>
  <p:tag name="KSO_WM_UNIT_INDEX" val="1_1_4"/>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i*1_1_3"/>
  <p:tag name="KSO_WM_TEMPLATE_CATEGORY" val="diagram"/>
  <p:tag name="KSO_WM_TEMPLATE_INDEX" val="20231087"/>
  <p:tag name="KSO_WM_UNIT_LAYERLEVEL" val="1_1_1"/>
  <p:tag name="KSO_WM_TAG_VERSION" val="3.0"/>
  <p:tag name="KSO_WM_DIAGRAM_GROUP_CODE" val="n1-1"/>
  <p:tag name="KSO_WM_UNIT_TYPE" val="n_h_i"/>
  <p:tag name="KSO_WM_UNIT_INDEX" val="1_1_3"/>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gradient&quot;:[{&quot;brightness&quot;:0.6000000238418579,&quot;colorType&quot;:1,&quot;foreColorIndex&quot;:5,&quot;pos&quot;:0.009999999776482582,&quot;transparency&quot;:0},{&quot;brightness&quot;:0.8999999761581421,&quot;colorType&quot;:1,&quot;foreColorIndex&quot;:5,&quot;pos&quot;:0.8600000143051147,&quot;transparency&quot;:0.2700000107288360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9,9,9,9,9]}"/>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3*n_h_a*1_1_1"/>
  <p:tag name="KSO_WM_TEMPLATE_CATEGORY" val="diagram"/>
  <p:tag name="KSO_WM_TEMPLATE_INDEX" val="20231087"/>
  <p:tag name="KSO_WM_UNIT_LAYERLEVEL" val="1_1_1"/>
  <p:tag name="KSO_WM_TAG_VERSION" val="3.0"/>
  <p:tag name="KSO_WM_UNIT_ISCONTENTSTITLE" val="0"/>
  <p:tag name="KSO_WM_UNIT_ISNUMDGMTITLE" val="0"/>
  <p:tag name="KSO_WM_UNIT_NOCLEAR" val="0"/>
  <p:tag name="KSO_WM_UNIT_VALUE" val="24"/>
  <p:tag name="KSO_WM_DIAGRAM_GROUP_CODE" val="n1-1"/>
  <p:tag name="KSO_WM_UNIT_TYPE" val="n_h_a"/>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75.9174015748032,&quot;left&quot;:44.28511811023622,&quot;top&quot;:74.72999999999999,&quot;width&quot;:877.26488188976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PRESET_TEXT" val="单击此处添&#10;加项标题"/>
  <p:tag name="KSO_WM_UNIT_TEXT_FILL_FORE_SCHEMECOLOR_INDEX" val="1"/>
  <p:tag name="KSO_WM_UNIT_TEXT_FILL_TYPE" val="1"/>
  <p:tag name="KSO_WM_DIAGRAM_USE_COLOR_VALUE" val="{&quot;color_scheme&quot;:1,&quot;theme_color_indexes&quot;:[9,9,9,9,9,9]}"/>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DIAGRAM_VIRTUALLY_FRAME" val="{&quot;height&quot;:452.1,&quot;left&quot;:13.55,&quot;top&quot;:88.5,&quot;width&quot;:936.6}"/>
</p:tagLst>
</file>

<file path=ppt/tags/tag149.xml><?xml version="1.0" encoding="utf-8"?>
<p:tagLst xmlns:p="http://schemas.openxmlformats.org/presentationml/2006/main">
  <p:tag name="KSO_WM_DIAGRAM_VIRTUALLY_FRAME" val="{&quot;height&quot;:452.1,&quot;left&quot;:13.55,&quot;top&quot;:88.5,&quot;width&quot;:936.6}"/>
</p:tagLst>
</file>

<file path=ppt/tags/tag150.xml><?xml version="1.0" encoding="utf-8"?>
<p:tagLst xmlns:p="http://schemas.openxmlformats.org/presentationml/2006/main">
  <p:tag name="KSO_WM_DIAGRAM_VIRTUALLY_FRAME" val="{&quot;height&quot;:452.1,&quot;left&quot;:13.55,&quot;top&quot;:88.5,&quot;width&quot;:936.6}"/>
</p:tagLst>
</file>

<file path=ppt/tags/tag151.xml><?xml version="1.0" encoding="utf-8"?>
<p:tagLst xmlns:p="http://schemas.openxmlformats.org/presentationml/2006/main">
  <p:tag name="KSO_WM_DIAGRAM_VIRTUALLY_FRAME" val="{&quot;height&quot;:452.1,&quot;left&quot;:13.55,&quot;top&quot;:88.5,&quot;width&quot;:936.6}"/>
</p:tagLst>
</file>

<file path=ppt/tags/tag152.xml><?xml version="1.0" encoding="utf-8"?>
<p:tagLst xmlns:p="http://schemas.openxmlformats.org/presentationml/2006/main">
  <p:tag name="KSO_WM_DIAGRAM_VIRTUALLY_FRAME" val="{&quot;height&quot;:452.1,&quot;left&quot;:13.55,&quot;top&quot;:88.5,&quot;width&quot;:936.6}"/>
</p:tagLst>
</file>

<file path=ppt/tags/tag153.xml><?xml version="1.0" encoding="utf-8"?>
<p:tagLst xmlns:p="http://schemas.openxmlformats.org/presentationml/2006/main">
  <p:tag name="KSO_WM_DIAGRAM_VIRTUALLY_FRAME" val="{&quot;height&quot;:452.1,&quot;left&quot;:13.55,&quot;top&quot;:88.5,&quot;width&quot;:936.6}"/>
</p:tagLst>
</file>

<file path=ppt/tags/tag154.xml><?xml version="1.0" encoding="utf-8"?>
<p:tagLst xmlns:p="http://schemas.openxmlformats.org/presentationml/2006/main">
  <p:tag name="KSO_WM_DIAGRAM_VIRTUALLY_FRAME" val="{&quot;height&quot;:452.1,&quot;left&quot;:13.55,&quot;top&quot;:88.5,&quot;width&quot;:936.6}"/>
</p:tagLst>
</file>

<file path=ppt/tags/tag155.xml><?xml version="1.0" encoding="utf-8"?>
<p:tagLst xmlns:p="http://schemas.openxmlformats.org/presentationml/2006/main">
  <p:tag name="KSO_WM_DIAGRAM_VIRTUALLY_FRAME" val="{&quot;height&quot;:452.1,&quot;left&quot;:13.55,&quot;top&quot;:88.5,&quot;width&quot;:936.6}"/>
</p:tagLst>
</file>

<file path=ppt/tags/tag156.xml><?xml version="1.0" encoding="utf-8"?>
<p:tagLst xmlns:p="http://schemas.openxmlformats.org/presentationml/2006/main">
  <p:tag name="KSO_WM_DIAGRAM_VIRTUALLY_FRAME" val="{&quot;height&quot;:452.1,&quot;left&quot;:13.55,&quot;top&quot;:88.5,&quot;width&quot;:936.6}"/>
</p:tagLst>
</file>

<file path=ppt/tags/tag157.xml><?xml version="1.0" encoding="utf-8"?>
<p:tagLst xmlns:p="http://schemas.openxmlformats.org/presentationml/2006/main">
  <p:tag name="KSO_WM_DIAGRAM_VIRTUALLY_FRAME" val="{&quot;height&quot;:452.1,&quot;left&quot;:13.55,&quot;top&quot;:88.5,&quot;width&quot;:936.6}"/>
</p:tagLst>
</file>

<file path=ppt/tags/tag158.xml><?xml version="1.0" encoding="utf-8"?>
<p:tagLst xmlns:p="http://schemas.openxmlformats.org/presentationml/2006/main">
  <p:tag name="KSO_WM_DIAGRAM_VIRTUALLY_FRAME" val="{&quot;height&quot;:452.1,&quot;left&quot;:13.55,&quot;top&quot;:88.5,&quot;width&quot;:936.6}"/>
</p:tagLst>
</file>

<file path=ppt/tags/tag159.xml><?xml version="1.0" encoding="utf-8"?>
<p:tagLst xmlns:p="http://schemas.openxmlformats.org/presentationml/2006/main">
  <p:tag name="KSO_WM_DIAGRAM_VIRTUALLY_FRAME" val="{&quot;height&quot;:452.1,&quot;left&quot;:13.55,&quot;top&quot;:88.5,&quot;width&quot;:936.6}"/>
</p:tagLst>
</file>

<file path=ppt/tags/tag160.xml><?xml version="1.0" encoding="utf-8"?>
<p:tagLst xmlns:p="http://schemas.openxmlformats.org/presentationml/2006/main">
  <p:tag name="KSO_WM_DIAGRAM_VIRTUALLY_FRAME" val="{&quot;height&quot;:452.1,&quot;left&quot;:13.55,&quot;top&quot;:88.5,&quot;width&quot;:936.6}"/>
</p:tagLst>
</file>

<file path=ppt/tags/tag161.xml><?xml version="1.0" encoding="utf-8"?>
<p:tagLst xmlns:p="http://schemas.openxmlformats.org/presentationml/2006/main">
  <p:tag name="KSO_WM_DIAGRAM_VIRTUALLY_FRAME" val="{&quot;height&quot;:452.1,&quot;left&quot;:13.55,&quot;top&quot;:88.5,&quot;width&quot;:936.6}"/>
</p:tagLst>
</file>

<file path=ppt/tags/tag162.xml><?xml version="1.0" encoding="utf-8"?>
<p:tagLst xmlns:p="http://schemas.openxmlformats.org/presentationml/2006/main">
  <p:tag name="KSO_WM_DIAGRAM_VIRTUALLY_FRAME" val="{&quot;height&quot;:452.1,&quot;left&quot;:13.55,&quot;top&quot;:88.5,&quot;width&quot;:936.6}"/>
</p:tagLst>
</file>

<file path=ppt/tags/tag163.xml><?xml version="1.0" encoding="utf-8"?>
<p:tagLst xmlns:p="http://schemas.openxmlformats.org/presentationml/2006/main">
  <p:tag name="KSO_WM_DIAGRAM_VIRTUALLY_FRAME" val="{&quot;height&quot;:452.1,&quot;left&quot;:13.55,&quot;top&quot;:88.5,&quot;width&quot;:936.6}"/>
</p:tagLst>
</file>

<file path=ppt/tags/tag164.xml><?xml version="1.0" encoding="utf-8"?>
<p:tagLst xmlns:p="http://schemas.openxmlformats.org/presentationml/2006/main">
  <p:tag name="KSO_WM_DIAGRAM_VIRTUALLY_FRAME" val="{&quot;height&quot;:452.1,&quot;left&quot;:13.55,&quot;top&quot;:88.5,&quot;width&quot;:936.6}"/>
</p:tagLst>
</file>

<file path=ppt/tags/tag165.xml><?xml version="1.0" encoding="utf-8"?>
<p:tagLst xmlns:p="http://schemas.openxmlformats.org/presentationml/2006/main">
  <p:tag name="KSO_WM_DIAGRAM_VIRTUALLY_FRAME" val="{&quot;height&quot;:452.1,&quot;left&quot;:13.55,&quot;top&quot;:88.5,&quot;width&quot;:936.6}"/>
</p:tagLst>
</file>

<file path=ppt/tags/tag166.xml><?xml version="1.0" encoding="utf-8"?>
<p:tagLst xmlns:p="http://schemas.openxmlformats.org/presentationml/2006/main">
  <p:tag name="KSO_WM_DIAGRAM_VIRTUALLY_FRAME" val="{&quot;height&quot;:452.1,&quot;left&quot;:13.55,&quot;top&quot;:88.5,&quot;width&quot;:936.6}"/>
</p:tagLst>
</file>

<file path=ppt/tags/tag167.xml><?xml version="1.0" encoding="utf-8"?>
<p:tagLst xmlns:p="http://schemas.openxmlformats.org/presentationml/2006/main">
  <p:tag name="KSO_WM_DIAGRAM_VIRTUALLY_FRAME" val="{&quot;height&quot;:452.1,&quot;left&quot;:13.55,&quot;top&quot;:88.5,&quot;width&quot;:936.6}"/>
</p:tagLst>
</file>

<file path=ppt/tags/tag168.xml><?xml version="1.0" encoding="utf-8"?>
<p:tagLst xmlns:p="http://schemas.openxmlformats.org/presentationml/2006/main">
  <p:tag name="KSO_WM_DIAGRAM_VIRTUALLY_FRAME" val="{&quot;height&quot;:452.1,&quot;left&quot;:13.55,&quot;top&quot;:88.5,&quot;width&quot;:936.6}"/>
</p:tagLst>
</file>

<file path=ppt/tags/tag169.xml><?xml version="1.0" encoding="utf-8"?>
<p:tagLst xmlns:p="http://schemas.openxmlformats.org/presentationml/2006/main">
  <p:tag name="KSO_WM_DIAGRAM_VIRTUALLY_FRAME" val="{&quot;height&quot;:452.1,&quot;left&quot;:13.55,&quot;top&quot;:88.5,&quot;width&quot;:936.6}"/>
</p:tagLst>
</file>

<file path=ppt/tags/tag170.xml><?xml version="1.0" encoding="utf-8"?>
<p:tagLst xmlns:p="http://schemas.openxmlformats.org/presentationml/2006/main">
  <p:tag name="KSO_WM_DIAGRAM_VIRTUALLY_FRAME" val="{&quot;height&quot;:452.1,&quot;left&quot;:13.55,&quot;top&quot;:88.5,&quot;width&quot;:936.6}"/>
</p:tagLst>
</file>

<file path=ppt/tags/tag171.xml><?xml version="1.0" encoding="utf-8"?>
<p:tagLst xmlns:p="http://schemas.openxmlformats.org/presentationml/2006/main">
  <p:tag name="KSO_WM_DIAGRAM_VIRTUALLY_FRAME" val="{&quot;height&quot;:452.1,&quot;left&quot;:13.55,&quot;top&quot;:88.5,&quot;width&quot;:936.6}"/>
</p:tagLst>
</file>

<file path=ppt/tags/tag172.xml><?xml version="1.0" encoding="utf-8"?>
<p:tagLst xmlns:p="http://schemas.openxmlformats.org/presentationml/2006/main">
  <p:tag name="KSO_WM_DIAGRAM_VIRTUALLY_FRAME" val="{&quot;height&quot;:452.1,&quot;left&quot;:13.55,&quot;top&quot;:88.5,&quot;width&quot;:936.6}"/>
</p:tagLst>
</file>

<file path=ppt/tags/tag173.xml><?xml version="1.0" encoding="utf-8"?>
<p:tagLst xmlns:p="http://schemas.openxmlformats.org/presentationml/2006/main">
  <p:tag name="KSO_WM_DIAGRAM_VIRTUALLY_FRAME" val="{&quot;height&quot;:452.1,&quot;left&quot;:13.55,&quot;top&quot;:88.5,&quot;width&quot;:936.6}"/>
</p:tagLst>
</file>

<file path=ppt/tags/tag174.xml><?xml version="1.0" encoding="utf-8"?>
<p:tagLst xmlns:p="http://schemas.openxmlformats.org/presentationml/2006/main">
  <p:tag name="KSO_WM_DIAGRAM_VIRTUALLY_FRAME" val="{&quot;height&quot;:452.1,&quot;left&quot;:13.55,&quot;top&quot;:88.5,&quot;width&quot;:936.6}"/>
</p:tagLst>
</file>

<file path=ppt/tags/tag175.xml><?xml version="1.0" encoding="utf-8"?>
<p:tagLst xmlns:p="http://schemas.openxmlformats.org/presentationml/2006/main">
  <p:tag name="KSO_WM_DIAGRAM_VIRTUALLY_FRAME" val="{&quot;height&quot;:452.1,&quot;left&quot;:13.55,&quot;top&quot;:88.5,&quot;width&quot;:936.6}"/>
</p:tagLst>
</file>

<file path=ppt/tags/tag176.xml><?xml version="1.0" encoding="utf-8"?>
<p:tagLst xmlns:p="http://schemas.openxmlformats.org/presentationml/2006/main">
  <p:tag name="KSO_WM_DIAGRAM_VIRTUALLY_FRAME" val="{&quot;height&quot;:452.1,&quot;left&quot;:13.55,&quot;top&quot;:88.5,&quot;width&quot;:936.6}"/>
</p:tagLst>
</file>

<file path=ppt/tags/tag177.xml><?xml version="1.0" encoding="utf-8"?>
<p:tagLst xmlns:p="http://schemas.openxmlformats.org/presentationml/2006/main">
  <p:tag name="KSO_WM_DIAGRAM_VIRTUALLY_FRAME" val="{&quot;height&quot;:452.1,&quot;left&quot;:13.55,&quot;top&quot;:88.5,&quot;width&quot;:936.6}"/>
</p:tagLst>
</file>

<file path=ppt/tags/tag178.xml><?xml version="1.0" encoding="utf-8"?>
<p:tagLst xmlns:p="http://schemas.openxmlformats.org/presentationml/2006/main">
  <p:tag name="KSO_WM_DIAGRAM_VIRTUALLY_FRAME" val="{&quot;height&quot;:452.1,&quot;left&quot;:13.55,&quot;top&quot;:88.5,&quot;width&quot;:936.6}"/>
</p:tagLst>
</file>

<file path=ppt/tags/tag179.xml><?xml version="1.0" encoding="utf-8"?>
<p:tagLst xmlns:p="http://schemas.openxmlformats.org/presentationml/2006/main">
  <p:tag name="KSO_WM_DIAGRAM_VIRTUALLY_FRAME" val="{&quot;height&quot;:452.1,&quot;left&quot;:13.55,&quot;top&quot;:88.5,&quot;width&quot;:936.6}"/>
</p:tagLst>
</file>

<file path=ppt/tags/tag180.xml><?xml version="1.0" encoding="utf-8"?>
<p:tagLst xmlns:p="http://schemas.openxmlformats.org/presentationml/2006/main">
  <p:tag name="KSO_WM_DIAGRAM_VIRTUALLY_FRAME" val="{&quot;height&quot;:452.1,&quot;left&quot;:13.55,&quot;top&quot;:88.5,&quot;width&quot;:936.6}"/>
</p:tagLst>
</file>

<file path=ppt/tags/tag181.xml><?xml version="1.0" encoding="utf-8"?>
<p:tagLst xmlns:p="http://schemas.openxmlformats.org/presentationml/2006/main">
  <p:tag name="KSO_WM_DIAGRAM_VIRTUALLY_FRAME" val="{&quot;height&quot;:452.1,&quot;left&quot;:13.55,&quot;top&quot;:88.5,&quot;width&quot;:936.6}"/>
</p:tagLst>
</file>

<file path=ppt/tags/tag182.xml><?xml version="1.0" encoding="utf-8"?>
<p:tagLst xmlns:p="http://schemas.openxmlformats.org/presentationml/2006/main">
  <p:tag name="KSO_WM_DIAGRAM_VIRTUALLY_FRAME" val="{&quot;height&quot;:452.1,&quot;left&quot;:13.55,&quot;top&quot;:88.5,&quot;width&quot;:936.6}"/>
</p:tagLst>
</file>

<file path=ppt/tags/tag183.xml><?xml version="1.0" encoding="utf-8"?>
<p:tagLst xmlns:p="http://schemas.openxmlformats.org/presentationml/2006/main">
  <p:tag name="KSO_WM_DIAGRAM_VIRTUALLY_FRAME" val="{&quot;height&quot;:452.1,&quot;left&quot;:13.55,&quot;top&quot;:88.5,&quot;width&quot;:936.6}"/>
</p:tagLst>
</file>

<file path=ppt/tags/tag184.xml><?xml version="1.0" encoding="utf-8"?>
<p:tagLst xmlns:p="http://schemas.openxmlformats.org/presentationml/2006/main">
  <p:tag name="KSO_WM_DIAGRAM_VIRTUALLY_FRAME" val="{&quot;height&quot;:452.1,&quot;left&quot;:13.55,&quot;top&quot;:88.5,&quot;width&quot;:936.6}"/>
</p:tagLst>
</file>

<file path=ppt/tags/tag185.xml><?xml version="1.0" encoding="utf-8"?>
<p:tagLst xmlns:p="http://schemas.openxmlformats.org/presentationml/2006/main">
  <p:tag name="KSO_WM_DIAGRAM_VIRTUALLY_FRAME" val="{&quot;height&quot;:452.1,&quot;left&quot;:13.55,&quot;top&quot;:88.5,&quot;width&quot;:936.6}"/>
</p:tagLst>
</file>

<file path=ppt/tags/tag186.xml><?xml version="1.0" encoding="utf-8"?>
<p:tagLst xmlns:p="http://schemas.openxmlformats.org/presentationml/2006/main">
  <p:tag name="KSO_WM_DIAGRAM_VIRTUALLY_FRAME" val="{&quot;height&quot;:452.1,&quot;left&quot;:13.55,&quot;top&quot;:88.5,&quot;width&quot;:936.6}"/>
</p:tagLst>
</file>

<file path=ppt/tags/tag187.xml><?xml version="1.0" encoding="utf-8"?>
<p:tagLst xmlns:p="http://schemas.openxmlformats.org/presentationml/2006/main">
  <p:tag name="KSO_WM_DIAGRAM_VIRTUALLY_FRAME" val="{&quot;height&quot;:452.1,&quot;left&quot;:13.55,&quot;top&quot;:88.5,&quot;width&quot;:936.6}"/>
</p:tagLst>
</file>

<file path=ppt/tags/tag188.xml><?xml version="1.0" encoding="utf-8"?>
<p:tagLst xmlns:p="http://schemas.openxmlformats.org/presentationml/2006/main">
  <p:tag name="KSO_WM_DIAGRAM_VIRTUALLY_FRAME" val="{&quot;height&quot;:452.1,&quot;left&quot;:13.55,&quot;top&quot;:88.5,&quot;width&quot;:936.6}"/>
</p:tagLst>
</file>

<file path=ppt/tags/tag189.xml><?xml version="1.0" encoding="utf-8"?>
<p:tagLst xmlns:p="http://schemas.openxmlformats.org/presentationml/2006/main">
  <p:tag name="KSO_WM_DIAGRAM_VIRTUALLY_FRAME" val="{&quot;height&quot;:452.1,&quot;left&quot;:13.55,&quot;top&quot;:88.5,&quot;width&quot;:936.6}"/>
</p:tagLst>
</file>

<file path=ppt/tags/tag190.xml><?xml version="1.0" encoding="utf-8"?>
<p:tagLst xmlns:p="http://schemas.openxmlformats.org/presentationml/2006/main">
  <p:tag name="KSO_WM_DIAGRAM_VIRTUALLY_FRAME" val="{&quot;height&quot;:452.1,&quot;left&quot;:13.55,&quot;top&quot;:88.5,&quot;width&quot;:936.6}"/>
</p:tagLst>
</file>

<file path=ppt/tags/tag191.xml><?xml version="1.0" encoding="utf-8"?>
<p:tagLst xmlns:p="http://schemas.openxmlformats.org/presentationml/2006/main">
  <p:tag name="KSO_WM_DIAGRAM_VIRTUALLY_FRAME" val="{&quot;height&quot;:452.1,&quot;left&quot;:13.55,&quot;top&quot;:88.5,&quot;width&quot;:936.6}"/>
</p:tagLst>
</file>

<file path=ppt/tags/tag192.xml><?xml version="1.0" encoding="utf-8"?>
<p:tagLst xmlns:p="http://schemas.openxmlformats.org/presentationml/2006/main">
  <p:tag name="KSO_WM_DIAGRAM_VIRTUALLY_FRAME" val="{&quot;height&quot;:452.1,&quot;left&quot;:13.55,&quot;top&quot;:88.5,&quot;width&quot;:936.6}"/>
</p:tagLst>
</file>

<file path=ppt/tags/tag193.xml><?xml version="1.0" encoding="utf-8"?>
<p:tagLst xmlns:p="http://schemas.openxmlformats.org/presentationml/2006/main">
  <p:tag name="KSO_WM_DIAGRAM_VIRTUALLY_FRAME" val="{&quot;height&quot;:452.1,&quot;left&quot;:13.55,&quot;top&quot;:88.5,&quot;width&quot;:936.6}"/>
</p:tagLst>
</file>

<file path=ppt/tags/tag194.xml><?xml version="1.0" encoding="utf-8"?>
<p:tagLst xmlns:p="http://schemas.openxmlformats.org/presentationml/2006/main">
  <p:tag name="KSO_WM_DIAGRAM_VIRTUALLY_FRAME" val="{&quot;height&quot;:452.1,&quot;left&quot;:13.55,&quot;top&quot;:88.5,&quot;width&quot;:936.6}"/>
</p:tagLst>
</file>

<file path=ppt/tags/tag195.xml><?xml version="1.0" encoding="utf-8"?>
<p:tagLst xmlns:p="http://schemas.openxmlformats.org/presentationml/2006/main">
  <p:tag name="KSO_WM_DIAGRAM_VIRTUALLY_FRAME" val="{&quot;height&quot;:452.1,&quot;left&quot;:13.55,&quot;top&quot;:88.5,&quot;width&quot;:936.6}"/>
</p:tagLst>
</file>

<file path=ppt/tags/tag196.xml><?xml version="1.0" encoding="utf-8"?>
<p:tagLst xmlns:p="http://schemas.openxmlformats.org/presentationml/2006/main">
  <p:tag name="KSO_WM_DIAGRAM_VIRTUALLY_FRAME" val="{&quot;height&quot;:452.1,&quot;left&quot;:13.55,&quot;top&quot;:88.5,&quot;width&quot;:936.6}"/>
</p:tagLst>
</file>

<file path=ppt/tags/tag197.xml><?xml version="1.0" encoding="utf-8"?>
<p:tagLst xmlns:p="http://schemas.openxmlformats.org/presentationml/2006/main">
  <p:tag name="KSO_WM_DIAGRAM_VIRTUALLY_FRAME" val="{&quot;height&quot;:452.1,&quot;left&quot;:13.55,&quot;top&quot;:88.5,&quot;width&quot;:936.6}"/>
</p:tagLst>
</file>

<file path=ppt/tags/tag198.xml><?xml version="1.0" encoding="utf-8"?>
<p:tagLst xmlns:p="http://schemas.openxmlformats.org/presentationml/2006/main">
  <p:tag name="KSO_WM_DIAGRAM_VIRTUALLY_FRAME" val="{&quot;height&quot;:452.1,&quot;left&quot;:13.55,&quot;top&quot;:88.5,&quot;width&quot;:936.6}"/>
</p:tagLst>
</file>

<file path=ppt/tags/tag199.xml><?xml version="1.0" encoding="utf-8"?>
<p:tagLst xmlns:p="http://schemas.openxmlformats.org/presentationml/2006/main">
  <p:tag name="KSO_WM_DIAGRAM_VIRTUALLY_FRAME" val="{&quot;height&quot;:452.1,&quot;left&quot;:13.55,&quot;top&quot;:88.5,&quot;width&quot;:936.6}"/>
</p:tagLst>
</file>

<file path=ppt/tags/tag200.xml><?xml version="1.0" encoding="utf-8"?>
<p:tagLst xmlns:p="http://schemas.openxmlformats.org/presentationml/2006/main">
  <p:tag name="KSO_WM_DIAGRAM_VIRTUALLY_FRAME" val="{&quot;height&quot;:452.1,&quot;left&quot;:13.55,&quot;top&quot;:88.5,&quot;width&quot;:936.6}"/>
</p:tagLst>
</file>

<file path=ppt/tags/tag201.xml><?xml version="1.0" encoding="utf-8"?>
<p:tagLst xmlns:p="http://schemas.openxmlformats.org/presentationml/2006/main">
  <p:tag name="KSO_WM_DIAGRAM_VIRTUALLY_FRAME" val="{&quot;height&quot;:452.1,&quot;left&quot;:13.55,&quot;top&quot;:88.5,&quot;width&quot;:936.6}"/>
</p:tagLst>
</file>

<file path=ppt/tags/tag202.xml><?xml version="1.0" encoding="utf-8"?>
<p:tagLst xmlns:p="http://schemas.openxmlformats.org/presentationml/2006/main">
  <p:tag name="KSO_WM_DIAGRAM_VIRTUALLY_FRAME" val="{&quot;height&quot;:452.1,&quot;left&quot;:13.55,&quot;top&quot;:88.5,&quot;width&quot;:936.6}"/>
</p:tagLst>
</file>

<file path=ppt/tags/tag203.xml><?xml version="1.0" encoding="utf-8"?>
<p:tagLst xmlns:p="http://schemas.openxmlformats.org/presentationml/2006/main">
  <p:tag name="KSO_WM_DIAGRAM_VIRTUALLY_FRAME" val="{&quot;height&quot;:452.1,&quot;left&quot;:13.55,&quot;top&quot;:88.5,&quot;width&quot;:936.6}"/>
</p:tagLst>
</file>

<file path=ppt/tags/tag204.xml><?xml version="1.0" encoding="utf-8"?>
<p:tagLst xmlns:p="http://schemas.openxmlformats.org/presentationml/2006/main">
  <p:tag name="KSO_WM_DIAGRAM_VIRTUALLY_FRAME" val="{&quot;height&quot;:452.1,&quot;left&quot;:13.55,&quot;top&quot;:88.5,&quot;width&quot;:936.6}"/>
</p:tagLst>
</file>

<file path=ppt/tags/tag205.xml><?xml version="1.0" encoding="utf-8"?>
<p:tagLst xmlns:p="http://schemas.openxmlformats.org/presentationml/2006/main">
  <p:tag name="KSO_WM_DIAGRAM_VIRTUALLY_FRAME" val="{&quot;height&quot;:452.1,&quot;left&quot;:13.55,&quot;top&quot;:88.5,&quot;width&quot;:936.6}"/>
</p:tagLst>
</file>

<file path=ppt/tags/tag206.xml><?xml version="1.0" encoding="utf-8"?>
<p:tagLst xmlns:p="http://schemas.openxmlformats.org/presentationml/2006/main">
  <p:tag name="KSO_WM_DIAGRAM_VIRTUALLY_FRAME" val="{&quot;height&quot;:452.1,&quot;left&quot;:13.55,&quot;top&quot;:88.5,&quot;width&quot;:936.6}"/>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DIAGRAM_VIRTUALLY_FRAME" val="{&quot;height&quot;:452.1,&quot;left&quot;:13.55,&quot;top&quot;:88.5,&quot;width&quot;:936.6}"/>
</p:tagLst>
</file>

<file path=ppt/tags/tag209.xml><?xml version="1.0" encoding="utf-8"?>
<p:tagLst xmlns:p="http://schemas.openxmlformats.org/presentationml/2006/main">
  <p:tag name="KSO_WM_DIAGRAM_VIRTUALLY_FRAME" val="{&quot;height&quot;:452.1,&quot;left&quot;:13.55,&quot;top&quot;:88.5,&quot;width&quot;:936.6}"/>
</p:tagLst>
</file>

<file path=ppt/tags/tag210.xml><?xml version="1.0" encoding="utf-8"?>
<p:tagLst xmlns:p="http://schemas.openxmlformats.org/presentationml/2006/main">
  <p:tag name="KSO_WM_DIAGRAM_VIRTUALLY_FRAME" val="{&quot;height&quot;:452.1,&quot;left&quot;:13.55,&quot;top&quot;:88.5,&quot;width&quot;:936.6}"/>
</p:tagLst>
</file>

<file path=ppt/tags/tag211.xml><?xml version="1.0" encoding="utf-8"?>
<p:tagLst xmlns:p="http://schemas.openxmlformats.org/presentationml/2006/main">
  <p:tag name="KSO_WM_DIAGRAM_VIRTUALLY_FRAME" val="{&quot;height&quot;:452.1,&quot;left&quot;:13.55,&quot;top&quot;:88.5,&quot;width&quot;:936.6}"/>
</p:tagLst>
</file>

<file path=ppt/tags/tag212.xml><?xml version="1.0" encoding="utf-8"?>
<p:tagLst xmlns:p="http://schemas.openxmlformats.org/presentationml/2006/main">
  <p:tag name="KSO_WM_DIAGRAM_VIRTUALLY_FRAME" val="{&quot;height&quot;:452.1,&quot;left&quot;:13.55,&quot;top&quot;:88.5,&quot;width&quot;:936.6}"/>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DIAGRAM_VIRTUALLY_FRAME" val="{&quot;height&quot;:452.1,&quot;left&quot;:13.55,&quot;top&quot;:88.5,&quot;width&quot;:936.6}"/>
</p:tagLst>
</file>

<file path=ppt/tags/tag215.xml><?xml version="1.0" encoding="utf-8"?>
<p:tagLst xmlns:p="http://schemas.openxmlformats.org/presentationml/2006/main">
  <p:tag name="KSO_WM_DIAGRAM_VIRTUALLY_FRAME" val="{&quot;height&quot;:452.1,&quot;left&quot;:13.55,&quot;top&quot;:88.5,&quot;width&quot;:936.6}"/>
</p:tagLst>
</file>

<file path=ppt/tags/tag216.xml><?xml version="1.0" encoding="utf-8"?>
<p:tagLst xmlns:p="http://schemas.openxmlformats.org/presentationml/2006/main">
  <p:tag name="KSO_WM_DIAGRAM_VIRTUALLY_FRAME" val="{&quot;height&quot;:452.1,&quot;left&quot;:13.55,&quot;top&quot;:88.5,&quot;width&quot;:936.6}"/>
</p:tagLst>
</file>

<file path=ppt/tags/tag217.xml><?xml version="1.0" encoding="utf-8"?>
<p:tagLst xmlns:p="http://schemas.openxmlformats.org/presentationml/2006/main">
  <p:tag name="KSO_WM_DIAGRAM_VIRTUALLY_FRAME" val="{&quot;height&quot;:452.1,&quot;left&quot;:13.55,&quot;top&quot;:88.5,&quot;width&quot;:936.6}"/>
</p:tagLst>
</file>

<file path=ppt/tags/tag218.xml><?xml version="1.0" encoding="utf-8"?>
<p:tagLst xmlns:p="http://schemas.openxmlformats.org/presentationml/2006/main">
  <p:tag name="KSO_WM_DIAGRAM_VIRTUALLY_FRAME" val="{&quot;height&quot;:452.1,&quot;left&quot;:13.55,&quot;top&quot;:88.5,&quot;width&quot;:936.6}"/>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DIAGRAM_VIRTUALLY_FRAME" val="{&quot;height&quot;:452.1,&quot;left&quot;:13.55,&quot;top&quot;:88.5,&quot;width&quot;:936.6}"/>
</p:tagLst>
</file>

<file path=ppt/tags/tag221.xml><?xml version="1.0" encoding="utf-8"?>
<p:tagLst xmlns:p="http://schemas.openxmlformats.org/presentationml/2006/main">
  <p:tag name="KSO_WM_DIAGRAM_VIRTUALLY_FRAME" val="{&quot;height&quot;:452.1,&quot;left&quot;:13.55,&quot;top&quot;:88.5,&quot;width&quot;:936.6}"/>
</p:tagLst>
</file>

<file path=ppt/tags/tag222.xml><?xml version="1.0" encoding="utf-8"?>
<p:tagLst xmlns:p="http://schemas.openxmlformats.org/presentationml/2006/main">
  <p:tag name="KSO_WM_DIAGRAM_VIRTUALLY_FRAME" val="{&quot;height&quot;:452.1,&quot;left&quot;:13.55,&quot;top&quot;:88.5,&quot;width&quot;:936.6}"/>
</p:tagLst>
</file>

<file path=ppt/tags/tag223.xml><?xml version="1.0" encoding="utf-8"?>
<p:tagLst xmlns:p="http://schemas.openxmlformats.org/presentationml/2006/main">
  <p:tag name="KSO_WM_DIAGRAM_VIRTUALLY_FRAME" val="{&quot;height&quot;:452.1,&quot;left&quot;:13.55,&quot;top&quot;:88.5,&quot;width&quot;:936.6}"/>
</p:tagLst>
</file>

<file path=ppt/tags/tag224.xml><?xml version="1.0" encoding="utf-8"?>
<p:tagLst xmlns:p="http://schemas.openxmlformats.org/presentationml/2006/main">
  <p:tag name="KSO_WM_DIAGRAM_VIRTUALLY_FRAME" val="{&quot;height&quot;:452.1,&quot;left&quot;:13.55,&quot;top&quot;:88.5,&quot;width&quot;:936.6}"/>
</p:tagLst>
</file>

<file path=ppt/tags/tag225.xml><?xml version="1.0" encoding="utf-8"?>
<p:tagLst xmlns:p="http://schemas.openxmlformats.org/presentationml/2006/main">
  <p:tag name="KSO_WM_DIAGRAM_VIRTUALLY_FRAME" val="{&quot;height&quot;:310.6,&quot;left&quot;:58.74375,&quot;top&quot;:195.9,&quot;width&quot;:202.35625610351562}"/>
</p:tagLst>
</file>

<file path=ppt/tags/tag226.xml><?xml version="1.0" encoding="utf-8"?>
<p:tagLst xmlns:p="http://schemas.openxmlformats.org/presentationml/2006/main">
  <p:tag name="KSO_WM_DIAGRAM_VIRTUALLY_FRAME" val="{&quot;height&quot;:310.6,&quot;left&quot;:58.74375,&quot;top&quot;:195.9,&quot;width&quot;:202.35625610351562}"/>
</p:tagLst>
</file>

<file path=ppt/tags/tag227.xml><?xml version="1.0" encoding="utf-8"?>
<p:tagLst xmlns:p="http://schemas.openxmlformats.org/presentationml/2006/main">
  <p:tag name="KSO_WM_DIAGRAM_VIRTUALLY_FRAME" val="{&quot;height&quot;:310.6,&quot;left&quot;:58.74375,&quot;top&quot;:195.9,&quot;width&quot;:202.35625610351562}"/>
</p:tagLst>
</file>

<file path=ppt/tags/tag228.xml><?xml version="1.0" encoding="utf-8"?>
<p:tagLst xmlns:p="http://schemas.openxmlformats.org/presentationml/2006/main">
  <p:tag name="KSO_WM_DIAGRAM_VIRTUALLY_FRAME" val="{&quot;height&quot;:310.6,&quot;left&quot;:58.74375,&quot;top&quot;:195.9,&quot;width&quot;:202.35625610351562}"/>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DIAGRAM_VIRTUALLY_FRAME" val="{&quot;height&quot;:452.1,&quot;left&quot;:13.55,&quot;top&quot;:88.5,&quot;width&quot;:936.6}"/>
</p:tagLst>
</file>

<file path=ppt/tags/tag231.xml><?xml version="1.0" encoding="utf-8"?>
<p:tagLst xmlns:p="http://schemas.openxmlformats.org/presentationml/2006/main">
  <p:tag name="KSO_WM_DIAGRAM_VIRTUALLY_FRAME" val="{&quot;height&quot;:452.1,&quot;left&quot;:13.55,&quot;top&quot;:88.5,&quot;width&quot;:936.6}"/>
</p:tagLst>
</file>

<file path=ppt/tags/tag232.xml><?xml version="1.0" encoding="utf-8"?>
<p:tagLst xmlns:p="http://schemas.openxmlformats.org/presentationml/2006/main">
  <p:tag name="KSO_WM_DIAGRAM_VIRTUALLY_FRAME" val="{&quot;height&quot;:452.1,&quot;left&quot;:13.55,&quot;top&quot;:88.5,&quot;width&quot;:936.6}"/>
</p:tagLst>
</file>

<file path=ppt/tags/tag233.xml><?xml version="1.0" encoding="utf-8"?>
<p:tagLst xmlns:p="http://schemas.openxmlformats.org/presentationml/2006/main">
  <p:tag name="KSO_WM_DIAGRAM_VIRTUALLY_FRAME" val="{&quot;height&quot;:452.1,&quot;left&quot;:13.55,&quot;top&quot;:88.5,&quot;width&quot;:936.6}"/>
</p:tagLst>
</file>

<file path=ppt/tags/tag234.xml><?xml version="1.0" encoding="utf-8"?>
<p:tagLst xmlns:p="http://schemas.openxmlformats.org/presentationml/2006/main">
  <p:tag name="KSO_WM_DIAGRAM_VIRTUALLY_FRAME" val="{&quot;height&quot;:452.1,&quot;left&quot;:13.55,&quot;top&quot;:88.5,&quot;width&quot;:936.6}"/>
</p:tagLst>
</file>

<file path=ppt/tags/tag235.xml><?xml version="1.0" encoding="utf-8"?>
<p:tagLst xmlns:p="http://schemas.openxmlformats.org/presentationml/2006/main">
  <p:tag name="TABLE_ENDDRAG_ORIGIN_RECT" val="890*227"/>
  <p:tag name="TABLE_ENDDRAG_RECT" val="36*109*890*227"/>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DIAGRAM_VIRTUALLY_FRAME" val="{&quot;height&quot;:452.1,&quot;left&quot;:13.55,&quot;top&quot;:88.5,&quot;width&quot;:936.6}"/>
</p:tagLst>
</file>

<file path=ppt/tags/tag238.xml><?xml version="1.0" encoding="utf-8"?>
<p:tagLst xmlns:p="http://schemas.openxmlformats.org/presentationml/2006/main">
  <p:tag name="KSO_WM_DIAGRAM_VIRTUALLY_FRAME" val="{&quot;height&quot;:452.1,&quot;left&quot;:13.55,&quot;top&quot;:88.5,&quot;width&quot;:936.6}"/>
</p:tagLst>
</file>

<file path=ppt/tags/tag239.xml><?xml version="1.0" encoding="utf-8"?>
<p:tagLst xmlns:p="http://schemas.openxmlformats.org/presentationml/2006/main">
  <p:tag name="KSO_WM_DIAGRAM_VIRTUALLY_FRAME" val="{&quot;height&quot;:452.1,&quot;left&quot;:13.55,&quot;top&quot;:88.5,&quot;width&quot;:936.6}"/>
</p:tagLst>
</file>

<file path=ppt/tags/tag240.xml><?xml version="1.0" encoding="utf-8"?>
<p:tagLst xmlns:p="http://schemas.openxmlformats.org/presentationml/2006/main">
  <p:tag name="KSO_WM_DIAGRAM_VIRTUALLY_FRAME" val="{&quot;height&quot;:452.1,&quot;left&quot;:13.55,&quot;top&quot;:88.5,&quot;width&quot;:936.6}"/>
</p:tagLst>
</file>

<file path=ppt/tags/tag241.xml><?xml version="1.0" encoding="utf-8"?>
<p:tagLst xmlns:p="http://schemas.openxmlformats.org/presentationml/2006/main">
  <p:tag name="KSO_WM_DIAGRAM_VIRTUALLY_FRAME" val="{&quot;height&quot;:452.1,&quot;left&quot;:13.55,&quot;top&quot;:88.5,&quot;width&quot;:936.6}"/>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DIAGRAM_VIRTUALLY_FRAME" val="{&quot;height&quot;:452.1,&quot;left&quot;:13.55,&quot;top&quot;:88.5,&quot;width&quot;:936.6}"/>
</p:tagLst>
</file>

<file path=ppt/tags/tag244.xml><?xml version="1.0" encoding="utf-8"?>
<p:tagLst xmlns:p="http://schemas.openxmlformats.org/presentationml/2006/main">
  <p:tag name="KSO_WM_DIAGRAM_VIRTUALLY_FRAME" val="{&quot;height&quot;:452.1,&quot;left&quot;:13.55,&quot;top&quot;:88.5,&quot;width&quot;:936.6}"/>
</p:tagLst>
</file>

<file path=ppt/tags/tag245.xml><?xml version="1.0" encoding="utf-8"?>
<p:tagLst xmlns:p="http://schemas.openxmlformats.org/presentationml/2006/main">
  <p:tag name="KSO_WM_DIAGRAM_VIRTUALLY_FRAME" val="{&quot;height&quot;:452.1,&quot;left&quot;:13.55,&quot;top&quot;:88.5,&quot;width&quot;:936.6}"/>
</p:tagLst>
</file>

<file path=ppt/tags/tag246.xml><?xml version="1.0" encoding="utf-8"?>
<p:tagLst xmlns:p="http://schemas.openxmlformats.org/presentationml/2006/main">
  <p:tag name="KSO_WM_DIAGRAM_VIRTUALLY_FRAME" val="{&quot;height&quot;:452.1,&quot;left&quot;:13.55,&quot;top&quot;:88.5,&quot;width&quot;:936.6}"/>
</p:tagLst>
</file>

<file path=ppt/tags/tag247.xml><?xml version="1.0" encoding="utf-8"?>
<p:tagLst xmlns:p="http://schemas.openxmlformats.org/presentationml/2006/main">
  <p:tag name="KSO_WM_DIAGRAM_VIRTUALLY_FRAME" val="{&quot;height&quot;:452.1,&quot;left&quot;:13.55,&quot;top&quot;:88.5,&quot;width&quot;:936.6}"/>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DIAGRAM_VIRTUALLY_FRAME" val="{&quot;height&quot;:452.1,&quot;left&quot;:13.55,&quot;top&quot;:88.5,&quot;width&quot;:936.6}"/>
</p:tagLst>
</file>

<file path=ppt/tags/tag250.xml><?xml version="1.0" encoding="utf-8"?>
<p:tagLst xmlns:p="http://schemas.openxmlformats.org/presentationml/2006/main">
  <p:tag name="KSO_WM_DIAGRAM_VIRTUALLY_FRAME" val="{&quot;height&quot;:452.1,&quot;left&quot;:13.55,&quot;top&quot;:88.5,&quot;width&quot;:936.6}"/>
</p:tagLst>
</file>

<file path=ppt/tags/tag251.xml><?xml version="1.0" encoding="utf-8"?>
<p:tagLst xmlns:p="http://schemas.openxmlformats.org/presentationml/2006/main">
  <p:tag name="KSO_WM_DIAGRAM_VIRTUALLY_FRAME" val="{&quot;height&quot;:452.1,&quot;left&quot;:13.55,&quot;top&quot;:88.5,&quot;width&quot;:936.6}"/>
</p:tagLst>
</file>

<file path=ppt/tags/tag252.xml><?xml version="1.0" encoding="utf-8"?>
<p:tagLst xmlns:p="http://schemas.openxmlformats.org/presentationml/2006/main">
  <p:tag name="KSO_WM_DIAGRAM_VIRTUALLY_FRAME" val="{&quot;height&quot;:452.1,&quot;left&quot;:13.55,&quot;top&quot;:88.5,&quot;width&quot;:936.6}"/>
</p:tagLst>
</file>

<file path=ppt/tags/tag253.xml><?xml version="1.0" encoding="utf-8"?>
<p:tagLst xmlns:p="http://schemas.openxmlformats.org/presentationml/2006/main">
  <p:tag name="KSO_WM_DIAGRAM_VIRTUALLY_FRAME" val="{&quot;height&quot;:452.1,&quot;left&quot;:13.55,&quot;top&quot;:88.5,&quot;width&quot;:936.6}"/>
</p:tagLst>
</file>

<file path=ppt/tags/tag254.xml><?xml version="1.0" encoding="utf-8"?>
<p:tagLst xmlns:p="http://schemas.openxmlformats.org/presentationml/2006/main">
  <p:tag name="TABLE_ENDDRAG_ORIGIN_RECT" val="935*412"/>
  <p:tag name="TABLE_ENDDRAG_RECT" val="9*103*935*412"/>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DIAGRAM_VIRTUALLY_FRAME" val="{&quot;height&quot;:452.1,&quot;left&quot;:13.55,&quot;top&quot;:88.5,&quot;width&quot;:936.6}"/>
</p:tagLst>
</file>

<file path=ppt/tags/tag257.xml><?xml version="1.0" encoding="utf-8"?>
<p:tagLst xmlns:p="http://schemas.openxmlformats.org/presentationml/2006/main">
  <p:tag name="KSO_WM_DIAGRAM_VIRTUALLY_FRAME" val="{&quot;height&quot;:452.1,&quot;left&quot;:13.55,&quot;top&quot;:88.5,&quot;width&quot;:936.6}"/>
</p:tagLst>
</file>

<file path=ppt/tags/tag258.xml><?xml version="1.0" encoding="utf-8"?>
<p:tagLst xmlns:p="http://schemas.openxmlformats.org/presentationml/2006/main">
  <p:tag name="KSO_WM_DIAGRAM_VIRTUALLY_FRAME" val="{&quot;height&quot;:452.1,&quot;left&quot;:13.55,&quot;top&quot;:88.5,&quot;width&quot;:936.6}"/>
</p:tagLst>
</file>

<file path=ppt/tags/tag259.xml><?xml version="1.0" encoding="utf-8"?>
<p:tagLst xmlns:p="http://schemas.openxmlformats.org/presentationml/2006/main">
  <p:tag name="KSO_WM_DIAGRAM_VIRTUALLY_FRAME" val="{&quot;height&quot;:452.1,&quot;left&quot;:13.55,&quot;top&quot;:88.5,&quot;width&quot;:936.6}"/>
</p:tagLst>
</file>

<file path=ppt/tags/tag260.xml><?xml version="1.0" encoding="utf-8"?>
<p:tagLst xmlns:p="http://schemas.openxmlformats.org/presentationml/2006/main">
  <p:tag name="KSO_WM_DIAGRAM_VIRTUALLY_FRAME" val="{&quot;height&quot;:452.1,&quot;left&quot;:13.55,&quot;top&quot;:88.5,&quot;width&quot;:936.6}"/>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DIAGRAM_VIRTUALLY_FRAME" val="{&quot;height&quot;:452.1,&quot;left&quot;:13.55,&quot;top&quot;:88.5,&quot;width&quot;:936.6}"/>
</p:tagLst>
</file>

<file path=ppt/tags/tag263.xml><?xml version="1.0" encoding="utf-8"?>
<p:tagLst xmlns:p="http://schemas.openxmlformats.org/presentationml/2006/main">
  <p:tag name="KSO_WM_DIAGRAM_VIRTUALLY_FRAME" val="{&quot;height&quot;:452.1,&quot;left&quot;:13.55,&quot;top&quot;:88.5,&quot;width&quot;:936.6}"/>
</p:tagLst>
</file>

<file path=ppt/tags/tag264.xml><?xml version="1.0" encoding="utf-8"?>
<p:tagLst xmlns:p="http://schemas.openxmlformats.org/presentationml/2006/main">
  <p:tag name="KSO_WM_DIAGRAM_VIRTUALLY_FRAME" val="{&quot;height&quot;:452.1,&quot;left&quot;:13.55,&quot;top&quot;:88.5,&quot;width&quot;:936.6}"/>
</p:tagLst>
</file>

<file path=ppt/tags/tag265.xml><?xml version="1.0" encoding="utf-8"?>
<p:tagLst xmlns:p="http://schemas.openxmlformats.org/presentationml/2006/main">
  <p:tag name="KSO_WM_DIAGRAM_VIRTUALLY_FRAME" val="{&quot;height&quot;:452.1,&quot;left&quot;:13.55,&quot;top&quot;:88.5,&quot;width&quot;:936.6}"/>
</p:tagLst>
</file>

<file path=ppt/tags/tag266.xml><?xml version="1.0" encoding="utf-8"?>
<p:tagLst xmlns:p="http://schemas.openxmlformats.org/presentationml/2006/main">
  <p:tag name="KSO_WM_DIAGRAM_VIRTUALLY_FRAME" val="{&quot;height&quot;:452.1,&quot;left&quot;:13.55,&quot;top&quot;:88.5,&quot;width&quot;:936.6}"/>
</p:tagLst>
</file>

<file path=ppt/tags/tag267.xml><?xml version="1.0" encoding="utf-8"?>
<p:tagLst xmlns:p="http://schemas.openxmlformats.org/presentationml/2006/main">
  <p:tag name="resource_record_key" val="{&quot;10&quot;:[50020639,21589096,19477632,50016025,21581837,3659036,3644702,4523910,3481080,4524050,21547405,20253349,50023787,4528389,20277934,4524054,4522103,50036888,4526080,21547428,3656478,3504176,3659091,4519000,21542542,20210253,21539496,50048214],&quot;13&quot;:[4364933],&quot;29&quot;:[50000049],&quot;70&quot;:[3327967,3319300,3322141,3314368,3314080,3407409,3321782,3429050,3312125],&quot;71&quot;:[76235680060]}"/>
</p:tagLst>
</file>

<file path=ppt/theme/theme1.xml><?xml version="1.0" encoding="utf-8"?>
<a:theme xmlns:a="http://schemas.openxmlformats.org/drawingml/2006/main" name="1_Office 主题">
  <a:themeElements>
    <a:clrScheme name="">
      <a:dk1>
        <a:srgbClr val="000000"/>
      </a:dk1>
      <a:lt1>
        <a:srgbClr val="FFFFFF"/>
      </a:lt1>
      <a:dk2>
        <a:srgbClr val="1A2A2C"/>
      </a:dk2>
      <a:lt2>
        <a:srgbClr val="F7FAFA"/>
      </a:lt2>
      <a:accent1>
        <a:srgbClr val="E4EEEF"/>
      </a:accent1>
      <a:accent2>
        <a:srgbClr val="C3DEE7"/>
      </a:accent2>
      <a:accent3>
        <a:srgbClr val="D7E1DF"/>
      </a:accent3>
      <a:accent4>
        <a:srgbClr val="C7D3D5"/>
      </a:accent4>
      <a:accent5>
        <a:srgbClr val="52C1D8"/>
      </a:accent5>
      <a:accent6>
        <a:srgbClr val="A6ACAE"/>
      </a:accent6>
      <a:hlink>
        <a:srgbClr val="0026E5"/>
      </a:hlink>
      <a:folHlink>
        <a:srgbClr val="7E1FAD"/>
      </a:folHlink>
    </a:clrScheme>
    <a:fontScheme name="WPS">
      <a:majorFont>
        <a:latin typeface="微软雅黑"/>
        <a:ea typeface="微软雅黑"/>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微软雅黑"/>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12442</Words>
  <Application>WPS 演示</Application>
  <PresentationFormat>宽屏</PresentationFormat>
  <Paragraphs>1720</Paragraphs>
  <Slides>19</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19</vt:i4>
      </vt:variant>
    </vt:vector>
  </HeadingPairs>
  <TitlesOfParts>
    <vt:vector size="32" baseType="lpstr">
      <vt:lpstr>Arial</vt:lpstr>
      <vt:lpstr>宋体</vt:lpstr>
      <vt:lpstr>Wingdings</vt:lpstr>
      <vt:lpstr>微软雅黑</vt:lpstr>
      <vt:lpstr>Impact</vt:lpstr>
      <vt:lpstr>Calibri</vt:lpstr>
      <vt:lpstr>Times New Roman</vt:lpstr>
      <vt:lpstr>等线</vt:lpstr>
      <vt:lpstr>Wingdings</vt:lpstr>
      <vt:lpstr>Arial</vt:lpstr>
      <vt:lpstr>Noto Sans SC</vt:lpstr>
      <vt:lpstr>Arial Unicode MS</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吴志川</cp:lastModifiedBy>
  <cp:revision>460</cp:revision>
  <dcterms:created xsi:type="dcterms:W3CDTF">2023-08-09T12:44:00Z</dcterms:created>
  <dcterms:modified xsi:type="dcterms:W3CDTF">2025-09-12T06:16:46Z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C7AA256EE47F4D92B8E76792247B59D1_13</vt:lpwstr>
  </property>
</Properties>
</file>