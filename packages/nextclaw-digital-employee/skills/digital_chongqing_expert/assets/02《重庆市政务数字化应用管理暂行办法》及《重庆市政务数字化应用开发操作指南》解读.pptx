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8" r:id="rId2"/>
    <p:sldId id="262" r:id="rId3"/>
    <p:sldId id="263" r:id="rId4"/>
    <p:sldId id="259" r:id="rId5"/>
    <p:sldId id="257" r:id="rId6"/>
    <p:sldId id="261" r:id="rId7"/>
    <p:sldId id="264" r:id="rId8"/>
    <p:sldId id="265" r:id="rId9"/>
    <p:sldId id="266" r:id="rId10"/>
    <p:sldId id="260"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2" r:id="rId55"/>
    <p:sldId id="311" r:id="rId56"/>
    <p:sldId id="16743206" r:id="rId5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3A688A"/>
    <a:srgbClr val="1D6DC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4" autoAdjust="0"/>
    <p:restoredTop sz="94692"/>
  </p:normalViewPr>
  <p:slideViewPr>
    <p:cSldViewPr snapToGrid="0">
      <p:cViewPr>
        <p:scale>
          <a:sx n="110" d="100"/>
          <a:sy n="110" d="100"/>
        </p:scale>
        <p:origin x="76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C319168-B988-4D75-9A0F-A5F7FA9785BE}" type="doc">
      <dgm:prSet loTypeId="urn:microsoft.com/office/officeart/2005/8/layout/process4" loCatId="process" qsTypeId="urn:microsoft.com/office/officeart/2005/8/quickstyle/simple1#1" qsCatId="simple" csTypeId="urn:microsoft.com/office/officeart/2005/8/colors/accent1_2#3" csCatId="accent1" phldr="1"/>
      <dgm:spPr/>
      <dgm:t>
        <a:bodyPr/>
        <a:lstStyle/>
        <a:p>
          <a:endParaRPr lang="zh-CN" altLang="en-US"/>
        </a:p>
      </dgm:t>
    </dgm:pt>
    <dgm:pt modelId="{683114FE-48AF-455C-8AA4-62F0CF2DA0EB}">
      <dgm:prSet custT="1"/>
      <dgm:spPr>
        <a:solidFill>
          <a:srgbClr val="0070C0"/>
        </a:solidFill>
      </dgm:spPr>
      <dgm:t>
        <a:bodyPr/>
        <a:lstStyle/>
        <a:p>
          <a:pPr algn="ct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责任部门申报</a:t>
          </a:r>
        </a:p>
      </dgm:t>
    </dgm:pt>
    <dgm:pt modelId="{3F91D22F-F5D7-49F6-A02F-5CFB77AB4BF3}" type="parTrans" cxnId="{89598CAB-F9F8-4231-A89B-7016F5431BFC}">
      <dgm:prSet/>
      <dgm:spPr/>
      <dgm:t>
        <a:bodyPr/>
        <a:lstStyle/>
        <a:p>
          <a:pPr algn="ctr"/>
          <a:endParaRPr lang="zh-CN" altLang="en-US" sz="1800"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F1018BB8-EDC2-42CD-96D7-DAC721B19EAC}" type="sibTrans" cxnId="{89598CAB-F9F8-4231-A89B-7016F5431BFC}">
      <dgm:prSet/>
      <dgm:spPr/>
      <dgm:t>
        <a:bodyPr/>
        <a:lstStyle/>
        <a:p>
          <a:pPr algn="ctr"/>
          <a:endParaRPr lang="zh-CN" altLang="en-US" sz="1800"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40441CA0-37AF-415A-A9D4-62534ECF65DA}">
      <dgm:prSet custT="1"/>
      <dgm:spPr>
        <a:solidFill>
          <a:srgbClr val="0070C0"/>
        </a:solidFill>
      </dgm:spPr>
      <dgm:t>
        <a:bodyPr/>
        <a:lstStyle/>
        <a:p>
          <a:pPr algn="ct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市大数据发展局查重比对</a:t>
          </a:r>
        </a:p>
      </dgm:t>
    </dgm:pt>
    <dgm:pt modelId="{0E9668CB-18E5-42EE-AA35-7872B84F721D}" type="parTrans" cxnId="{EC24D170-8034-48E1-B175-BFC46598280E}">
      <dgm:prSet/>
      <dgm:spPr/>
      <dgm:t>
        <a:bodyPr/>
        <a:lstStyle/>
        <a:p>
          <a:pPr algn="ctr"/>
          <a:endParaRPr lang="zh-CN" altLang="en-US" sz="1800"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BB91BBE5-D075-45F6-9728-731AFB527F57}" type="sibTrans" cxnId="{EC24D170-8034-48E1-B175-BFC46598280E}">
      <dgm:prSet/>
      <dgm:spPr/>
      <dgm:t>
        <a:bodyPr/>
        <a:lstStyle/>
        <a:p>
          <a:pPr algn="ctr"/>
          <a:endParaRPr lang="zh-CN" altLang="en-US" sz="1800"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D4FDAB16-573F-40CD-9CA7-51AEB02B5AA3}">
      <dgm:prSet custT="1"/>
      <dgm:spPr>
        <a:solidFill>
          <a:srgbClr val="0070C0"/>
        </a:solidFill>
      </dgm:spPr>
      <dgm:t>
        <a:bodyPr/>
        <a:lstStyle/>
        <a:p>
          <a:pPr algn="ct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市委改革办联合论证</a:t>
          </a:r>
        </a:p>
      </dgm:t>
    </dgm:pt>
    <dgm:pt modelId="{BD6D091D-2BA3-411C-B57B-3639621A9BD0}" type="parTrans" cxnId="{258A282F-9A0B-4A37-9468-F5DDAF481EEA}">
      <dgm:prSet/>
      <dgm:spPr/>
      <dgm:t>
        <a:bodyPr/>
        <a:lstStyle/>
        <a:p>
          <a:pPr algn="ctr"/>
          <a:endParaRPr lang="zh-CN" altLang="en-US" sz="1800"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02AAB2C3-C7AB-442F-8863-27BAF8D88E29}" type="sibTrans" cxnId="{258A282F-9A0B-4A37-9468-F5DDAF481EEA}">
      <dgm:prSet/>
      <dgm:spPr/>
      <dgm:t>
        <a:bodyPr/>
        <a:lstStyle/>
        <a:p>
          <a:pPr algn="ctr"/>
          <a:endParaRPr lang="zh-CN" altLang="en-US" sz="1800"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17FE5D75-DCD5-432F-9496-64D0BBA4B9A5}">
      <dgm:prSet custT="1"/>
      <dgm:spPr>
        <a:solidFill>
          <a:srgbClr val="0070C0"/>
        </a:solidFill>
      </dgm:spPr>
      <dgm:t>
        <a:bodyPr/>
        <a:lstStyle/>
        <a:p>
          <a:r>
            <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牵头部门审核</a:t>
          </a:r>
        </a:p>
      </dgm:t>
    </dgm:pt>
    <dgm:pt modelId="{78E26104-E1DD-4602-B3D9-16123780CB98}" type="parTrans" cxnId="{241EDDD1-FCE3-4DF1-A50F-A144BC3EBF2C}">
      <dgm:prSet/>
      <dgm:spPr/>
      <dgm:t>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DA2BDFD0-B73E-4F28-9523-7432DAED6632}" type="sibTrans" cxnId="{241EDDD1-FCE3-4DF1-A50F-A144BC3EBF2C}">
      <dgm:prSet/>
      <dgm:spPr/>
      <dgm:t>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6F379137-5C54-497F-A0BA-784104046885}">
      <dgm:prSet custT="1"/>
      <dgm:spPr>
        <a:solidFill>
          <a:srgbClr val="0070C0"/>
        </a:solidFill>
      </dgm:spPr>
      <dgm:t>
        <a:bodyPr/>
        <a:lstStyle/>
        <a:p>
          <a:pPr algn="ct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领导小组</a:t>
          </a:r>
          <a:r>
            <a:rPr lang="en-US" altLang="zh-CN"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纳入一本账</a:t>
          </a:r>
          <a:endParaRPr lang="zh-CN"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D206DAFA-0045-4E6F-BC7A-F56BD77374E8}" type="sibTrans" cxnId="{EF249818-B9E2-42EA-9F86-733CAC4711CD}">
      <dgm:prSet/>
      <dgm:spPr/>
      <dgm:t>
        <a:bodyPr/>
        <a:lstStyle/>
        <a:p>
          <a:pPr algn="ctr"/>
          <a:endParaRPr lang="zh-CN" altLang="en-US" sz="1800"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D9676139-264E-47E8-A045-0817FC1CDC9B}" type="parTrans" cxnId="{EF249818-B9E2-42EA-9F86-733CAC4711CD}">
      <dgm:prSet/>
      <dgm:spPr/>
      <dgm:t>
        <a:bodyPr/>
        <a:lstStyle/>
        <a:p>
          <a:pPr algn="ctr"/>
          <a:endParaRPr lang="zh-CN" altLang="en-US" sz="1800" b="1">
            <a:solidFill>
              <a:schemeClr val="tx1">
                <a:lumMod val="75000"/>
                <a:lumOff val="25000"/>
              </a:schemeClr>
            </a:solidFill>
            <a:latin typeface="微软雅黑" panose="020B0503020204020204" pitchFamily="34" charset="-122"/>
            <a:ea typeface="微软雅黑" panose="020B0503020204020204" pitchFamily="34" charset="-122"/>
          </a:endParaRPr>
        </a:p>
      </dgm:t>
    </dgm:pt>
    <dgm:pt modelId="{71C5D45D-D6C2-4F61-9022-F73481D73CFF}" type="pres">
      <dgm:prSet presAssocID="{EC319168-B988-4D75-9A0F-A5F7FA9785BE}" presName="Name0" presStyleCnt="0">
        <dgm:presLayoutVars>
          <dgm:dir/>
          <dgm:animLvl val="lvl"/>
          <dgm:resizeHandles val="exact"/>
        </dgm:presLayoutVars>
      </dgm:prSet>
      <dgm:spPr/>
    </dgm:pt>
    <dgm:pt modelId="{9CBCED9B-7C8F-4DB6-B420-C9D58F03BEA0}" type="pres">
      <dgm:prSet presAssocID="{6F379137-5C54-497F-A0BA-784104046885}" presName="boxAndChildren" presStyleCnt="0"/>
      <dgm:spPr/>
    </dgm:pt>
    <dgm:pt modelId="{B0B5743E-5FB3-46A3-954A-B2D5CC71994D}" type="pres">
      <dgm:prSet presAssocID="{6F379137-5C54-497F-A0BA-784104046885}" presName="parentTextBox" presStyleLbl="node1" presStyleIdx="0" presStyleCnt="5" custLinFactNeighborX="4034" custLinFactNeighborY="25493"/>
      <dgm:spPr/>
    </dgm:pt>
    <dgm:pt modelId="{565CEAE9-8EB5-4E81-AAEB-81B252F18172}" type="pres">
      <dgm:prSet presAssocID="{02AAB2C3-C7AB-442F-8863-27BAF8D88E29}" presName="sp" presStyleCnt="0"/>
      <dgm:spPr/>
    </dgm:pt>
    <dgm:pt modelId="{61F6455F-D973-4700-BA62-84A0DA0E8D88}" type="pres">
      <dgm:prSet presAssocID="{D4FDAB16-573F-40CD-9CA7-51AEB02B5AA3}" presName="arrowAndChildren" presStyleCnt="0"/>
      <dgm:spPr/>
    </dgm:pt>
    <dgm:pt modelId="{E8FFBE9A-AE1C-447B-8549-908E9CC32352}" type="pres">
      <dgm:prSet presAssocID="{D4FDAB16-573F-40CD-9CA7-51AEB02B5AA3}" presName="parentTextArrow" presStyleLbl="node1" presStyleIdx="1" presStyleCnt="5"/>
      <dgm:spPr/>
    </dgm:pt>
    <dgm:pt modelId="{0590AC7D-F350-4099-A2DD-6A8AC742E03C}" type="pres">
      <dgm:prSet presAssocID="{BB91BBE5-D075-45F6-9728-731AFB527F57}" presName="sp" presStyleCnt="0"/>
      <dgm:spPr/>
    </dgm:pt>
    <dgm:pt modelId="{6FA557A6-F069-4C63-9826-F56B68D3DDD9}" type="pres">
      <dgm:prSet presAssocID="{40441CA0-37AF-415A-A9D4-62534ECF65DA}" presName="arrowAndChildren" presStyleCnt="0"/>
      <dgm:spPr/>
    </dgm:pt>
    <dgm:pt modelId="{1FDCF386-2614-416B-B2A0-BC4ACC5B6879}" type="pres">
      <dgm:prSet presAssocID="{40441CA0-37AF-415A-A9D4-62534ECF65DA}" presName="parentTextArrow" presStyleLbl="node1" presStyleIdx="2" presStyleCnt="5"/>
      <dgm:spPr/>
    </dgm:pt>
    <dgm:pt modelId="{65115F95-79B6-4F67-93E6-1F9B9EBE53B8}" type="pres">
      <dgm:prSet presAssocID="{DA2BDFD0-B73E-4F28-9523-7432DAED6632}" presName="sp" presStyleCnt="0"/>
      <dgm:spPr/>
    </dgm:pt>
    <dgm:pt modelId="{3DA4A3CC-80A6-413E-8519-77222C22897C}" type="pres">
      <dgm:prSet presAssocID="{17FE5D75-DCD5-432F-9496-64D0BBA4B9A5}" presName="arrowAndChildren" presStyleCnt="0"/>
      <dgm:spPr/>
    </dgm:pt>
    <dgm:pt modelId="{6FF44493-C180-47B8-AAE4-DBE409A76238}" type="pres">
      <dgm:prSet presAssocID="{17FE5D75-DCD5-432F-9496-64D0BBA4B9A5}" presName="parentTextArrow" presStyleLbl="node1" presStyleIdx="3" presStyleCnt="5" custLinFactNeighborX="-1850" custLinFactNeighborY="2364"/>
      <dgm:spPr/>
    </dgm:pt>
    <dgm:pt modelId="{653A1B31-198B-4FB8-9377-3D4CF723304B}" type="pres">
      <dgm:prSet presAssocID="{F1018BB8-EDC2-42CD-96D7-DAC721B19EAC}" presName="sp" presStyleCnt="0"/>
      <dgm:spPr/>
    </dgm:pt>
    <dgm:pt modelId="{CEC9B48F-2925-4C40-861B-B1F386C7828D}" type="pres">
      <dgm:prSet presAssocID="{683114FE-48AF-455C-8AA4-62F0CF2DA0EB}" presName="arrowAndChildren" presStyleCnt="0"/>
      <dgm:spPr/>
    </dgm:pt>
    <dgm:pt modelId="{5C6BCB1A-9CC5-4F1E-A073-73DB0528AE59}" type="pres">
      <dgm:prSet presAssocID="{683114FE-48AF-455C-8AA4-62F0CF2DA0EB}" presName="parentTextArrow" presStyleLbl="node1" presStyleIdx="4" presStyleCnt="5"/>
      <dgm:spPr/>
    </dgm:pt>
  </dgm:ptLst>
  <dgm:cxnLst>
    <dgm:cxn modelId="{EF249818-B9E2-42EA-9F86-733CAC4711CD}" srcId="{EC319168-B988-4D75-9A0F-A5F7FA9785BE}" destId="{6F379137-5C54-497F-A0BA-784104046885}" srcOrd="4" destOrd="0" parTransId="{D9676139-264E-47E8-A045-0817FC1CDC9B}" sibTransId="{D206DAFA-0045-4E6F-BC7A-F56BD77374E8}"/>
    <dgm:cxn modelId="{12416B27-007E-4EF0-A5B6-63EB8DE9D218}" type="presOf" srcId="{6F379137-5C54-497F-A0BA-784104046885}" destId="{B0B5743E-5FB3-46A3-954A-B2D5CC71994D}" srcOrd="0" destOrd="0" presId="urn:microsoft.com/office/officeart/2005/8/layout/process4"/>
    <dgm:cxn modelId="{258A282F-9A0B-4A37-9468-F5DDAF481EEA}" srcId="{EC319168-B988-4D75-9A0F-A5F7FA9785BE}" destId="{D4FDAB16-573F-40CD-9CA7-51AEB02B5AA3}" srcOrd="3" destOrd="0" parTransId="{BD6D091D-2BA3-411C-B57B-3639621A9BD0}" sibTransId="{02AAB2C3-C7AB-442F-8863-27BAF8D88E29}"/>
    <dgm:cxn modelId="{3514A74B-93BD-446A-99C2-C030E4010255}" type="presOf" srcId="{EC319168-B988-4D75-9A0F-A5F7FA9785BE}" destId="{71C5D45D-D6C2-4F61-9022-F73481D73CFF}" srcOrd="0" destOrd="0" presId="urn:microsoft.com/office/officeart/2005/8/layout/process4"/>
    <dgm:cxn modelId="{ABB4FB66-9FB9-4566-8F98-EEE4E6C5182E}" type="presOf" srcId="{683114FE-48AF-455C-8AA4-62F0CF2DA0EB}" destId="{5C6BCB1A-9CC5-4F1E-A073-73DB0528AE59}" srcOrd="0" destOrd="0" presId="urn:microsoft.com/office/officeart/2005/8/layout/process4"/>
    <dgm:cxn modelId="{EC24D170-8034-48E1-B175-BFC46598280E}" srcId="{EC319168-B988-4D75-9A0F-A5F7FA9785BE}" destId="{40441CA0-37AF-415A-A9D4-62534ECF65DA}" srcOrd="2" destOrd="0" parTransId="{0E9668CB-18E5-42EE-AA35-7872B84F721D}" sibTransId="{BB91BBE5-D075-45F6-9728-731AFB527F57}"/>
    <dgm:cxn modelId="{2203D88E-DE04-48F6-8728-ECD0B6A722F1}" type="presOf" srcId="{17FE5D75-DCD5-432F-9496-64D0BBA4B9A5}" destId="{6FF44493-C180-47B8-AAE4-DBE409A76238}" srcOrd="0" destOrd="0" presId="urn:microsoft.com/office/officeart/2005/8/layout/process4"/>
    <dgm:cxn modelId="{89598CAB-F9F8-4231-A89B-7016F5431BFC}" srcId="{EC319168-B988-4D75-9A0F-A5F7FA9785BE}" destId="{683114FE-48AF-455C-8AA4-62F0CF2DA0EB}" srcOrd="0" destOrd="0" parTransId="{3F91D22F-F5D7-49F6-A02F-5CFB77AB4BF3}" sibTransId="{F1018BB8-EDC2-42CD-96D7-DAC721B19EAC}"/>
    <dgm:cxn modelId="{1FADF7AE-FD9C-4E92-8DF7-11977FB98192}" type="presOf" srcId="{40441CA0-37AF-415A-A9D4-62534ECF65DA}" destId="{1FDCF386-2614-416B-B2A0-BC4ACC5B6879}" srcOrd="0" destOrd="0" presId="urn:microsoft.com/office/officeart/2005/8/layout/process4"/>
    <dgm:cxn modelId="{AAB539D0-9865-45BA-94DE-DA397ACB16F8}" type="presOf" srcId="{D4FDAB16-573F-40CD-9CA7-51AEB02B5AA3}" destId="{E8FFBE9A-AE1C-447B-8549-908E9CC32352}" srcOrd="0" destOrd="0" presId="urn:microsoft.com/office/officeart/2005/8/layout/process4"/>
    <dgm:cxn modelId="{241EDDD1-FCE3-4DF1-A50F-A144BC3EBF2C}" srcId="{EC319168-B988-4D75-9A0F-A5F7FA9785BE}" destId="{17FE5D75-DCD5-432F-9496-64D0BBA4B9A5}" srcOrd="1" destOrd="0" parTransId="{78E26104-E1DD-4602-B3D9-16123780CB98}" sibTransId="{DA2BDFD0-B73E-4F28-9523-7432DAED6632}"/>
    <dgm:cxn modelId="{42DE0440-5716-4966-9A42-3AA32BAF79C4}" type="presParOf" srcId="{71C5D45D-D6C2-4F61-9022-F73481D73CFF}" destId="{9CBCED9B-7C8F-4DB6-B420-C9D58F03BEA0}" srcOrd="0" destOrd="0" presId="urn:microsoft.com/office/officeart/2005/8/layout/process4"/>
    <dgm:cxn modelId="{B0DF9059-8734-4FE4-B91E-A1878899611C}" type="presParOf" srcId="{9CBCED9B-7C8F-4DB6-B420-C9D58F03BEA0}" destId="{B0B5743E-5FB3-46A3-954A-B2D5CC71994D}" srcOrd="0" destOrd="0" presId="urn:microsoft.com/office/officeart/2005/8/layout/process4"/>
    <dgm:cxn modelId="{795F74D6-C935-41D4-B048-373298426836}" type="presParOf" srcId="{71C5D45D-D6C2-4F61-9022-F73481D73CFF}" destId="{565CEAE9-8EB5-4E81-AAEB-81B252F18172}" srcOrd="1" destOrd="0" presId="urn:microsoft.com/office/officeart/2005/8/layout/process4"/>
    <dgm:cxn modelId="{73FE39AB-CB86-4738-B8F3-E42EA09A7C98}" type="presParOf" srcId="{71C5D45D-D6C2-4F61-9022-F73481D73CFF}" destId="{61F6455F-D973-4700-BA62-84A0DA0E8D88}" srcOrd="2" destOrd="0" presId="urn:microsoft.com/office/officeart/2005/8/layout/process4"/>
    <dgm:cxn modelId="{0D064861-09F1-4521-AF22-F5429DFE002B}" type="presParOf" srcId="{61F6455F-D973-4700-BA62-84A0DA0E8D88}" destId="{E8FFBE9A-AE1C-447B-8549-908E9CC32352}" srcOrd="0" destOrd="0" presId="urn:microsoft.com/office/officeart/2005/8/layout/process4"/>
    <dgm:cxn modelId="{4A504E6E-1997-4FF4-9269-E446F901F566}" type="presParOf" srcId="{71C5D45D-D6C2-4F61-9022-F73481D73CFF}" destId="{0590AC7D-F350-4099-A2DD-6A8AC742E03C}" srcOrd="3" destOrd="0" presId="urn:microsoft.com/office/officeart/2005/8/layout/process4"/>
    <dgm:cxn modelId="{9EE15939-A6A5-441A-A29F-3F44497D6726}" type="presParOf" srcId="{71C5D45D-D6C2-4F61-9022-F73481D73CFF}" destId="{6FA557A6-F069-4C63-9826-F56B68D3DDD9}" srcOrd="4" destOrd="0" presId="urn:microsoft.com/office/officeart/2005/8/layout/process4"/>
    <dgm:cxn modelId="{934F3480-4CAD-450F-9179-B3BAAFC08DF3}" type="presParOf" srcId="{6FA557A6-F069-4C63-9826-F56B68D3DDD9}" destId="{1FDCF386-2614-416B-B2A0-BC4ACC5B6879}" srcOrd="0" destOrd="0" presId="urn:microsoft.com/office/officeart/2005/8/layout/process4"/>
    <dgm:cxn modelId="{13D6AAB8-2D8B-479F-A167-07A323EDDBAE}" type="presParOf" srcId="{71C5D45D-D6C2-4F61-9022-F73481D73CFF}" destId="{65115F95-79B6-4F67-93E6-1F9B9EBE53B8}" srcOrd="5" destOrd="0" presId="urn:microsoft.com/office/officeart/2005/8/layout/process4"/>
    <dgm:cxn modelId="{273CC9E9-5471-4D98-AB0F-7AC432EBF6C5}" type="presParOf" srcId="{71C5D45D-D6C2-4F61-9022-F73481D73CFF}" destId="{3DA4A3CC-80A6-413E-8519-77222C22897C}" srcOrd="6" destOrd="0" presId="urn:microsoft.com/office/officeart/2005/8/layout/process4"/>
    <dgm:cxn modelId="{00C0FC12-C4C2-4989-A7C5-C2CF30B6358A}" type="presParOf" srcId="{3DA4A3CC-80A6-413E-8519-77222C22897C}" destId="{6FF44493-C180-47B8-AAE4-DBE409A76238}" srcOrd="0" destOrd="0" presId="urn:microsoft.com/office/officeart/2005/8/layout/process4"/>
    <dgm:cxn modelId="{CCC6D5C7-ACF4-4D5E-A2E7-E4BC9DFACFE2}" type="presParOf" srcId="{71C5D45D-D6C2-4F61-9022-F73481D73CFF}" destId="{653A1B31-198B-4FB8-9377-3D4CF723304B}" srcOrd="7" destOrd="0" presId="urn:microsoft.com/office/officeart/2005/8/layout/process4"/>
    <dgm:cxn modelId="{1A2F6FED-CCC9-47DB-9913-138647B950B5}" type="presParOf" srcId="{71C5D45D-D6C2-4F61-9022-F73481D73CFF}" destId="{CEC9B48F-2925-4C40-861B-B1F386C7828D}" srcOrd="8" destOrd="0" presId="urn:microsoft.com/office/officeart/2005/8/layout/process4"/>
    <dgm:cxn modelId="{9E652BD1-424B-4EB8-8C55-9E706F9205BD}" type="presParOf" srcId="{CEC9B48F-2925-4C40-861B-B1F386C7828D}" destId="{5C6BCB1A-9CC5-4F1E-A073-73DB0528AE59}"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319168-B988-4D75-9A0F-A5F7FA9785BE}" type="doc">
      <dgm:prSet loTypeId="urn:microsoft.com/office/officeart/2005/8/layout/process4" loCatId="process" qsTypeId="urn:microsoft.com/office/officeart/2005/8/quickstyle/simple1#1" qsCatId="simple" csTypeId="urn:microsoft.com/office/officeart/2005/8/colors/accent1_2#3" csCatId="accent1" phldr="1"/>
      <dgm:spPr/>
      <dgm:t>
        <a:bodyPr/>
        <a:lstStyle/>
        <a:p>
          <a:endParaRPr lang="zh-CN" altLang="en-US"/>
        </a:p>
      </dgm:t>
    </dgm:pt>
    <dgm:pt modelId="{683114FE-48AF-455C-8AA4-62F0CF2DA0EB}">
      <dgm:prSet custT="1"/>
      <dgm:spPr>
        <a:solidFill>
          <a:srgbClr val="0070C0"/>
        </a:solidFill>
      </dgm:spPr>
      <dgm:t>
        <a:bodyPr/>
        <a:lstStyle/>
        <a:p>
          <a:pPr marL="0" lvl="0" indent="0" algn="ctr" defTabSz="800100">
            <a:lnSpc>
              <a:spcPct val="90000"/>
            </a:lnSpc>
            <a:spcBef>
              <a:spcPct val="0"/>
            </a:spcBef>
            <a:spcAft>
              <a:spcPct val="35000"/>
            </a:spcAft>
            <a:buNone/>
          </a:pPr>
          <a:r>
            <a:rPr lang="zh-CN" altLang="en-US" sz="1800" b="1" kern="12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sym typeface="+mn-ea"/>
            </a:rPr>
            <a:t>区县</a:t>
          </a:r>
          <a:r>
            <a:rPr lang="zh-CN" altLang="en-US" sz="1800" b="1" kern="12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行业主管部门提交开发方案</a:t>
          </a:r>
        </a:p>
      </dgm:t>
    </dgm:pt>
    <dgm:pt modelId="{3F91D22F-F5D7-49F6-A02F-5CFB77AB4BF3}" type="parTrans" cxnId="{89598CAB-F9F8-4231-A89B-7016F5431BFC}">
      <dgm:prSet/>
      <dgm:spPr/>
      <dgm:t>
        <a:bodyPr/>
        <a:lstStyle/>
        <a:p>
          <a:pPr algn="ctr"/>
          <a:endParaRPr lang="zh-CN" altLang="en-US" sz="1800"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F1018BB8-EDC2-42CD-96D7-DAC721B19EAC}" type="sibTrans" cxnId="{89598CAB-F9F8-4231-A89B-7016F5431BFC}">
      <dgm:prSet/>
      <dgm:spPr/>
      <dgm:t>
        <a:bodyPr/>
        <a:lstStyle/>
        <a:p>
          <a:pPr algn="ctr"/>
          <a:endParaRPr lang="zh-CN" altLang="en-US" sz="1800"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40441CA0-37AF-415A-A9D4-62534ECF65DA}">
      <dgm:prSet custT="1"/>
      <dgm:spPr>
        <a:solidFill>
          <a:srgbClr val="0070C0"/>
        </a:solidFill>
      </dgm:spPr>
      <dgm:t>
        <a:bodyPr/>
        <a:lstStyle/>
        <a:p>
          <a:pPr algn="ctr"/>
          <a:r>
            <a:rPr lang="zh-CN" altLang="en-US" sz="1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市大数据发展局备案审查</a:t>
          </a:r>
          <a:endPar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E9668CB-18E5-42EE-AA35-7872B84F721D}" type="parTrans" cxnId="{EC24D170-8034-48E1-B175-BFC46598280E}">
      <dgm:prSet/>
      <dgm:spPr/>
      <dgm:t>
        <a:bodyPr/>
        <a:lstStyle/>
        <a:p>
          <a:pPr algn="ctr"/>
          <a:endParaRPr lang="zh-CN" altLang="en-US" sz="1800"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BB91BBE5-D075-45F6-9728-731AFB527F57}" type="sibTrans" cxnId="{EC24D170-8034-48E1-B175-BFC46598280E}">
      <dgm:prSet/>
      <dgm:spPr/>
      <dgm:t>
        <a:bodyPr/>
        <a:lstStyle/>
        <a:p>
          <a:pPr algn="ctr"/>
          <a:endParaRPr lang="zh-CN" altLang="en-US" sz="1800"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17FE5D75-DCD5-432F-9496-64D0BBA4B9A5}">
      <dgm:prSet custT="1"/>
      <dgm:spPr>
        <a:solidFill>
          <a:srgbClr val="0070C0"/>
        </a:solidFill>
      </dgm:spPr>
      <dgm:t>
        <a:bodyPr/>
        <a:lstStyle/>
        <a:p>
          <a:r>
            <a:rPr lang="zh-CN" altLang="en-US" sz="1800" b="1"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区县</a:t>
          </a:r>
          <a:r>
            <a:rPr lang="zh-CN" altLang="en-US" sz="1800" b="1"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推进数字重庆建设领导小组办公室</a:t>
          </a:r>
          <a:endPar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endParaRPr>
        </a:p>
      </dgm:t>
    </dgm:pt>
    <dgm:pt modelId="{78E26104-E1DD-4602-B3D9-16123780CB98}" type="parTrans" cxnId="{241EDDD1-FCE3-4DF1-A50F-A144BC3EBF2C}">
      <dgm:prSet/>
      <dgm:spPr/>
      <dgm:t>
        <a:bodyPr/>
        <a:lstStyle/>
        <a:p>
          <a:endParaRPr lang="zh-CN" altLang="en-US"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DA2BDFD0-B73E-4F28-9523-7432DAED6632}" type="sibTrans" cxnId="{241EDDD1-FCE3-4DF1-A50F-A144BC3EBF2C}">
      <dgm:prSet/>
      <dgm:spPr/>
      <dgm:t>
        <a:bodyPr/>
        <a:lstStyle/>
        <a:p>
          <a:endParaRPr lang="zh-CN" altLang="en-US"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71C5D45D-D6C2-4F61-9022-F73481D73CFF}" type="pres">
      <dgm:prSet presAssocID="{EC319168-B988-4D75-9A0F-A5F7FA9785BE}" presName="Name0" presStyleCnt="0">
        <dgm:presLayoutVars>
          <dgm:dir/>
          <dgm:animLvl val="lvl"/>
          <dgm:resizeHandles val="exact"/>
        </dgm:presLayoutVars>
      </dgm:prSet>
      <dgm:spPr/>
    </dgm:pt>
    <dgm:pt modelId="{E1C39EDE-0CCF-4A56-827D-694383EB017F}" type="pres">
      <dgm:prSet presAssocID="{40441CA0-37AF-415A-A9D4-62534ECF65DA}" presName="boxAndChildren" presStyleCnt="0"/>
      <dgm:spPr/>
    </dgm:pt>
    <dgm:pt modelId="{D6609744-AD51-4692-9BAA-3F13AD3E2363}" type="pres">
      <dgm:prSet presAssocID="{40441CA0-37AF-415A-A9D4-62534ECF65DA}" presName="parentTextBox" presStyleLbl="node1" presStyleIdx="0" presStyleCnt="3"/>
      <dgm:spPr/>
    </dgm:pt>
    <dgm:pt modelId="{65115F95-79B6-4F67-93E6-1F9B9EBE53B8}" type="pres">
      <dgm:prSet presAssocID="{DA2BDFD0-B73E-4F28-9523-7432DAED6632}" presName="sp" presStyleCnt="0"/>
      <dgm:spPr/>
    </dgm:pt>
    <dgm:pt modelId="{3DA4A3CC-80A6-413E-8519-77222C22897C}" type="pres">
      <dgm:prSet presAssocID="{17FE5D75-DCD5-432F-9496-64D0BBA4B9A5}" presName="arrowAndChildren" presStyleCnt="0"/>
      <dgm:spPr/>
    </dgm:pt>
    <dgm:pt modelId="{6FF44493-C180-47B8-AAE4-DBE409A76238}" type="pres">
      <dgm:prSet presAssocID="{17FE5D75-DCD5-432F-9496-64D0BBA4B9A5}" presName="parentTextArrow" presStyleLbl="node1" presStyleIdx="1" presStyleCnt="3" custLinFactNeighborX="-1850" custLinFactNeighborY="2364"/>
      <dgm:spPr/>
    </dgm:pt>
    <dgm:pt modelId="{653A1B31-198B-4FB8-9377-3D4CF723304B}" type="pres">
      <dgm:prSet presAssocID="{F1018BB8-EDC2-42CD-96D7-DAC721B19EAC}" presName="sp" presStyleCnt="0"/>
      <dgm:spPr/>
    </dgm:pt>
    <dgm:pt modelId="{CEC9B48F-2925-4C40-861B-B1F386C7828D}" type="pres">
      <dgm:prSet presAssocID="{683114FE-48AF-455C-8AA4-62F0CF2DA0EB}" presName="arrowAndChildren" presStyleCnt="0"/>
      <dgm:spPr/>
    </dgm:pt>
    <dgm:pt modelId="{5C6BCB1A-9CC5-4F1E-A073-73DB0528AE59}" type="pres">
      <dgm:prSet presAssocID="{683114FE-48AF-455C-8AA4-62F0CF2DA0EB}" presName="parentTextArrow" presStyleLbl="node1" presStyleIdx="2" presStyleCnt="3"/>
      <dgm:spPr/>
    </dgm:pt>
  </dgm:ptLst>
  <dgm:cxnLst>
    <dgm:cxn modelId="{3514A74B-93BD-446A-99C2-C030E4010255}" type="presOf" srcId="{EC319168-B988-4D75-9A0F-A5F7FA9785BE}" destId="{71C5D45D-D6C2-4F61-9022-F73481D73CFF}" srcOrd="0" destOrd="0" presId="urn:microsoft.com/office/officeart/2005/8/layout/process4"/>
    <dgm:cxn modelId="{FD290152-7E2C-4E53-A125-ED2D51EF3ADE}" type="presOf" srcId="{40441CA0-37AF-415A-A9D4-62534ECF65DA}" destId="{D6609744-AD51-4692-9BAA-3F13AD3E2363}" srcOrd="0" destOrd="0" presId="urn:microsoft.com/office/officeart/2005/8/layout/process4"/>
    <dgm:cxn modelId="{ABB4FB66-9FB9-4566-8F98-EEE4E6C5182E}" type="presOf" srcId="{683114FE-48AF-455C-8AA4-62F0CF2DA0EB}" destId="{5C6BCB1A-9CC5-4F1E-A073-73DB0528AE59}" srcOrd="0" destOrd="0" presId="urn:microsoft.com/office/officeart/2005/8/layout/process4"/>
    <dgm:cxn modelId="{EC24D170-8034-48E1-B175-BFC46598280E}" srcId="{EC319168-B988-4D75-9A0F-A5F7FA9785BE}" destId="{40441CA0-37AF-415A-A9D4-62534ECF65DA}" srcOrd="2" destOrd="0" parTransId="{0E9668CB-18E5-42EE-AA35-7872B84F721D}" sibTransId="{BB91BBE5-D075-45F6-9728-731AFB527F57}"/>
    <dgm:cxn modelId="{2203D88E-DE04-48F6-8728-ECD0B6A722F1}" type="presOf" srcId="{17FE5D75-DCD5-432F-9496-64D0BBA4B9A5}" destId="{6FF44493-C180-47B8-AAE4-DBE409A76238}" srcOrd="0" destOrd="0" presId="urn:microsoft.com/office/officeart/2005/8/layout/process4"/>
    <dgm:cxn modelId="{89598CAB-F9F8-4231-A89B-7016F5431BFC}" srcId="{EC319168-B988-4D75-9A0F-A5F7FA9785BE}" destId="{683114FE-48AF-455C-8AA4-62F0CF2DA0EB}" srcOrd="0" destOrd="0" parTransId="{3F91D22F-F5D7-49F6-A02F-5CFB77AB4BF3}" sibTransId="{F1018BB8-EDC2-42CD-96D7-DAC721B19EAC}"/>
    <dgm:cxn modelId="{241EDDD1-FCE3-4DF1-A50F-A144BC3EBF2C}" srcId="{EC319168-B988-4D75-9A0F-A5F7FA9785BE}" destId="{17FE5D75-DCD5-432F-9496-64D0BBA4B9A5}" srcOrd="1" destOrd="0" parTransId="{78E26104-E1DD-4602-B3D9-16123780CB98}" sibTransId="{DA2BDFD0-B73E-4F28-9523-7432DAED6632}"/>
    <dgm:cxn modelId="{4BD3ECED-494A-4109-A091-A4D8AF912F4F}" type="presParOf" srcId="{71C5D45D-D6C2-4F61-9022-F73481D73CFF}" destId="{E1C39EDE-0CCF-4A56-827D-694383EB017F}" srcOrd="0" destOrd="0" presId="urn:microsoft.com/office/officeart/2005/8/layout/process4"/>
    <dgm:cxn modelId="{CD402ADD-34BC-4212-9FC2-0F60BCE5EC75}" type="presParOf" srcId="{E1C39EDE-0CCF-4A56-827D-694383EB017F}" destId="{D6609744-AD51-4692-9BAA-3F13AD3E2363}" srcOrd="0" destOrd="0" presId="urn:microsoft.com/office/officeart/2005/8/layout/process4"/>
    <dgm:cxn modelId="{13D6AAB8-2D8B-479F-A167-07A323EDDBAE}" type="presParOf" srcId="{71C5D45D-D6C2-4F61-9022-F73481D73CFF}" destId="{65115F95-79B6-4F67-93E6-1F9B9EBE53B8}" srcOrd="1" destOrd="0" presId="urn:microsoft.com/office/officeart/2005/8/layout/process4"/>
    <dgm:cxn modelId="{273CC9E9-5471-4D98-AB0F-7AC432EBF6C5}" type="presParOf" srcId="{71C5D45D-D6C2-4F61-9022-F73481D73CFF}" destId="{3DA4A3CC-80A6-413E-8519-77222C22897C}" srcOrd="2" destOrd="0" presId="urn:microsoft.com/office/officeart/2005/8/layout/process4"/>
    <dgm:cxn modelId="{00C0FC12-C4C2-4989-A7C5-C2CF30B6358A}" type="presParOf" srcId="{3DA4A3CC-80A6-413E-8519-77222C22897C}" destId="{6FF44493-C180-47B8-AAE4-DBE409A76238}" srcOrd="0" destOrd="0" presId="urn:microsoft.com/office/officeart/2005/8/layout/process4"/>
    <dgm:cxn modelId="{CCC6D5C7-ACF4-4D5E-A2E7-E4BC9DFACFE2}" type="presParOf" srcId="{71C5D45D-D6C2-4F61-9022-F73481D73CFF}" destId="{653A1B31-198B-4FB8-9377-3D4CF723304B}" srcOrd="3" destOrd="0" presId="urn:microsoft.com/office/officeart/2005/8/layout/process4"/>
    <dgm:cxn modelId="{1A2F6FED-CCC9-47DB-9913-138647B950B5}" type="presParOf" srcId="{71C5D45D-D6C2-4F61-9022-F73481D73CFF}" destId="{CEC9B48F-2925-4C40-861B-B1F386C7828D}" srcOrd="4" destOrd="0" presId="urn:microsoft.com/office/officeart/2005/8/layout/process4"/>
    <dgm:cxn modelId="{9E652BD1-424B-4EB8-8C55-9E706F9205BD}" type="presParOf" srcId="{CEC9B48F-2925-4C40-861B-B1F386C7828D}" destId="{5C6BCB1A-9CC5-4F1E-A073-73DB0528AE59}"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B5743E-5FB3-46A3-954A-B2D5CC71994D}">
      <dsp:nvSpPr>
        <dsp:cNvPr id="0" name=""/>
        <dsp:cNvSpPr/>
      </dsp:nvSpPr>
      <dsp:spPr>
        <a:xfrm>
          <a:off x="0" y="3434983"/>
          <a:ext cx="4973347" cy="563223"/>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领导小组</a:t>
          </a:r>
          <a:r>
            <a:rPr lang="en-US" altLang="zh-CN"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纳入一本账</a:t>
          </a:r>
          <a:endParaRPr lang="zh-CN"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0" y="3434983"/>
        <a:ext cx="4973347" cy="563223"/>
      </dsp:txXfrm>
    </dsp:sp>
    <dsp:sp modelId="{E8FFBE9A-AE1C-447B-8549-908E9CC32352}">
      <dsp:nvSpPr>
        <dsp:cNvPr id="0" name=""/>
        <dsp:cNvSpPr/>
      </dsp:nvSpPr>
      <dsp:spPr>
        <a:xfrm rot="10800000">
          <a:off x="0" y="2575281"/>
          <a:ext cx="4973347" cy="866238"/>
        </a:xfrm>
        <a:prstGeom prst="upArrowCallou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市委改革办联合论证</a:t>
          </a:r>
        </a:p>
      </dsp:txBody>
      <dsp:txXfrm rot="10800000">
        <a:off x="0" y="2575281"/>
        <a:ext cx="4973347" cy="562855"/>
      </dsp:txXfrm>
    </dsp:sp>
    <dsp:sp modelId="{1FDCF386-2614-416B-B2A0-BC4ACC5B6879}">
      <dsp:nvSpPr>
        <dsp:cNvPr id="0" name=""/>
        <dsp:cNvSpPr/>
      </dsp:nvSpPr>
      <dsp:spPr>
        <a:xfrm rot="10800000">
          <a:off x="0" y="1717491"/>
          <a:ext cx="4973347" cy="866238"/>
        </a:xfrm>
        <a:prstGeom prst="upArrowCallou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市大数据发展局查重比对</a:t>
          </a:r>
        </a:p>
      </dsp:txBody>
      <dsp:txXfrm rot="10800000">
        <a:off x="0" y="1717491"/>
        <a:ext cx="4973347" cy="562855"/>
      </dsp:txXfrm>
    </dsp:sp>
    <dsp:sp modelId="{6FF44493-C180-47B8-AAE4-DBE409A76238}">
      <dsp:nvSpPr>
        <dsp:cNvPr id="0" name=""/>
        <dsp:cNvSpPr/>
      </dsp:nvSpPr>
      <dsp:spPr>
        <a:xfrm rot="10800000">
          <a:off x="0" y="880179"/>
          <a:ext cx="4973347" cy="866238"/>
        </a:xfrm>
        <a:prstGeom prst="upArrowCallou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牵头部门审核</a:t>
          </a:r>
        </a:p>
      </dsp:txBody>
      <dsp:txXfrm rot="10800000">
        <a:off x="0" y="880179"/>
        <a:ext cx="4973347" cy="562855"/>
      </dsp:txXfrm>
    </dsp:sp>
    <dsp:sp modelId="{5C6BCB1A-9CC5-4F1E-A073-73DB0528AE59}">
      <dsp:nvSpPr>
        <dsp:cNvPr id="0" name=""/>
        <dsp:cNvSpPr/>
      </dsp:nvSpPr>
      <dsp:spPr>
        <a:xfrm rot="10800000">
          <a:off x="0" y="1911"/>
          <a:ext cx="4973347" cy="866238"/>
        </a:xfrm>
        <a:prstGeom prst="upArrowCallou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责任部门申报</a:t>
          </a:r>
        </a:p>
      </dsp:txBody>
      <dsp:txXfrm rot="10800000">
        <a:off x="0" y="1911"/>
        <a:ext cx="4973347" cy="5628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609744-AD51-4692-9BAA-3F13AD3E2363}">
      <dsp:nvSpPr>
        <dsp:cNvPr id="0" name=""/>
        <dsp:cNvSpPr/>
      </dsp:nvSpPr>
      <dsp:spPr>
        <a:xfrm>
          <a:off x="0" y="1823624"/>
          <a:ext cx="5680303" cy="598554"/>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市大数据发展局备案审查</a:t>
          </a:r>
          <a:endPar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0" y="1823624"/>
        <a:ext cx="5680303" cy="598554"/>
      </dsp:txXfrm>
    </dsp:sp>
    <dsp:sp modelId="{6FF44493-C180-47B8-AAE4-DBE409A76238}">
      <dsp:nvSpPr>
        <dsp:cNvPr id="0" name=""/>
        <dsp:cNvSpPr/>
      </dsp:nvSpPr>
      <dsp:spPr>
        <a:xfrm rot="10800000">
          <a:off x="0" y="933788"/>
          <a:ext cx="5680303" cy="920576"/>
        </a:xfrm>
        <a:prstGeom prst="upArrowCallou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区县</a:t>
          </a:r>
          <a:r>
            <a:rPr lang="zh-CN" altLang="en-US" sz="1800" b="1"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推进数字重庆建设领导小组办公室</a:t>
          </a:r>
          <a:endParaRPr lang="zh-CN" altLang="en-US" sz="1800" b="1" kern="12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endParaRPr>
        </a:p>
      </dsp:txBody>
      <dsp:txXfrm rot="10800000">
        <a:off x="0" y="933788"/>
        <a:ext cx="5680303" cy="598163"/>
      </dsp:txXfrm>
    </dsp:sp>
    <dsp:sp modelId="{5C6BCB1A-9CC5-4F1E-A073-73DB0528AE59}">
      <dsp:nvSpPr>
        <dsp:cNvPr id="0" name=""/>
        <dsp:cNvSpPr/>
      </dsp:nvSpPr>
      <dsp:spPr>
        <a:xfrm rot="10800000">
          <a:off x="0" y="428"/>
          <a:ext cx="5680303" cy="920576"/>
        </a:xfrm>
        <a:prstGeom prst="upArrowCallou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sym typeface="+mn-ea"/>
            </a:rPr>
            <a:t>区县</a:t>
          </a:r>
          <a:r>
            <a:rPr lang="zh-CN" altLang="en-US" sz="1800" b="1" kern="12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行业主管部门提交开发方案</a:t>
          </a:r>
        </a:p>
      </dsp:txBody>
      <dsp:txXfrm rot="10800000">
        <a:off x="0" y="428"/>
        <a:ext cx="5680303" cy="59816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738FE-9CB4-CD46-AD47-0B99598613C9}" type="datetimeFigureOut">
              <a:rPr kumimoji="1" lang="zh-CN" altLang="en-US" smtClean="0"/>
              <a:t>2023/8/9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98FA3-C026-6040-9277-1255A65DAF12}" type="slidenum">
              <a:rPr kumimoji="1" lang="zh-CN" altLang="en-US" smtClean="0"/>
              <a:t>‹#›</a:t>
            </a:fld>
            <a:endParaRPr kumimoji="1" lang="zh-CN" altLang="en-US"/>
          </a:p>
        </p:txBody>
      </p:sp>
    </p:spTree>
    <p:extLst>
      <p:ext uri="{BB962C8B-B14F-4D97-AF65-F5344CB8AC3E}">
        <p14:creationId xmlns:p14="http://schemas.microsoft.com/office/powerpoint/2010/main" val="147996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3.jpe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descr="背景图案&#10;&#10;描述已自动生成">
            <a:extLst>
              <a:ext uri="{FF2B5EF4-FFF2-40B4-BE49-F238E27FC236}">
                <a16:creationId xmlns:a16="http://schemas.microsoft.com/office/drawing/2014/main" id="{7C004D33-867F-1605-1069-5AF150F01125}"/>
              </a:ext>
            </a:extLst>
          </p:cNvPr>
          <p:cNvPicPr>
            <a:picLocks noChangeAspect="1"/>
          </p:cNvPicPr>
          <p:nvPr userDrawn="1"/>
        </p:nvPicPr>
        <p:blipFill>
          <a:blip r:embed="rId2"/>
          <a:stretch>
            <a:fillRect/>
          </a:stretch>
        </p:blipFill>
        <p:spPr>
          <a:xfrm>
            <a:off x="2723322" y="0"/>
            <a:ext cx="9468677" cy="6672986"/>
          </a:xfrm>
          <a:prstGeom prst="rect">
            <a:avLst/>
          </a:prstGeom>
        </p:spPr>
      </p:pic>
      <p:sp>
        <p:nvSpPr>
          <p:cNvPr id="8" name="矩形 7">
            <a:extLst>
              <a:ext uri="{FF2B5EF4-FFF2-40B4-BE49-F238E27FC236}">
                <a16:creationId xmlns:a16="http://schemas.microsoft.com/office/drawing/2014/main" id="{4F85EEF9-C7F0-D214-F64F-632CCFCA5B0D}"/>
              </a:ext>
            </a:extLst>
          </p:cNvPr>
          <p:cNvSpPr/>
          <p:nvPr userDrawn="1"/>
        </p:nvSpPr>
        <p:spPr>
          <a:xfrm>
            <a:off x="-15240" y="0"/>
            <a:ext cx="12186920" cy="6858000"/>
          </a:xfrm>
          <a:prstGeom prst="rect">
            <a:avLst/>
          </a:prstGeom>
          <a:gradFill flip="none" rotWithShape="1">
            <a:gsLst>
              <a:gs pos="0">
                <a:srgbClr val="A2B9E2">
                  <a:alpha val="0"/>
                </a:srgbClr>
              </a:gs>
              <a:gs pos="31000">
                <a:schemeClr val="bg1">
                  <a:alpha val="45000"/>
                </a:schemeClr>
              </a:gs>
              <a:gs pos="65000">
                <a:srgbClr val="FFFFFF">
                  <a:alpha val="65000"/>
                </a:srgbClr>
              </a:gs>
              <a:gs pos="99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矩形 8">
            <a:extLst>
              <a:ext uri="{FF2B5EF4-FFF2-40B4-BE49-F238E27FC236}">
                <a16:creationId xmlns:a16="http://schemas.microsoft.com/office/drawing/2014/main" id="{8FB646F0-F320-31A1-E73B-9DD7AE3534FA}"/>
              </a:ext>
            </a:extLst>
          </p:cNvPr>
          <p:cNvSpPr/>
          <p:nvPr userDrawn="1"/>
        </p:nvSpPr>
        <p:spPr>
          <a:xfrm>
            <a:off x="-14390" y="0"/>
            <a:ext cx="2737712" cy="6858000"/>
          </a:xfrm>
          <a:prstGeom prst="rect">
            <a:avLst/>
          </a:prstGeom>
          <a:gradFill flip="none" rotWithShape="1">
            <a:gsLst>
              <a:gs pos="0">
                <a:srgbClr val="ECF7FD"/>
              </a:gs>
              <a:gs pos="99000">
                <a:srgbClr val="EAF4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任意形状 7">
            <a:extLst>
              <a:ext uri="{FF2B5EF4-FFF2-40B4-BE49-F238E27FC236}">
                <a16:creationId xmlns:a16="http://schemas.microsoft.com/office/drawing/2014/main" id="{8F5D85A2-95CC-2B7B-CAAB-125637F3CF0F}"/>
              </a:ext>
            </a:extLst>
          </p:cNvPr>
          <p:cNvSpPr/>
          <p:nvPr userDrawn="1"/>
        </p:nvSpPr>
        <p:spPr>
          <a:xfrm>
            <a:off x="-14390" y="6154871"/>
            <a:ext cx="12219710" cy="715485"/>
          </a:xfrm>
          <a:custGeom>
            <a:avLst/>
            <a:gdLst>
              <a:gd name="connsiteX0" fmla="*/ 23750 w 12267210"/>
              <a:gd name="connsiteY0" fmla="*/ 0 h 641267"/>
              <a:gd name="connsiteX1" fmla="*/ 6258296 w 12267210"/>
              <a:gd name="connsiteY1" fmla="*/ 593766 h 641267"/>
              <a:gd name="connsiteX2" fmla="*/ 12243459 w 12267210"/>
              <a:gd name="connsiteY2" fmla="*/ 225631 h 641267"/>
              <a:gd name="connsiteX3" fmla="*/ 12267210 w 12267210"/>
              <a:gd name="connsiteY3" fmla="*/ 641267 h 641267"/>
              <a:gd name="connsiteX4" fmla="*/ 0 w 12267210"/>
              <a:gd name="connsiteY4" fmla="*/ 641267 h 641267"/>
              <a:gd name="connsiteX5" fmla="*/ 23750 w 12267210"/>
              <a:gd name="connsiteY5" fmla="*/ 0 h 641267"/>
              <a:gd name="connsiteX0-1" fmla="*/ 23750 w 12280530"/>
              <a:gd name="connsiteY0-2" fmla="*/ 231569 h 872836"/>
              <a:gd name="connsiteX1-3" fmla="*/ 6258296 w 12280530"/>
              <a:gd name="connsiteY1-4" fmla="*/ 825335 h 872836"/>
              <a:gd name="connsiteX2-5" fmla="*/ 12280530 w 12280530"/>
              <a:gd name="connsiteY2-6" fmla="*/ 0 h 872836"/>
              <a:gd name="connsiteX3-7" fmla="*/ 12267210 w 12280530"/>
              <a:gd name="connsiteY3-8" fmla="*/ 872836 h 872836"/>
              <a:gd name="connsiteX4-9" fmla="*/ 0 w 12280530"/>
              <a:gd name="connsiteY4-10" fmla="*/ 872836 h 872836"/>
              <a:gd name="connsiteX5-11" fmla="*/ 23750 w 12280530"/>
              <a:gd name="connsiteY5-12" fmla="*/ 231569 h 872836"/>
              <a:gd name="connsiteX0-13" fmla="*/ 60820 w 12280530"/>
              <a:gd name="connsiteY0-14" fmla="*/ 0 h 1036683"/>
              <a:gd name="connsiteX1-15" fmla="*/ 6258296 w 12280530"/>
              <a:gd name="connsiteY1-16" fmla="*/ 989182 h 1036683"/>
              <a:gd name="connsiteX2-17" fmla="*/ 12280530 w 12280530"/>
              <a:gd name="connsiteY2-18" fmla="*/ 163847 h 1036683"/>
              <a:gd name="connsiteX3-19" fmla="*/ 12267210 w 12280530"/>
              <a:gd name="connsiteY3-20" fmla="*/ 1036683 h 1036683"/>
              <a:gd name="connsiteX4-21" fmla="*/ 0 w 12280530"/>
              <a:gd name="connsiteY4-22" fmla="*/ 1036683 h 1036683"/>
              <a:gd name="connsiteX5-23" fmla="*/ 60820 w 12280530"/>
              <a:gd name="connsiteY5-24" fmla="*/ 0 h 1036683"/>
              <a:gd name="connsiteX0-25" fmla="*/ 23750 w 12243460"/>
              <a:gd name="connsiteY0-26" fmla="*/ 0 h 1036683"/>
              <a:gd name="connsiteX1-27" fmla="*/ 6221226 w 12243460"/>
              <a:gd name="connsiteY1-28" fmla="*/ 989182 h 1036683"/>
              <a:gd name="connsiteX2-29" fmla="*/ 12243460 w 12243460"/>
              <a:gd name="connsiteY2-30" fmla="*/ 163847 h 1036683"/>
              <a:gd name="connsiteX3-31" fmla="*/ 12230140 w 12243460"/>
              <a:gd name="connsiteY3-32" fmla="*/ 1036683 h 1036683"/>
              <a:gd name="connsiteX4-33" fmla="*/ 0 w 12243460"/>
              <a:gd name="connsiteY4-34" fmla="*/ 1036683 h 1036683"/>
              <a:gd name="connsiteX5-35" fmla="*/ 23750 w 12243460"/>
              <a:gd name="connsiteY5-36" fmla="*/ 0 h 1036683"/>
              <a:gd name="connsiteX0-37" fmla="*/ 0 w 12219710"/>
              <a:gd name="connsiteY0-38" fmla="*/ 0 h 1036683"/>
              <a:gd name="connsiteX1-39" fmla="*/ 6197476 w 12219710"/>
              <a:gd name="connsiteY1-40" fmla="*/ 989182 h 1036683"/>
              <a:gd name="connsiteX2-41" fmla="*/ 12219710 w 12219710"/>
              <a:gd name="connsiteY2-42" fmla="*/ 163847 h 1036683"/>
              <a:gd name="connsiteX3-43" fmla="*/ 12206390 w 12219710"/>
              <a:gd name="connsiteY3-44" fmla="*/ 1036683 h 1036683"/>
              <a:gd name="connsiteX4-45" fmla="*/ 186315 w 12219710"/>
              <a:gd name="connsiteY4-46" fmla="*/ 1024326 h 1036683"/>
              <a:gd name="connsiteX5-47" fmla="*/ 0 w 12219710"/>
              <a:gd name="connsiteY5-48" fmla="*/ 0 h 1036683"/>
              <a:gd name="connsiteX0-49" fmla="*/ 0 w 12219710"/>
              <a:gd name="connsiteY0-50" fmla="*/ 0 h 1049040"/>
              <a:gd name="connsiteX1-51" fmla="*/ 6197476 w 12219710"/>
              <a:gd name="connsiteY1-52" fmla="*/ 989182 h 1049040"/>
              <a:gd name="connsiteX2-53" fmla="*/ 12219710 w 12219710"/>
              <a:gd name="connsiteY2-54" fmla="*/ 163847 h 1049040"/>
              <a:gd name="connsiteX3-55" fmla="*/ 12206390 w 12219710"/>
              <a:gd name="connsiteY3-56" fmla="*/ 1036683 h 1049040"/>
              <a:gd name="connsiteX4-57" fmla="*/ 963 w 12219710"/>
              <a:gd name="connsiteY4-58" fmla="*/ 1049040 h 1049040"/>
              <a:gd name="connsiteX5-59" fmla="*/ 0 w 12219710"/>
              <a:gd name="connsiteY5-60" fmla="*/ 0 h 10490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2219710" h="1049040">
                <a:moveTo>
                  <a:pt x="0" y="0"/>
                </a:moveTo>
                <a:lnTo>
                  <a:pt x="6197476" y="989182"/>
                </a:lnTo>
                <a:lnTo>
                  <a:pt x="12219710" y="163847"/>
                </a:lnTo>
                <a:lnTo>
                  <a:pt x="12206390" y="1036683"/>
                </a:lnTo>
                <a:lnTo>
                  <a:pt x="963" y="104904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标题 1">
            <a:extLst>
              <a:ext uri="{FF2B5EF4-FFF2-40B4-BE49-F238E27FC236}">
                <a16:creationId xmlns:a16="http://schemas.microsoft.com/office/drawing/2014/main" id="{49F7FC77-D421-7AFF-F76A-E597CCD4D5D5}"/>
              </a:ext>
            </a:extLst>
          </p:cNvPr>
          <p:cNvSpPr>
            <a:spLocks noGrp="1"/>
          </p:cNvSpPr>
          <p:nvPr>
            <p:ph type="ctrTitle"/>
          </p:nvPr>
        </p:nvSpPr>
        <p:spPr>
          <a:xfrm>
            <a:off x="1523465" y="2265304"/>
            <a:ext cx="9144000" cy="1624264"/>
          </a:xfrm>
          <a:prstGeom prst="rect">
            <a:avLst/>
          </a:prstGeom>
        </p:spPr>
        <p:txBody>
          <a:bodyPr anchor="ctr"/>
          <a:lstStyle>
            <a:lvl1pPr marL="0" algn="ctr" defTabSz="914400" rtl="0" eaLnBrk="1" latinLnBrk="0" hangingPunct="1">
              <a:lnSpc>
                <a:spcPct val="150000"/>
              </a:lnSpc>
              <a:defRPr lang="zh-CN" altLang="en-US" sz="4400" b="1" kern="1200" dirty="0">
                <a:solidFill>
                  <a:srgbClr val="0070C0"/>
                </a:solidFill>
                <a:latin typeface="Times New Roman" panose="02020603050405020304" pitchFamily="18" charset="0"/>
                <a:ea typeface="微软雅黑" panose="020B0503020204020204" pitchFamily="34" charset="-122"/>
                <a:cs typeface="+mn-cs"/>
              </a:defRPr>
            </a:lvl1pPr>
          </a:lstStyle>
          <a:p>
            <a:r>
              <a:rPr kumimoji="1" lang="zh-CN" altLang="en-US" dirty="0"/>
              <a:t>单击此处编辑母版标题样式</a:t>
            </a:r>
          </a:p>
        </p:txBody>
      </p:sp>
    </p:spTree>
    <p:extLst>
      <p:ext uri="{BB962C8B-B14F-4D97-AF65-F5344CB8AC3E}">
        <p14:creationId xmlns:p14="http://schemas.microsoft.com/office/powerpoint/2010/main" val="2553442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10" name="任意形状 9">
            <a:extLst>
              <a:ext uri="{FF2B5EF4-FFF2-40B4-BE49-F238E27FC236}">
                <a16:creationId xmlns:a16="http://schemas.microsoft.com/office/drawing/2014/main" id="{0EE584DA-EC25-19B4-E554-37D6053DB40D}"/>
              </a:ext>
            </a:extLst>
          </p:cNvPr>
          <p:cNvSpPr/>
          <p:nvPr userDrawn="1"/>
        </p:nvSpPr>
        <p:spPr>
          <a:xfrm>
            <a:off x="0" y="6041571"/>
            <a:ext cx="12219710" cy="816429"/>
          </a:xfrm>
          <a:custGeom>
            <a:avLst/>
            <a:gdLst>
              <a:gd name="connsiteX0" fmla="*/ 23750 w 12267210"/>
              <a:gd name="connsiteY0" fmla="*/ 0 h 641267"/>
              <a:gd name="connsiteX1" fmla="*/ 6258296 w 12267210"/>
              <a:gd name="connsiteY1" fmla="*/ 593766 h 641267"/>
              <a:gd name="connsiteX2" fmla="*/ 12243459 w 12267210"/>
              <a:gd name="connsiteY2" fmla="*/ 225631 h 641267"/>
              <a:gd name="connsiteX3" fmla="*/ 12267210 w 12267210"/>
              <a:gd name="connsiteY3" fmla="*/ 641267 h 641267"/>
              <a:gd name="connsiteX4" fmla="*/ 0 w 12267210"/>
              <a:gd name="connsiteY4" fmla="*/ 641267 h 641267"/>
              <a:gd name="connsiteX5" fmla="*/ 23750 w 12267210"/>
              <a:gd name="connsiteY5" fmla="*/ 0 h 641267"/>
              <a:gd name="connsiteX0-1" fmla="*/ 23750 w 12280530"/>
              <a:gd name="connsiteY0-2" fmla="*/ 231569 h 872836"/>
              <a:gd name="connsiteX1-3" fmla="*/ 6258296 w 12280530"/>
              <a:gd name="connsiteY1-4" fmla="*/ 825335 h 872836"/>
              <a:gd name="connsiteX2-5" fmla="*/ 12280530 w 12280530"/>
              <a:gd name="connsiteY2-6" fmla="*/ 0 h 872836"/>
              <a:gd name="connsiteX3-7" fmla="*/ 12267210 w 12280530"/>
              <a:gd name="connsiteY3-8" fmla="*/ 872836 h 872836"/>
              <a:gd name="connsiteX4-9" fmla="*/ 0 w 12280530"/>
              <a:gd name="connsiteY4-10" fmla="*/ 872836 h 872836"/>
              <a:gd name="connsiteX5-11" fmla="*/ 23750 w 12280530"/>
              <a:gd name="connsiteY5-12" fmla="*/ 231569 h 872836"/>
              <a:gd name="connsiteX0-13" fmla="*/ 60820 w 12280530"/>
              <a:gd name="connsiteY0-14" fmla="*/ 0 h 1036683"/>
              <a:gd name="connsiteX1-15" fmla="*/ 6258296 w 12280530"/>
              <a:gd name="connsiteY1-16" fmla="*/ 989182 h 1036683"/>
              <a:gd name="connsiteX2-17" fmla="*/ 12280530 w 12280530"/>
              <a:gd name="connsiteY2-18" fmla="*/ 163847 h 1036683"/>
              <a:gd name="connsiteX3-19" fmla="*/ 12267210 w 12280530"/>
              <a:gd name="connsiteY3-20" fmla="*/ 1036683 h 1036683"/>
              <a:gd name="connsiteX4-21" fmla="*/ 0 w 12280530"/>
              <a:gd name="connsiteY4-22" fmla="*/ 1036683 h 1036683"/>
              <a:gd name="connsiteX5-23" fmla="*/ 60820 w 12280530"/>
              <a:gd name="connsiteY5-24" fmla="*/ 0 h 1036683"/>
              <a:gd name="connsiteX0-25" fmla="*/ 23750 w 12243460"/>
              <a:gd name="connsiteY0-26" fmla="*/ 0 h 1036683"/>
              <a:gd name="connsiteX1-27" fmla="*/ 6221226 w 12243460"/>
              <a:gd name="connsiteY1-28" fmla="*/ 989182 h 1036683"/>
              <a:gd name="connsiteX2-29" fmla="*/ 12243460 w 12243460"/>
              <a:gd name="connsiteY2-30" fmla="*/ 163847 h 1036683"/>
              <a:gd name="connsiteX3-31" fmla="*/ 12230140 w 12243460"/>
              <a:gd name="connsiteY3-32" fmla="*/ 1036683 h 1036683"/>
              <a:gd name="connsiteX4-33" fmla="*/ 0 w 12243460"/>
              <a:gd name="connsiteY4-34" fmla="*/ 1036683 h 1036683"/>
              <a:gd name="connsiteX5-35" fmla="*/ 23750 w 12243460"/>
              <a:gd name="connsiteY5-36" fmla="*/ 0 h 1036683"/>
              <a:gd name="connsiteX0-37" fmla="*/ 0 w 12219710"/>
              <a:gd name="connsiteY0-38" fmla="*/ 0 h 1036683"/>
              <a:gd name="connsiteX1-39" fmla="*/ 6197476 w 12219710"/>
              <a:gd name="connsiteY1-40" fmla="*/ 989182 h 1036683"/>
              <a:gd name="connsiteX2-41" fmla="*/ 12219710 w 12219710"/>
              <a:gd name="connsiteY2-42" fmla="*/ 163847 h 1036683"/>
              <a:gd name="connsiteX3-43" fmla="*/ 12206390 w 12219710"/>
              <a:gd name="connsiteY3-44" fmla="*/ 1036683 h 1036683"/>
              <a:gd name="connsiteX4-45" fmla="*/ 186315 w 12219710"/>
              <a:gd name="connsiteY4-46" fmla="*/ 1024326 h 1036683"/>
              <a:gd name="connsiteX5-47" fmla="*/ 0 w 12219710"/>
              <a:gd name="connsiteY5-48" fmla="*/ 0 h 1036683"/>
              <a:gd name="connsiteX0-49" fmla="*/ 0 w 12219710"/>
              <a:gd name="connsiteY0-50" fmla="*/ 0 h 1049040"/>
              <a:gd name="connsiteX1-51" fmla="*/ 6197476 w 12219710"/>
              <a:gd name="connsiteY1-52" fmla="*/ 989182 h 1049040"/>
              <a:gd name="connsiteX2-53" fmla="*/ 12219710 w 12219710"/>
              <a:gd name="connsiteY2-54" fmla="*/ 163847 h 1049040"/>
              <a:gd name="connsiteX3-55" fmla="*/ 12206390 w 12219710"/>
              <a:gd name="connsiteY3-56" fmla="*/ 1036683 h 1049040"/>
              <a:gd name="connsiteX4-57" fmla="*/ 963 w 12219710"/>
              <a:gd name="connsiteY4-58" fmla="*/ 1049040 h 1049040"/>
              <a:gd name="connsiteX5-59" fmla="*/ 0 w 12219710"/>
              <a:gd name="connsiteY5-60" fmla="*/ 0 h 1049040"/>
              <a:gd name="connsiteX0-61" fmla="*/ 0 w 12219710"/>
              <a:gd name="connsiteY0-62" fmla="*/ 0 h 1269766"/>
              <a:gd name="connsiteX1-63" fmla="*/ 6197476 w 12219710"/>
              <a:gd name="connsiteY1-64" fmla="*/ 989182 h 1269766"/>
              <a:gd name="connsiteX2-65" fmla="*/ 12219710 w 12219710"/>
              <a:gd name="connsiteY2-66" fmla="*/ 163847 h 1269766"/>
              <a:gd name="connsiteX3-67" fmla="*/ 12206390 w 12219710"/>
              <a:gd name="connsiteY3-68" fmla="*/ 1269766 h 1269766"/>
              <a:gd name="connsiteX4-69" fmla="*/ 963 w 12219710"/>
              <a:gd name="connsiteY4-70" fmla="*/ 1049040 h 1269766"/>
              <a:gd name="connsiteX5-71" fmla="*/ 0 w 12219710"/>
              <a:gd name="connsiteY5-72" fmla="*/ 0 h 1269766"/>
              <a:gd name="connsiteX0-73" fmla="*/ 0 w 12219710"/>
              <a:gd name="connsiteY0-74" fmla="*/ 0 h 1269766"/>
              <a:gd name="connsiteX1-75" fmla="*/ 6197476 w 12219710"/>
              <a:gd name="connsiteY1-76" fmla="*/ 989182 h 1269766"/>
              <a:gd name="connsiteX2-77" fmla="*/ 12219710 w 12219710"/>
              <a:gd name="connsiteY2-78" fmla="*/ 163847 h 1269766"/>
              <a:gd name="connsiteX3-79" fmla="*/ 12206390 w 12219710"/>
              <a:gd name="connsiteY3-80" fmla="*/ 1269766 h 1269766"/>
              <a:gd name="connsiteX4-81" fmla="*/ 36822 w 12219710"/>
              <a:gd name="connsiteY4-82" fmla="*/ 1246264 h 1269766"/>
              <a:gd name="connsiteX5-83" fmla="*/ 0 w 12219710"/>
              <a:gd name="connsiteY5-84" fmla="*/ 0 h 12697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2219710" h="1269766">
                <a:moveTo>
                  <a:pt x="0" y="0"/>
                </a:moveTo>
                <a:lnTo>
                  <a:pt x="6197476" y="989182"/>
                </a:lnTo>
                <a:lnTo>
                  <a:pt x="12219710" y="163847"/>
                </a:lnTo>
                <a:lnTo>
                  <a:pt x="12206390" y="1269766"/>
                </a:lnTo>
                <a:lnTo>
                  <a:pt x="36822" y="1246264"/>
                </a:lnTo>
                <a:lnTo>
                  <a:pt x="0" y="0"/>
                </a:lnTo>
                <a:close/>
              </a:path>
            </a:pathLst>
          </a:custGeom>
          <a:solidFill>
            <a:schemeClr val="accent5">
              <a:lumMod val="40000"/>
              <a:lumOff val="6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任意形状 10">
            <a:extLst>
              <a:ext uri="{FF2B5EF4-FFF2-40B4-BE49-F238E27FC236}">
                <a16:creationId xmlns:a16="http://schemas.microsoft.com/office/drawing/2014/main" id="{6D39F8DC-A28C-CF3C-59E1-8F748EB295AD}"/>
              </a:ext>
            </a:extLst>
          </p:cNvPr>
          <p:cNvSpPr/>
          <p:nvPr userDrawn="1"/>
        </p:nvSpPr>
        <p:spPr>
          <a:xfrm>
            <a:off x="-14390" y="6154871"/>
            <a:ext cx="12219710" cy="715485"/>
          </a:xfrm>
          <a:custGeom>
            <a:avLst/>
            <a:gdLst>
              <a:gd name="connsiteX0" fmla="*/ 23750 w 12267210"/>
              <a:gd name="connsiteY0" fmla="*/ 0 h 641267"/>
              <a:gd name="connsiteX1" fmla="*/ 6258296 w 12267210"/>
              <a:gd name="connsiteY1" fmla="*/ 593766 h 641267"/>
              <a:gd name="connsiteX2" fmla="*/ 12243459 w 12267210"/>
              <a:gd name="connsiteY2" fmla="*/ 225631 h 641267"/>
              <a:gd name="connsiteX3" fmla="*/ 12267210 w 12267210"/>
              <a:gd name="connsiteY3" fmla="*/ 641267 h 641267"/>
              <a:gd name="connsiteX4" fmla="*/ 0 w 12267210"/>
              <a:gd name="connsiteY4" fmla="*/ 641267 h 641267"/>
              <a:gd name="connsiteX5" fmla="*/ 23750 w 12267210"/>
              <a:gd name="connsiteY5" fmla="*/ 0 h 641267"/>
              <a:gd name="connsiteX0-1" fmla="*/ 23750 w 12280530"/>
              <a:gd name="connsiteY0-2" fmla="*/ 231569 h 872836"/>
              <a:gd name="connsiteX1-3" fmla="*/ 6258296 w 12280530"/>
              <a:gd name="connsiteY1-4" fmla="*/ 825335 h 872836"/>
              <a:gd name="connsiteX2-5" fmla="*/ 12280530 w 12280530"/>
              <a:gd name="connsiteY2-6" fmla="*/ 0 h 872836"/>
              <a:gd name="connsiteX3-7" fmla="*/ 12267210 w 12280530"/>
              <a:gd name="connsiteY3-8" fmla="*/ 872836 h 872836"/>
              <a:gd name="connsiteX4-9" fmla="*/ 0 w 12280530"/>
              <a:gd name="connsiteY4-10" fmla="*/ 872836 h 872836"/>
              <a:gd name="connsiteX5-11" fmla="*/ 23750 w 12280530"/>
              <a:gd name="connsiteY5-12" fmla="*/ 231569 h 872836"/>
              <a:gd name="connsiteX0-13" fmla="*/ 60820 w 12280530"/>
              <a:gd name="connsiteY0-14" fmla="*/ 0 h 1036683"/>
              <a:gd name="connsiteX1-15" fmla="*/ 6258296 w 12280530"/>
              <a:gd name="connsiteY1-16" fmla="*/ 989182 h 1036683"/>
              <a:gd name="connsiteX2-17" fmla="*/ 12280530 w 12280530"/>
              <a:gd name="connsiteY2-18" fmla="*/ 163847 h 1036683"/>
              <a:gd name="connsiteX3-19" fmla="*/ 12267210 w 12280530"/>
              <a:gd name="connsiteY3-20" fmla="*/ 1036683 h 1036683"/>
              <a:gd name="connsiteX4-21" fmla="*/ 0 w 12280530"/>
              <a:gd name="connsiteY4-22" fmla="*/ 1036683 h 1036683"/>
              <a:gd name="connsiteX5-23" fmla="*/ 60820 w 12280530"/>
              <a:gd name="connsiteY5-24" fmla="*/ 0 h 1036683"/>
              <a:gd name="connsiteX0-25" fmla="*/ 23750 w 12243460"/>
              <a:gd name="connsiteY0-26" fmla="*/ 0 h 1036683"/>
              <a:gd name="connsiteX1-27" fmla="*/ 6221226 w 12243460"/>
              <a:gd name="connsiteY1-28" fmla="*/ 989182 h 1036683"/>
              <a:gd name="connsiteX2-29" fmla="*/ 12243460 w 12243460"/>
              <a:gd name="connsiteY2-30" fmla="*/ 163847 h 1036683"/>
              <a:gd name="connsiteX3-31" fmla="*/ 12230140 w 12243460"/>
              <a:gd name="connsiteY3-32" fmla="*/ 1036683 h 1036683"/>
              <a:gd name="connsiteX4-33" fmla="*/ 0 w 12243460"/>
              <a:gd name="connsiteY4-34" fmla="*/ 1036683 h 1036683"/>
              <a:gd name="connsiteX5-35" fmla="*/ 23750 w 12243460"/>
              <a:gd name="connsiteY5-36" fmla="*/ 0 h 1036683"/>
              <a:gd name="connsiteX0-37" fmla="*/ 0 w 12219710"/>
              <a:gd name="connsiteY0-38" fmla="*/ 0 h 1036683"/>
              <a:gd name="connsiteX1-39" fmla="*/ 6197476 w 12219710"/>
              <a:gd name="connsiteY1-40" fmla="*/ 989182 h 1036683"/>
              <a:gd name="connsiteX2-41" fmla="*/ 12219710 w 12219710"/>
              <a:gd name="connsiteY2-42" fmla="*/ 163847 h 1036683"/>
              <a:gd name="connsiteX3-43" fmla="*/ 12206390 w 12219710"/>
              <a:gd name="connsiteY3-44" fmla="*/ 1036683 h 1036683"/>
              <a:gd name="connsiteX4-45" fmla="*/ 186315 w 12219710"/>
              <a:gd name="connsiteY4-46" fmla="*/ 1024326 h 1036683"/>
              <a:gd name="connsiteX5-47" fmla="*/ 0 w 12219710"/>
              <a:gd name="connsiteY5-48" fmla="*/ 0 h 1036683"/>
              <a:gd name="connsiteX0-49" fmla="*/ 0 w 12219710"/>
              <a:gd name="connsiteY0-50" fmla="*/ 0 h 1049040"/>
              <a:gd name="connsiteX1-51" fmla="*/ 6197476 w 12219710"/>
              <a:gd name="connsiteY1-52" fmla="*/ 989182 h 1049040"/>
              <a:gd name="connsiteX2-53" fmla="*/ 12219710 w 12219710"/>
              <a:gd name="connsiteY2-54" fmla="*/ 163847 h 1049040"/>
              <a:gd name="connsiteX3-55" fmla="*/ 12206390 w 12219710"/>
              <a:gd name="connsiteY3-56" fmla="*/ 1036683 h 1049040"/>
              <a:gd name="connsiteX4-57" fmla="*/ 963 w 12219710"/>
              <a:gd name="connsiteY4-58" fmla="*/ 1049040 h 1049040"/>
              <a:gd name="connsiteX5-59" fmla="*/ 0 w 12219710"/>
              <a:gd name="connsiteY5-60" fmla="*/ 0 h 10490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2219710" h="1049040">
                <a:moveTo>
                  <a:pt x="0" y="0"/>
                </a:moveTo>
                <a:lnTo>
                  <a:pt x="6197476" y="989182"/>
                </a:lnTo>
                <a:lnTo>
                  <a:pt x="12219710" y="163847"/>
                </a:lnTo>
                <a:lnTo>
                  <a:pt x="12206390" y="1036683"/>
                </a:lnTo>
                <a:lnTo>
                  <a:pt x="963" y="104904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标题 1">
            <a:extLst>
              <a:ext uri="{FF2B5EF4-FFF2-40B4-BE49-F238E27FC236}">
                <a16:creationId xmlns:a16="http://schemas.microsoft.com/office/drawing/2014/main" id="{BE3B328A-4406-B1B8-642B-007273F0A93D}"/>
              </a:ext>
            </a:extLst>
          </p:cNvPr>
          <p:cNvSpPr>
            <a:spLocks noGrp="1"/>
          </p:cNvSpPr>
          <p:nvPr>
            <p:ph type="title"/>
          </p:nvPr>
        </p:nvSpPr>
        <p:spPr>
          <a:xfrm>
            <a:off x="838200" y="2578936"/>
            <a:ext cx="10515600" cy="1325563"/>
          </a:xfrm>
          <a:prstGeom prst="rect">
            <a:avLst/>
          </a:prstGeom>
        </p:spPr>
        <p:txBody>
          <a:bodyPr anchor="ctr"/>
          <a:lstStyle>
            <a:lvl1pPr algn="ctr">
              <a:defRPr lang="zh-CN" altLang="en-US" sz="4800" b="1" kern="1200" dirty="0">
                <a:solidFill>
                  <a:srgbClr val="0070C0"/>
                </a:solidFill>
                <a:latin typeface="微软雅黑" panose="020B0503020204020204" pitchFamily="34" charset="-122"/>
                <a:ea typeface="微软雅黑" panose="020B0503020204020204" pitchFamily="34" charset="-122"/>
                <a:cs typeface="+mn-cs"/>
              </a:defRPr>
            </a:lvl1pPr>
          </a:lstStyle>
          <a:p>
            <a:endParaRPr kumimoji="1" lang="zh-CN" altLang="en-US" dirty="0"/>
          </a:p>
        </p:txBody>
      </p:sp>
    </p:spTree>
    <p:extLst>
      <p:ext uri="{BB962C8B-B14F-4D97-AF65-F5344CB8AC3E}">
        <p14:creationId xmlns:p14="http://schemas.microsoft.com/office/powerpoint/2010/main" val="3009995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1">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B4BDB5A6-07BD-1DA0-E211-0E7D13EA686D}"/>
              </a:ext>
            </a:extLst>
          </p:cNvPr>
          <p:cNvGrpSpPr/>
          <p:nvPr userDrawn="1"/>
        </p:nvGrpSpPr>
        <p:grpSpPr>
          <a:xfrm>
            <a:off x="0" y="1"/>
            <a:ext cx="12192000" cy="6858379"/>
            <a:chOff x="0" y="1"/>
            <a:chExt cx="12192000" cy="6858379"/>
          </a:xfrm>
        </p:grpSpPr>
        <p:sp>
          <p:nvSpPr>
            <p:cNvPr id="8" name="object 4">
              <a:extLst>
                <a:ext uri="{FF2B5EF4-FFF2-40B4-BE49-F238E27FC236}">
                  <a16:creationId xmlns:a16="http://schemas.microsoft.com/office/drawing/2014/main" id="{D1C20F5B-391E-9A78-4429-DA10C0E27C88}"/>
                </a:ext>
              </a:extLst>
            </p:cNvPr>
            <p:cNvSpPr/>
            <p:nvPr/>
          </p:nvSpPr>
          <p:spPr>
            <a:xfrm>
              <a:off x="0" y="1"/>
              <a:ext cx="12192000" cy="5898006"/>
            </a:xfrm>
            <a:custGeom>
              <a:avLst/>
              <a:gdLst/>
              <a:ahLst/>
              <a:cxnLst/>
              <a:rect l="l" t="t" r="r" b="b"/>
              <a:pathLst>
                <a:path w="12085320" h="5885815">
                  <a:moveTo>
                    <a:pt x="12085320" y="0"/>
                  </a:moveTo>
                  <a:lnTo>
                    <a:pt x="0" y="0"/>
                  </a:lnTo>
                  <a:lnTo>
                    <a:pt x="0" y="5885687"/>
                  </a:lnTo>
                  <a:lnTo>
                    <a:pt x="12085320" y="5885687"/>
                  </a:lnTo>
                  <a:lnTo>
                    <a:pt x="12085320" y="0"/>
                  </a:lnTo>
                  <a:close/>
                </a:path>
              </a:pathLst>
            </a:custGeom>
            <a:solidFill>
              <a:srgbClr val="DEEBF7">
                <a:alpha val="70979"/>
              </a:srgbClr>
            </a:solidFill>
          </p:spPr>
          <p:txBody>
            <a:bodyPr wrap="square" lIns="0" tIns="0" rIns="0" bIns="0" rtlCol="0"/>
            <a:lstStyle/>
            <a:p>
              <a:endParaRPr sz="1800" dirty="0">
                <a:latin typeface="微软雅黑" panose="020B0503020204020204" pitchFamily="34" charset="-122"/>
                <a:ea typeface="微软雅黑" panose="020B0503020204020204" pitchFamily="34" charset="-122"/>
              </a:endParaRPr>
            </a:p>
          </p:txBody>
        </p:sp>
        <p:sp>
          <p:nvSpPr>
            <p:cNvPr id="9" name="object 5">
              <a:extLst>
                <a:ext uri="{FF2B5EF4-FFF2-40B4-BE49-F238E27FC236}">
                  <a16:creationId xmlns:a16="http://schemas.microsoft.com/office/drawing/2014/main" id="{993EE27F-2AC3-4AB8-75A5-A9A4B0F8D839}"/>
                </a:ext>
              </a:extLst>
            </p:cNvPr>
            <p:cNvSpPr/>
            <p:nvPr/>
          </p:nvSpPr>
          <p:spPr>
            <a:xfrm>
              <a:off x="0" y="5881115"/>
              <a:ext cx="12192000" cy="977265"/>
            </a:xfrm>
            <a:custGeom>
              <a:avLst/>
              <a:gdLst/>
              <a:ahLst/>
              <a:cxnLst/>
              <a:rect l="l" t="t" r="r" b="b"/>
              <a:pathLst>
                <a:path w="12085320" h="977265">
                  <a:moveTo>
                    <a:pt x="12085320" y="976882"/>
                  </a:moveTo>
                  <a:lnTo>
                    <a:pt x="12085320" y="0"/>
                  </a:lnTo>
                  <a:lnTo>
                    <a:pt x="0" y="0"/>
                  </a:lnTo>
                  <a:lnTo>
                    <a:pt x="0" y="976882"/>
                  </a:lnTo>
                  <a:lnTo>
                    <a:pt x="12085320" y="976882"/>
                  </a:lnTo>
                  <a:close/>
                </a:path>
              </a:pathLst>
            </a:custGeom>
            <a:solidFill>
              <a:srgbClr val="4471C4"/>
            </a:solidFill>
          </p:spPr>
          <p:txBody>
            <a:bodyPr wrap="square" lIns="0" tIns="0" rIns="0" bIns="0" rtlCol="0"/>
            <a:lstStyle/>
            <a:p>
              <a:endParaRPr sz="1800">
                <a:latin typeface="微软雅黑" panose="020B0503020204020204" pitchFamily="34" charset="-122"/>
                <a:ea typeface="微软雅黑" panose="020B0503020204020204" pitchFamily="34" charset="-122"/>
              </a:endParaRPr>
            </a:p>
          </p:txBody>
        </p:sp>
        <p:pic>
          <p:nvPicPr>
            <p:cNvPr id="10" name="object 6">
              <a:extLst>
                <a:ext uri="{FF2B5EF4-FFF2-40B4-BE49-F238E27FC236}">
                  <a16:creationId xmlns:a16="http://schemas.microsoft.com/office/drawing/2014/main" id="{EAC4D690-8391-A8F4-8BA1-33F98ACED663}"/>
                </a:ext>
              </a:extLst>
            </p:cNvPr>
            <p:cNvPicPr/>
            <p:nvPr/>
          </p:nvPicPr>
          <p:blipFill>
            <a:blip r:embed="rId4" cstate="print"/>
            <a:stretch>
              <a:fillRect/>
            </a:stretch>
          </p:blipFill>
          <p:spPr>
            <a:xfrm>
              <a:off x="199644" y="388619"/>
              <a:ext cx="11660124" cy="6150864"/>
            </a:xfrm>
            <a:prstGeom prst="rect">
              <a:avLst/>
            </a:prstGeom>
          </p:spPr>
        </p:pic>
        <p:sp>
          <p:nvSpPr>
            <p:cNvPr id="11" name="object 7">
              <a:extLst>
                <a:ext uri="{FF2B5EF4-FFF2-40B4-BE49-F238E27FC236}">
                  <a16:creationId xmlns:a16="http://schemas.microsoft.com/office/drawing/2014/main" id="{8408955E-5EA1-75DB-1C32-24C82907CC34}"/>
                </a:ext>
              </a:extLst>
            </p:cNvPr>
            <p:cNvSpPr/>
            <p:nvPr/>
          </p:nvSpPr>
          <p:spPr>
            <a:xfrm>
              <a:off x="451104" y="615696"/>
              <a:ext cx="11289793" cy="5819140"/>
            </a:xfrm>
            <a:custGeom>
              <a:avLst/>
              <a:gdLst/>
              <a:ahLst/>
              <a:cxnLst/>
              <a:rect l="l" t="t" r="r" b="b"/>
              <a:pathLst>
                <a:path w="11273155" h="5819140">
                  <a:moveTo>
                    <a:pt x="10923905" y="0"/>
                  </a:moveTo>
                  <a:lnTo>
                    <a:pt x="349110" y="0"/>
                  </a:lnTo>
                  <a:lnTo>
                    <a:pt x="301737" y="3187"/>
                  </a:lnTo>
                  <a:lnTo>
                    <a:pt x="256301" y="12473"/>
                  </a:lnTo>
                  <a:lnTo>
                    <a:pt x="213219" y="27439"/>
                  </a:lnTo>
                  <a:lnTo>
                    <a:pt x="172906" y="47672"/>
                  </a:lnTo>
                  <a:lnTo>
                    <a:pt x="135778" y="72753"/>
                  </a:lnTo>
                  <a:lnTo>
                    <a:pt x="102250" y="102266"/>
                  </a:lnTo>
                  <a:lnTo>
                    <a:pt x="72740" y="135796"/>
                  </a:lnTo>
                  <a:lnTo>
                    <a:pt x="47663" y="172926"/>
                  </a:lnTo>
                  <a:lnTo>
                    <a:pt x="27434" y="213240"/>
                  </a:lnTo>
                  <a:lnTo>
                    <a:pt x="12470" y="256322"/>
                  </a:lnTo>
                  <a:lnTo>
                    <a:pt x="3186" y="301755"/>
                  </a:lnTo>
                  <a:lnTo>
                    <a:pt x="0" y="349123"/>
                  </a:lnTo>
                  <a:lnTo>
                    <a:pt x="0" y="5818632"/>
                  </a:lnTo>
                  <a:lnTo>
                    <a:pt x="11273028" y="5818632"/>
                  </a:lnTo>
                  <a:lnTo>
                    <a:pt x="11273028" y="349123"/>
                  </a:lnTo>
                  <a:lnTo>
                    <a:pt x="11269840" y="301755"/>
                  </a:lnTo>
                  <a:lnTo>
                    <a:pt x="11260554" y="256322"/>
                  </a:lnTo>
                  <a:lnTo>
                    <a:pt x="11245588" y="213240"/>
                  </a:lnTo>
                  <a:lnTo>
                    <a:pt x="11225355" y="172926"/>
                  </a:lnTo>
                  <a:lnTo>
                    <a:pt x="11200274" y="135796"/>
                  </a:lnTo>
                  <a:lnTo>
                    <a:pt x="11170761" y="102266"/>
                  </a:lnTo>
                  <a:lnTo>
                    <a:pt x="11137231" y="72753"/>
                  </a:lnTo>
                  <a:lnTo>
                    <a:pt x="11100101" y="47672"/>
                  </a:lnTo>
                  <a:lnTo>
                    <a:pt x="11059787" y="27439"/>
                  </a:lnTo>
                  <a:lnTo>
                    <a:pt x="11016705" y="12473"/>
                  </a:lnTo>
                  <a:lnTo>
                    <a:pt x="10971272" y="3187"/>
                  </a:lnTo>
                  <a:lnTo>
                    <a:pt x="10923905" y="0"/>
                  </a:lnTo>
                  <a:close/>
                </a:path>
              </a:pathLst>
            </a:custGeom>
            <a:solidFill>
              <a:srgbClr val="FFFFFF"/>
            </a:solidFill>
          </p:spPr>
          <p:txBody>
            <a:bodyPr wrap="square" lIns="0" tIns="0" rIns="0" bIns="0" rtlCol="0"/>
            <a:lstStyle/>
            <a:p>
              <a:endParaRPr sz="1800" dirty="0">
                <a:latin typeface="微软雅黑" panose="020B0503020204020204" pitchFamily="34" charset="-122"/>
                <a:ea typeface="微软雅黑" panose="020B0503020204020204" pitchFamily="34" charset="-122"/>
              </a:endParaRPr>
            </a:p>
          </p:txBody>
        </p:sp>
        <p:pic>
          <p:nvPicPr>
            <p:cNvPr id="12" name="object 8">
              <a:extLst>
                <a:ext uri="{FF2B5EF4-FFF2-40B4-BE49-F238E27FC236}">
                  <a16:creationId xmlns:a16="http://schemas.microsoft.com/office/drawing/2014/main" id="{FF62D58D-BAE8-6FDB-EFBE-44A5C83834F1}"/>
                </a:ext>
              </a:extLst>
            </p:cNvPr>
            <p:cNvPicPr/>
            <p:nvPr/>
          </p:nvPicPr>
          <p:blipFill>
            <a:blip r:embed="rId5" cstate="print"/>
            <a:stretch>
              <a:fillRect/>
            </a:stretch>
          </p:blipFill>
          <p:spPr>
            <a:xfrm>
              <a:off x="451103" y="1530094"/>
              <a:ext cx="11281411" cy="4672800"/>
            </a:xfrm>
            <a:prstGeom prst="rect">
              <a:avLst/>
            </a:prstGeom>
          </p:spPr>
        </p:pic>
      </p:grpSp>
      <p:sp>
        <p:nvSpPr>
          <p:cNvPr id="13" name="标题 1">
            <a:extLst>
              <a:ext uri="{FF2B5EF4-FFF2-40B4-BE49-F238E27FC236}">
                <a16:creationId xmlns:a16="http://schemas.microsoft.com/office/drawing/2014/main" id="{12E26227-5E8E-C31A-E78A-BD3ECB2BD922}"/>
              </a:ext>
            </a:extLst>
          </p:cNvPr>
          <p:cNvSpPr>
            <a:spLocks noGrp="1"/>
          </p:cNvSpPr>
          <p:nvPr>
            <p:ph type="title"/>
          </p:nvPr>
        </p:nvSpPr>
        <p:spPr>
          <a:xfrm>
            <a:off x="1545774" y="1008121"/>
            <a:ext cx="10515600" cy="660450"/>
          </a:xfrm>
          <a:prstGeom prst="rect">
            <a:avLst/>
          </a:prstGeom>
        </p:spPr>
        <p:txBody>
          <a:bodyPr anchor="ctr">
            <a:normAutofit/>
          </a:bodyPr>
          <a:lstStyle>
            <a:lvl1pPr>
              <a:defRPr lang="zh-CN" altLang="en-US" sz="3000" b="1" kern="1200" dirty="0">
                <a:solidFill>
                  <a:srgbClr val="0070C0"/>
                </a:solidFill>
                <a:latin typeface="微软雅黑" panose="020B0503020204020204" pitchFamily="34" charset="-122"/>
                <a:ea typeface="微软雅黑" panose="020B0503020204020204" pitchFamily="34" charset="-122"/>
                <a:cs typeface="+mn-cs"/>
              </a:defRPr>
            </a:lvl1pPr>
          </a:lstStyle>
          <a:p>
            <a:r>
              <a:rPr kumimoji="1" lang="zh-CN" altLang="en-US" dirty="0"/>
              <a:t>单击此处编辑母版标题样式</a:t>
            </a:r>
          </a:p>
        </p:txBody>
      </p:sp>
      <p:sp>
        <p:nvSpPr>
          <p:cNvPr id="14" name="圆角矩形 13">
            <a:extLst>
              <a:ext uri="{FF2B5EF4-FFF2-40B4-BE49-F238E27FC236}">
                <a16:creationId xmlns:a16="http://schemas.microsoft.com/office/drawing/2014/main" id="{C08958E8-4505-B896-FA38-A3325C29DCB6}"/>
              </a:ext>
            </a:extLst>
          </p:cNvPr>
          <p:cNvSpPr/>
          <p:nvPr userDrawn="1">
            <p:custDataLst>
              <p:tags r:id="rId1"/>
            </p:custDataLst>
          </p:nvPr>
        </p:nvSpPr>
        <p:spPr>
          <a:xfrm>
            <a:off x="1397942" y="1145398"/>
            <a:ext cx="74020" cy="516300"/>
          </a:xfrm>
          <a:prstGeom prst="roundRect">
            <a:avLst>
              <a:gd name="adj" fmla="val 50000"/>
            </a:avLst>
          </a:prstGeom>
          <a:gradFill flip="none" rotWithShape="1">
            <a:gsLst>
              <a:gs pos="0">
                <a:srgbClr val="0070C0"/>
              </a:gs>
              <a:gs pos="99000">
                <a:srgbClr val="4472C4">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C80BAF6C-A8B6-0BD9-6915-45D9033B3869}"/>
              </a:ext>
            </a:extLst>
          </p:cNvPr>
          <p:cNvSpPr/>
          <p:nvPr userDrawn="1">
            <p:custDataLst>
              <p:tags r:id="rId2"/>
            </p:custDataLst>
          </p:nvPr>
        </p:nvSpPr>
        <p:spPr>
          <a:xfrm>
            <a:off x="1599844" y="1604316"/>
            <a:ext cx="6387673" cy="45719"/>
          </a:xfrm>
          <a:prstGeom prst="rect">
            <a:avLst/>
          </a:prstGeom>
          <a:gradFill>
            <a:gsLst>
              <a:gs pos="0">
                <a:srgbClr val="0070C0"/>
              </a:gs>
              <a:gs pos="99000">
                <a:srgbClr val="4472C4">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616732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2">
    <p:spTree>
      <p:nvGrpSpPr>
        <p:cNvPr id="1" name=""/>
        <p:cNvGrpSpPr/>
        <p:nvPr/>
      </p:nvGrpSpPr>
      <p:grpSpPr>
        <a:xfrm>
          <a:off x="0" y="0"/>
          <a:ext cx="0" cy="0"/>
          <a:chOff x="0" y="0"/>
          <a:chExt cx="0" cy="0"/>
        </a:xfrm>
      </p:grpSpPr>
      <p:grpSp>
        <p:nvGrpSpPr>
          <p:cNvPr id="8" name="object 3"/>
          <p:cNvGrpSpPr/>
          <p:nvPr/>
        </p:nvGrpSpPr>
        <p:grpSpPr>
          <a:xfrm>
            <a:off x="0" y="1"/>
            <a:ext cx="12192000" cy="6858379"/>
            <a:chOff x="0" y="1"/>
            <a:chExt cx="12192000" cy="6858379"/>
          </a:xfrm>
        </p:grpSpPr>
        <p:sp>
          <p:nvSpPr>
            <p:cNvPr id="12" name="object 4"/>
            <p:cNvSpPr/>
            <p:nvPr/>
          </p:nvSpPr>
          <p:spPr>
            <a:xfrm>
              <a:off x="0" y="1"/>
              <a:ext cx="12192000" cy="5898006"/>
            </a:xfrm>
            <a:custGeom>
              <a:avLst/>
              <a:gdLst/>
              <a:ahLst/>
              <a:cxnLst/>
              <a:rect l="l" t="t" r="r" b="b"/>
              <a:pathLst>
                <a:path w="12085320" h="5885815">
                  <a:moveTo>
                    <a:pt x="12085320" y="0"/>
                  </a:moveTo>
                  <a:lnTo>
                    <a:pt x="0" y="0"/>
                  </a:lnTo>
                  <a:lnTo>
                    <a:pt x="0" y="5885687"/>
                  </a:lnTo>
                  <a:lnTo>
                    <a:pt x="12085320" y="5885687"/>
                  </a:lnTo>
                  <a:lnTo>
                    <a:pt x="12085320" y="0"/>
                  </a:lnTo>
                  <a:close/>
                </a:path>
              </a:pathLst>
            </a:custGeom>
            <a:solidFill>
              <a:srgbClr val="DEEBF7">
                <a:alpha val="70979"/>
              </a:srgbClr>
            </a:solidFill>
          </p:spPr>
          <p:txBody>
            <a:bodyPr wrap="square" lIns="0" tIns="0" rIns="0" bIns="0" rtlCol="0"/>
            <a:lstStyle/>
            <a:p>
              <a:endParaRPr sz="1800" dirty="0">
                <a:latin typeface="微软雅黑" panose="020B0503020204020204" pitchFamily="34" charset="-122"/>
                <a:ea typeface="微软雅黑" panose="020B0503020204020204" pitchFamily="34" charset="-122"/>
              </a:endParaRPr>
            </a:p>
          </p:txBody>
        </p:sp>
        <p:sp>
          <p:nvSpPr>
            <p:cNvPr id="13" name="object 5"/>
            <p:cNvSpPr/>
            <p:nvPr/>
          </p:nvSpPr>
          <p:spPr>
            <a:xfrm>
              <a:off x="0" y="5881115"/>
              <a:ext cx="12192000" cy="977265"/>
            </a:xfrm>
            <a:custGeom>
              <a:avLst/>
              <a:gdLst/>
              <a:ahLst/>
              <a:cxnLst/>
              <a:rect l="l" t="t" r="r" b="b"/>
              <a:pathLst>
                <a:path w="12085320" h="977265">
                  <a:moveTo>
                    <a:pt x="12085320" y="976882"/>
                  </a:moveTo>
                  <a:lnTo>
                    <a:pt x="12085320" y="0"/>
                  </a:lnTo>
                  <a:lnTo>
                    <a:pt x="0" y="0"/>
                  </a:lnTo>
                  <a:lnTo>
                    <a:pt x="0" y="976882"/>
                  </a:lnTo>
                  <a:lnTo>
                    <a:pt x="12085320" y="976882"/>
                  </a:lnTo>
                  <a:close/>
                </a:path>
              </a:pathLst>
            </a:custGeom>
            <a:solidFill>
              <a:srgbClr val="4471C4"/>
            </a:solidFill>
          </p:spPr>
          <p:txBody>
            <a:bodyPr wrap="square" lIns="0" tIns="0" rIns="0" bIns="0" rtlCol="0"/>
            <a:lstStyle/>
            <a:p>
              <a:endParaRPr sz="1800">
                <a:latin typeface="微软雅黑" panose="020B0503020204020204" pitchFamily="34" charset="-122"/>
                <a:ea typeface="微软雅黑" panose="020B0503020204020204" pitchFamily="34" charset="-122"/>
              </a:endParaRPr>
            </a:p>
          </p:txBody>
        </p:sp>
        <p:pic>
          <p:nvPicPr>
            <p:cNvPr id="14" name="object 6"/>
            <p:cNvPicPr/>
            <p:nvPr/>
          </p:nvPicPr>
          <p:blipFill>
            <a:blip r:embed="rId2" cstate="print"/>
            <a:stretch>
              <a:fillRect/>
            </a:stretch>
          </p:blipFill>
          <p:spPr>
            <a:xfrm>
              <a:off x="199644" y="388619"/>
              <a:ext cx="11660124" cy="6150864"/>
            </a:xfrm>
            <a:prstGeom prst="rect">
              <a:avLst/>
            </a:prstGeom>
          </p:spPr>
        </p:pic>
        <p:sp>
          <p:nvSpPr>
            <p:cNvPr id="15" name="object 7"/>
            <p:cNvSpPr/>
            <p:nvPr/>
          </p:nvSpPr>
          <p:spPr>
            <a:xfrm>
              <a:off x="451104" y="615696"/>
              <a:ext cx="11289793" cy="5819140"/>
            </a:xfrm>
            <a:custGeom>
              <a:avLst/>
              <a:gdLst/>
              <a:ahLst/>
              <a:cxnLst/>
              <a:rect l="l" t="t" r="r" b="b"/>
              <a:pathLst>
                <a:path w="11273155" h="5819140">
                  <a:moveTo>
                    <a:pt x="10923905" y="0"/>
                  </a:moveTo>
                  <a:lnTo>
                    <a:pt x="349110" y="0"/>
                  </a:lnTo>
                  <a:lnTo>
                    <a:pt x="301737" y="3187"/>
                  </a:lnTo>
                  <a:lnTo>
                    <a:pt x="256301" y="12473"/>
                  </a:lnTo>
                  <a:lnTo>
                    <a:pt x="213219" y="27439"/>
                  </a:lnTo>
                  <a:lnTo>
                    <a:pt x="172906" y="47672"/>
                  </a:lnTo>
                  <a:lnTo>
                    <a:pt x="135778" y="72753"/>
                  </a:lnTo>
                  <a:lnTo>
                    <a:pt x="102250" y="102266"/>
                  </a:lnTo>
                  <a:lnTo>
                    <a:pt x="72740" y="135796"/>
                  </a:lnTo>
                  <a:lnTo>
                    <a:pt x="47663" y="172926"/>
                  </a:lnTo>
                  <a:lnTo>
                    <a:pt x="27434" y="213240"/>
                  </a:lnTo>
                  <a:lnTo>
                    <a:pt x="12470" y="256322"/>
                  </a:lnTo>
                  <a:lnTo>
                    <a:pt x="3186" y="301755"/>
                  </a:lnTo>
                  <a:lnTo>
                    <a:pt x="0" y="349123"/>
                  </a:lnTo>
                  <a:lnTo>
                    <a:pt x="0" y="5818632"/>
                  </a:lnTo>
                  <a:lnTo>
                    <a:pt x="11273028" y="5818632"/>
                  </a:lnTo>
                  <a:lnTo>
                    <a:pt x="11273028" y="349123"/>
                  </a:lnTo>
                  <a:lnTo>
                    <a:pt x="11269840" y="301755"/>
                  </a:lnTo>
                  <a:lnTo>
                    <a:pt x="11260554" y="256322"/>
                  </a:lnTo>
                  <a:lnTo>
                    <a:pt x="11245588" y="213240"/>
                  </a:lnTo>
                  <a:lnTo>
                    <a:pt x="11225355" y="172926"/>
                  </a:lnTo>
                  <a:lnTo>
                    <a:pt x="11200274" y="135796"/>
                  </a:lnTo>
                  <a:lnTo>
                    <a:pt x="11170761" y="102266"/>
                  </a:lnTo>
                  <a:lnTo>
                    <a:pt x="11137231" y="72753"/>
                  </a:lnTo>
                  <a:lnTo>
                    <a:pt x="11100101" y="47672"/>
                  </a:lnTo>
                  <a:lnTo>
                    <a:pt x="11059787" y="27439"/>
                  </a:lnTo>
                  <a:lnTo>
                    <a:pt x="11016705" y="12473"/>
                  </a:lnTo>
                  <a:lnTo>
                    <a:pt x="10971272" y="3187"/>
                  </a:lnTo>
                  <a:lnTo>
                    <a:pt x="10923905" y="0"/>
                  </a:lnTo>
                  <a:close/>
                </a:path>
              </a:pathLst>
            </a:custGeom>
            <a:solidFill>
              <a:srgbClr val="FFFFFF"/>
            </a:solidFill>
          </p:spPr>
          <p:txBody>
            <a:bodyPr wrap="square" lIns="0" tIns="0" rIns="0" bIns="0" rtlCol="0"/>
            <a:lstStyle/>
            <a:p>
              <a:endParaRPr sz="1800">
                <a:latin typeface="微软雅黑" panose="020B0503020204020204" pitchFamily="34" charset="-122"/>
                <a:ea typeface="微软雅黑" panose="020B0503020204020204" pitchFamily="34" charset="-122"/>
              </a:endParaRPr>
            </a:p>
          </p:txBody>
        </p:sp>
        <p:pic>
          <p:nvPicPr>
            <p:cNvPr id="16" name="object 8"/>
            <p:cNvPicPr/>
            <p:nvPr/>
          </p:nvPicPr>
          <p:blipFill>
            <a:blip r:embed="rId3" cstate="print"/>
            <a:stretch>
              <a:fillRect/>
            </a:stretch>
          </p:blipFill>
          <p:spPr>
            <a:xfrm>
              <a:off x="451103" y="1530095"/>
              <a:ext cx="11281411" cy="4671059"/>
            </a:xfrm>
            <a:prstGeom prst="rect">
              <a:avLst/>
            </a:prstGeom>
          </p:spPr>
        </p:pic>
      </p:grpSp>
    </p:spTree>
    <p:extLst>
      <p:ext uri="{BB962C8B-B14F-4D97-AF65-F5344CB8AC3E}">
        <p14:creationId xmlns:p14="http://schemas.microsoft.com/office/powerpoint/2010/main" val="3703577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
        <p:nvSpPr>
          <p:cNvPr id="3" name="object 4">
            <a:extLst>
              <a:ext uri="{FF2B5EF4-FFF2-40B4-BE49-F238E27FC236}">
                <a16:creationId xmlns:a16="http://schemas.microsoft.com/office/drawing/2014/main" id="{61116F6D-7322-678B-5BF1-A9CA46A552AB}"/>
              </a:ext>
            </a:extLst>
          </p:cNvPr>
          <p:cNvSpPr/>
          <p:nvPr userDrawn="1"/>
        </p:nvSpPr>
        <p:spPr>
          <a:xfrm>
            <a:off x="0" y="0"/>
            <a:ext cx="12192000" cy="6857999"/>
          </a:xfrm>
          <a:custGeom>
            <a:avLst/>
            <a:gdLst/>
            <a:ahLst/>
            <a:cxnLst/>
            <a:rect l="l" t="t" r="r" b="b"/>
            <a:pathLst>
              <a:path w="12085320" h="5885815">
                <a:moveTo>
                  <a:pt x="12085320" y="0"/>
                </a:moveTo>
                <a:lnTo>
                  <a:pt x="0" y="0"/>
                </a:lnTo>
                <a:lnTo>
                  <a:pt x="0" y="5885687"/>
                </a:lnTo>
                <a:lnTo>
                  <a:pt x="12085320" y="5885687"/>
                </a:lnTo>
                <a:lnTo>
                  <a:pt x="12085320" y="0"/>
                </a:lnTo>
                <a:close/>
              </a:path>
            </a:pathLst>
          </a:custGeom>
          <a:solidFill>
            <a:srgbClr val="DEEBF7">
              <a:alpha val="70979"/>
            </a:srgbClr>
          </a:solidFill>
        </p:spPr>
        <p:txBody>
          <a:bodyPr wrap="square" lIns="0" tIns="0" rIns="0" bIns="0" rtlCol="0"/>
          <a:lstStyle/>
          <a:p>
            <a:endParaRPr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0812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61955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D71CE5E-9A44-DEBD-CD02-DC947AE95E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AFF308-AABD-164B-96F8-DC234012411B}" type="datetimeFigureOut">
              <a:rPr kumimoji="1" lang="zh-CN" altLang="en-US" smtClean="0"/>
              <a:t>2023/8/9</a:t>
            </a:fld>
            <a:endParaRPr kumimoji="1" lang="zh-CN" altLang="en-US"/>
          </a:p>
        </p:txBody>
      </p:sp>
      <p:sp>
        <p:nvSpPr>
          <p:cNvPr id="6" name="灯片编号占位符 5">
            <a:extLst>
              <a:ext uri="{FF2B5EF4-FFF2-40B4-BE49-F238E27FC236}">
                <a16:creationId xmlns:a16="http://schemas.microsoft.com/office/drawing/2014/main" id="{B68E8B40-997F-3946-4FFE-17343F3AAE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D287D0-9A3B-D24F-9344-3CFCDBFCCD76}" type="slidenum">
              <a:rPr kumimoji="1" lang="zh-CN" altLang="en-US" smtClean="0"/>
              <a:t>‹#›</a:t>
            </a:fld>
            <a:endParaRPr kumimoji="1" lang="zh-CN" altLang="en-US"/>
          </a:p>
        </p:txBody>
      </p:sp>
    </p:spTree>
    <p:extLst>
      <p:ext uri="{BB962C8B-B14F-4D97-AF65-F5344CB8AC3E}">
        <p14:creationId xmlns:p14="http://schemas.microsoft.com/office/powerpoint/2010/main" val="1053205378"/>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Layout" Target="../slideLayouts/slideLayout3.xml"/><Relationship Id="rId5" Type="http://schemas.openxmlformats.org/officeDocument/2006/relationships/tags" Target="../tags/tag10.xml"/><Relationship Id="rId4" Type="http://schemas.openxmlformats.org/officeDocument/2006/relationships/tags" Target="../tags/tag9.xml"/></Relationships>
</file>

<file path=ppt/slides/_rels/slide4.xml.rels><?xml version="1.0" encoding="UTF-8" standalone="yes"?>
<Relationships xmlns="http://schemas.openxmlformats.org/package/2006/relationships"><Relationship Id="rId13" Type="http://schemas.openxmlformats.org/officeDocument/2006/relationships/tags" Target="../tags/tag23.xml"/><Relationship Id="rId18" Type="http://schemas.openxmlformats.org/officeDocument/2006/relationships/tags" Target="../tags/tag28.xml"/><Relationship Id="rId26" Type="http://schemas.openxmlformats.org/officeDocument/2006/relationships/tags" Target="../tags/tag36.xml"/><Relationship Id="rId39" Type="http://schemas.openxmlformats.org/officeDocument/2006/relationships/tags" Target="../tags/tag49.xml"/><Relationship Id="rId21" Type="http://schemas.openxmlformats.org/officeDocument/2006/relationships/tags" Target="../tags/tag31.xml"/><Relationship Id="rId34" Type="http://schemas.openxmlformats.org/officeDocument/2006/relationships/tags" Target="../tags/tag44.xml"/><Relationship Id="rId7" Type="http://schemas.openxmlformats.org/officeDocument/2006/relationships/tags" Target="../tags/tag1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29" Type="http://schemas.openxmlformats.org/officeDocument/2006/relationships/tags" Target="../tags/tag39.xml"/><Relationship Id="rId41" Type="http://schemas.openxmlformats.org/officeDocument/2006/relationships/slideLayout" Target="../slideLayouts/slideLayout3.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24" Type="http://schemas.openxmlformats.org/officeDocument/2006/relationships/tags" Target="../tags/tag34.xml"/><Relationship Id="rId32" Type="http://schemas.openxmlformats.org/officeDocument/2006/relationships/tags" Target="../tags/tag42.xml"/><Relationship Id="rId37" Type="http://schemas.openxmlformats.org/officeDocument/2006/relationships/tags" Target="../tags/tag47.xml"/><Relationship Id="rId40" Type="http://schemas.openxmlformats.org/officeDocument/2006/relationships/tags" Target="../tags/tag50.xml"/><Relationship Id="rId5" Type="http://schemas.openxmlformats.org/officeDocument/2006/relationships/tags" Target="../tags/tag15.xml"/><Relationship Id="rId15" Type="http://schemas.openxmlformats.org/officeDocument/2006/relationships/tags" Target="../tags/tag25.xml"/><Relationship Id="rId23" Type="http://schemas.openxmlformats.org/officeDocument/2006/relationships/tags" Target="../tags/tag33.xml"/><Relationship Id="rId28" Type="http://schemas.openxmlformats.org/officeDocument/2006/relationships/tags" Target="../tags/tag38.xml"/><Relationship Id="rId36" Type="http://schemas.openxmlformats.org/officeDocument/2006/relationships/tags" Target="../tags/tag46.xml"/><Relationship Id="rId10" Type="http://schemas.openxmlformats.org/officeDocument/2006/relationships/tags" Target="../tags/tag20.xml"/><Relationship Id="rId19" Type="http://schemas.openxmlformats.org/officeDocument/2006/relationships/tags" Target="../tags/tag29.xml"/><Relationship Id="rId31" Type="http://schemas.openxmlformats.org/officeDocument/2006/relationships/tags" Target="../tags/tag41.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tags" Target="../tags/tag32.xml"/><Relationship Id="rId27" Type="http://schemas.openxmlformats.org/officeDocument/2006/relationships/tags" Target="../tags/tag37.xml"/><Relationship Id="rId30" Type="http://schemas.openxmlformats.org/officeDocument/2006/relationships/tags" Target="../tags/tag40.xml"/><Relationship Id="rId35" Type="http://schemas.openxmlformats.org/officeDocument/2006/relationships/tags" Target="../tags/tag45.xml"/><Relationship Id="rId8" Type="http://schemas.openxmlformats.org/officeDocument/2006/relationships/tags" Target="../tags/tag18.xml"/><Relationship Id="rId3" Type="http://schemas.openxmlformats.org/officeDocument/2006/relationships/tags" Target="../tags/tag13.xml"/><Relationship Id="rId12" Type="http://schemas.openxmlformats.org/officeDocument/2006/relationships/tags" Target="../tags/tag22.xml"/><Relationship Id="rId17" Type="http://schemas.openxmlformats.org/officeDocument/2006/relationships/tags" Target="../tags/tag27.xml"/><Relationship Id="rId25" Type="http://schemas.openxmlformats.org/officeDocument/2006/relationships/tags" Target="../tags/tag35.xml"/><Relationship Id="rId33" Type="http://schemas.openxmlformats.org/officeDocument/2006/relationships/tags" Target="../tags/tag43.xml"/><Relationship Id="rId38" Type="http://schemas.openxmlformats.org/officeDocument/2006/relationships/tags" Target="../tags/tag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Layout" Target="../slideLayouts/slideLayout3.xml"/><Relationship Id="rId4" Type="http://schemas.openxmlformats.org/officeDocument/2006/relationships/tags" Target="../tags/tag5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0.xml"/><Relationship Id="rId1" Type="http://schemas.openxmlformats.org/officeDocument/2006/relationships/tags" Target="../tags/tag59.xml"/></Relationships>
</file>

<file path=ppt/slides/_rels/slide10.xml.rels><?xml version="1.0" encoding="UTF-8" standalone="yes"?>
<Relationships xmlns="http://schemas.openxmlformats.org/package/2006/relationships"><Relationship Id="rId13" Type="http://schemas.openxmlformats.org/officeDocument/2006/relationships/tags" Target="../tags/tag73.xml"/><Relationship Id="rId18" Type="http://schemas.openxmlformats.org/officeDocument/2006/relationships/tags" Target="../tags/tag78.xml"/><Relationship Id="rId26" Type="http://schemas.openxmlformats.org/officeDocument/2006/relationships/tags" Target="../tags/tag86.xml"/><Relationship Id="rId39" Type="http://schemas.openxmlformats.org/officeDocument/2006/relationships/tags" Target="../tags/tag99.xml"/><Relationship Id="rId21" Type="http://schemas.openxmlformats.org/officeDocument/2006/relationships/tags" Target="../tags/tag81.xml"/><Relationship Id="rId34" Type="http://schemas.openxmlformats.org/officeDocument/2006/relationships/tags" Target="../tags/tag94.xml"/><Relationship Id="rId42" Type="http://schemas.openxmlformats.org/officeDocument/2006/relationships/tags" Target="../tags/tag102.xml"/><Relationship Id="rId47" Type="http://schemas.openxmlformats.org/officeDocument/2006/relationships/tags" Target="../tags/tag107.xml"/><Relationship Id="rId50" Type="http://schemas.openxmlformats.org/officeDocument/2006/relationships/tags" Target="../tags/tag110.xml"/><Relationship Id="rId7" Type="http://schemas.openxmlformats.org/officeDocument/2006/relationships/tags" Target="../tags/tag67.xml"/><Relationship Id="rId2" Type="http://schemas.openxmlformats.org/officeDocument/2006/relationships/tags" Target="../tags/tag62.xml"/><Relationship Id="rId16" Type="http://schemas.openxmlformats.org/officeDocument/2006/relationships/tags" Target="../tags/tag76.xml"/><Relationship Id="rId29" Type="http://schemas.openxmlformats.org/officeDocument/2006/relationships/tags" Target="../tags/tag89.xml"/><Relationship Id="rId11" Type="http://schemas.openxmlformats.org/officeDocument/2006/relationships/tags" Target="../tags/tag71.xml"/><Relationship Id="rId24" Type="http://schemas.openxmlformats.org/officeDocument/2006/relationships/tags" Target="../tags/tag84.xml"/><Relationship Id="rId32" Type="http://schemas.openxmlformats.org/officeDocument/2006/relationships/tags" Target="../tags/tag92.xml"/><Relationship Id="rId37" Type="http://schemas.openxmlformats.org/officeDocument/2006/relationships/tags" Target="../tags/tag97.xml"/><Relationship Id="rId40" Type="http://schemas.openxmlformats.org/officeDocument/2006/relationships/tags" Target="../tags/tag100.xml"/><Relationship Id="rId45" Type="http://schemas.openxmlformats.org/officeDocument/2006/relationships/tags" Target="../tags/tag105.xml"/><Relationship Id="rId5" Type="http://schemas.openxmlformats.org/officeDocument/2006/relationships/tags" Target="../tags/tag65.xml"/><Relationship Id="rId15" Type="http://schemas.openxmlformats.org/officeDocument/2006/relationships/tags" Target="../tags/tag75.xml"/><Relationship Id="rId23" Type="http://schemas.openxmlformats.org/officeDocument/2006/relationships/tags" Target="../tags/tag83.xml"/><Relationship Id="rId28" Type="http://schemas.openxmlformats.org/officeDocument/2006/relationships/tags" Target="../tags/tag88.xml"/><Relationship Id="rId36" Type="http://schemas.openxmlformats.org/officeDocument/2006/relationships/tags" Target="../tags/tag96.xml"/><Relationship Id="rId49" Type="http://schemas.openxmlformats.org/officeDocument/2006/relationships/tags" Target="../tags/tag109.xml"/><Relationship Id="rId10" Type="http://schemas.openxmlformats.org/officeDocument/2006/relationships/tags" Target="../tags/tag70.xml"/><Relationship Id="rId19" Type="http://schemas.openxmlformats.org/officeDocument/2006/relationships/tags" Target="../tags/tag79.xml"/><Relationship Id="rId31" Type="http://schemas.openxmlformats.org/officeDocument/2006/relationships/tags" Target="../tags/tag91.xml"/><Relationship Id="rId44" Type="http://schemas.openxmlformats.org/officeDocument/2006/relationships/tags" Target="../tags/tag104.xml"/><Relationship Id="rId52" Type="http://schemas.openxmlformats.org/officeDocument/2006/relationships/slideLayout" Target="../slideLayouts/slideLayout4.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 Id="rId22" Type="http://schemas.openxmlformats.org/officeDocument/2006/relationships/tags" Target="../tags/tag82.xml"/><Relationship Id="rId27" Type="http://schemas.openxmlformats.org/officeDocument/2006/relationships/tags" Target="../tags/tag87.xml"/><Relationship Id="rId30" Type="http://schemas.openxmlformats.org/officeDocument/2006/relationships/tags" Target="../tags/tag90.xml"/><Relationship Id="rId35" Type="http://schemas.openxmlformats.org/officeDocument/2006/relationships/tags" Target="../tags/tag95.xml"/><Relationship Id="rId43" Type="http://schemas.openxmlformats.org/officeDocument/2006/relationships/tags" Target="../tags/tag103.xml"/><Relationship Id="rId48" Type="http://schemas.openxmlformats.org/officeDocument/2006/relationships/tags" Target="../tags/tag108.xml"/><Relationship Id="rId8" Type="http://schemas.openxmlformats.org/officeDocument/2006/relationships/tags" Target="../tags/tag68.xml"/><Relationship Id="rId51" Type="http://schemas.openxmlformats.org/officeDocument/2006/relationships/tags" Target="../tags/tag111.xml"/><Relationship Id="rId3" Type="http://schemas.openxmlformats.org/officeDocument/2006/relationships/tags" Target="../tags/tag63.xml"/><Relationship Id="rId12" Type="http://schemas.openxmlformats.org/officeDocument/2006/relationships/tags" Target="../tags/tag72.xml"/><Relationship Id="rId17" Type="http://schemas.openxmlformats.org/officeDocument/2006/relationships/tags" Target="../tags/tag77.xml"/><Relationship Id="rId25" Type="http://schemas.openxmlformats.org/officeDocument/2006/relationships/tags" Target="../tags/tag85.xml"/><Relationship Id="rId33" Type="http://schemas.openxmlformats.org/officeDocument/2006/relationships/tags" Target="../tags/tag93.xml"/><Relationship Id="rId38" Type="http://schemas.openxmlformats.org/officeDocument/2006/relationships/tags" Target="../tags/tag98.xml"/><Relationship Id="rId46" Type="http://schemas.openxmlformats.org/officeDocument/2006/relationships/tags" Target="../tags/tag106.xml"/><Relationship Id="rId20" Type="http://schemas.openxmlformats.org/officeDocument/2006/relationships/tags" Target="../tags/tag80.xml"/><Relationship Id="rId41" Type="http://schemas.openxmlformats.org/officeDocument/2006/relationships/tags" Target="../tags/tag101.xml"/><Relationship Id="rId1" Type="http://schemas.openxmlformats.org/officeDocument/2006/relationships/tags" Target="../tags/tag61.xml"/><Relationship Id="rId6" Type="http://schemas.openxmlformats.org/officeDocument/2006/relationships/tags" Target="../tags/tag6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112.xml"/></Relationships>
</file>

<file path=ppt/slides/_rels/slide12.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3.xml"/><Relationship Id="rId1" Type="http://schemas.openxmlformats.org/officeDocument/2006/relationships/tags" Target="../tags/tag1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8" Type="http://schemas.openxmlformats.org/officeDocument/2006/relationships/tags" Target="../tags/tag124.xml"/><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slideLayout" Target="../slideLayouts/slideLayout3.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5" Type="http://schemas.openxmlformats.org/officeDocument/2006/relationships/tags" Target="../tags/tag121.xml"/><Relationship Id="rId10" Type="http://schemas.openxmlformats.org/officeDocument/2006/relationships/tags" Target="../tags/tag126.xml"/><Relationship Id="rId4" Type="http://schemas.openxmlformats.org/officeDocument/2006/relationships/tags" Target="../tags/tag120.xml"/><Relationship Id="rId9" Type="http://schemas.openxmlformats.org/officeDocument/2006/relationships/tags" Target="../tags/tag12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29.xml"/><Relationship Id="rId1" Type="http://schemas.openxmlformats.org/officeDocument/2006/relationships/tags" Target="../tags/tag128.xml"/></Relationships>
</file>

<file path=ppt/slides/_rels/slide17.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slideLayout" Target="../slideLayouts/slideLayout3.xml"/><Relationship Id="rId5" Type="http://schemas.openxmlformats.org/officeDocument/2006/relationships/tags" Target="../tags/tag137.xml"/><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146.xml"/><Relationship Id="rId7" Type="http://schemas.openxmlformats.org/officeDocument/2006/relationships/slideLayout" Target="../slideLayouts/slideLayout3.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2.xml"/><Relationship Id="rId1" Type="http://schemas.openxmlformats.org/officeDocument/2006/relationships/tags" Target="../tags/tag151.xml"/></Relationships>
</file>

<file path=ppt/slides/_rels/slide26.xml.rels><?xml version="1.0" encoding="UTF-8" standalone="yes"?>
<Relationships xmlns="http://schemas.openxmlformats.org/package/2006/relationships"><Relationship Id="rId13" Type="http://schemas.openxmlformats.org/officeDocument/2006/relationships/tags" Target="../tags/tag165.xml"/><Relationship Id="rId18" Type="http://schemas.openxmlformats.org/officeDocument/2006/relationships/tags" Target="../tags/tag170.xml"/><Relationship Id="rId26" Type="http://schemas.openxmlformats.org/officeDocument/2006/relationships/tags" Target="../tags/tag178.xml"/><Relationship Id="rId21" Type="http://schemas.openxmlformats.org/officeDocument/2006/relationships/tags" Target="../tags/tag173.xml"/><Relationship Id="rId34" Type="http://schemas.openxmlformats.org/officeDocument/2006/relationships/tags" Target="../tags/tag186.xml"/><Relationship Id="rId7" Type="http://schemas.openxmlformats.org/officeDocument/2006/relationships/tags" Target="../tags/tag159.xml"/><Relationship Id="rId12" Type="http://schemas.openxmlformats.org/officeDocument/2006/relationships/tags" Target="../tags/tag164.xml"/><Relationship Id="rId17" Type="http://schemas.openxmlformats.org/officeDocument/2006/relationships/tags" Target="../tags/tag169.xml"/><Relationship Id="rId25" Type="http://schemas.openxmlformats.org/officeDocument/2006/relationships/tags" Target="../tags/tag177.xml"/><Relationship Id="rId33" Type="http://schemas.openxmlformats.org/officeDocument/2006/relationships/tags" Target="../tags/tag185.xml"/><Relationship Id="rId38" Type="http://schemas.openxmlformats.org/officeDocument/2006/relationships/slideLayout" Target="../slideLayouts/slideLayout3.xml"/><Relationship Id="rId2" Type="http://schemas.openxmlformats.org/officeDocument/2006/relationships/tags" Target="../tags/tag154.xml"/><Relationship Id="rId16" Type="http://schemas.openxmlformats.org/officeDocument/2006/relationships/tags" Target="../tags/tag168.xml"/><Relationship Id="rId20" Type="http://schemas.openxmlformats.org/officeDocument/2006/relationships/tags" Target="../tags/tag172.xml"/><Relationship Id="rId29" Type="http://schemas.openxmlformats.org/officeDocument/2006/relationships/tags" Target="../tags/tag181.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tags" Target="../tags/tag163.xml"/><Relationship Id="rId24" Type="http://schemas.openxmlformats.org/officeDocument/2006/relationships/tags" Target="../tags/tag176.xml"/><Relationship Id="rId32" Type="http://schemas.openxmlformats.org/officeDocument/2006/relationships/tags" Target="../tags/tag184.xml"/><Relationship Id="rId37" Type="http://schemas.openxmlformats.org/officeDocument/2006/relationships/tags" Target="../tags/tag189.xml"/><Relationship Id="rId5" Type="http://schemas.openxmlformats.org/officeDocument/2006/relationships/tags" Target="../tags/tag157.xml"/><Relationship Id="rId15" Type="http://schemas.openxmlformats.org/officeDocument/2006/relationships/tags" Target="../tags/tag167.xml"/><Relationship Id="rId23" Type="http://schemas.openxmlformats.org/officeDocument/2006/relationships/tags" Target="../tags/tag175.xml"/><Relationship Id="rId28" Type="http://schemas.openxmlformats.org/officeDocument/2006/relationships/tags" Target="../tags/tag180.xml"/><Relationship Id="rId36" Type="http://schemas.openxmlformats.org/officeDocument/2006/relationships/tags" Target="../tags/tag188.xml"/><Relationship Id="rId10" Type="http://schemas.openxmlformats.org/officeDocument/2006/relationships/tags" Target="../tags/tag162.xml"/><Relationship Id="rId19" Type="http://schemas.openxmlformats.org/officeDocument/2006/relationships/tags" Target="../tags/tag171.xml"/><Relationship Id="rId31" Type="http://schemas.openxmlformats.org/officeDocument/2006/relationships/tags" Target="../tags/tag183.xml"/><Relationship Id="rId4" Type="http://schemas.openxmlformats.org/officeDocument/2006/relationships/tags" Target="../tags/tag156.xml"/><Relationship Id="rId9" Type="http://schemas.openxmlformats.org/officeDocument/2006/relationships/tags" Target="../tags/tag161.xml"/><Relationship Id="rId14" Type="http://schemas.openxmlformats.org/officeDocument/2006/relationships/tags" Target="../tags/tag166.xml"/><Relationship Id="rId22" Type="http://schemas.openxmlformats.org/officeDocument/2006/relationships/tags" Target="../tags/tag174.xml"/><Relationship Id="rId27" Type="http://schemas.openxmlformats.org/officeDocument/2006/relationships/tags" Target="../tags/tag179.xml"/><Relationship Id="rId30" Type="http://schemas.openxmlformats.org/officeDocument/2006/relationships/tags" Target="../tags/tag182.xml"/><Relationship Id="rId35" Type="http://schemas.openxmlformats.org/officeDocument/2006/relationships/tags" Target="../tags/tag187.xml"/><Relationship Id="rId8" Type="http://schemas.openxmlformats.org/officeDocument/2006/relationships/tags" Target="../tags/tag160.xml"/><Relationship Id="rId3" Type="http://schemas.openxmlformats.org/officeDocument/2006/relationships/tags" Target="../tags/tag15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2.xml"/></Relationships>
</file>

<file path=ppt/slides/_rels/slide30.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slideLayout" Target="../slideLayouts/slideLayout3.xml"/><Relationship Id="rId5" Type="http://schemas.openxmlformats.org/officeDocument/2006/relationships/tags" Target="../tags/tag197.xml"/><Relationship Id="rId4" Type="http://schemas.openxmlformats.org/officeDocument/2006/relationships/tags" Target="../tags/tag19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tags" Target="../tags/tag206.xml"/><Relationship Id="rId13" Type="http://schemas.openxmlformats.org/officeDocument/2006/relationships/tags" Target="../tags/tag211.xml"/><Relationship Id="rId18" Type="http://schemas.openxmlformats.org/officeDocument/2006/relationships/tags" Target="../tags/tag216.xml"/><Relationship Id="rId3" Type="http://schemas.openxmlformats.org/officeDocument/2006/relationships/tags" Target="../tags/tag201.xml"/><Relationship Id="rId21" Type="http://schemas.openxmlformats.org/officeDocument/2006/relationships/tags" Target="../tags/tag219.xml"/><Relationship Id="rId7" Type="http://schemas.openxmlformats.org/officeDocument/2006/relationships/tags" Target="../tags/tag205.xml"/><Relationship Id="rId12" Type="http://schemas.openxmlformats.org/officeDocument/2006/relationships/tags" Target="../tags/tag210.xml"/><Relationship Id="rId17" Type="http://schemas.openxmlformats.org/officeDocument/2006/relationships/tags" Target="../tags/tag215.xml"/><Relationship Id="rId2" Type="http://schemas.openxmlformats.org/officeDocument/2006/relationships/tags" Target="../tags/tag200.xml"/><Relationship Id="rId16" Type="http://schemas.openxmlformats.org/officeDocument/2006/relationships/tags" Target="../tags/tag214.xml"/><Relationship Id="rId20" Type="http://schemas.openxmlformats.org/officeDocument/2006/relationships/tags" Target="../tags/tag218.xml"/><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5" Type="http://schemas.openxmlformats.org/officeDocument/2006/relationships/tags" Target="../tags/tag203.xml"/><Relationship Id="rId15" Type="http://schemas.openxmlformats.org/officeDocument/2006/relationships/tags" Target="../tags/tag213.xml"/><Relationship Id="rId10" Type="http://schemas.openxmlformats.org/officeDocument/2006/relationships/tags" Target="../tags/tag208.xml"/><Relationship Id="rId19" Type="http://schemas.openxmlformats.org/officeDocument/2006/relationships/tags" Target="../tags/tag217.xml"/><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tags" Target="../tags/tag212.xml"/><Relationship Id="rId2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21.xml"/><Relationship Id="rId1" Type="http://schemas.openxmlformats.org/officeDocument/2006/relationships/tags" Target="../tags/tag2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tags" Target="../tags/tag229.xml"/><Relationship Id="rId13" Type="http://schemas.openxmlformats.org/officeDocument/2006/relationships/tags" Target="../tags/tag234.xml"/><Relationship Id="rId3" Type="http://schemas.openxmlformats.org/officeDocument/2006/relationships/tags" Target="../tags/tag224.xml"/><Relationship Id="rId7" Type="http://schemas.openxmlformats.org/officeDocument/2006/relationships/tags" Target="../tags/tag228.xml"/><Relationship Id="rId12" Type="http://schemas.openxmlformats.org/officeDocument/2006/relationships/tags" Target="../tags/tag233.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tags" Target="../tags/tag232.xml"/><Relationship Id="rId5" Type="http://schemas.openxmlformats.org/officeDocument/2006/relationships/tags" Target="../tags/tag226.xml"/><Relationship Id="rId10" Type="http://schemas.openxmlformats.org/officeDocument/2006/relationships/tags" Target="../tags/tag231.xml"/><Relationship Id="rId4" Type="http://schemas.openxmlformats.org/officeDocument/2006/relationships/tags" Target="../tags/tag225.xml"/><Relationship Id="rId9" Type="http://schemas.openxmlformats.org/officeDocument/2006/relationships/tags" Target="../tags/tag230.xml"/><Relationship Id="rId14"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237.xml"/><Relationship Id="rId7" Type="http://schemas.openxmlformats.org/officeDocument/2006/relationships/slideLayout" Target="../slideLayouts/slideLayout3.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1.xml"/></Relationships>
</file>

<file path=ppt/slides/_rels/slide40.xml.rels><?xml version="1.0" encoding="UTF-8" standalone="yes"?>
<Relationships xmlns="http://schemas.openxmlformats.org/package/2006/relationships"><Relationship Id="rId8" Type="http://schemas.openxmlformats.org/officeDocument/2006/relationships/tags" Target="../tags/tag249.xml"/><Relationship Id="rId13" Type="http://schemas.openxmlformats.org/officeDocument/2006/relationships/image" Target="../media/image9.svg"/><Relationship Id="rId3" Type="http://schemas.openxmlformats.org/officeDocument/2006/relationships/tags" Target="../tags/tag244.xml"/><Relationship Id="rId7" Type="http://schemas.openxmlformats.org/officeDocument/2006/relationships/tags" Target="../tags/tag248.xml"/><Relationship Id="rId12" Type="http://schemas.openxmlformats.org/officeDocument/2006/relationships/image" Target="../media/image8.png"/><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tags" Target="../tags/tag247.xml"/><Relationship Id="rId11" Type="http://schemas.openxmlformats.org/officeDocument/2006/relationships/image" Target="../media/image7.svg"/><Relationship Id="rId5" Type="http://schemas.openxmlformats.org/officeDocument/2006/relationships/tags" Target="../tags/tag246.xml"/><Relationship Id="rId10" Type="http://schemas.openxmlformats.org/officeDocument/2006/relationships/image" Target="../media/image6.png"/><Relationship Id="rId4" Type="http://schemas.openxmlformats.org/officeDocument/2006/relationships/tags" Target="../tags/tag245.xml"/><Relationship Id="rId9"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51.xml"/><Relationship Id="rId1" Type="http://schemas.openxmlformats.org/officeDocument/2006/relationships/tags" Target="../tags/tag250.xml"/></Relationships>
</file>

<file path=ppt/slides/_rels/slide42.xml.rels><?xml version="1.0" encoding="UTF-8" standalone="yes"?>
<Relationships xmlns="http://schemas.openxmlformats.org/package/2006/relationships"><Relationship Id="rId8" Type="http://schemas.openxmlformats.org/officeDocument/2006/relationships/tags" Target="../tags/tag259.xml"/><Relationship Id="rId13" Type="http://schemas.openxmlformats.org/officeDocument/2006/relationships/tags" Target="../tags/tag264.xml"/><Relationship Id="rId18" Type="http://schemas.openxmlformats.org/officeDocument/2006/relationships/tags" Target="../tags/tag269.xml"/><Relationship Id="rId3" Type="http://schemas.openxmlformats.org/officeDocument/2006/relationships/tags" Target="../tags/tag254.xml"/><Relationship Id="rId21" Type="http://schemas.openxmlformats.org/officeDocument/2006/relationships/slideLayout" Target="../slideLayouts/slideLayout3.xml"/><Relationship Id="rId7" Type="http://schemas.openxmlformats.org/officeDocument/2006/relationships/tags" Target="../tags/tag258.xml"/><Relationship Id="rId12" Type="http://schemas.openxmlformats.org/officeDocument/2006/relationships/tags" Target="../tags/tag263.xml"/><Relationship Id="rId17" Type="http://schemas.openxmlformats.org/officeDocument/2006/relationships/tags" Target="../tags/tag268.xml"/><Relationship Id="rId2" Type="http://schemas.openxmlformats.org/officeDocument/2006/relationships/tags" Target="../tags/tag253.xml"/><Relationship Id="rId16" Type="http://schemas.openxmlformats.org/officeDocument/2006/relationships/tags" Target="../tags/tag267.xml"/><Relationship Id="rId20" Type="http://schemas.openxmlformats.org/officeDocument/2006/relationships/tags" Target="../tags/tag271.xml"/><Relationship Id="rId1" Type="http://schemas.openxmlformats.org/officeDocument/2006/relationships/tags" Target="../tags/tag252.xml"/><Relationship Id="rId6" Type="http://schemas.openxmlformats.org/officeDocument/2006/relationships/tags" Target="../tags/tag257.xml"/><Relationship Id="rId11" Type="http://schemas.openxmlformats.org/officeDocument/2006/relationships/tags" Target="../tags/tag262.xml"/><Relationship Id="rId5" Type="http://schemas.openxmlformats.org/officeDocument/2006/relationships/tags" Target="../tags/tag256.xml"/><Relationship Id="rId15" Type="http://schemas.openxmlformats.org/officeDocument/2006/relationships/tags" Target="../tags/tag266.xml"/><Relationship Id="rId10" Type="http://schemas.openxmlformats.org/officeDocument/2006/relationships/tags" Target="../tags/tag261.xml"/><Relationship Id="rId19" Type="http://schemas.openxmlformats.org/officeDocument/2006/relationships/tags" Target="../tags/tag270.xml"/><Relationship Id="rId4" Type="http://schemas.openxmlformats.org/officeDocument/2006/relationships/tags" Target="../tags/tag255.xml"/><Relationship Id="rId9" Type="http://schemas.openxmlformats.org/officeDocument/2006/relationships/tags" Target="../tags/tag260.xml"/><Relationship Id="rId14" Type="http://schemas.openxmlformats.org/officeDocument/2006/relationships/tags" Target="../tags/tag26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73.xml"/><Relationship Id="rId1" Type="http://schemas.openxmlformats.org/officeDocument/2006/relationships/tags" Target="../tags/tag27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75.xml"/><Relationship Id="rId1" Type="http://schemas.openxmlformats.org/officeDocument/2006/relationships/tags" Target="../tags/tag27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tags" Target="../tags/tag278.xml"/><Relationship Id="rId7" Type="http://schemas.openxmlformats.org/officeDocument/2006/relationships/diagramLayout" Target="../diagrams/layout2.xml"/><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diagramData" Target="../diagrams/data2.xml"/><Relationship Id="rId5" Type="http://schemas.openxmlformats.org/officeDocument/2006/relationships/slideLayout" Target="../slideLayouts/slideLayout3.xml"/><Relationship Id="rId10" Type="http://schemas.microsoft.com/office/2007/relationships/diagramDrawing" Target="../diagrams/drawing2.xml"/><Relationship Id="rId4" Type="http://schemas.openxmlformats.org/officeDocument/2006/relationships/tags" Target="../tags/tag279.xml"/><Relationship Id="rId9" Type="http://schemas.openxmlformats.org/officeDocument/2006/relationships/diagramColors" Target="../diagrams/colors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81.xml"/><Relationship Id="rId1" Type="http://schemas.openxmlformats.org/officeDocument/2006/relationships/tags" Target="../tags/tag28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 Id="rId5" Type="http://schemas.openxmlformats.org/officeDocument/2006/relationships/slideLayout" Target="../slideLayouts/slideLayout3.xml"/><Relationship Id="rId4" Type="http://schemas.openxmlformats.org/officeDocument/2006/relationships/tags" Target="../tags/tag28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288.xml"/><Relationship Id="rId7" Type="http://schemas.openxmlformats.org/officeDocument/2006/relationships/image" Target="../media/image12.svg"/><Relationship Id="rId2" Type="http://schemas.openxmlformats.org/officeDocument/2006/relationships/tags" Target="../tags/tag287.xml"/><Relationship Id="rId1" Type="http://schemas.openxmlformats.org/officeDocument/2006/relationships/tags" Target="../tags/tag286.xml"/><Relationship Id="rId6" Type="http://schemas.openxmlformats.org/officeDocument/2006/relationships/image" Target="../media/image11.png"/><Relationship Id="rId5" Type="http://schemas.openxmlformats.org/officeDocument/2006/relationships/slideLayout" Target="../slideLayouts/slideLayout3.xml"/><Relationship Id="rId4" Type="http://schemas.openxmlformats.org/officeDocument/2006/relationships/tags" Target="../tags/tag289.xml"/><Relationship Id="rId9" Type="http://schemas.openxmlformats.org/officeDocument/2006/relationships/image" Target="../media/image14.svg"/></Relationships>
</file>

<file path=ppt/slides/_rels/slide5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92.xml"/><Relationship Id="rId7" Type="http://schemas.openxmlformats.org/officeDocument/2006/relationships/tags" Target="../tags/tag296.xml"/><Relationship Id="rId2" Type="http://schemas.openxmlformats.org/officeDocument/2006/relationships/tags" Target="../tags/tag291.xml"/><Relationship Id="rId1" Type="http://schemas.openxmlformats.org/officeDocument/2006/relationships/tags" Target="../tags/tag290.xml"/><Relationship Id="rId6" Type="http://schemas.openxmlformats.org/officeDocument/2006/relationships/tags" Target="../tags/tag295.xml"/><Relationship Id="rId5" Type="http://schemas.openxmlformats.org/officeDocument/2006/relationships/tags" Target="../tags/tag294.xml"/><Relationship Id="rId4" Type="http://schemas.openxmlformats.org/officeDocument/2006/relationships/tags" Target="../tags/tag293.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98.xml"/><Relationship Id="rId1" Type="http://schemas.openxmlformats.org/officeDocument/2006/relationships/tags" Target="../tags/tag29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5DB36C-CFB9-9D91-858D-2CB8B358A1B6}"/>
              </a:ext>
            </a:extLst>
          </p:cNvPr>
          <p:cNvSpPr>
            <a:spLocks noGrp="1"/>
          </p:cNvSpPr>
          <p:nvPr>
            <p:ph type="ctrTitle"/>
          </p:nvPr>
        </p:nvSpPr>
        <p:spPr>
          <a:xfrm>
            <a:off x="1523465" y="1558342"/>
            <a:ext cx="9487972" cy="2382740"/>
          </a:xfrm>
        </p:spPr>
        <p:txBody>
          <a:bodyPr/>
          <a:lstStyle/>
          <a:p>
            <a:r>
              <a:rPr kumimoji="1" lang="en-US" altLang="zh-CN" sz="3600" dirty="0"/>
              <a:t>《</a:t>
            </a:r>
            <a:r>
              <a:rPr kumimoji="1" lang="zh-CN" altLang="en-US" sz="3600" dirty="0"/>
              <a:t>重庆市政务数字化应用管理暂行办法</a:t>
            </a:r>
            <a:r>
              <a:rPr kumimoji="1" lang="en-US" altLang="zh-CN" sz="3600" dirty="0"/>
              <a:t>》</a:t>
            </a:r>
            <a:r>
              <a:rPr kumimoji="1" lang="zh-CN" altLang="en-US" sz="3600" dirty="0"/>
              <a:t>及</a:t>
            </a:r>
            <a:r>
              <a:rPr kumimoji="1" lang="en-US" altLang="zh-CN" sz="3600" dirty="0"/>
              <a:t>《</a:t>
            </a:r>
            <a:r>
              <a:rPr kumimoji="1" lang="zh-CN" altLang="en-US" sz="3600" dirty="0"/>
              <a:t>重庆市政务数字化应用开发操作指南</a:t>
            </a:r>
            <a:r>
              <a:rPr kumimoji="1" lang="en-US" altLang="zh-CN" sz="3600" dirty="0"/>
              <a:t>》</a:t>
            </a:r>
            <a:r>
              <a:rPr kumimoji="1" lang="zh-CN" altLang="en-US" sz="3600" dirty="0"/>
              <a:t>解读</a:t>
            </a:r>
          </a:p>
        </p:txBody>
      </p:sp>
      <p:sp>
        <p:nvSpPr>
          <p:cNvPr id="3" name="文本框 2">
            <a:extLst>
              <a:ext uri="{FF2B5EF4-FFF2-40B4-BE49-F238E27FC236}">
                <a16:creationId xmlns:a16="http://schemas.microsoft.com/office/drawing/2014/main" id="{FA895F69-BF7A-8065-848D-D207CEBC805D}"/>
              </a:ext>
            </a:extLst>
          </p:cNvPr>
          <p:cNvSpPr txBox="1"/>
          <p:nvPr/>
        </p:nvSpPr>
        <p:spPr>
          <a:xfrm>
            <a:off x="4617085" y="4589145"/>
            <a:ext cx="2958465" cy="521970"/>
          </a:xfrm>
          <a:prstGeom prst="rect">
            <a:avLst/>
          </a:prstGeom>
          <a:noFill/>
        </p:spPr>
        <p:txBody>
          <a:bodyPr wrap="square" rtlCol="0">
            <a:spAutoFit/>
          </a:bodyPr>
          <a:lstStyle/>
          <a:p>
            <a:pPr algn="ctr"/>
            <a:r>
              <a:rPr lang="zh-CN" altLang="en-US" sz="2800">
                <a:solidFill>
                  <a:schemeClr val="accent1"/>
                </a:solidFill>
                <a:latin typeface="微软雅黑" panose="020B0503020204020204" pitchFamily="34" charset="-122"/>
                <a:ea typeface="微软雅黑" panose="020B0503020204020204" pitchFamily="34" charset="-122"/>
              </a:rPr>
              <a:t>区县督导组</a:t>
            </a:r>
          </a:p>
        </p:txBody>
      </p:sp>
    </p:spTree>
    <p:extLst>
      <p:ext uri="{BB962C8B-B14F-4D97-AF65-F5344CB8AC3E}">
        <p14:creationId xmlns:p14="http://schemas.microsoft.com/office/powerpoint/2010/main" val="682260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7585BBD-5B58-26C0-D3F6-E6323459F300}"/>
              </a:ext>
            </a:extLst>
          </p:cNvPr>
          <p:cNvSpPr txBox="1"/>
          <p:nvPr>
            <p:custDataLst>
              <p:tags r:id="rId1"/>
            </p:custDataLst>
          </p:nvPr>
        </p:nvSpPr>
        <p:spPr>
          <a:xfrm>
            <a:off x="325800" y="4882395"/>
            <a:ext cx="4138201" cy="1473551"/>
          </a:xfrm>
          <a:prstGeom prst="rect">
            <a:avLst/>
          </a:prstGeom>
          <a:noFill/>
        </p:spPr>
        <p:txBody>
          <a:bodyPr wrap="square" rtlCol="0" anchor="t">
            <a:noAutofit/>
          </a:bodyPr>
          <a:lstStyle/>
          <a:p>
            <a:pPr marL="609600" indent="-288290" defTabSz="1219200">
              <a:lnSpc>
                <a:spcPct val="130000"/>
              </a:lnSpc>
              <a:buFont typeface="Wingdings" panose="05000000000000000000" charset="0"/>
              <a:buChar char="Ø"/>
              <a:defRPr/>
            </a:pP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要以数字化改革助力政府职能转变，统筹推进各行业各领域</a:t>
            </a:r>
            <a:r>
              <a:rPr lang="zh-CN" altLang="en-US"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政务应用系统集约建设、互联互通、协同联动</a:t>
            </a:r>
            <a:endParaRPr lang="en-US"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929EBFFB-4DAF-C9B6-BDAC-352B9FCD498C}"/>
              </a:ext>
            </a:extLst>
          </p:cNvPr>
          <p:cNvSpPr/>
          <p:nvPr/>
        </p:nvSpPr>
        <p:spPr>
          <a:xfrm>
            <a:off x="1217054" y="531555"/>
            <a:ext cx="9440213" cy="4005108"/>
          </a:xfrm>
          <a:prstGeom prst="rect">
            <a:avLst/>
          </a:prstGeom>
          <a:solidFill>
            <a:srgbClr val="0070C0"/>
          </a:solidFill>
          <a:ln w="101600">
            <a:solidFill>
              <a:srgbClr val="BCC4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5" name="图片 4">
            <a:extLst>
              <a:ext uri="{FF2B5EF4-FFF2-40B4-BE49-F238E27FC236}">
                <a16:creationId xmlns:a16="http://schemas.microsoft.com/office/drawing/2014/main" id="{0BBAA43F-F801-DB95-7F88-5A8096C30C11}"/>
              </a:ext>
            </a:extLst>
          </p:cNvPr>
          <p:cNvPicPr>
            <a:picLocks noChangeAspect="1"/>
          </p:cNvPicPr>
          <p:nvPr/>
        </p:nvPicPr>
        <p:blipFill>
          <a:blip r:embed="rId5"/>
          <a:stretch>
            <a:fillRect/>
          </a:stretch>
        </p:blipFill>
        <p:spPr>
          <a:xfrm>
            <a:off x="2843583" y="585989"/>
            <a:ext cx="6503179" cy="3849661"/>
          </a:xfrm>
          <a:prstGeom prst="rect">
            <a:avLst/>
          </a:prstGeom>
        </p:spPr>
      </p:pic>
      <p:sp>
        <p:nvSpPr>
          <p:cNvPr id="6" name="平行四边形 5">
            <a:extLst>
              <a:ext uri="{FF2B5EF4-FFF2-40B4-BE49-F238E27FC236}">
                <a16:creationId xmlns:a16="http://schemas.microsoft.com/office/drawing/2014/main" id="{E6510101-C9E9-D48D-70EA-4CC4E1393556}"/>
              </a:ext>
            </a:extLst>
          </p:cNvPr>
          <p:cNvSpPr/>
          <p:nvPr>
            <p:custDataLst>
              <p:tags r:id="rId2"/>
            </p:custDataLst>
          </p:nvPr>
        </p:nvSpPr>
        <p:spPr>
          <a:xfrm flipH="1" flipV="1">
            <a:off x="361267" y="4257123"/>
            <a:ext cx="11283200" cy="611877"/>
          </a:xfrm>
          <a:prstGeom prst="parallelogram">
            <a:avLst>
              <a:gd name="adj" fmla="val 12479"/>
            </a:avLst>
          </a:prstGeom>
          <a:solidFill>
            <a:srgbClr val="0070C0"/>
          </a:solidFill>
          <a:ln w="12700" cap="flat" cmpd="sng" algn="ctr">
            <a:noFill/>
            <a:prstDash val="solid"/>
            <a:miter lim="800000"/>
          </a:ln>
          <a:effectLst/>
        </p:spPr>
        <p:txBody>
          <a:bodyPr rtlCol="0" anchor="ctr"/>
          <a:lstStyle/>
          <a:p>
            <a:pPr algn="ctr" defTabSz="1219200">
              <a:defRPr/>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5F405AEA-AAA1-D291-8A29-F41D97C8A24F}"/>
              </a:ext>
            </a:extLst>
          </p:cNvPr>
          <p:cNvSpPr txBox="1"/>
          <p:nvPr/>
        </p:nvSpPr>
        <p:spPr>
          <a:xfrm>
            <a:off x="674867" y="4174883"/>
            <a:ext cx="10656000" cy="581057"/>
          </a:xfrm>
          <a:prstGeom prst="rect">
            <a:avLst/>
          </a:prstGeom>
          <a:noFill/>
        </p:spPr>
        <p:txBody>
          <a:bodyPr wrap="square" rtlCol="0">
            <a:spAutoFit/>
          </a:bodyPr>
          <a:lstStyle/>
          <a:p>
            <a:pPr>
              <a:lnSpc>
                <a:spcPct val="150000"/>
              </a:lnSpc>
            </a:pPr>
            <a:r>
              <a:rPr lang="en-US" altLang="zh-CN" sz="2400" b="1" kern="1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2022</a:t>
            </a:r>
            <a:r>
              <a:rPr lang="zh-CN" altLang="en-US" sz="2400" b="1" kern="1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2400" b="1" kern="1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400" b="1" kern="1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月，习近平总书记在中央全面深化改革委员会第二十五次会议上指出：</a:t>
            </a:r>
          </a:p>
        </p:txBody>
      </p:sp>
      <p:sp>
        <p:nvSpPr>
          <p:cNvPr id="8" name="文本框 7">
            <a:extLst>
              <a:ext uri="{FF2B5EF4-FFF2-40B4-BE49-F238E27FC236}">
                <a16:creationId xmlns:a16="http://schemas.microsoft.com/office/drawing/2014/main" id="{698ADB5A-79C7-E3D4-AF0D-CFC7F8F39FAA}"/>
              </a:ext>
            </a:extLst>
          </p:cNvPr>
          <p:cNvSpPr txBox="1"/>
          <p:nvPr>
            <p:custDataLst>
              <p:tags r:id="rId3"/>
            </p:custDataLst>
          </p:nvPr>
        </p:nvSpPr>
        <p:spPr>
          <a:xfrm>
            <a:off x="4272000" y="4882396"/>
            <a:ext cx="7594201" cy="1626691"/>
          </a:xfrm>
          <a:prstGeom prst="rect">
            <a:avLst/>
          </a:prstGeom>
          <a:noFill/>
        </p:spPr>
        <p:txBody>
          <a:bodyPr wrap="square" rtlCol="0" anchor="t">
            <a:noAutofit/>
          </a:bodyPr>
          <a:lstStyle/>
          <a:p>
            <a:pPr marL="609600" indent="-288290" defTabSz="1219200">
              <a:lnSpc>
                <a:spcPct val="130000"/>
              </a:lnSpc>
              <a:buFont typeface="Wingdings" panose="05000000000000000000" charset="0"/>
              <a:buChar char="Ø"/>
              <a:defRPr/>
            </a:pP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要强化系统观念，健全科学规范的数字政府建设制度体系，依法依规促进数据高效共享和有序开发利用，统筹推进</a:t>
            </a:r>
            <a:r>
              <a:rPr lang="zh-CN" altLang="en-US"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技术融合、业务融合、数据融合</a:t>
            </a:r>
            <a:r>
              <a:rPr lang="zh-CN" altLang="en-US"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，提升</a:t>
            </a:r>
            <a:r>
              <a:rPr lang="zh-CN" altLang="en-US"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跨层级、跨地域、跨系统、跨部门、跨业务</a:t>
            </a:r>
            <a:r>
              <a:rPr lang="zh-CN" altLang="en-US"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的协同管理和服务水平</a:t>
            </a:r>
            <a:endParaRPr lang="en-US" altLang="zh-CN" sz="1200"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700754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9B45729A-F5CC-ACEF-47B8-9A53629B78A1}"/>
              </a:ext>
            </a:extLst>
          </p:cNvPr>
          <p:cNvSpPr/>
          <p:nvPr/>
        </p:nvSpPr>
        <p:spPr>
          <a:xfrm>
            <a:off x="1114023" y="1049628"/>
            <a:ext cx="8635284" cy="106250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33271C01-B132-69D5-9753-D2F1D0A53611}"/>
              </a:ext>
            </a:extLst>
          </p:cNvPr>
          <p:cNvGrpSpPr/>
          <p:nvPr/>
        </p:nvGrpSpPr>
        <p:grpSpPr>
          <a:xfrm>
            <a:off x="695691" y="613975"/>
            <a:ext cx="10950521" cy="5833136"/>
            <a:chOff x="1024098" y="453000"/>
            <a:chExt cx="10950521" cy="5833136"/>
          </a:xfrm>
        </p:grpSpPr>
        <p:sp>
          <p:nvSpPr>
            <p:cNvPr id="39" name="文本框 38">
              <a:extLst>
                <a:ext uri="{FF2B5EF4-FFF2-40B4-BE49-F238E27FC236}">
                  <a16:creationId xmlns:a16="http://schemas.microsoft.com/office/drawing/2014/main" id="{DE899B2C-0E00-B83D-9ACF-AE2322362BB4}"/>
                </a:ext>
              </a:extLst>
            </p:cNvPr>
            <p:cNvSpPr txBox="1"/>
            <p:nvPr>
              <p:custDataLst>
                <p:tags r:id="rId1"/>
              </p:custDataLst>
            </p:nvPr>
          </p:nvSpPr>
          <p:spPr>
            <a:xfrm>
              <a:off x="1260809" y="1038551"/>
              <a:ext cx="10194592" cy="679801"/>
            </a:xfrm>
            <a:prstGeom prst="rect">
              <a:avLst/>
            </a:prstGeom>
          </p:spPr>
          <p:txBody>
            <a:bodyPr wrap="square">
              <a:spAutoFit/>
            </a:bodyPr>
            <a:lstStyle/>
            <a:p>
              <a:pPr>
                <a:lnSpc>
                  <a:spcPts val="2400"/>
                </a:lnSpc>
              </a:pPr>
              <a:r>
                <a:rPr lang="zh-CN" altLang="en-US" sz="1600" dirty="0">
                  <a:latin typeface="微软雅黑" panose="020B0503020204020204" pitchFamily="34" charset="-122"/>
                  <a:ea typeface="微软雅黑" panose="020B0503020204020204" pitchFamily="34" charset="-122"/>
                  <a:sym typeface="+mn-ea"/>
                </a:rPr>
                <a:t>建设数字重庆要遵循一般规律，是</a:t>
              </a:r>
              <a:r>
                <a:rPr lang="zh-CN" altLang="en-US" sz="16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“一把手”</a:t>
              </a:r>
              <a:r>
                <a:rPr lang="zh-CN" altLang="en-US" sz="1600" dirty="0">
                  <a:latin typeface="微软雅黑" panose="020B0503020204020204" pitchFamily="34" charset="-122"/>
                  <a:ea typeface="微软雅黑" panose="020B0503020204020204" pitchFamily="34" charset="-122"/>
                  <a:sym typeface="+mn-ea"/>
                </a:rPr>
                <a:t>工程。数字化发展是一场深刻变革，本质上就是要</a:t>
              </a:r>
              <a:r>
                <a:rPr lang="zh-CN" altLang="en-US" sz="1600" b="1" dirty="0">
                  <a:solidFill>
                    <a:srgbClr val="C00000"/>
                  </a:solidFill>
                  <a:latin typeface="微软雅黑" panose="020B0503020204020204" pitchFamily="34" charset="-122"/>
                  <a:ea typeface="微软雅黑" panose="020B0503020204020204" pitchFamily="34" charset="-122"/>
                  <a:sym typeface="+mn-ea"/>
                </a:rPr>
                <a:t>系统重塑、体系重构、流程再造、能力重塑</a:t>
              </a:r>
              <a:r>
                <a:rPr lang="zh-CN" altLang="en-US" sz="1600" dirty="0">
                  <a:solidFill>
                    <a:srgbClr val="C00000"/>
                  </a:solidFill>
                  <a:latin typeface="微软雅黑" panose="020B0503020204020204" pitchFamily="34" charset="-122"/>
                  <a:ea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sym typeface="+mn-ea"/>
                </a:rPr>
                <a:t>要对部门的业务进行梳理，找到核心业务，然后设计出核心业务场景，这是关键。</a:t>
              </a:r>
              <a:endParaRPr lang="zh-CN" altLang="en-US" sz="1600" dirty="0">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D26EC42F-AFD6-8F42-1E63-8F1F550366F4}"/>
                </a:ext>
              </a:extLst>
            </p:cNvPr>
            <p:cNvSpPr txBox="1"/>
            <p:nvPr>
              <p:custDataLst>
                <p:tags r:id="rId2"/>
              </p:custDataLst>
            </p:nvPr>
          </p:nvSpPr>
          <p:spPr>
            <a:xfrm>
              <a:off x="1319390" y="2273668"/>
              <a:ext cx="4773288" cy="406971"/>
            </a:xfrm>
            <a:prstGeom prst="rect">
              <a:avLst/>
            </a:prstGeom>
          </p:spPr>
          <p:txBody>
            <a:bodyPr wrap="square">
              <a:spAutoFit/>
            </a:bodyPr>
            <a:lstStyle/>
            <a:p>
              <a:pPr>
                <a:lnSpc>
                  <a:spcPts val="2665"/>
                </a:lnSpc>
              </a:pPr>
              <a:r>
                <a:rPr lang="zh-CN" altLang="en-US" sz="1600" dirty="0">
                  <a:latin typeface="微软雅黑" panose="020B0503020204020204" pitchFamily="34" charset="-122"/>
                  <a:ea typeface="微软雅黑" panose="020B0503020204020204" pitchFamily="34" charset="-122"/>
                  <a:sym typeface="+mn-ea"/>
                </a:rPr>
                <a:t>数字重庆建设的最大特色就是</a:t>
              </a:r>
              <a:r>
                <a:rPr lang="zh-CN" altLang="en-US" sz="1600" b="1" dirty="0">
                  <a:solidFill>
                    <a:srgbClr val="C00000"/>
                  </a:solidFill>
                  <a:latin typeface="微软雅黑" panose="020B0503020204020204" pitchFamily="34" charset="-122"/>
                  <a:ea typeface="微软雅黑" panose="020B0503020204020204" pitchFamily="34" charset="-122"/>
                  <a:sym typeface="+mn-ea"/>
                </a:rPr>
                <a:t>三级一体部署</a:t>
              </a:r>
              <a:r>
                <a:rPr lang="zh-CN" altLang="en-US" sz="1600" dirty="0">
                  <a:solidFill>
                    <a:srgbClr val="C00000"/>
                  </a:solidFill>
                  <a:latin typeface="微软雅黑" panose="020B0503020204020204" pitchFamily="34" charset="-122"/>
                  <a:ea typeface="微软雅黑" panose="020B0503020204020204" pitchFamily="34" charset="-122"/>
                  <a:sym typeface="+mn-ea"/>
                </a:rPr>
                <a:t>。</a:t>
              </a:r>
            </a:p>
          </p:txBody>
        </p:sp>
        <p:sp>
          <p:nvSpPr>
            <p:cNvPr id="41" name="文本框 40">
              <a:extLst>
                <a:ext uri="{FF2B5EF4-FFF2-40B4-BE49-F238E27FC236}">
                  <a16:creationId xmlns:a16="http://schemas.microsoft.com/office/drawing/2014/main" id="{E610097F-D8F9-5101-E47F-7CA1C150F857}"/>
                </a:ext>
              </a:extLst>
            </p:cNvPr>
            <p:cNvSpPr txBox="1"/>
            <p:nvPr>
              <p:custDataLst>
                <p:tags r:id="rId3"/>
              </p:custDataLst>
            </p:nvPr>
          </p:nvSpPr>
          <p:spPr>
            <a:xfrm>
              <a:off x="1221106" y="3326244"/>
              <a:ext cx="10463997" cy="679801"/>
            </a:xfrm>
            <a:prstGeom prst="rect">
              <a:avLst/>
            </a:prstGeom>
          </p:spPr>
          <p:txBody>
            <a:bodyPr wrap="square">
              <a:spAutoFit/>
            </a:bodyPr>
            <a:lstStyle/>
            <a:p>
              <a:pPr>
                <a:lnSpc>
                  <a:spcPts val="2400"/>
                </a:lnSpc>
              </a:pPr>
              <a:r>
                <a:rPr lang="zh-CN" altLang="en-US" sz="1600" dirty="0">
                  <a:latin typeface="微软雅黑" panose="020B0503020204020204" pitchFamily="34" charset="-122"/>
                  <a:ea typeface="微软雅黑" panose="020B0503020204020204" pitchFamily="34" charset="-122"/>
                  <a:sym typeface="+mn-ea"/>
                </a:rPr>
                <a:t>数字重庆建设是</a:t>
              </a:r>
              <a:r>
                <a:rPr lang="zh-CN" altLang="en-US" sz="16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“一把手”</a:t>
              </a:r>
              <a:r>
                <a:rPr lang="zh-CN" altLang="en-US" sz="1600" dirty="0">
                  <a:latin typeface="微软雅黑" panose="020B0503020204020204" pitchFamily="34" charset="-122"/>
                  <a:ea typeface="微软雅黑" panose="020B0503020204020204" pitchFamily="34" charset="-122"/>
                  <a:sym typeface="+mn-ea"/>
                </a:rPr>
                <a:t>工程，要发挥后发优势，坚持典型引路，紧扣近期目标，按季稳步推进，边干边完善，边干边深化，推动数字重庆建设开好局、起好步。</a:t>
              </a:r>
              <a:endParaRPr lang="zh-CN" altLang="en-US" sz="1600" dirty="0">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2E76278E-2C10-F65F-4630-31DB98D67CD2}"/>
                </a:ext>
              </a:extLst>
            </p:cNvPr>
            <p:cNvSpPr txBox="1"/>
            <p:nvPr>
              <p:custDataLst>
                <p:tags r:id="rId4"/>
              </p:custDataLst>
            </p:nvPr>
          </p:nvSpPr>
          <p:spPr>
            <a:xfrm>
              <a:off x="1221106" y="4590842"/>
              <a:ext cx="10753513" cy="829945"/>
            </a:xfrm>
            <a:prstGeom prst="rect">
              <a:avLst/>
            </a:prstGeom>
          </p:spPr>
          <p:txBody>
            <a:bodyPr wrap="square">
              <a:spAutoFit/>
            </a:bodyPr>
            <a:lstStyle/>
            <a:p>
              <a:pPr algn="l">
                <a:lnSpc>
                  <a:spcPct val="100000"/>
                </a:lnSpc>
                <a:buClrTx/>
                <a:buSzTx/>
                <a:buFontTx/>
              </a:pPr>
              <a:r>
                <a:rPr lang="zh-CN" altLang="en-US" sz="1600" dirty="0">
                  <a:latin typeface="微软雅黑" panose="020B0503020204020204" pitchFamily="34" charset="-122"/>
                  <a:ea typeface="微软雅黑" panose="020B0503020204020204" pitchFamily="34" charset="-122"/>
                  <a:sym typeface="+mn-ea"/>
                </a:rPr>
                <a:t>数字重庆建设要在贯彻落实《数字中国建设整体布局规划》，借鉴先进省市成果经验基础上，探索出一套非常独特的创新做法，一旦取得成功，其放大作用就会形成能力，实现</a:t>
              </a:r>
              <a:r>
                <a:rPr lang="zh-CN" altLang="en-US" sz="1600" b="1" dirty="0">
                  <a:solidFill>
                    <a:srgbClr val="C00000"/>
                  </a:solidFill>
                  <a:latin typeface="微软雅黑" panose="020B0503020204020204" pitchFamily="34" charset="-122"/>
                  <a:ea typeface="微软雅黑" panose="020B0503020204020204" pitchFamily="34" charset="-122"/>
                  <a:sym typeface="+mn-ea"/>
                </a:rPr>
                <a:t>最快系统部署、最小投入代价、最佳实战效果、最大数据共享</a:t>
              </a:r>
              <a:r>
                <a:rPr lang="zh-CN" altLang="en-US" sz="1600" dirty="0">
                  <a:latin typeface="微软雅黑" panose="020B0503020204020204" pitchFamily="34" charset="-122"/>
                  <a:ea typeface="微软雅黑" panose="020B0503020204020204" pitchFamily="34" charset="-122"/>
                  <a:sym typeface="+mn-ea"/>
                </a:rPr>
                <a:t>的目标。</a:t>
              </a:r>
            </a:p>
          </p:txBody>
        </p:sp>
        <p:cxnSp>
          <p:nvCxnSpPr>
            <p:cNvPr id="43" name="直接箭头连接符 42">
              <a:extLst>
                <a:ext uri="{FF2B5EF4-FFF2-40B4-BE49-F238E27FC236}">
                  <a16:creationId xmlns:a16="http://schemas.microsoft.com/office/drawing/2014/main" id="{16A0ACD7-4D11-693C-569D-8E5D3F9410E2}"/>
                </a:ext>
              </a:extLst>
            </p:cNvPr>
            <p:cNvCxnSpPr/>
            <p:nvPr/>
          </p:nvCxnSpPr>
          <p:spPr>
            <a:xfrm flipV="1">
              <a:off x="1098765" y="453000"/>
              <a:ext cx="0" cy="57270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44" name="组合 43">
              <a:extLst>
                <a:ext uri="{FF2B5EF4-FFF2-40B4-BE49-F238E27FC236}">
                  <a16:creationId xmlns:a16="http://schemas.microsoft.com/office/drawing/2014/main" id="{03E07181-F764-73FD-83C1-117E654ABF8B}"/>
                </a:ext>
              </a:extLst>
            </p:cNvPr>
            <p:cNvGrpSpPr/>
            <p:nvPr/>
          </p:nvGrpSpPr>
          <p:grpSpPr>
            <a:xfrm>
              <a:off x="1024098" y="598133"/>
              <a:ext cx="4730424" cy="395665"/>
              <a:chOff x="249398" y="702908"/>
              <a:chExt cx="4730424" cy="395665"/>
            </a:xfrm>
          </p:grpSpPr>
          <p:sp>
            <p:nvSpPr>
              <p:cNvPr id="62" name="矩形: 圆角 61">
                <a:extLst>
                  <a:ext uri="{FF2B5EF4-FFF2-40B4-BE49-F238E27FC236}">
                    <a16:creationId xmlns:a16="http://schemas.microsoft.com/office/drawing/2014/main" id="{70DF3BCD-DB80-F186-792E-6E4AF72CEE1E}"/>
                  </a:ext>
                </a:extLst>
              </p:cNvPr>
              <p:cNvSpPr/>
              <p:nvPr/>
            </p:nvSpPr>
            <p:spPr>
              <a:xfrm>
                <a:off x="413244" y="702908"/>
                <a:ext cx="4345017" cy="395665"/>
              </a:xfrm>
              <a:prstGeom prst="roundRect">
                <a:avLst>
                  <a:gd name="adj" fmla="val 50000"/>
                </a:avLst>
              </a:prstGeom>
              <a:solidFill>
                <a:schemeClr val="bg1">
                  <a:alpha val="81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63" name="文本框 62">
                <a:extLst>
                  <a:ext uri="{FF2B5EF4-FFF2-40B4-BE49-F238E27FC236}">
                    <a16:creationId xmlns:a16="http://schemas.microsoft.com/office/drawing/2014/main" id="{23213904-5C8C-40FE-F5E9-DEFBB2518880}"/>
                  </a:ext>
                </a:extLst>
              </p:cNvPr>
              <p:cNvSpPr txBox="1"/>
              <p:nvPr/>
            </p:nvSpPr>
            <p:spPr>
              <a:xfrm>
                <a:off x="486108" y="744345"/>
                <a:ext cx="4493714" cy="338554"/>
              </a:xfrm>
              <a:prstGeom prst="rect">
                <a:avLst/>
              </a:prstGeom>
              <a:noFill/>
              <a:ln>
                <a:noFill/>
              </a:ln>
            </p:spPr>
            <p:txBody>
              <a:bodyPr wrap="square">
                <a:spAutoFit/>
              </a:bodyPr>
              <a:lstStyle/>
              <a:p>
                <a:pPr algn="l"/>
                <a:r>
                  <a:rPr lang="zh-CN" altLang="en-US" sz="1600" b="1" dirty="0">
                    <a:solidFill>
                      <a:srgbClr val="0070C0"/>
                    </a:solidFill>
                    <a:latin typeface="微软雅黑" panose="020B0503020204020204" pitchFamily="34" charset="-122"/>
                    <a:ea typeface="微软雅黑" panose="020B0503020204020204" pitchFamily="34" charset="-122"/>
                    <a:sym typeface="+mn-ea"/>
                  </a:rPr>
                  <a:t>2月23日在数字重庆建设工作座谈会上讲话</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64" name="椭圆 63">
                <a:extLst>
                  <a:ext uri="{FF2B5EF4-FFF2-40B4-BE49-F238E27FC236}">
                    <a16:creationId xmlns:a16="http://schemas.microsoft.com/office/drawing/2014/main" id="{A5AD303C-59DC-68C9-1400-F99A34100C8B}"/>
                  </a:ext>
                </a:extLst>
              </p:cNvPr>
              <p:cNvSpPr/>
              <p:nvPr/>
            </p:nvSpPr>
            <p:spPr>
              <a:xfrm>
                <a:off x="249398" y="837047"/>
                <a:ext cx="140883" cy="14088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grpSp>
          <p:nvGrpSpPr>
            <p:cNvPr id="45" name="组合 44">
              <a:extLst>
                <a:ext uri="{FF2B5EF4-FFF2-40B4-BE49-F238E27FC236}">
                  <a16:creationId xmlns:a16="http://schemas.microsoft.com/office/drawing/2014/main" id="{CC3808A7-3C0F-A4FB-9AFB-AFECB6403381}"/>
                </a:ext>
              </a:extLst>
            </p:cNvPr>
            <p:cNvGrpSpPr/>
            <p:nvPr/>
          </p:nvGrpSpPr>
          <p:grpSpPr>
            <a:xfrm>
              <a:off x="1024098" y="1894456"/>
              <a:ext cx="4730424" cy="395665"/>
              <a:chOff x="249398" y="702908"/>
              <a:chExt cx="4730424" cy="395665"/>
            </a:xfrm>
          </p:grpSpPr>
          <p:sp>
            <p:nvSpPr>
              <p:cNvPr id="59" name="矩形: 圆角 58">
                <a:extLst>
                  <a:ext uri="{FF2B5EF4-FFF2-40B4-BE49-F238E27FC236}">
                    <a16:creationId xmlns:a16="http://schemas.microsoft.com/office/drawing/2014/main" id="{4C1925E5-2B55-344F-8178-B0618F9434AE}"/>
                  </a:ext>
                </a:extLst>
              </p:cNvPr>
              <p:cNvSpPr/>
              <p:nvPr/>
            </p:nvSpPr>
            <p:spPr>
              <a:xfrm>
                <a:off x="413244" y="702908"/>
                <a:ext cx="4345017" cy="395665"/>
              </a:xfrm>
              <a:prstGeom prst="roundRect">
                <a:avLst>
                  <a:gd name="adj" fmla="val 50000"/>
                </a:avLst>
              </a:prstGeom>
              <a:solidFill>
                <a:schemeClr val="bg1">
                  <a:alpha val="81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60" name="文本框 59">
                <a:extLst>
                  <a:ext uri="{FF2B5EF4-FFF2-40B4-BE49-F238E27FC236}">
                    <a16:creationId xmlns:a16="http://schemas.microsoft.com/office/drawing/2014/main" id="{1AEB032B-0DB9-1083-EC61-C54DD4A85740}"/>
                  </a:ext>
                </a:extLst>
              </p:cNvPr>
              <p:cNvSpPr txBox="1"/>
              <p:nvPr/>
            </p:nvSpPr>
            <p:spPr>
              <a:xfrm>
                <a:off x="486108" y="744345"/>
                <a:ext cx="4493714" cy="338554"/>
              </a:xfrm>
              <a:prstGeom prst="rect">
                <a:avLst/>
              </a:prstGeom>
              <a:noFill/>
            </p:spPr>
            <p:txBody>
              <a:bodyPr wrap="square">
                <a:spAutoFit/>
              </a:bodyPr>
              <a:lstStyle/>
              <a:p>
                <a:pPr algn="l"/>
                <a:r>
                  <a:rPr lang="en-US" altLang="zh-CN" sz="1600" b="1" dirty="0">
                    <a:solidFill>
                      <a:srgbClr val="0070C0"/>
                    </a:solidFill>
                    <a:latin typeface="微软雅黑" panose="020B0503020204020204" pitchFamily="34" charset="-122"/>
                    <a:ea typeface="微软雅黑" panose="020B0503020204020204" pitchFamily="34" charset="-122"/>
                    <a:sym typeface="+mn-ea"/>
                  </a:rPr>
                  <a:t>4</a:t>
                </a:r>
                <a:r>
                  <a:rPr lang="zh-CN" altLang="en-US" sz="1600" b="1" dirty="0">
                    <a:solidFill>
                      <a:srgbClr val="0070C0"/>
                    </a:solidFill>
                    <a:latin typeface="微软雅黑" panose="020B0503020204020204" pitchFamily="34" charset="-122"/>
                    <a:ea typeface="微软雅黑" panose="020B0503020204020204" pitchFamily="34" charset="-122"/>
                    <a:sym typeface="+mn-ea"/>
                  </a:rPr>
                  <a:t>月</a:t>
                </a:r>
                <a:r>
                  <a:rPr lang="en-US" altLang="zh-CN" sz="1600" b="1" dirty="0">
                    <a:solidFill>
                      <a:srgbClr val="0070C0"/>
                    </a:solidFill>
                    <a:latin typeface="微软雅黑" panose="020B0503020204020204" pitchFamily="34" charset="-122"/>
                    <a:ea typeface="微软雅黑" panose="020B0503020204020204" pitchFamily="34" charset="-122"/>
                    <a:sym typeface="+mn-ea"/>
                  </a:rPr>
                  <a:t>3</a:t>
                </a:r>
                <a:r>
                  <a:rPr lang="zh-CN" altLang="en-US" sz="1600" b="1" dirty="0">
                    <a:solidFill>
                      <a:srgbClr val="0070C0"/>
                    </a:solidFill>
                    <a:latin typeface="微软雅黑" panose="020B0503020204020204" pitchFamily="34" charset="-122"/>
                    <a:ea typeface="微软雅黑" panose="020B0503020204020204" pitchFamily="34" charset="-122"/>
                    <a:sym typeface="+mn-ea"/>
                  </a:rPr>
                  <a:t>日在数字建设工作专题会上讲话</a:t>
                </a:r>
              </a:p>
            </p:txBody>
          </p:sp>
          <p:sp>
            <p:nvSpPr>
              <p:cNvPr id="61" name="椭圆 60">
                <a:extLst>
                  <a:ext uri="{FF2B5EF4-FFF2-40B4-BE49-F238E27FC236}">
                    <a16:creationId xmlns:a16="http://schemas.microsoft.com/office/drawing/2014/main" id="{0426A314-03D6-26A9-73DD-37439ED31D5F}"/>
                  </a:ext>
                </a:extLst>
              </p:cNvPr>
              <p:cNvSpPr/>
              <p:nvPr/>
            </p:nvSpPr>
            <p:spPr>
              <a:xfrm>
                <a:off x="249398" y="837047"/>
                <a:ext cx="140883" cy="140883"/>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grpSp>
          <p:nvGrpSpPr>
            <p:cNvPr id="46" name="组合 45">
              <a:extLst>
                <a:ext uri="{FF2B5EF4-FFF2-40B4-BE49-F238E27FC236}">
                  <a16:creationId xmlns:a16="http://schemas.microsoft.com/office/drawing/2014/main" id="{24766A78-E4B5-A641-993D-D5F55E1DBD07}"/>
                </a:ext>
              </a:extLst>
            </p:cNvPr>
            <p:cNvGrpSpPr/>
            <p:nvPr/>
          </p:nvGrpSpPr>
          <p:grpSpPr>
            <a:xfrm>
              <a:off x="1024098" y="2880496"/>
              <a:ext cx="4730424" cy="395665"/>
              <a:chOff x="249398" y="702908"/>
              <a:chExt cx="4730424" cy="395665"/>
            </a:xfrm>
          </p:grpSpPr>
          <p:sp>
            <p:nvSpPr>
              <p:cNvPr id="56" name="矩形: 圆角 55">
                <a:extLst>
                  <a:ext uri="{FF2B5EF4-FFF2-40B4-BE49-F238E27FC236}">
                    <a16:creationId xmlns:a16="http://schemas.microsoft.com/office/drawing/2014/main" id="{927BEF27-AC0C-D87B-0CAB-8644DFE24DFC}"/>
                  </a:ext>
                </a:extLst>
              </p:cNvPr>
              <p:cNvSpPr/>
              <p:nvPr/>
            </p:nvSpPr>
            <p:spPr>
              <a:xfrm>
                <a:off x="413244" y="702908"/>
                <a:ext cx="4345017" cy="395665"/>
              </a:xfrm>
              <a:prstGeom prst="roundRect">
                <a:avLst>
                  <a:gd name="adj" fmla="val 50000"/>
                </a:avLst>
              </a:prstGeom>
              <a:solidFill>
                <a:schemeClr val="bg1">
                  <a:alpha val="81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57" name="文本框 56">
                <a:extLst>
                  <a:ext uri="{FF2B5EF4-FFF2-40B4-BE49-F238E27FC236}">
                    <a16:creationId xmlns:a16="http://schemas.microsoft.com/office/drawing/2014/main" id="{160FFFD9-EB9F-A2B4-42DD-3D67DF3A5A86}"/>
                  </a:ext>
                </a:extLst>
              </p:cNvPr>
              <p:cNvSpPr txBox="1"/>
              <p:nvPr/>
            </p:nvSpPr>
            <p:spPr>
              <a:xfrm>
                <a:off x="486108" y="744345"/>
                <a:ext cx="4493714" cy="338554"/>
              </a:xfrm>
              <a:prstGeom prst="rect">
                <a:avLst/>
              </a:prstGeom>
              <a:noFill/>
              <a:ln>
                <a:noFill/>
              </a:ln>
            </p:spPr>
            <p:txBody>
              <a:bodyPr wrap="square">
                <a:spAutoFit/>
              </a:bodyPr>
              <a:lstStyle/>
              <a:p>
                <a:pPr algn="l"/>
                <a:r>
                  <a:rPr lang="en-US" altLang="zh-CN" sz="1600" b="1" dirty="0">
                    <a:solidFill>
                      <a:srgbClr val="0070C0"/>
                    </a:solidFill>
                    <a:latin typeface="微软雅黑" panose="020B0503020204020204" pitchFamily="34" charset="-122"/>
                    <a:ea typeface="微软雅黑" panose="020B0503020204020204" pitchFamily="34" charset="-122"/>
                    <a:sym typeface="+mn-ea"/>
                  </a:rPr>
                  <a:t>4</a:t>
                </a:r>
                <a:r>
                  <a:rPr lang="zh-CN" altLang="en-US" sz="1600" b="1" dirty="0">
                    <a:solidFill>
                      <a:srgbClr val="0070C0"/>
                    </a:solidFill>
                    <a:latin typeface="微软雅黑" panose="020B0503020204020204" pitchFamily="34" charset="-122"/>
                    <a:ea typeface="微软雅黑" panose="020B0503020204020204" pitchFamily="34" charset="-122"/>
                    <a:sym typeface="+mn-ea"/>
                  </a:rPr>
                  <a:t>月</a:t>
                </a:r>
                <a:r>
                  <a:rPr lang="en-US" altLang="zh-CN" sz="1600" b="1" dirty="0">
                    <a:solidFill>
                      <a:srgbClr val="0070C0"/>
                    </a:solidFill>
                    <a:latin typeface="微软雅黑" panose="020B0503020204020204" pitchFamily="34" charset="-122"/>
                    <a:ea typeface="微软雅黑" panose="020B0503020204020204" pitchFamily="34" charset="-122"/>
                    <a:sym typeface="+mn-ea"/>
                  </a:rPr>
                  <a:t>25</a:t>
                </a:r>
                <a:r>
                  <a:rPr lang="zh-CN" altLang="en-US" sz="1600" b="1" dirty="0">
                    <a:solidFill>
                      <a:srgbClr val="0070C0"/>
                    </a:solidFill>
                    <a:latin typeface="微软雅黑" panose="020B0503020204020204" pitchFamily="34" charset="-122"/>
                    <a:ea typeface="微软雅黑" panose="020B0503020204020204" pitchFamily="34" charset="-122"/>
                    <a:sym typeface="+mn-ea"/>
                  </a:rPr>
                  <a:t>日数字重庆建设大会上讲话</a:t>
                </a:r>
              </a:p>
            </p:txBody>
          </p:sp>
          <p:sp>
            <p:nvSpPr>
              <p:cNvPr id="58" name="椭圆 57">
                <a:extLst>
                  <a:ext uri="{FF2B5EF4-FFF2-40B4-BE49-F238E27FC236}">
                    <a16:creationId xmlns:a16="http://schemas.microsoft.com/office/drawing/2014/main" id="{773704B3-3DCA-C2D9-752F-AF7BA6BC2555}"/>
                  </a:ext>
                </a:extLst>
              </p:cNvPr>
              <p:cNvSpPr/>
              <p:nvPr/>
            </p:nvSpPr>
            <p:spPr>
              <a:xfrm>
                <a:off x="249398" y="837047"/>
                <a:ext cx="140883" cy="140883"/>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grpSp>
          <p:nvGrpSpPr>
            <p:cNvPr id="47" name="组合 46">
              <a:extLst>
                <a:ext uri="{FF2B5EF4-FFF2-40B4-BE49-F238E27FC236}">
                  <a16:creationId xmlns:a16="http://schemas.microsoft.com/office/drawing/2014/main" id="{3A0163B9-C55F-7E0D-A66C-EACC0641E7E7}"/>
                </a:ext>
              </a:extLst>
            </p:cNvPr>
            <p:cNvGrpSpPr/>
            <p:nvPr/>
          </p:nvGrpSpPr>
          <p:grpSpPr>
            <a:xfrm>
              <a:off x="1024098" y="4132384"/>
              <a:ext cx="4730424" cy="395665"/>
              <a:chOff x="249398" y="702908"/>
              <a:chExt cx="4730424" cy="395665"/>
            </a:xfrm>
          </p:grpSpPr>
          <p:sp>
            <p:nvSpPr>
              <p:cNvPr id="53" name="矩形: 圆角 52">
                <a:extLst>
                  <a:ext uri="{FF2B5EF4-FFF2-40B4-BE49-F238E27FC236}">
                    <a16:creationId xmlns:a16="http://schemas.microsoft.com/office/drawing/2014/main" id="{F4254054-0BFE-4BD6-9BB2-6893FB64FACA}"/>
                  </a:ext>
                </a:extLst>
              </p:cNvPr>
              <p:cNvSpPr/>
              <p:nvPr/>
            </p:nvSpPr>
            <p:spPr>
              <a:xfrm>
                <a:off x="413244" y="702908"/>
                <a:ext cx="4345017" cy="395665"/>
              </a:xfrm>
              <a:prstGeom prst="roundRect">
                <a:avLst>
                  <a:gd name="adj" fmla="val 50000"/>
                </a:avLst>
              </a:prstGeom>
              <a:solidFill>
                <a:schemeClr val="bg1">
                  <a:alpha val="81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54" name="文本框 53">
                <a:extLst>
                  <a:ext uri="{FF2B5EF4-FFF2-40B4-BE49-F238E27FC236}">
                    <a16:creationId xmlns:a16="http://schemas.microsoft.com/office/drawing/2014/main" id="{969D859D-5939-1D8E-6C25-1D7F6E9256B6}"/>
                  </a:ext>
                </a:extLst>
              </p:cNvPr>
              <p:cNvSpPr txBox="1"/>
              <p:nvPr/>
            </p:nvSpPr>
            <p:spPr>
              <a:xfrm>
                <a:off x="486108" y="744345"/>
                <a:ext cx="4493714" cy="338554"/>
              </a:xfrm>
              <a:prstGeom prst="rect">
                <a:avLst/>
              </a:prstGeom>
              <a:noFill/>
              <a:ln>
                <a:noFill/>
              </a:ln>
            </p:spPr>
            <p:txBody>
              <a:bodyPr wrap="square">
                <a:spAutoFit/>
              </a:bodyPr>
              <a:lstStyle/>
              <a:p>
                <a:pPr algn="l"/>
                <a:r>
                  <a:rPr lang="en-US" altLang="zh-CN" sz="1600" b="1" dirty="0">
                    <a:solidFill>
                      <a:srgbClr val="0070C0"/>
                    </a:solidFill>
                    <a:latin typeface="微软雅黑" panose="020B0503020204020204" pitchFamily="34" charset="-122"/>
                    <a:ea typeface="微软雅黑" panose="020B0503020204020204" pitchFamily="34" charset="-122"/>
                    <a:sym typeface="+mn-ea"/>
                  </a:rPr>
                  <a:t>5</a:t>
                </a:r>
                <a:r>
                  <a:rPr lang="zh-CN" altLang="en-US" sz="1600" b="1" dirty="0">
                    <a:solidFill>
                      <a:srgbClr val="0070C0"/>
                    </a:solidFill>
                    <a:latin typeface="微软雅黑" panose="020B0503020204020204" pitchFamily="34" charset="-122"/>
                    <a:ea typeface="微软雅黑" panose="020B0503020204020204" pitchFamily="34" charset="-122"/>
                    <a:sym typeface="+mn-ea"/>
                  </a:rPr>
                  <a:t>月</a:t>
                </a:r>
                <a:r>
                  <a:rPr lang="en-US" altLang="zh-CN" sz="1600" b="1" dirty="0">
                    <a:solidFill>
                      <a:srgbClr val="0070C0"/>
                    </a:solidFill>
                    <a:latin typeface="微软雅黑" panose="020B0503020204020204" pitchFamily="34" charset="-122"/>
                    <a:ea typeface="微软雅黑" panose="020B0503020204020204" pitchFamily="34" charset="-122"/>
                    <a:sym typeface="+mn-ea"/>
                  </a:rPr>
                  <a:t>18</a:t>
                </a:r>
                <a:r>
                  <a:rPr lang="zh-CN" altLang="en-US" sz="1600" b="1" dirty="0">
                    <a:solidFill>
                      <a:srgbClr val="0070C0"/>
                    </a:solidFill>
                    <a:latin typeface="微软雅黑" panose="020B0503020204020204" pitchFamily="34" charset="-122"/>
                    <a:ea typeface="微软雅黑" panose="020B0503020204020204" pitchFamily="34" charset="-122"/>
                    <a:sym typeface="+mn-ea"/>
                  </a:rPr>
                  <a:t>日数字重庆建设工作座谈会上讲话</a:t>
                </a:r>
              </a:p>
            </p:txBody>
          </p:sp>
          <p:sp>
            <p:nvSpPr>
              <p:cNvPr id="55" name="椭圆 54">
                <a:extLst>
                  <a:ext uri="{FF2B5EF4-FFF2-40B4-BE49-F238E27FC236}">
                    <a16:creationId xmlns:a16="http://schemas.microsoft.com/office/drawing/2014/main" id="{2C3E0A30-3886-8C97-0B00-1F4DAC51CB87}"/>
                  </a:ext>
                </a:extLst>
              </p:cNvPr>
              <p:cNvSpPr/>
              <p:nvPr/>
            </p:nvSpPr>
            <p:spPr>
              <a:xfrm>
                <a:off x="249398" y="837047"/>
                <a:ext cx="140883" cy="140883"/>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sp>
          <p:nvSpPr>
            <p:cNvPr id="48" name="文本框 47">
              <a:extLst>
                <a:ext uri="{FF2B5EF4-FFF2-40B4-BE49-F238E27FC236}">
                  <a16:creationId xmlns:a16="http://schemas.microsoft.com/office/drawing/2014/main" id="{0E70F5AD-1E2E-1625-D8C9-FFC1E847D68E}"/>
                </a:ext>
              </a:extLst>
            </p:cNvPr>
            <p:cNvSpPr txBox="1"/>
            <p:nvPr>
              <p:custDataLst>
                <p:tags r:id="rId5"/>
              </p:custDataLst>
            </p:nvPr>
          </p:nvSpPr>
          <p:spPr>
            <a:xfrm>
              <a:off x="1221106" y="5948951"/>
              <a:ext cx="10753513" cy="337185"/>
            </a:xfrm>
            <a:prstGeom prst="rect">
              <a:avLst/>
            </a:prstGeom>
          </p:spPr>
          <p:txBody>
            <a:bodyPr wrap="square">
              <a:spAutoFit/>
            </a:bodyPr>
            <a:lstStyle/>
            <a:p>
              <a:pPr algn="l"/>
              <a:r>
                <a:rPr lang="zh-CN" altLang="en-US" sz="1600" dirty="0">
                  <a:latin typeface="微软雅黑" panose="020B0503020204020204" pitchFamily="34" charset="-122"/>
                  <a:ea typeface="微软雅黑" panose="020B0503020204020204" pitchFamily="34" charset="-122"/>
                  <a:sym typeface="+mn-ea"/>
                </a:rPr>
                <a:t>数字重庆建设要从原各部门</a:t>
              </a:r>
              <a:r>
                <a:rPr lang="zh-CN" altLang="en-US" sz="1600" b="1" dirty="0">
                  <a:solidFill>
                    <a:srgbClr val="C00000"/>
                  </a:solidFill>
                  <a:latin typeface="微软雅黑" panose="020B0503020204020204" pitchFamily="34" charset="-122"/>
                  <a:ea typeface="微软雅黑" panose="020B0503020204020204" pitchFamily="34" charset="-122"/>
                  <a:sym typeface="+mn-ea"/>
                </a:rPr>
                <a:t>分散开发向集中管理转变。</a:t>
              </a:r>
              <a:endParaRPr lang="zh-CN" altLang="en-US" sz="16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endParaRPr>
            </a:p>
          </p:txBody>
        </p:sp>
        <p:grpSp>
          <p:nvGrpSpPr>
            <p:cNvPr id="49" name="组合 48">
              <a:extLst>
                <a:ext uri="{FF2B5EF4-FFF2-40B4-BE49-F238E27FC236}">
                  <a16:creationId xmlns:a16="http://schemas.microsoft.com/office/drawing/2014/main" id="{2B7747BE-E9CC-8247-B198-3388AEBDF773}"/>
                </a:ext>
              </a:extLst>
            </p:cNvPr>
            <p:cNvGrpSpPr/>
            <p:nvPr/>
          </p:nvGrpSpPr>
          <p:grpSpPr>
            <a:xfrm>
              <a:off x="1024098" y="5490493"/>
              <a:ext cx="6645386" cy="395665"/>
              <a:chOff x="249399" y="779108"/>
              <a:chExt cx="4730423" cy="395665"/>
            </a:xfrm>
          </p:grpSpPr>
          <p:sp>
            <p:nvSpPr>
              <p:cNvPr id="50" name="矩形: 圆角 49">
                <a:extLst>
                  <a:ext uri="{FF2B5EF4-FFF2-40B4-BE49-F238E27FC236}">
                    <a16:creationId xmlns:a16="http://schemas.microsoft.com/office/drawing/2014/main" id="{5C305350-B8D7-1B94-F4EB-EE7B8C6BF52C}"/>
                  </a:ext>
                </a:extLst>
              </p:cNvPr>
              <p:cNvSpPr/>
              <p:nvPr/>
            </p:nvSpPr>
            <p:spPr>
              <a:xfrm>
                <a:off x="413244" y="779108"/>
                <a:ext cx="4345017" cy="395665"/>
              </a:xfrm>
              <a:prstGeom prst="roundRect">
                <a:avLst>
                  <a:gd name="adj" fmla="val 50000"/>
                </a:avLst>
              </a:prstGeom>
              <a:solidFill>
                <a:schemeClr val="bg1">
                  <a:alpha val="81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51" name="文本框 50">
                <a:extLst>
                  <a:ext uri="{FF2B5EF4-FFF2-40B4-BE49-F238E27FC236}">
                    <a16:creationId xmlns:a16="http://schemas.microsoft.com/office/drawing/2014/main" id="{0A7ECFF3-61E4-A592-6539-117372D8FE38}"/>
                  </a:ext>
                </a:extLst>
              </p:cNvPr>
              <p:cNvSpPr txBox="1"/>
              <p:nvPr/>
            </p:nvSpPr>
            <p:spPr>
              <a:xfrm>
                <a:off x="486108" y="801495"/>
                <a:ext cx="4493714" cy="338554"/>
              </a:xfrm>
              <a:prstGeom prst="rect">
                <a:avLst/>
              </a:prstGeom>
              <a:noFill/>
              <a:ln>
                <a:noFill/>
              </a:ln>
            </p:spPr>
            <p:txBody>
              <a:bodyPr wrap="square">
                <a:spAutoFit/>
              </a:bodyPr>
              <a:lstStyle/>
              <a:p>
                <a:pPr algn="l"/>
                <a:r>
                  <a:rPr lang="zh-CN" altLang="en-US" sz="1600" b="1" dirty="0">
                    <a:solidFill>
                      <a:srgbClr val="0070C0"/>
                    </a:solidFill>
                    <a:latin typeface="微软雅黑" panose="020B0503020204020204" pitchFamily="34" charset="-122"/>
                    <a:ea typeface="微软雅黑" panose="020B0503020204020204" pitchFamily="34" charset="-122"/>
                    <a:sym typeface="+mn-ea"/>
                  </a:rPr>
                  <a:t>在</a:t>
                </a:r>
                <a:r>
                  <a:rPr lang="en-US" altLang="zh-CN" sz="1600" b="1" dirty="0">
                    <a:solidFill>
                      <a:srgbClr val="0070C0"/>
                    </a:solidFill>
                    <a:latin typeface="微软雅黑" panose="020B0503020204020204" pitchFamily="34" charset="-122"/>
                    <a:ea typeface="微软雅黑" panose="020B0503020204020204" pitchFamily="34" charset="-122"/>
                    <a:sym typeface="+mn-ea"/>
                  </a:rPr>
                  <a:t>《</a:t>
                </a:r>
                <a:r>
                  <a:rPr lang="zh-CN" altLang="en-US" sz="1600" b="1" dirty="0">
                    <a:solidFill>
                      <a:srgbClr val="0070C0"/>
                    </a:solidFill>
                    <a:latin typeface="微软雅黑" panose="020B0503020204020204" pitchFamily="34" charset="-122"/>
                    <a:ea typeface="微软雅黑" panose="020B0503020204020204" pitchFamily="34" charset="-122"/>
                    <a:sym typeface="+mn-ea"/>
                  </a:rPr>
                  <a:t>关于全市</a:t>
                </a:r>
                <a:r>
                  <a:rPr lang="en-US" altLang="zh-CN" sz="1600" b="1" dirty="0">
                    <a:solidFill>
                      <a:srgbClr val="0070C0"/>
                    </a:solidFill>
                    <a:latin typeface="微软雅黑" panose="020B0503020204020204" pitchFamily="34" charset="-122"/>
                    <a:ea typeface="微软雅黑" panose="020B0503020204020204" pitchFamily="34" charset="-122"/>
                    <a:sym typeface="+mn-ea"/>
                  </a:rPr>
                  <a:t>2023</a:t>
                </a:r>
                <a:r>
                  <a:rPr lang="zh-CN" altLang="en-US" sz="1600" b="1" dirty="0">
                    <a:solidFill>
                      <a:srgbClr val="0070C0"/>
                    </a:solidFill>
                    <a:latin typeface="微软雅黑" panose="020B0503020204020204" pitchFamily="34" charset="-122"/>
                    <a:ea typeface="微软雅黑" panose="020B0503020204020204" pitchFamily="34" charset="-122"/>
                    <a:sym typeface="+mn-ea"/>
                  </a:rPr>
                  <a:t>年财政预算重点支出安排情况的报告</a:t>
                </a:r>
                <a:r>
                  <a:rPr lang="en-US" altLang="zh-CN" sz="1600" b="1" dirty="0">
                    <a:solidFill>
                      <a:srgbClr val="0070C0"/>
                    </a:solidFill>
                    <a:latin typeface="微软雅黑" panose="020B0503020204020204" pitchFamily="34" charset="-122"/>
                    <a:ea typeface="微软雅黑" panose="020B0503020204020204" pitchFamily="34" charset="-122"/>
                    <a:sym typeface="+mn-ea"/>
                  </a:rPr>
                  <a:t>》</a:t>
                </a:r>
                <a:r>
                  <a:rPr lang="zh-CN" altLang="en-US" sz="1600" b="1" dirty="0">
                    <a:solidFill>
                      <a:srgbClr val="0070C0"/>
                    </a:solidFill>
                    <a:latin typeface="微软雅黑" panose="020B0503020204020204" pitchFamily="34" charset="-122"/>
                    <a:ea typeface="微软雅黑" panose="020B0503020204020204" pitchFamily="34" charset="-122"/>
                    <a:sym typeface="+mn-ea"/>
                  </a:rPr>
                  <a:t>上批示</a:t>
                </a:r>
              </a:p>
            </p:txBody>
          </p:sp>
          <p:sp>
            <p:nvSpPr>
              <p:cNvPr id="52" name="椭圆 51">
                <a:extLst>
                  <a:ext uri="{FF2B5EF4-FFF2-40B4-BE49-F238E27FC236}">
                    <a16:creationId xmlns:a16="http://schemas.microsoft.com/office/drawing/2014/main" id="{87FD419A-1853-BBDA-043C-42FA88BB032F}"/>
                  </a:ext>
                </a:extLst>
              </p:cNvPr>
              <p:cNvSpPr/>
              <p:nvPr/>
            </p:nvSpPr>
            <p:spPr>
              <a:xfrm>
                <a:off x="249399" y="837047"/>
                <a:ext cx="100286" cy="140883"/>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grpSp>
    </p:spTree>
    <p:extLst>
      <p:ext uri="{BB962C8B-B14F-4D97-AF65-F5344CB8AC3E}">
        <p14:creationId xmlns:p14="http://schemas.microsoft.com/office/powerpoint/2010/main" val="47134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E81BB2-0521-98A9-5685-7C1EB91CF1BA}"/>
              </a:ext>
            </a:extLst>
          </p:cNvPr>
          <p:cNvSpPr>
            <a:spLocks noGrp="1"/>
          </p:cNvSpPr>
          <p:nvPr>
            <p:ph type="title"/>
          </p:nvPr>
        </p:nvSpPr>
        <p:spPr/>
        <p:txBody>
          <a:bodyPr/>
          <a:lstStyle/>
          <a:p>
            <a:r>
              <a:rPr kumimoji="1" lang="zh-CN" altLang="en-US" dirty="0"/>
              <a:t>目录</a:t>
            </a:r>
          </a:p>
        </p:txBody>
      </p:sp>
      <p:grpSp>
        <p:nvGrpSpPr>
          <p:cNvPr id="3" name="组合 2">
            <a:extLst>
              <a:ext uri="{FF2B5EF4-FFF2-40B4-BE49-F238E27FC236}">
                <a16:creationId xmlns:a16="http://schemas.microsoft.com/office/drawing/2014/main" id="{93D14DF3-623E-C0BF-3EAE-EC4D30F0492A}"/>
              </a:ext>
            </a:extLst>
          </p:cNvPr>
          <p:cNvGrpSpPr/>
          <p:nvPr/>
        </p:nvGrpSpPr>
        <p:grpSpPr>
          <a:xfrm>
            <a:off x="963362" y="2039482"/>
            <a:ext cx="5535295" cy="626745"/>
            <a:chOff x="5258" y="4807"/>
            <a:chExt cx="7639" cy="992"/>
          </a:xfrm>
        </p:grpSpPr>
        <p:sp>
          <p:nvSpPr>
            <p:cNvPr id="4" name="文本框 3">
              <a:extLst>
                <a:ext uri="{FF2B5EF4-FFF2-40B4-BE49-F238E27FC236}">
                  <a16:creationId xmlns:a16="http://schemas.microsoft.com/office/drawing/2014/main" id="{705E1E82-ECE3-81A2-8234-8D1D75052613}"/>
                </a:ext>
              </a:extLst>
            </p:cNvPr>
            <p:cNvSpPr txBox="1"/>
            <p:nvPr>
              <p:custDataLst>
                <p:tags r:id="rId36"/>
              </p:custDataLst>
            </p:nvPr>
          </p:nvSpPr>
          <p:spPr>
            <a:xfrm>
              <a:off x="6978" y="4944"/>
              <a:ext cx="5919" cy="631"/>
            </a:xfrm>
            <a:prstGeom prst="rect">
              <a:avLst/>
            </a:prstGeom>
            <a:noFill/>
          </p:spPr>
          <p:txBody>
            <a:bodyPr wrap="square">
              <a:spAutoFit/>
            </a:bodyPr>
            <a:lstStyle/>
            <a:p>
              <a:pPr algn="just"/>
              <a:r>
                <a:rPr lang="zh-CN" altLang="en-US" sz="2000" b="1" dirty="0">
                  <a:solidFill>
                    <a:srgbClr val="0070C0"/>
                  </a:solidFill>
                  <a:latin typeface="微软雅黑" panose="020B0503020204020204" pitchFamily="34" charset="-122"/>
                  <a:ea typeface="微软雅黑" panose="020B0503020204020204" pitchFamily="34" charset="-122"/>
                </a:rPr>
                <a:t>适用范围及术语解释</a:t>
              </a:r>
            </a:p>
          </p:txBody>
        </p:sp>
        <p:cxnSp>
          <p:nvCxnSpPr>
            <p:cNvPr id="5" name="直线连接符 4">
              <a:extLst>
                <a:ext uri="{FF2B5EF4-FFF2-40B4-BE49-F238E27FC236}">
                  <a16:creationId xmlns:a16="http://schemas.microsoft.com/office/drawing/2014/main" id="{C38FE750-CEDB-785E-F326-84F030F6F9B8}"/>
                </a:ext>
              </a:extLst>
            </p:cNvPr>
            <p:cNvCxnSpPr/>
            <p:nvPr>
              <p:custDataLst>
                <p:tags r:id="rId37"/>
              </p:custDataLst>
            </p:nvPr>
          </p:nvCxnSpPr>
          <p:spPr>
            <a:xfrm>
              <a:off x="5258" y="5799"/>
              <a:ext cx="6866"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6" name="平行四边形 5">
              <a:extLst>
                <a:ext uri="{FF2B5EF4-FFF2-40B4-BE49-F238E27FC236}">
                  <a16:creationId xmlns:a16="http://schemas.microsoft.com/office/drawing/2014/main" id="{7CCC3D76-A0BE-255F-FCB9-8FE45E543A74}"/>
                </a:ext>
              </a:extLst>
            </p:cNvPr>
            <p:cNvSpPr/>
            <p:nvPr>
              <p:custDataLst>
                <p:tags r:id="rId38"/>
              </p:custDataLst>
            </p:nvPr>
          </p:nvSpPr>
          <p:spPr>
            <a:xfrm>
              <a:off x="5606" y="4931"/>
              <a:ext cx="1231" cy="749"/>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平行四边形 6">
              <a:extLst>
                <a:ext uri="{FF2B5EF4-FFF2-40B4-BE49-F238E27FC236}">
                  <a16:creationId xmlns:a16="http://schemas.microsoft.com/office/drawing/2014/main" id="{4ECC4F1C-648A-5B6F-1425-0ECB2FDDCE66}"/>
                </a:ext>
              </a:extLst>
            </p:cNvPr>
            <p:cNvSpPr/>
            <p:nvPr>
              <p:custDataLst>
                <p:tags r:id="rId39"/>
              </p:custDataLst>
            </p:nvPr>
          </p:nvSpPr>
          <p:spPr>
            <a:xfrm>
              <a:off x="5497" y="4817"/>
              <a:ext cx="1231" cy="749"/>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A5AC2499-86FB-B78E-1925-1692E823B316}"/>
                </a:ext>
              </a:extLst>
            </p:cNvPr>
            <p:cNvSpPr txBox="1"/>
            <p:nvPr>
              <p:custDataLst>
                <p:tags r:id="rId40"/>
              </p:custDataLst>
            </p:nvPr>
          </p:nvSpPr>
          <p:spPr>
            <a:xfrm>
              <a:off x="5779" y="4807"/>
              <a:ext cx="681" cy="753"/>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1</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nvGrpSpPr>
          <p:cNvPr id="9" name="组合 8">
            <a:extLst>
              <a:ext uri="{FF2B5EF4-FFF2-40B4-BE49-F238E27FC236}">
                <a16:creationId xmlns:a16="http://schemas.microsoft.com/office/drawing/2014/main" id="{B459426A-A995-9541-B051-5C05D16471B8}"/>
              </a:ext>
            </a:extLst>
          </p:cNvPr>
          <p:cNvGrpSpPr/>
          <p:nvPr/>
        </p:nvGrpSpPr>
        <p:grpSpPr>
          <a:xfrm>
            <a:off x="956916" y="3058200"/>
            <a:ext cx="5543550" cy="593725"/>
            <a:chOff x="5258" y="6034"/>
            <a:chExt cx="7626" cy="940"/>
          </a:xfrm>
        </p:grpSpPr>
        <p:sp>
          <p:nvSpPr>
            <p:cNvPr id="10" name="文本框 9">
              <a:extLst>
                <a:ext uri="{FF2B5EF4-FFF2-40B4-BE49-F238E27FC236}">
                  <a16:creationId xmlns:a16="http://schemas.microsoft.com/office/drawing/2014/main" id="{45AA0CCE-6755-1F0A-41FB-40B331AC6CCD}"/>
                </a:ext>
              </a:extLst>
            </p:cNvPr>
            <p:cNvSpPr txBox="1"/>
            <p:nvPr>
              <p:custDataLst>
                <p:tags r:id="rId31"/>
              </p:custDataLst>
            </p:nvPr>
          </p:nvSpPr>
          <p:spPr>
            <a:xfrm>
              <a:off x="6978" y="6171"/>
              <a:ext cx="5906" cy="631"/>
            </a:xfrm>
            <a:prstGeom prst="rect">
              <a:avLst/>
            </a:prstGeom>
            <a:noFill/>
          </p:spPr>
          <p:txBody>
            <a:bodyPr wrap="square">
              <a:spAutoFit/>
            </a:bodyPr>
            <a:lstStyle/>
            <a:p>
              <a:pPr algn="just"/>
              <a:r>
                <a:rPr lang="zh-CN" altLang="en-US" sz="2000" b="1" dirty="0">
                  <a:solidFill>
                    <a:srgbClr val="0070C0"/>
                  </a:solidFill>
                  <a:latin typeface="微软雅黑" panose="020B0503020204020204" pitchFamily="34" charset="-122"/>
                  <a:ea typeface="微软雅黑" panose="020B0503020204020204" pitchFamily="34" charset="-122"/>
                  <a:sym typeface="+mn-ea"/>
                </a:rPr>
                <a:t>应用谋划</a:t>
              </a:r>
            </a:p>
          </p:txBody>
        </p:sp>
        <p:cxnSp>
          <p:nvCxnSpPr>
            <p:cNvPr id="11" name="直线连接符 10">
              <a:extLst>
                <a:ext uri="{FF2B5EF4-FFF2-40B4-BE49-F238E27FC236}">
                  <a16:creationId xmlns:a16="http://schemas.microsoft.com/office/drawing/2014/main" id="{B78CE3A6-01F4-9C82-7C83-3FCB7AB966AF}"/>
                </a:ext>
              </a:extLst>
            </p:cNvPr>
            <p:cNvCxnSpPr/>
            <p:nvPr>
              <p:custDataLst>
                <p:tags r:id="rId32"/>
              </p:custDataLst>
            </p:nvPr>
          </p:nvCxnSpPr>
          <p:spPr>
            <a:xfrm>
              <a:off x="5258" y="6974"/>
              <a:ext cx="6841"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ED45E089-3690-283D-A6EB-5E1B4F3C80A4}"/>
                </a:ext>
              </a:extLst>
            </p:cNvPr>
            <p:cNvGrpSpPr/>
            <p:nvPr/>
          </p:nvGrpSpPr>
          <p:grpSpPr>
            <a:xfrm>
              <a:off x="5377" y="6034"/>
              <a:ext cx="1339" cy="864"/>
              <a:chOff x="1427115" y="2928189"/>
              <a:chExt cx="850428" cy="555921"/>
            </a:xfrm>
          </p:grpSpPr>
          <p:sp>
            <p:nvSpPr>
              <p:cNvPr id="13" name="平行四边形 12">
                <a:extLst>
                  <a:ext uri="{FF2B5EF4-FFF2-40B4-BE49-F238E27FC236}">
                    <a16:creationId xmlns:a16="http://schemas.microsoft.com/office/drawing/2014/main" id="{A8FF4D38-F392-CD7D-C97E-F1706837046D}"/>
                  </a:ext>
                </a:extLst>
              </p:cNvPr>
              <p:cNvSpPr/>
              <p:nvPr>
                <p:custDataLst>
                  <p:tags r:id="rId33"/>
                </p:custDataLst>
              </p:nvPr>
            </p:nvSpPr>
            <p:spPr>
              <a:xfrm>
                <a:off x="1496147" y="3001972"/>
                <a:ext cx="781396" cy="482138"/>
              </a:xfrm>
              <a:prstGeom prst="parallelogram">
                <a:avLst/>
              </a:prstGeom>
              <a:solidFill>
                <a:schemeClr val="accent1">
                  <a:alpha val="4392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平行四边形 13">
                <a:extLst>
                  <a:ext uri="{FF2B5EF4-FFF2-40B4-BE49-F238E27FC236}">
                    <a16:creationId xmlns:a16="http://schemas.microsoft.com/office/drawing/2014/main" id="{4B1BA2CF-04DA-010D-1FBE-18E4A0D67D52}"/>
                  </a:ext>
                </a:extLst>
              </p:cNvPr>
              <p:cNvSpPr/>
              <p:nvPr>
                <p:custDataLst>
                  <p:tags r:id="rId34"/>
                </p:custDataLst>
              </p:nvPr>
            </p:nvSpPr>
            <p:spPr>
              <a:xfrm>
                <a:off x="1427115" y="2928189"/>
                <a:ext cx="781396" cy="482138"/>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A367F697-8B63-92F8-1E76-5D65744B40AE}"/>
                  </a:ext>
                </a:extLst>
              </p:cNvPr>
              <p:cNvSpPr txBox="1"/>
              <p:nvPr>
                <p:custDataLst>
                  <p:tags r:id="rId35"/>
                </p:custDataLst>
              </p:nvPr>
            </p:nvSpPr>
            <p:spPr>
              <a:xfrm>
                <a:off x="1636033" y="2938254"/>
                <a:ext cx="477580" cy="484504"/>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2</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grpSp>
        <p:nvGrpSpPr>
          <p:cNvPr id="23" name="组合 22">
            <a:extLst>
              <a:ext uri="{FF2B5EF4-FFF2-40B4-BE49-F238E27FC236}">
                <a16:creationId xmlns:a16="http://schemas.microsoft.com/office/drawing/2014/main" id="{9B840DF1-C3F8-4C43-C61E-4A4B8D4F8AB1}"/>
              </a:ext>
            </a:extLst>
          </p:cNvPr>
          <p:cNvGrpSpPr/>
          <p:nvPr/>
        </p:nvGrpSpPr>
        <p:grpSpPr>
          <a:xfrm>
            <a:off x="944043" y="4043898"/>
            <a:ext cx="5535295" cy="626745"/>
            <a:chOff x="5258" y="4807"/>
            <a:chExt cx="7639" cy="992"/>
          </a:xfrm>
        </p:grpSpPr>
        <p:sp>
          <p:nvSpPr>
            <p:cNvPr id="24" name="文本框 23">
              <a:extLst>
                <a:ext uri="{FF2B5EF4-FFF2-40B4-BE49-F238E27FC236}">
                  <a16:creationId xmlns:a16="http://schemas.microsoft.com/office/drawing/2014/main" id="{C8ACCDB4-7DA3-5238-49DE-0909CA7CC35A}"/>
                </a:ext>
              </a:extLst>
            </p:cNvPr>
            <p:cNvSpPr txBox="1"/>
            <p:nvPr>
              <p:custDataLst>
                <p:tags r:id="rId26"/>
              </p:custDataLst>
            </p:nvPr>
          </p:nvSpPr>
          <p:spPr>
            <a:xfrm>
              <a:off x="6978" y="4944"/>
              <a:ext cx="5919" cy="631"/>
            </a:xfrm>
            <a:prstGeom prst="rect">
              <a:avLst/>
            </a:prstGeom>
            <a:noFill/>
          </p:spPr>
          <p:txBody>
            <a:bodyPr wrap="square">
              <a:spAutoFit/>
            </a:bodyPr>
            <a:lstStyle/>
            <a:p>
              <a:pPr algn="just"/>
              <a:r>
                <a:rPr lang="zh-CN" altLang="en-US" sz="2000" b="1" dirty="0">
                  <a:solidFill>
                    <a:srgbClr val="0070C0"/>
                  </a:solidFill>
                  <a:latin typeface="微软雅黑" panose="020B0503020204020204" pitchFamily="34" charset="-122"/>
                  <a:ea typeface="微软雅黑" panose="020B0503020204020204" pitchFamily="34" charset="-122"/>
                </a:rPr>
                <a:t>应用申报及审核</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cxnSp>
          <p:nvCxnSpPr>
            <p:cNvPr id="25" name="直线连接符 24">
              <a:extLst>
                <a:ext uri="{FF2B5EF4-FFF2-40B4-BE49-F238E27FC236}">
                  <a16:creationId xmlns:a16="http://schemas.microsoft.com/office/drawing/2014/main" id="{F4780A8E-B210-226A-9174-409F02108C0E}"/>
                </a:ext>
              </a:extLst>
            </p:cNvPr>
            <p:cNvCxnSpPr/>
            <p:nvPr>
              <p:custDataLst>
                <p:tags r:id="rId27"/>
              </p:custDataLst>
            </p:nvPr>
          </p:nvCxnSpPr>
          <p:spPr>
            <a:xfrm>
              <a:off x="5258" y="5799"/>
              <a:ext cx="6866"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26" name="平行四边形 25">
              <a:extLst>
                <a:ext uri="{FF2B5EF4-FFF2-40B4-BE49-F238E27FC236}">
                  <a16:creationId xmlns:a16="http://schemas.microsoft.com/office/drawing/2014/main" id="{BD9BBAD7-72C9-0CF9-DA1F-0CE0CD2A54AE}"/>
                </a:ext>
              </a:extLst>
            </p:cNvPr>
            <p:cNvSpPr/>
            <p:nvPr>
              <p:custDataLst>
                <p:tags r:id="rId28"/>
              </p:custDataLst>
            </p:nvPr>
          </p:nvSpPr>
          <p:spPr>
            <a:xfrm>
              <a:off x="5606" y="4931"/>
              <a:ext cx="1231" cy="749"/>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平行四边形 26">
              <a:extLst>
                <a:ext uri="{FF2B5EF4-FFF2-40B4-BE49-F238E27FC236}">
                  <a16:creationId xmlns:a16="http://schemas.microsoft.com/office/drawing/2014/main" id="{35BAF065-9BA0-FBC6-E2A5-AE02CB74302E}"/>
                </a:ext>
              </a:extLst>
            </p:cNvPr>
            <p:cNvSpPr/>
            <p:nvPr>
              <p:custDataLst>
                <p:tags r:id="rId29"/>
              </p:custDataLst>
            </p:nvPr>
          </p:nvSpPr>
          <p:spPr>
            <a:xfrm>
              <a:off x="5497" y="4817"/>
              <a:ext cx="1231" cy="749"/>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008CC131-5958-F59C-101D-994971BEC9D7}"/>
                </a:ext>
              </a:extLst>
            </p:cNvPr>
            <p:cNvSpPr txBox="1"/>
            <p:nvPr>
              <p:custDataLst>
                <p:tags r:id="rId30"/>
              </p:custDataLst>
            </p:nvPr>
          </p:nvSpPr>
          <p:spPr>
            <a:xfrm>
              <a:off x="5779" y="4807"/>
              <a:ext cx="681" cy="719"/>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3</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nvGrpSpPr>
          <p:cNvPr id="29" name="组合 28">
            <a:extLst>
              <a:ext uri="{FF2B5EF4-FFF2-40B4-BE49-F238E27FC236}">
                <a16:creationId xmlns:a16="http://schemas.microsoft.com/office/drawing/2014/main" id="{A2426F31-9801-6A3B-E38E-16ECFE63A037}"/>
              </a:ext>
            </a:extLst>
          </p:cNvPr>
          <p:cNvGrpSpPr/>
          <p:nvPr/>
        </p:nvGrpSpPr>
        <p:grpSpPr>
          <a:xfrm>
            <a:off x="956922" y="5069056"/>
            <a:ext cx="5543550" cy="593725"/>
            <a:chOff x="5258" y="6034"/>
            <a:chExt cx="7626" cy="940"/>
          </a:xfrm>
        </p:grpSpPr>
        <p:sp>
          <p:nvSpPr>
            <p:cNvPr id="30" name="文本框 29">
              <a:extLst>
                <a:ext uri="{FF2B5EF4-FFF2-40B4-BE49-F238E27FC236}">
                  <a16:creationId xmlns:a16="http://schemas.microsoft.com/office/drawing/2014/main" id="{49698D81-5C26-B728-42D0-DEC3AB80B33A}"/>
                </a:ext>
              </a:extLst>
            </p:cNvPr>
            <p:cNvSpPr txBox="1"/>
            <p:nvPr>
              <p:custDataLst>
                <p:tags r:id="rId21"/>
              </p:custDataLst>
            </p:nvPr>
          </p:nvSpPr>
          <p:spPr>
            <a:xfrm>
              <a:off x="6978" y="6171"/>
              <a:ext cx="5906" cy="631"/>
            </a:xfrm>
            <a:prstGeom prst="rect">
              <a:avLst/>
            </a:prstGeom>
            <a:noFill/>
          </p:spPr>
          <p:txBody>
            <a:bodyPr wrap="square">
              <a:spAutoFit/>
            </a:bodyPr>
            <a:lstStyle/>
            <a:p>
              <a:pPr algn="just"/>
              <a:r>
                <a:rPr lang="zh-CN" altLang="en-US" sz="2000" b="1" dirty="0">
                  <a:solidFill>
                    <a:srgbClr val="0070C0"/>
                  </a:solidFill>
                  <a:latin typeface="微软雅黑" panose="020B0503020204020204" pitchFamily="34" charset="-122"/>
                  <a:ea typeface="微软雅黑" panose="020B0503020204020204" pitchFamily="34" charset="-122"/>
                  <a:sym typeface="+mn-ea"/>
                </a:rPr>
                <a:t>预算管理</a:t>
              </a:r>
            </a:p>
          </p:txBody>
        </p:sp>
        <p:cxnSp>
          <p:nvCxnSpPr>
            <p:cNvPr id="31" name="直线连接符 30">
              <a:extLst>
                <a:ext uri="{FF2B5EF4-FFF2-40B4-BE49-F238E27FC236}">
                  <a16:creationId xmlns:a16="http://schemas.microsoft.com/office/drawing/2014/main" id="{E29D0FAA-118A-2810-237D-84FD7579039A}"/>
                </a:ext>
              </a:extLst>
            </p:cNvPr>
            <p:cNvCxnSpPr/>
            <p:nvPr>
              <p:custDataLst>
                <p:tags r:id="rId22"/>
              </p:custDataLst>
            </p:nvPr>
          </p:nvCxnSpPr>
          <p:spPr>
            <a:xfrm>
              <a:off x="5258" y="6974"/>
              <a:ext cx="6841"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grpSp>
          <p:nvGrpSpPr>
            <p:cNvPr id="32" name="组合 31">
              <a:extLst>
                <a:ext uri="{FF2B5EF4-FFF2-40B4-BE49-F238E27FC236}">
                  <a16:creationId xmlns:a16="http://schemas.microsoft.com/office/drawing/2014/main" id="{6C4855DB-3A5B-5B73-9D80-30AA8F222C5A}"/>
                </a:ext>
              </a:extLst>
            </p:cNvPr>
            <p:cNvGrpSpPr/>
            <p:nvPr/>
          </p:nvGrpSpPr>
          <p:grpSpPr>
            <a:xfrm>
              <a:off x="5377" y="6034"/>
              <a:ext cx="1339" cy="864"/>
              <a:chOff x="1427115" y="2928189"/>
              <a:chExt cx="850428" cy="555921"/>
            </a:xfrm>
          </p:grpSpPr>
          <p:sp>
            <p:nvSpPr>
              <p:cNvPr id="33" name="平行四边形 32">
                <a:extLst>
                  <a:ext uri="{FF2B5EF4-FFF2-40B4-BE49-F238E27FC236}">
                    <a16:creationId xmlns:a16="http://schemas.microsoft.com/office/drawing/2014/main" id="{3948FCCA-F94B-E91A-D789-92E527DA87BC}"/>
                  </a:ext>
                </a:extLst>
              </p:cNvPr>
              <p:cNvSpPr/>
              <p:nvPr>
                <p:custDataLst>
                  <p:tags r:id="rId23"/>
                </p:custDataLst>
              </p:nvPr>
            </p:nvSpPr>
            <p:spPr>
              <a:xfrm>
                <a:off x="1496147" y="3001972"/>
                <a:ext cx="781396" cy="482138"/>
              </a:xfrm>
              <a:prstGeom prst="parallelogram">
                <a:avLst/>
              </a:prstGeom>
              <a:solidFill>
                <a:schemeClr val="accent1">
                  <a:alpha val="4392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平行四边形 33">
                <a:extLst>
                  <a:ext uri="{FF2B5EF4-FFF2-40B4-BE49-F238E27FC236}">
                    <a16:creationId xmlns:a16="http://schemas.microsoft.com/office/drawing/2014/main" id="{EDD70D83-3194-87E1-BA67-E0D34900DC6C}"/>
                  </a:ext>
                </a:extLst>
              </p:cNvPr>
              <p:cNvSpPr/>
              <p:nvPr>
                <p:custDataLst>
                  <p:tags r:id="rId24"/>
                </p:custDataLst>
              </p:nvPr>
            </p:nvSpPr>
            <p:spPr>
              <a:xfrm>
                <a:off x="1427115" y="2928189"/>
                <a:ext cx="781396" cy="482138"/>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文本框 34">
                <a:extLst>
                  <a:ext uri="{FF2B5EF4-FFF2-40B4-BE49-F238E27FC236}">
                    <a16:creationId xmlns:a16="http://schemas.microsoft.com/office/drawing/2014/main" id="{792C4363-DF93-696B-EC98-908F8525E3CA}"/>
                  </a:ext>
                </a:extLst>
              </p:cNvPr>
              <p:cNvSpPr txBox="1"/>
              <p:nvPr>
                <p:custDataLst>
                  <p:tags r:id="rId25"/>
                </p:custDataLst>
              </p:nvPr>
            </p:nvSpPr>
            <p:spPr>
              <a:xfrm>
                <a:off x="1636033" y="2938254"/>
                <a:ext cx="477580" cy="462586"/>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4</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grpSp>
        <p:nvGrpSpPr>
          <p:cNvPr id="16" name="组合 15">
            <a:extLst>
              <a:ext uri="{FF2B5EF4-FFF2-40B4-BE49-F238E27FC236}">
                <a16:creationId xmlns:a16="http://schemas.microsoft.com/office/drawing/2014/main" id="{57C23995-3BEF-0752-88CF-0767B49926F7}"/>
              </a:ext>
            </a:extLst>
          </p:cNvPr>
          <p:cNvGrpSpPr/>
          <p:nvPr/>
        </p:nvGrpSpPr>
        <p:grpSpPr>
          <a:xfrm>
            <a:off x="6227446" y="2039482"/>
            <a:ext cx="5535295" cy="626745"/>
            <a:chOff x="5258" y="4807"/>
            <a:chExt cx="7639" cy="992"/>
          </a:xfrm>
        </p:grpSpPr>
        <p:sp>
          <p:nvSpPr>
            <p:cNvPr id="17" name="文本框 16">
              <a:extLst>
                <a:ext uri="{FF2B5EF4-FFF2-40B4-BE49-F238E27FC236}">
                  <a16:creationId xmlns:a16="http://schemas.microsoft.com/office/drawing/2014/main" id="{0EFCF6CD-83C8-7764-40F7-ED72ED0814FB}"/>
                </a:ext>
              </a:extLst>
            </p:cNvPr>
            <p:cNvSpPr txBox="1"/>
            <p:nvPr>
              <p:custDataLst>
                <p:tags r:id="rId16"/>
              </p:custDataLst>
            </p:nvPr>
          </p:nvSpPr>
          <p:spPr>
            <a:xfrm>
              <a:off x="6978" y="4944"/>
              <a:ext cx="5919" cy="631"/>
            </a:xfrm>
            <a:prstGeom prst="rect">
              <a:avLst/>
            </a:prstGeom>
            <a:noFill/>
          </p:spPr>
          <p:txBody>
            <a:bodyPr wrap="square">
              <a:spAutoFit/>
            </a:bodyPr>
            <a:lstStyle/>
            <a:p>
              <a:pPr algn="just"/>
              <a:r>
                <a:rPr lang="zh-CN" altLang="en-US" sz="2000" b="1" dirty="0">
                  <a:solidFill>
                    <a:srgbClr val="0070C0"/>
                  </a:solidFill>
                  <a:latin typeface="微软雅黑" panose="020B0503020204020204" pitchFamily="34" charset="-122"/>
                  <a:ea typeface="微软雅黑" panose="020B0503020204020204" pitchFamily="34" charset="-122"/>
                </a:rPr>
                <a:t>组织实施及验收</a:t>
              </a:r>
            </a:p>
          </p:txBody>
        </p:sp>
        <p:cxnSp>
          <p:nvCxnSpPr>
            <p:cNvPr id="18" name="直线连接符 4">
              <a:extLst>
                <a:ext uri="{FF2B5EF4-FFF2-40B4-BE49-F238E27FC236}">
                  <a16:creationId xmlns:a16="http://schemas.microsoft.com/office/drawing/2014/main" id="{957A1405-32E3-A403-02D8-DE73C542FBC0}"/>
                </a:ext>
              </a:extLst>
            </p:cNvPr>
            <p:cNvCxnSpPr/>
            <p:nvPr>
              <p:custDataLst>
                <p:tags r:id="rId17"/>
              </p:custDataLst>
            </p:nvPr>
          </p:nvCxnSpPr>
          <p:spPr>
            <a:xfrm>
              <a:off x="5258" y="5799"/>
              <a:ext cx="6866"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19" name="平行四边形 18">
              <a:extLst>
                <a:ext uri="{FF2B5EF4-FFF2-40B4-BE49-F238E27FC236}">
                  <a16:creationId xmlns:a16="http://schemas.microsoft.com/office/drawing/2014/main" id="{FE613245-CF1A-F254-3BF4-26E1A98454AE}"/>
                </a:ext>
              </a:extLst>
            </p:cNvPr>
            <p:cNvSpPr/>
            <p:nvPr>
              <p:custDataLst>
                <p:tags r:id="rId18"/>
              </p:custDataLst>
            </p:nvPr>
          </p:nvSpPr>
          <p:spPr>
            <a:xfrm>
              <a:off x="5606" y="4931"/>
              <a:ext cx="1231" cy="749"/>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平行四边形 19">
              <a:extLst>
                <a:ext uri="{FF2B5EF4-FFF2-40B4-BE49-F238E27FC236}">
                  <a16:creationId xmlns:a16="http://schemas.microsoft.com/office/drawing/2014/main" id="{02C04D17-60CB-BB0D-9E98-54F93290A4B6}"/>
                </a:ext>
              </a:extLst>
            </p:cNvPr>
            <p:cNvSpPr/>
            <p:nvPr>
              <p:custDataLst>
                <p:tags r:id="rId19"/>
              </p:custDataLst>
            </p:nvPr>
          </p:nvSpPr>
          <p:spPr>
            <a:xfrm>
              <a:off x="5497" y="4817"/>
              <a:ext cx="1231" cy="749"/>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a:extLst>
                <a:ext uri="{FF2B5EF4-FFF2-40B4-BE49-F238E27FC236}">
                  <a16:creationId xmlns:a16="http://schemas.microsoft.com/office/drawing/2014/main" id="{EF2D0DC6-224A-4424-B584-E282DDF06530}"/>
                </a:ext>
              </a:extLst>
            </p:cNvPr>
            <p:cNvSpPr txBox="1"/>
            <p:nvPr>
              <p:custDataLst>
                <p:tags r:id="rId20"/>
              </p:custDataLst>
            </p:nvPr>
          </p:nvSpPr>
          <p:spPr>
            <a:xfrm>
              <a:off x="5779" y="4807"/>
              <a:ext cx="681" cy="719"/>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5</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nvGrpSpPr>
          <p:cNvPr id="22" name="组合 21">
            <a:extLst>
              <a:ext uri="{FF2B5EF4-FFF2-40B4-BE49-F238E27FC236}">
                <a16:creationId xmlns:a16="http://schemas.microsoft.com/office/drawing/2014/main" id="{419F0E44-EE01-04AF-1656-926D7F6B13AA}"/>
              </a:ext>
            </a:extLst>
          </p:cNvPr>
          <p:cNvGrpSpPr/>
          <p:nvPr/>
        </p:nvGrpSpPr>
        <p:grpSpPr>
          <a:xfrm>
            <a:off x="6233878" y="3058200"/>
            <a:ext cx="5543550" cy="593725"/>
            <a:chOff x="5258" y="6034"/>
            <a:chExt cx="7626" cy="940"/>
          </a:xfrm>
        </p:grpSpPr>
        <p:sp>
          <p:nvSpPr>
            <p:cNvPr id="36" name="文本框 35">
              <a:extLst>
                <a:ext uri="{FF2B5EF4-FFF2-40B4-BE49-F238E27FC236}">
                  <a16:creationId xmlns:a16="http://schemas.microsoft.com/office/drawing/2014/main" id="{97CF8E4F-62DC-1CE4-96F4-FBA4AEC2192B}"/>
                </a:ext>
              </a:extLst>
            </p:cNvPr>
            <p:cNvSpPr txBox="1"/>
            <p:nvPr>
              <p:custDataLst>
                <p:tags r:id="rId11"/>
              </p:custDataLst>
            </p:nvPr>
          </p:nvSpPr>
          <p:spPr>
            <a:xfrm>
              <a:off x="6978" y="6171"/>
              <a:ext cx="5906" cy="631"/>
            </a:xfrm>
            <a:prstGeom prst="rect">
              <a:avLst/>
            </a:prstGeom>
            <a:noFill/>
          </p:spPr>
          <p:txBody>
            <a:bodyPr wrap="square">
              <a:spAutoFit/>
            </a:bodyPr>
            <a:lstStyle/>
            <a:p>
              <a:pPr algn="just"/>
              <a:r>
                <a:rPr lang="zh-CN" altLang="en-US" sz="2000" b="1" dirty="0">
                  <a:solidFill>
                    <a:srgbClr val="0070C0"/>
                  </a:solidFill>
                  <a:latin typeface="微软雅黑" panose="020B0503020204020204" pitchFamily="34" charset="-122"/>
                  <a:ea typeface="微软雅黑" panose="020B0503020204020204" pitchFamily="34" charset="-122"/>
                  <a:sym typeface="+mn-ea"/>
                </a:rPr>
                <a:t>应用绩效评价</a:t>
              </a:r>
            </a:p>
          </p:txBody>
        </p:sp>
        <p:cxnSp>
          <p:nvCxnSpPr>
            <p:cNvPr id="37" name="直线连接符 10">
              <a:extLst>
                <a:ext uri="{FF2B5EF4-FFF2-40B4-BE49-F238E27FC236}">
                  <a16:creationId xmlns:a16="http://schemas.microsoft.com/office/drawing/2014/main" id="{5DABBB0A-B6ED-1482-B8A2-093758FBB4D4}"/>
                </a:ext>
              </a:extLst>
            </p:cNvPr>
            <p:cNvCxnSpPr/>
            <p:nvPr>
              <p:custDataLst>
                <p:tags r:id="rId12"/>
              </p:custDataLst>
            </p:nvPr>
          </p:nvCxnSpPr>
          <p:spPr>
            <a:xfrm>
              <a:off x="5258" y="6974"/>
              <a:ext cx="6841"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grpSp>
          <p:nvGrpSpPr>
            <p:cNvPr id="38" name="组合 37">
              <a:extLst>
                <a:ext uri="{FF2B5EF4-FFF2-40B4-BE49-F238E27FC236}">
                  <a16:creationId xmlns:a16="http://schemas.microsoft.com/office/drawing/2014/main" id="{81F6CC64-9C91-4229-4392-E3EAD162B2D2}"/>
                </a:ext>
              </a:extLst>
            </p:cNvPr>
            <p:cNvGrpSpPr/>
            <p:nvPr/>
          </p:nvGrpSpPr>
          <p:grpSpPr>
            <a:xfrm>
              <a:off x="5377" y="6034"/>
              <a:ext cx="1339" cy="864"/>
              <a:chOff x="1427115" y="2928189"/>
              <a:chExt cx="850428" cy="555921"/>
            </a:xfrm>
          </p:grpSpPr>
          <p:sp>
            <p:nvSpPr>
              <p:cNvPr id="39" name="平行四边形 38">
                <a:extLst>
                  <a:ext uri="{FF2B5EF4-FFF2-40B4-BE49-F238E27FC236}">
                    <a16:creationId xmlns:a16="http://schemas.microsoft.com/office/drawing/2014/main" id="{05F02F47-83BD-FC4A-4D5C-9095964EB22B}"/>
                  </a:ext>
                </a:extLst>
              </p:cNvPr>
              <p:cNvSpPr/>
              <p:nvPr>
                <p:custDataLst>
                  <p:tags r:id="rId13"/>
                </p:custDataLst>
              </p:nvPr>
            </p:nvSpPr>
            <p:spPr>
              <a:xfrm>
                <a:off x="1496147" y="3001972"/>
                <a:ext cx="781396" cy="482138"/>
              </a:xfrm>
              <a:prstGeom prst="parallelogram">
                <a:avLst/>
              </a:prstGeom>
              <a:solidFill>
                <a:schemeClr val="accent1">
                  <a:alpha val="4392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平行四边形 39">
                <a:extLst>
                  <a:ext uri="{FF2B5EF4-FFF2-40B4-BE49-F238E27FC236}">
                    <a16:creationId xmlns:a16="http://schemas.microsoft.com/office/drawing/2014/main" id="{7D2BCD53-C309-1F5D-A1BF-5126AD0208BD}"/>
                  </a:ext>
                </a:extLst>
              </p:cNvPr>
              <p:cNvSpPr/>
              <p:nvPr>
                <p:custDataLst>
                  <p:tags r:id="rId14"/>
                </p:custDataLst>
              </p:nvPr>
            </p:nvSpPr>
            <p:spPr>
              <a:xfrm>
                <a:off x="1427115" y="2928189"/>
                <a:ext cx="781396" cy="482138"/>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文本框 40">
                <a:extLst>
                  <a:ext uri="{FF2B5EF4-FFF2-40B4-BE49-F238E27FC236}">
                    <a16:creationId xmlns:a16="http://schemas.microsoft.com/office/drawing/2014/main" id="{FE91766F-47BC-42A1-875E-59F4E05297E5}"/>
                  </a:ext>
                </a:extLst>
              </p:cNvPr>
              <p:cNvSpPr txBox="1"/>
              <p:nvPr>
                <p:custDataLst>
                  <p:tags r:id="rId15"/>
                </p:custDataLst>
              </p:nvPr>
            </p:nvSpPr>
            <p:spPr>
              <a:xfrm>
                <a:off x="1636033" y="2938254"/>
                <a:ext cx="477580" cy="462586"/>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6</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grpSp>
        <p:nvGrpSpPr>
          <p:cNvPr id="42" name="组合 41">
            <a:extLst>
              <a:ext uri="{FF2B5EF4-FFF2-40B4-BE49-F238E27FC236}">
                <a16:creationId xmlns:a16="http://schemas.microsoft.com/office/drawing/2014/main" id="{E468794D-C20B-9D4D-DB1A-DDEECEEE4584}"/>
              </a:ext>
            </a:extLst>
          </p:cNvPr>
          <p:cNvGrpSpPr/>
          <p:nvPr/>
        </p:nvGrpSpPr>
        <p:grpSpPr>
          <a:xfrm>
            <a:off x="6201689" y="4043898"/>
            <a:ext cx="5535295" cy="626745"/>
            <a:chOff x="5258" y="4807"/>
            <a:chExt cx="7639" cy="992"/>
          </a:xfrm>
        </p:grpSpPr>
        <p:sp>
          <p:nvSpPr>
            <p:cNvPr id="43" name="文本框 42">
              <a:extLst>
                <a:ext uri="{FF2B5EF4-FFF2-40B4-BE49-F238E27FC236}">
                  <a16:creationId xmlns:a16="http://schemas.microsoft.com/office/drawing/2014/main" id="{F6267A6F-B050-0159-D78B-D83AD4D0B93D}"/>
                </a:ext>
              </a:extLst>
            </p:cNvPr>
            <p:cNvSpPr txBox="1"/>
            <p:nvPr>
              <p:custDataLst>
                <p:tags r:id="rId6"/>
              </p:custDataLst>
            </p:nvPr>
          </p:nvSpPr>
          <p:spPr>
            <a:xfrm>
              <a:off x="6978" y="4944"/>
              <a:ext cx="5919" cy="631"/>
            </a:xfrm>
            <a:prstGeom prst="rect">
              <a:avLst/>
            </a:prstGeom>
            <a:noFill/>
          </p:spPr>
          <p:txBody>
            <a:bodyPr wrap="square">
              <a:spAutoFit/>
            </a:bodyPr>
            <a:lstStyle/>
            <a:p>
              <a:pPr algn="just"/>
              <a:r>
                <a:rPr lang="zh-CN" altLang="en-US" sz="2000" b="1" dirty="0">
                  <a:solidFill>
                    <a:srgbClr val="0070C0"/>
                  </a:solidFill>
                  <a:latin typeface="微软雅黑" panose="020B0503020204020204" pitchFamily="34" charset="-122"/>
                  <a:ea typeface="微软雅黑" panose="020B0503020204020204" pitchFamily="34" charset="-122"/>
                </a:rPr>
                <a:t>区县应用管理</a:t>
              </a:r>
            </a:p>
          </p:txBody>
        </p:sp>
        <p:cxnSp>
          <p:nvCxnSpPr>
            <p:cNvPr id="44" name="直线连接符 24">
              <a:extLst>
                <a:ext uri="{FF2B5EF4-FFF2-40B4-BE49-F238E27FC236}">
                  <a16:creationId xmlns:a16="http://schemas.microsoft.com/office/drawing/2014/main" id="{564BAFF9-2242-89E8-1082-41616E735507}"/>
                </a:ext>
              </a:extLst>
            </p:cNvPr>
            <p:cNvCxnSpPr/>
            <p:nvPr>
              <p:custDataLst>
                <p:tags r:id="rId7"/>
              </p:custDataLst>
            </p:nvPr>
          </p:nvCxnSpPr>
          <p:spPr>
            <a:xfrm>
              <a:off x="5258" y="5799"/>
              <a:ext cx="6866"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sp>
          <p:nvSpPr>
            <p:cNvPr id="45" name="平行四边形 44">
              <a:extLst>
                <a:ext uri="{FF2B5EF4-FFF2-40B4-BE49-F238E27FC236}">
                  <a16:creationId xmlns:a16="http://schemas.microsoft.com/office/drawing/2014/main" id="{5A6B4533-EC95-4DE5-B37D-C24D0F0172F4}"/>
                </a:ext>
              </a:extLst>
            </p:cNvPr>
            <p:cNvSpPr/>
            <p:nvPr>
              <p:custDataLst>
                <p:tags r:id="rId8"/>
              </p:custDataLst>
            </p:nvPr>
          </p:nvSpPr>
          <p:spPr>
            <a:xfrm>
              <a:off x="5606" y="4931"/>
              <a:ext cx="1231" cy="749"/>
            </a:xfrm>
            <a:prstGeom prst="parallelogram">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平行四边形 45">
              <a:extLst>
                <a:ext uri="{FF2B5EF4-FFF2-40B4-BE49-F238E27FC236}">
                  <a16:creationId xmlns:a16="http://schemas.microsoft.com/office/drawing/2014/main" id="{291C8661-50A6-810F-4806-46625451C6C1}"/>
                </a:ext>
              </a:extLst>
            </p:cNvPr>
            <p:cNvSpPr/>
            <p:nvPr>
              <p:custDataLst>
                <p:tags r:id="rId9"/>
              </p:custDataLst>
            </p:nvPr>
          </p:nvSpPr>
          <p:spPr>
            <a:xfrm>
              <a:off x="5497" y="4817"/>
              <a:ext cx="1231" cy="749"/>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8545E5A8-19A0-310B-ABA8-BEC0F34683AF}"/>
                </a:ext>
              </a:extLst>
            </p:cNvPr>
            <p:cNvSpPr txBox="1"/>
            <p:nvPr>
              <p:custDataLst>
                <p:tags r:id="rId10"/>
              </p:custDataLst>
            </p:nvPr>
          </p:nvSpPr>
          <p:spPr>
            <a:xfrm>
              <a:off x="5779" y="4807"/>
              <a:ext cx="681" cy="719"/>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7</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nvGrpSpPr>
          <p:cNvPr id="48" name="组合 47">
            <a:extLst>
              <a:ext uri="{FF2B5EF4-FFF2-40B4-BE49-F238E27FC236}">
                <a16:creationId xmlns:a16="http://schemas.microsoft.com/office/drawing/2014/main" id="{90B12E3F-9F3C-01BD-D6A9-B653C8E658C3}"/>
              </a:ext>
            </a:extLst>
          </p:cNvPr>
          <p:cNvGrpSpPr/>
          <p:nvPr/>
        </p:nvGrpSpPr>
        <p:grpSpPr>
          <a:xfrm>
            <a:off x="6227441" y="5069056"/>
            <a:ext cx="5543550" cy="593725"/>
            <a:chOff x="5258" y="6034"/>
            <a:chExt cx="7626" cy="940"/>
          </a:xfrm>
        </p:grpSpPr>
        <p:sp>
          <p:nvSpPr>
            <p:cNvPr id="49" name="文本框 48">
              <a:extLst>
                <a:ext uri="{FF2B5EF4-FFF2-40B4-BE49-F238E27FC236}">
                  <a16:creationId xmlns:a16="http://schemas.microsoft.com/office/drawing/2014/main" id="{980FC9A6-304C-0510-17E2-C45AAFF189FD}"/>
                </a:ext>
              </a:extLst>
            </p:cNvPr>
            <p:cNvSpPr txBox="1"/>
            <p:nvPr>
              <p:custDataLst>
                <p:tags r:id="rId1"/>
              </p:custDataLst>
            </p:nvPr>
          </p:nvSpPr>
          <p:spPr>
            <a:xfrm>
              <a:off x="6978" y="6171"/>
              <a:ext cx="5906" cy="631"/>
            </a:xfrm>
            <a:prstGeom prst="rect">
              <a:avLst/>
            </a:prstGeom>
            <a:noFill/>
          </p:spPr>
          <p:txBody>
            <a:bodyPr wrap="square">
              <a:spAutoFit/>
            </a:bodyPr>
            <a:lstStyle/>
            <a:p>
              <a:pPr algn="just"/>
              <a:r>
                <a:rPr lang="zh-CN" altLang="en-US" sz="2000" b="1" dirty="0">
                  <a:solidFill>
                    <a:srgbClr val="0070C0"/>
                  </a:solidFill>
                  <a:latin typeface="微软雅黑" panose="020B0503020204020204" pitchFamily="34" charset="-122"/>
                  <a:ea typeface="微软雅黑" panose="020B0503020204020204" pitchFamily="34" charset="-122"/>
                  <a:sym typeface="+mn-ea"/>
                </a:rPr>
                <a:t>特别说明</a:t>
              </a:r>
            </a:p>
          </p:txBody>
        </p:sp>
        <p:cxnSp>
          <p:nvCxnSpPr>
            <p:cNvPr id="50" name="直线连接符 30">
              <a:extLst>
                <a:ext uri="{FF2B5EF4-FFF2-40B4-BE49-F238E27FC236}">
                  <a16:creationId xmlns:a16="http://schemas.microsoft.com/office/drawing/2014/main" id="{70E0DAC9-6476-CA78-7FF7-D55BB532F199}"/>
                </a:ext>
              </a:extLst>
            </p:cNvPr>
            <p:cNvCxnSpPr/>
            <p:nvPr>
              <p:custDataLst>
                <p:tags r:id="rId2"/>
              </p:custDataLst>
            </p:nvPr>
          </p:nvCxnSpPr>
          <p:spPr>
            <a:xfrm>
              <a:off x="5258" y="6974"/>
              <a:ext cx="6841" cy="0"/>
            </a:xfrm>
            <a:prstGeom prst="line">
              <a:avLst/>
            </a:prstGeom>
            <a:ln w="19050">
              <a:prstDash val="sysDot"/>
              <a:tailEnd type="oval"/>
            </a:ln>
          </p:spPr>
          <p:style>
            <a:lnRef idx="1">
              <a:schemeClr val="accent1"/>
            </a:lnRef>
            <a:fillRef idx="0">
              <a:schemeClr val="accent1"/>
            </a:fillRef>
            <a:effectRef idx="0">
              <a:schemeClr val="accent1"/>
            </a:effectRef>
            <a:fontRef idx="minor">
              <a:schemeClr val="tx1"/>
            </a:fontRef>
          </p:style>
        </p:cxnSp>
        <p:grpSp>
          <p:nvGrpSpPr>
            <p:cNvPr id="51" name="组合 50">
              <a:extLst>
                <a:ext uri="{FF2B5EF4-FFF2-40B4-BE49-F238E27FC236}">
                  <a16:creationId xmlns:a16="http://schemas.microsoft.com/office/drawing/2014/main" id="{C8C101A7-4054-08E0-93BC-889AB4EA360C}"/>
                </a:ext>
              </a:extLst>
            </p:cNvPr>
            <p:cNvGrpSpPr/>
            <p:nvPr/>
          </p:nvGrpSpPr>
          <p:grpSpPr>
            <a:xfrm>
              <a:off x="5377" y="6034"/>
              <a:ext cx="1339" cy="864"/>
              <a:chOff x="1427115" y="2928189"/>
              <a:chExt cx="850428" cy="555921"/>
            </a:xfrm>
          </p:grpSpPr>
          <p:sp>
            <p:nvSpPr>
              <p:cNvPr id="52" name="平行四边形 51">
                <a:extLst>
                  <a:ext uri="{FF2B5EF4-FFF2-40B4-BE49-F238E27FC236}">
                    <a16:creationId xmlns:a16="http://schemas.microsoft.com/office/drawing/2014/main" id="{94A3DDC5-1EF8-AF80-412A-D639C4CE773C}"/>
                  </a:ext>
                </a:extLst>
              </p:cNvPr>
              <p:cNvSpPr/>
              <p:nvPr>
                <p:custDataLst>
                  <p:tags r:id="rId3"/>
                </p:custDataLst>
              </p:nvPr>
            </p:nvSpPr>
            <p:spPr>
              <a:xfrm>
                <a:off x="1496147" y="3001972"/>
                <a:ext cx="781396" cy="482138"/>
              </a:xfrm>
              <a:prstGeom prst="parallelogram">
                <a:avLst/>
              </a:prstGeom>
              <a:solidFill>
                <a:schemeClr val="accent1">
                  <a:alpha val="4392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平行四边形 52">
                <a:extLst>
                  <a:ext uri="{FF2B5EF4-FFF2-40B4-BE49-F238E27FC236}">
                    <a16:creationId xmlns:a16="http://schemas.microsoft.com/office/drawing/2014/main" id="{657E07F4-3C8A-DF11-05C4-B12B87841F91}"/>
                  </a:ext>
                </a:extLst>
              </p:cNvPr>
              <p:cNvSpPr/>
              <p:nvPr>
                <p:custDataLst>
                  <p:tags r:id="rId4"/>
                </p:custDataLst>
              </p:nvPr>
            </p:nvSpPr>
            <p:spPr>
              <a:xfrm>
                <a:off x="1427115" y="2928189"/>
                <a:ext cx="781396" cy="482138"/>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文本框 53">
                <a:extLst>
                  <a:ext uri="{FF2B5EF4-FFF2-40B4-BE49-F238E27FC236}">
                    <a16:creationId xmlns:a16="http://schemas.microsoft.com/office/drawing/2014/main" id="{5BF8F55F-D572-00AC-FDE2-0982412A0D75}"/>
                  </a:ext>
                </a:extLst>
              </p:cNvPr>
              <p:cNvSpPr txBox="1"/>
              <p:nvPr>
                <p:custDataLst>
                  <p:tags r:id="rId5"/>
                </p:custDataLst>
              </p:nvPr>
            </p:nvSpPr>
            <p:spPr>
              <a:xfrm>
                <a:off x="1636033" y="2938254"/>
                <a:ext cx="477580" cy="462586"/>
              </a:xfrm>
              <a:prstGeom prst="rect">
                <a:avLst/>
              </a:prstGeom>
              <a:noFill/>
            </p:spPr>
            <p:txBody>
              <a:bodyPr wrap="square">
                <a:spAutoFit/>
              </a:bodyPr>
              <a:lstStyle/>
              <a:p>
                <a:pPr>
                  <a:lnSpc>
                    <a:spcPts val="3000"/>
                  </a:lnSpc>
                </a:pPr>
                <a:r>
                  <a:rPr lang="en-US" altLang="zh-CN" sz="2400" b="1" i="1" kern="100"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8</a:t>
                </a:r>
                <a:endParaRPr lang="zh-CN" altLang="en-US" sz="2400" b="1" i="1" dirty="0">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4104408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A40E6-380F-9951-0691-FD8DDE588F08}"/>
              </a:ext>
            </a:extLst>
          </p:cNvPr>
          <p:cNvSpPr>
            <a:spLocks noGrp="1"/>
          </p:cNvSpPr>
          <p:nvPr>
            <p:ph type="title"/>
          </p:nvPr>
        </p:nvSpPr>
        <p:spPr/>
        <p:txBody>
          <a:bodyPr/>
          <a:lstStyle/>
          <a:p>
            <a:r>
              <a:rPr kumimoji="1" lang="en-US" altLang="zh-CN" dirty="0"/>
              <a:t>01 </a:t>
            </a:r>
            <a:r>
              <a:rPr kumimoji="1" lang="zh-CN" altLang="en-US" dirty="0"/>
              <a:t>适用范围及术语解释</a:t>
            </a:r>
          </a:p>
        </p:txBody>
      </p:sp>
    </p:spTree>
    <p:extLst>
      <p:ext uri="{BB962C8B-B14F-4D97-AF65-F5344CB8AC3E}">
        <p14:creationId xmlns:p14="http://schemas.microsoft.com/office/powerpoint/2010/main" val="3113504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顶角 88">
            <a:extLst>
              <a:ext uri="{FF2B5EF4-FFF2-40B4-BE49-F238E27FC236}">
                <a16:creationId xmlns:a16="http://schemas.microsoft.com/office/drawing/2014/main" id="{2896126C-2B39-6A69-FDAD-35033E500C7A}"/>
              </a:ext>
            </a:extLst>
          </p:cNvPr>
          <p:cNvSpPr/>
          <p:nvPr/>
        </p:nvSpPr>
        <p:spPr>
          <a:xfrm flipV="1">
            <a:off x="976374" y="2054815"/>
            <a:ext cx="10239252" cy="3424230"/>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1.1</a:t>
            </a:r>
            <a:r>
              <a:rPr kumimoji="1" lang="zh-CN" altLang="en-US" dirty="0"/>
              <a:t>适用范围</a:t>
            </a:r>
          </a:p>
        </p:txBody>
      </p:sp>
      <p:sp>
        <p:nvSpPr>
          <p:cNvPr id="4" name="矩形 44">
            <a:extLst>
              <a:ext uri="{FF2B5EF4-FFF2-40B4-BE49-F238E27FC236}">
                <a16:creationId xmlns:a16="http://schemas.microsoft.com/office/drawing/2014/main" id="{CBD1B11F-A98D-4248-8886-E664B9C89A78}"/>
              </a:ext>
            </a:extLst>
          </p:cNvPr>
          <p:cNvSpPr>
            <a:spLocks noChangeArrowheads="1"/>
          </p:cNvSpPr>
          <p:nvPr>
            <p:custDataLst>
              <p:tags r:id="rId1"/>
            </p:custDataLst>
          </p:nvPr>
        </p:nvSpPr>
        <p:spPr bwMode="auto">
          <a:xfrm>
            <a:off x="1391999" y="2330747"/>
            <a:ext cx="9144000" cy="770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oAutofit/>
          </a:bodyPr>
          <a:lstStyle/>
          <a:p>
            <a:pPr>
              <a:lnSpc>
                <a:spcPct val="130000"/>
              </a:lnSpc>
              <a:spcBef>
                <a:spcPct val="20000"/>
              </a:spcBef>
              <a:spcAft>
                <a:spcPts val="1335"/>
              </a:spcAft>
            </a:pPr>
            <a:r>
              <a:rPr lang="zh-CN" altLang="en-US" sz="2400" b="1" dirty="0">
                <a:solidFill>
                  <a:srgbClr val="0070C0"/>
                </a:solidFill>
                <a:latin typeface="微软雅黑" panose="020B0503020204020204" pitchFamily="34" charset="-122"/>
                <a:ea typeface="微软雅黑" panose="020B0503020204020204" pitchFamily="34" charset="-122"/>
                <a:sym typeface="+mn-ea"/>
              </a:rPr>
              <a:t>适用于市级部门政务数字化应用全流程管理</a:t>
            </a:r>
          </a:p>
        </p:txBody>
      </p:sp>
      <p:sp>
        <p:nvSpPr>
          <p:cNvPr id="6" name="矩形 44">
            <a:extLst>
              <a:ext uri="{FF2B5EF4-FFF2-40B4-BE49-F238E27FC236}">
                <a16:creationId xmlns:a16="http://schemas.microsoft.com/office/drawing/2014/main" id="{76B05574-6F49-71A4-AAE6-A84AB3604C49}"/>
              </a:ext>
            </a:extLst>
          </p:cNvPr>
          <p:cNvSpPr>
            <a:spLocks noChangeArrowheads="1"/>
          </p:cNvSpPr>
          <p:nvPr>
            <p:custDataLst>
              <p:tags r:id="rId2"/>
            </p:custDataLst>
          </p:nvPr>
        </p:nvSpPr>
        <p:spPr bwMode="auto">
          <a:xfrm>
            <a:off x="1391999" y="3641088"/>
            <a:ext cx="9144000" cy="10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oAutofit/>
          </a:bodyPr>
          <a:lstStyle/>
          <a:p>
            <a:pPr>
              <a:lnSpc>
                <a:spcPts val="2600"/>
              </a:lnSpc>
              <a:spcBef>
                <a:spcPct val="20000"/>
              </a:spcBef>
              <a:spcAft>
                <a:spcPts val="1335"/>
              </a:spcAft>
            </a:pPr>
            <a:r>
              <a:rPr lang="zh-CN" altLang="en-US" sz="2400" b="1" dirty="0">
                <a:solidFill>
                  <a:srgbClr val="0070C0"/>
                </a:solidFill>
                <a:latin typeface="微软雅黑" panose="020B0503020204020204" pitchFamily="34" charset="-122"/>
                <a:ea typeface="微软雅黑" panose="020B0503020204020204" pitchFamily="34" charset="-122"/>
                <a:sym typeface="+mn-ea"/>
              </a:rPr>
              <a:t>适用于涉密应用的开发和运维项目审核程序</a:t>
            </a:r>
            <a:endParaRPr lang="en-US" altLang="zh-CN" sz="2400" b="1" dirty="0">
              <a:solidFill>
                <a:srgbClr val="0070C0"/>
              </a:solidFill>
              <a:latin typeface="微软雅黑" panose="020B0503020204020204" pitchFamily="34" charset="-122"/>
              <a:ea typeface="微软雅黑" panose="020B0503020204020204" pitchFamily="34" charset="-122"/>
              <a:sym typeface="+mn-ea"/>
            </a:endParaRPr>
          </a:p>
          <a:p>
            <a:pPr>
              <a:lnSpc>
                <a:spcPts val="2600"/>
              </a:lnSpc>
              <a:spcBef>
                <a:spcPct val="20000"/>
              </a:spcBef>
              <a:spcAft>
                <a:spcPts val="1335"/>
              </a:spcAft>
            </a:pPr>
            <a:r>
              <a:rPr lang="zh-CN" altLang="en-US" sz="2400" b="1" dirty="0">
                <a:solidFill>
                  <a:srgbClr val="0070C0"/>
                </a:solidFill>
                <a:latin typeface="微软雅黑" panose="020B0503020204020204" pitchFamily="34" charset="-122"/>
                <a:ea typeface="微软雅黑" panose="020B0503020204020204" pitchFamily="34" charset="-122"/>
                <a:sym typeface="+mn-ea"/>
              </a:rPr>
              <a:t>同时其开发、运维及管理工作还应遵循相关保密法律法规的规定</a:t>
            </a:r>
          </a:p>
        </p:txBody>
      </p:sp>
      <p:sp>
        <p:nvSpPr>
          <p:cNvPr id="8" name="矩形 44">
            <a:extLst>
              <a:ext uri="{FF2B5EF4-FFF2-40B4-BE49-F238E27FC236}">
                <a16:creationId xmlns:a16="http://schemas.microsoft.com/office/drawing/2014/main" id="{DB4164D4-9BB6-9734-131D-F0DC37A253AF}"/>
              </a:ext>
            </a:extLst>
          </p:cNvPr>
          <p:cNvSpPr>
            <a:spLocks noChangeArrowheads="1"/>
          </p:cNvSpPr>
          <p:nvPr>
            <p:custDataLst>
              <p:tags r:id="rId3"/>
            </p:custDataLst>
          </p:nvPr>
        </p:nvSpPr>
        <p:spPr bwMode="auto">
          <a:xfrm>
            <a:off x="1391999" y="2973885"/>
            <a:ext cx="9144000" cy="770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oAutofit/>
          </a:bodyPr>
          <a:lstStyle/>
          <a:p>
            <a:pPr>
              <a:lnSpc>
                <a:spcPct val="130000"/>
              </a:lnSpc>
              <a:spcBef>
                <a:spcPct val="20000"/>
              </a:spcBef>
              <a:spcAft>
                <a:spcPts val="1335"/>
              </a:spcAft>
            </a:pPr>
            <a:r>
              <a:rPr lang="zh-CN" altLang="en-US" sz="2400" b="1" dirty="0">
                <a:solidFill>
                  <a:srgbClr val="0070C0"/>
                </a:solidFill>
                <a:latin typeface="微软雅黑" panose="020B0503020204020204" pitchFamily="34" charset="-122"/>
                <a:ea typeface="微软雅黑" panose="020B0503020204020204" pitchFamily="34" charset="-122"/>
                <a:sym typeface="+mn-ea"/>
              </a:rPr>
              <a:t>适用于</a:t>
            </a:r>
            <a:r>
              <a:rPr lang="zh-CN" altLang="en-US" sz="2400" b="1" dirty="0">
                <a:solidFill>
                  <a:srgbClr val="C00000"/>
                </a:solidFill>
                <a:latin typeface="微软雅黑" panose="020B0503020204020204" pitchFamily="34" charset="-122"/>
                <a:ea typeface="微软雅黑" panose="020B0503020204020204" pitchFamily="34" charset="-122"/>
                <a:sym typeface="+mn-ea"/>
              </a:rPr>
              <a:t>区县500万元（含）</a:t>
            </a:r>
            <a:r>
              <a:rPr lang="zh-CN" altLang="en-US" sz="2400" b="1" dirty="0">
                <a:solidFill>
                  <a:srgbClr val="0070C0"/>
                </a:solidFill>
                <a:latin typeface="微软雅黑" panose="020B0503020204020204" pitchFamily="34" charset="-122"/>
                <a:ea typeface="微软雅黑" panose="020B0503020204020204" pitchFamily="34" charset="-122"/>
                <a:sym typeface="+mn-ea"/>
              </a:rPr>
              <a:t>以上的应用开发项目备案审查</a:t>
            </a:r>
          </a:p>
        </p:txBody>
      </p:sp>
      <p:sp>
        <p:nvSpPr>
          <p:cNvPr id="9" name="椭圆 8">
            <a:extLst>
              <a:ext uri="{FF2B5EF4-FFF2-40B4-BE49-F238E27FC236}">
                <a16:creationId xmlns:a16="http://schemas.microsoft.com/office/drawing/2014/main" id="{F4D02DCD-DA87-B176-0803-A97BD62FE9DA}"/>
              </a:ext>
            </a:extLst>
          </p:cNvPr>
          <p:cNvSpPr/>
          <p:nvPr/>
        </p:nvSpPr>
        <p:spPr>
          <a:xfrm>
            <a:off x="1288952" y="4951514"/>
            <a:ext cx="9518747" cy="400480"/>
          </a:xfrm>
          <a:prstGeom prst="ellipse">
            <a:avLst/>
          </a:prstGeom>
          <a:gradFill flip="none" rotWithShape="1">
            <a:gsLst>
              <a:gs pos="0">
                <a:schemeClr val="bg1">
                  <a:alpha val="52000"/>
                </a:schemeClr>
              </a:gs>
              <a:gs pos="100000">
                <a:schemeClr val="accent1">
                  <a:lumMod val="30000"/>
                  <a:lumOff val="7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5029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顶角 88">
            <a:extLst>
              <a:ext uri="{FF2B5EF4-FFF2-40B4-BE49-F238E27FC236}">
                <a16:creationId xmlns:a16="http://schemas.microsoft.com/office/drawing/2014/main" id="{11FE5CFB-1238-0938-0B9E-F06ADA92EB1D}"/>
              </a:ext>
            </a:extLst>
          </p:cNvPr>
          <p:cNvSpPr/>
          <p:nvPr/>
        </p:nvSpPr>
        <p:spPr>
          <a:xfrm flipV="1">
            <a:off x="976374" y="2054815"/>
            <a:ext cx="10239252" cy="4361222"/>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1.2</a:t>
            </a:r>
            <a:r>
              <a:rPr kumimoji="1" lang="zh-CN" altLang="en-US" dirty="0"/>
              <a:t>相关术语解释</a:t>
            </a:r>
          </a:p>
        </p:txBody>
      </p:sp>
      <p:sp>
        <p:nvSpPr>
          <p:cNvPr id="10" name="文本框 9">
            <a:extLst>
              <a:ext uri="{FF2B5EF4-FFF2-40B4-BE49-F238E27FC236}">
                <a16:creationId xmlns:a16="http://schemas.microsoft.com/office/drawing/2014/main" id="{B937D797-B61F-DB9A-8F6D-BBBEE54BBE92}"/>
              </a:ext>
            </a:extLst>
          </p:cNvPr>
          <p:cNvSpPr txBox="1"/>
          <p:nvPr>
            <p:custDataLst>
              <p:tags r:id="rId1"/>
            </p:custDataLst>
          </p:nvPr>
        </p:nvSpPr>
        <p:spPr>
          <a:xfrm>
            <a:off x="7076779" y="6163108"/>
            <a:ext cx="463460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注：其他术语解释见《数字重庆通用术语释义》（</a:t>
            </a:r>
            <a:r>
              <a:rPr lang="en-US" altLang="zh-CN" sz="1200" dirty="0">
                <a:latin typeface="微软雅黑" panose="020B0503020204020204" pitchFamily="34" charset="-122"/>
                <a:ea typeface="微软雅黑" panose="020B0503020204020204" pitchFamily="34" charset="-122"/>
              </a:rPr>
              <a:t>2023</a:t>
            </a:r>
            <a:r>
              <a:rPr lang="zh-CN" altLang="en-US" sz="1200" dirty="0">
                <a:latin typeface="微软雅黑" panose="020B0503020204020204" pitchFamily="34" charset="-122"/>
                <a:ea typeface="微软雅黑" panose="020B0503020204020204" pitchFamily="34" charset="-122"/>
              </a:rPr>
              <a:t>年</a:t>
            </a:r>
            <a:r>
              <a:rPr lang="en-US" altLang="zh-CN" sz="1200" dirty="0">
                <a:latin typeface="微软雅黑" panose="020B0503020204020204" pitchFamily="34" charset="-122"/>
                <a:ea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rPr>
              <a:t>月版）</a:t>
            </a:r>
          </a:p>
        </p:txBody>
      </p:sp>
      <p:grpSp>
        <p:nvGrpSpPr>
          <p:cNvPr id="4" name="组合 3">
            <a:extLst>
              <a:ext uri="{FF2B5EF4-FFF2-40B4-BE49-F238E27FC236}">
                <a16:creationId xmlns:a16="http://schemas.microsoft.com/office/drawing/2014/main" id="{66EA3EEB-1A8C-1502-CC3B-10E505250881}"/>
              </a:ext>
            </a:extLst>
          </p:cNvPr>
          <p:cNvGrpSpPr/>
          <p:nvPr/>
        </p:nvGrpSpPr>
        <p:grpSpPr>
          <a:xfrm>
            <a:off x="979911" y="2146821"/>
            <a:ext cx="10028985" cy="961225"/>
            <a:chOff x="979911" y="1833995"/>
            <a:chExt cx="10028985" cy="961225"/>
          </a:xfrm>
        </p:grpSpPr>
        <p:sp>
          <p:nvSpPr>
            <p:cNvPr id="11" name="文本框 10">
              <a:extLst>
                <a:ext uri="{FF2B5EF4-FFF2-40B4-BE49-F238E27FC236}">
                  <a16:creationId xmlns:a16="http://schemas.microsoft.com/office/drawing/2014/main" id="{705293D0-2E84-744C-800A-8E2363677CED}"/>
                </a:ext>
              </a:extLst>
            </p:cNvPr>
            <p:cNvSpPr txBox="1"/>
            <p:nvPr/>
          </p:nvSpPr>
          <p:spPr>
            <a:xfrm>
              <a:off x="979912" y="2170434"/>
              <a:ext cx="10028984" cy="624786"/>
            </a:xfrm>
            <a:prstGeom prst="rect">
              <a:avLst/>
            </a:prstGeom>
          </p:spPr>
          <p:txBody>
            <a:bodyPr wrap="square">
              <a:spAutoFit/>
            </a:bodyPr>
            <a:lstStyle/>
            <a:p>
              <a:pPr>
                <a:lnSpc>
                  <a:spcPct val="130000"/>
                </a:lnSpc>
              </a:pPr>
              <a:r>
                <a:rPr lang="zh-CN" altLang="en-US" sz="1400" dirty="0">
                  <a:latin typeface="Arial" panose="020B0604020202020204" pitchFamily="34" charset="0"/>
                  <a:ea typeface="微软雅黑" panose="020B0503020204020204" pitchFamily="34" charset="-122"/>
                  <a:sym typeface="+mn-ea"/>
                </a:rPr>
                <a:t>以“四横四纵两端”为总体构架，</a:t>
              </a:r>
              <a:r>
                <a:rPr lang="zh-CN" altLang="en-US" sz="1400" dirty="0">
                  <a:latin typeface="Arial" panose="020B0604020202020204" pitchFamily="34" charset="0"/>
                  <a:ea typeface="微软雅黑" panose="020B0503020204020204" pitchFamily="34" charset="-122"/>
                </a:rPr>
                <a:t>通过集中部署基础设施、数据资源、能力组件等要件，构建综合性、集成性的基础环境，为全市非涉密应用开发和运维提供统一支撑的集成运行平台。</a:t>
              </a:r>
            </a:p>
          </p:txBody>
        </p:sp>
        <p:sp>
          <p:nvSpPr>
            <p:cNvPr id="15" name="文本框 14">
              <a:extLst>
                <a:ext uri="{FF2B5EF4-FFF2-40B4-BE49-F238E27FC236}">
                  <a16:creationId xmlns:a16="http://schemas.microsoft.com/office/drawing/2014/main" id="{A4B1F3C5-CFB9-5FCB-CC9C-B3A006ABCF44}"/>
                </a:ext>
              </a:extLst>
            </p:cNvPr>
            <p:cNvSpPr txBox="1"/>
            <p:nvPr/>
          </p:nvSpPr>
          <p:spPr>
            <a:xfrm>
              <a:off x="979911" y="1833995"/>
              <a:ext cx="3867319" cy="400110"/>
            </a:xfrm>
            <a:prstGeom prst="rect">
              <a:avLst/>
            </a:prstGeom>
          </p:spPr>
          <p:txBody>
            <a:bodyPr wrap="square">
              <a:spAutoFit/>
            </a:bodyPr>
            <a:lstStyle/>
            <a:p>
              <a:pPr marL="342900" indent="-342900" algn="l">
                <a:buFont typeface="Wingdings" panose="05000000000000000000" pitchFamily="2" charset="2"/>
                <a:buChar char="Ø"/>
              </a:pPr>
              <a:r>
                <a:rPr lang="zh-CN" altLang="en-US" sz="2000" b="1" dirty="0">
                  <a:solidFill>
                    <a:srgbClr val="0070C0"/>
                  </a:solidFill>
                  <a:latin typeface="Arial" panose="020B0604020202020204" pitchFamily="34" charset="0"/>
                  <a:ea typeface="微软雅黑" panose="020B0503020204020204" pitchFamily="34" charset="-122"/>
                </a:rPr>
                <a:t>一体化智能化公共数据平台</a:t>
              </a:r>
            </a:p>
          </p:txBody>
        </p:sp>
      </p:grpSp>
      <p:grpSp>
        <p:nvGrpSpPr>
          <p:cNvPr id="6" name="组合 5">
            <a:extLst>
              <a:ext uri="{FF2B5EF4-FFF2-40B4-BE49-F238E27FC236}">
                <a16:creationId xmlns:a16="http://schemas.microsoft.com/office/drawing/2014/main" id="{8A247838-EE0A-7535-1C57-8E07F31DF590}"/>
              </a:ext>
            </a:extLst>
          </p:cNvPr>
          <p:cNvGrpSpPr/>
          <p:nvPr/>
        </p:nvGrpSpPr>
        <p:grpSpPr>
          <a:xfrm>
            <a:off x="979911" y="4529674"/>
            <a:ext cx="10028985" cy="961611"/>
            <a:chOff x="979911" y="4216848"/>
            <a:chExt cx="10028985" cy="961611"/>
          </a:xfrm>
        </p:grpSpPr>
        <p:sp>
          <p:nvSpPr>
            <p:cNvPr id="13" name="文本框 12">
              <a:extLst>
                <a:ext uri="{FF2B5EF4-FFF2-40B4-BE49-F238E27FC236}">
                  <a16:creationId xmlns:a16="http://schemas.microsoft.com/office/drawing/2014/main" id="{FDFBD896-EB1D-8063-4367-00E87C0A3598}"/>
                </a:ext>
              </a:extLst>
            </p:cNvPr>
            <p:cNvSpPr txBox="1"/>
            <p:nvPr>
              <p:custDataLst>
                <p:tags r:id="rId4"/>
              </p:custDataLst>
            </p:nvPr>
          </p:nvSpPr>
          <p:spPr>
            <a:xfrm>
              <a:off x="979912" y="4553288"/>
              <a:ext cx="10028984" cy="625171"/>
            </a:xfrm>
            <a:prstGeom prst="rect">
              <a:avLst/>
            </a:prstGeom>
          </p:spPr>
          <p:txBody>
            <a:bodyPr wrap="square">
              <a:spAutoFit/>
            </a:bodyPr>
            <a:lstStyle/>
            <a:p>
              <a:pPr>
                <a:lnSpc>
                  <a:spcPct val="130000"/>
                </a:lnSpc>
              </a:pPr>
              <a:r>
                <a:rPr lang="zh-CN" altLang="en-US" sz="1400" dirty="0">
                  <a:latin typeface="微软雅黑" panose="020B0503020204020204" pitchFamily="34" charset="-122"/>
                  <a:ea typeface="微软雅黑" panose="020B0503020204020204" pitchFamily="34" charset="-122"/>
                  <a:sym typeface="+mn-ea"/>
                </a:rPr>
                <a:t>为实现某种</a:t>
              </a:r>
              <a:r>
                <a:rPr lang="zh-CN" altLang="en-US" sz="1400" b="1" dirty="0">
                  <a:solidFill>
                    <a:srgbClr val="C00000"/>
                  </a:solidFill>
                  <a:latin typeface="微软雅黑" panose="020B0503020204020204" pitchFamily="34" charset="-122"/>
                  <a:ea typeface="微软雅黑" panose="020B0503020204020204" pitchFamily="34" charset="-122"/>
                  <a:sym typeface="+mn-ea"/>
                </a:rPr>
                <a:t>业务功能、支撑部门履行管理和服务职能</a:t>
              </a:r>
              <a:r>
                <a:rPr lang="zh-CN" altLang="en-US" sz="1400" dirty="0">
                  <a:solidFill>
                    <a:srgbClr val="C00000"/>
                  </a:solidFill>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运用互联网、大数据、人工智能等技术，利用</a:t>
              </a:r>
              <a:r>
                <a:rPr lang="zh-CN" altLang="en-US" sz="1400" b="1" dirty="0">
                  <a:solidFill>
                    <a:srgbClr val="C00000"/>
                  </a:solidFill>
                  <a:latin typeface="微软雅黑" panose="020B0503020204020204" pitchFamily="34" charset="-122"/>
                  <a:ea typeface="微软雅黑" panose="020B0503020204020204" pitchFamily="34" charset="-122"/>
                  <a:sym typeface="+mn-ea"/>
                </a:rPr>
                <a:t>财政性资金</a:t>
              </a:r>
              <a:r>
                <a:rPr lang="zh-CN" altLang="en-US" sz="1400" dirty="0">
                  <a:latin typeface="微软雅黑" panose="020B0503020204020204" pitchFamily="34" charset="-122"/>
                  <a:ea typeface="微软雅黑" panose="020B0503020204020204" pitchFamily="34" charset="-122"/>
                  <a:sym typeface="+mn-ea"/>
                </a:rPr>
                <a:t>或者</a:t>
              </a:r>
              <a:r>
                <a:rPr lang="zh-CN" altLang="en-US" sz="1400" b="1" dirty="0">
                  <a:solidFill>
                    <a:srgbClr val="C00000"/>
                  </a:solidFill>
                  <a:latin typeface="微软雅黑" panose="020B0503020204020204" pitchFamily="34" charset="-122"/>
                  <a:ea typeface="微软雅黑" panose="020B0503020204020204" pitchFamily="34" charset="-122"/>
                  <a:sym typeface="+mn-ea"/>
                </a:rPr>
                <a:t>国有企业资金</a:t>
              </a:r>
              <a:r>
                <a:rPr lang="zh-CN" altLang="en-US" sz="1400" dirty="0">
                  <a:latin typeface="微软雅黑" panose="020B0503020204020204" pitchFamily="34" charset="-122"/>
                  <a:ea typeface="微软雅黑" panose="020B0503020204020204" pitchFamily="34" charset="-122"/>
                  <a:sym typeface="+mn-ea"/>
                </a:rPr>
                <a:t>进行开发、运维或者购买服务的</a:t>
              </a:r>
              <a:r>
                <a:rPr lang="zh-CN" altLang="en-US" sz="1400" b="1" dirty="0">
                  <a:solidFill>
                    <a:srgbClr val="C00000"/>
                  </a:solidFill>
                  <a:latin typeface="微软雅黑" panose="020B0503020204020204" pitchFamily="34" charset="-122"/>
                  <a:ea typeface="微软雅黑" panose="020B0503020204020204" pitchFamily="34" charset="-122"/>
                  <a:sym typeface="+mn-ea"/>
                </a:rPr>
                <a:t>数字化</a:t>
              </a:r>
              <a:r>
                <a:rPr lang="zh-CN" altLang="en-US" sz="1400" dirty="0">
                  <a:latin typeface="微软雅黑" panose="020B0503020204020204" pitchFamily="34" charset="-122"/>
                  <a:ea typeface="微软雅黑" panose="020B0503020204020204" pitchFamily="34" charset="-122"/>
                  <a:sym typeface="+mn-ea"/>
                </a:rPr>
                <a:t>系统，包含与数字化系统</a:t>
              </a:r>
              <a:r>
                <a:rPr lang="zh-CN" altLang="en-US" sz="1400" b="1" dirty="0">
                  <a:solidFill>
                    <a:srgbClr val="C00000"/>
                  </a:solidFill>
                  <a:latin typeface="微软雅黑" panose="020B0503020204020204" pitchFamily="34" charset="-122"/>
                  <a:ea typeface="微软雅黑" panose="020B0503020204020204" pitchFamily="34" charset="-122"/>
                  <a:sym typeface="+mn-ea"/>
                </a:rPr>
                <a:t>紧密相关</a:t>
              </a:r>
              <a:r>
                <a:rPr lang="zh-CN" altLang="en-US" sz="1400" dirty="0">
                  <a:latin typeface="微软雅黑" panose="020B0503020204020204" pitchFamily="34" charset="-122"/>
                  <a:ea typeface="微软雅黑" panose="020B0503020204020204" pitchFamily="34" charset="-122"/>
                  <a:sym typeface="+mn-ea"/>
                </a:rPr>
                <a:t>的数字资源和外围设备。</a:t>
              </a:r>
              <a:r>
                <a:rPr sz="1400" dirty="0">
                  <a:latin typeface="微软雅黑" panose="020B0503020204020204" pitchFamily="34" charset="-122"/>
                  <a:ea typeface="微软雅黑" panose="020B0503020204020204" pitchFamily="34" charset="-122"/>
                  <a:sym typeface="+mn-ea"/>
                </a:rPr>
                <a:t> </a:t>
              </a:r>
              <a:endParaRPr lang="zh-CN" altLang="en-US" sz="14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E591F55A-2606-1360-D0EC-62BA233BEFE8}"/>
                </a:ext>
              </a:extLst>
            </p:cNvPr>
            <p:cNvSpPr txBox="1"/>
            <p:nvPr/>
          </p:nvSpPr>
          <p:spPr>
            <a:xfrm>
              <a:off x="979911" y="4216848"/>
              <a:ext cx="3867319" cy="400110"/>
            </a:xfrm>
            <a:prstGeom prst="rect">
              <a:avLst/>
            </a:prstGeom>
          </p:spPr>
          <p:txBody>
            <a:bodyPr wrap="square">
              <a:spAutoFit/>
            </a:bodyPr>
            <a:lstStyle/>
            <a:p>
              <a:pPr marL="342900" indent="-342900" algn="l">
                <a:buFont typeface="Wingdings" panose="05000000000000000000" pitchFamily="2" charset="2"/>
                <a:buChar char="Ø"/>
              </a:pPr>
              <a:r>
                <a:rPr lang="zh-CN" altLang="en-US" sz="2000" b="1" dirty="0">
                  <a:solidFill>
                    <a:srgbClr val="0070C0"/>
                  </a:solidFill>
                  <a:latin typeface="Arial" panose="020B0604020202020204" pitchFamily="34" charset="0"/>
                  <a:ea typeface="微软雅黑" panose="020B0503020204020204" pitchFamily="34" charset="-122"/>
                </a:rPr>
                <a:t>政务数字化应用</a:t>
              </a:r>
            </a:p>
          </p:txBody>
        </p:sp>
      </p:grpSp>
      <p:grpSp>
        <p:nvGrpSpPr>
          <p:cNvPr id="7" name="组合 6">
            <a:extLst>
              <a:ext uri="{FF2B5EF4-FFF2-40B4-BE49-F238E27FC236}">
                <a16:creationId xmlns:a16="http://schemas.microsoft.com/office/drawing/2014/main" id="{3394E657-9E23-D66D-BDC6-0290451A724B}"/>
              </a:ext>
            </a:extLst>
          </p:cNvPr>
          <p:cNvGrpSpPr/>
          <p:nvPr/>
        </p:nvGrpSpPr>
        <p:grpSpPr>
          <a:xfrm>
            <a:off x="979911" y="5438445"/>
            <a:ext cx="10028985" cy="961610"/>
            <a:chOff x="979911" y="5233906"/>
            <a:chExt cx="10028985" cy="961610"/>
          </a:xfrm>
        </p:grpSpPr>
        <p:sp>
          <p:nvSpPr>
            <p:cNvPr id="14" name="文本框 13">
              <a:extLst>
                <a:ext uri="{FF2B5EF4-FFF2-40B4-BE49-F238E27FC236}">
                  <a16:creationId xmlns:a16="http://schemas.microsoft.com/office/drawing/2014/main" id="{D8904C46-5806-1B2A-BD9C-5672B9652375}"/>
                </a:ext>
              </a:extLst>
            </p:cNvPr>
            <p:cNvSpPr txBox="1"/>
            <p:nvPr>
              <p:custDataLst>
                <p:tags r:id="rId3"/>
              </p:custDataLst>
            </p:nvPr>
          </p:nvSpPr>
          <p:spPr>
            <a:xfrm>
              <a:off x="979912" y="5570345"/>
              <a:ext cx="10028984" cy="625171"/>
            </a:xfrm>
            <a:prstGeom prst="rect">
              <a:avLst/>
            </a:prstGeom>
          </p:spPr>
          <p:txBody>
            <a:bodyPr wrap="square">
              <a:spAutoFit/>
            </a:bodyPr>
            <a:lstStyle>
              <a:defPPr>
                <a:defRPr lang="zh-CN"/>
              </a:defPPr>
              <a:lvl1pPr>
                <a:lnSpc>
                  <a:spcPct val="130000"/>
                </a:lnSpc>
                <a:defRPr sz="1400">
                  <a:latin typeface="Arial" panose="020B0604020202020204" pitchFamily="34" charset="0"/>
                  <a:ea typeface="微软雅黑" panose="020B0503020204020204" pitchFamily="34" charset="-122"/>
                </a:defRPr>
              </a:lvl1pPr>
            </a:lstStyle>
            <a:p>
              <a:r>
                <a:rPr lang="zh-CN" altLang="en-US" dirty="0">
                  <a:sym typeface="+mn-ea"/>
                </a:rPr>
                <a:t>应用所需的计算、网络、存储、安全、组件、密码应用、感知等软硬件设施设备，以及以数字形式发布、存取、利用的数据资源等。</a:t>
              </a:r>
              <a:endParaRPr lang="zh-CN" altLang="en-US" dirty="0"/>
            </a:p>
          </p:txBody>
        </p:sp>
        <p:sp>
          <p:nvSpPr>
            <p:cNvPr id="18" name="文本框 17">
              <a:extLst>
                <a:ext uri="{FF2B5EF4-FFF2-40B4-BE49-F238E27FC236}">
                  <a16:creationId xmlns:a16="http://schemas.microsoft.com/office/drawing/2014/main" id="{A2F496A2-4123-DE91-875E-F268129E40B5}"/>
                </a:ext>
              </a:extLst>
            </p:cNvPr>
            <p:cNvSpPr txBox="1"/>
            <p:nvPr/>
          </p:nvSpPr>
          <p:spPr>
            <a:xfrm>
              <a:off x="979911" y="5233906"/>
              <a:ext cx="3867319" cy="400110"/>
            </a:xfrm>
            <a:prstGeom prst="rect">
              <a:avLst/>
            </a:prstGeom>
          </p:spPr>
          <p:txBody>
            <a:bodyPr wrap="square">
              <a:spAutoFit/>
            </a:bodyPr>
            <a:lstStyle/>
            <a:p>
              <a:pPr marL="342900" indent="-342900" algn="l">
                <a:buFont typeface="Wingdings" panose="05000000000000000000" pitchFamily="2" charset="2"/>
                <a:buChar char="Ø"/>
              </a:pPr>
              <a:r>
                <a:rPr lang="zh-CN" altLang="en-US" sz="2000" b="1" dirty="0">
                  <a:solidFill>
                    <a:srgbClr val="0070C0"/>
                  </a:solidFill>
                  <a:latin typeface="Arial" panose="020B0604020202020204" pitchFamily="34" charset="0"/>
                  <a:ea typeface="微软雅黑" panose="020B0503020204020204" pitchFamily="34" charset="-122"/>
                </a:rPr>
                <a:t>数字资源</a:t>
              </a:r>
            </a:p>
          </p:txBody>
        </p:sp>
      </p:grpSp>
      <p:grpSp>
        <p:nvGrpSpPr>
          <p:cNvPr id="5" name="组合 4">
            <a:extLst>
              <a:ext uri="{FF2B5EF4-FFF2-40B4-BE49-F238E27FC236}">
                <a16:creationId xmlns:a16="http://schemas.microsoft.com/office/drawing/2014/main" id="{A38D1B88-71D1-B37D-D96E-E602A32FE632}"/>
              </a:ext>
            </a:extLst>
          </p:cNvPr>
          <p:cNvGrpSpPr/>
          <p:nvPr/>
        </p:nvGrpSpPr>
        <p:grpSpPr>
          <a:xfrm>
            <a:off x="979911" y="3239923"/>
            <a:ext cx="10635995" cy="1241302"/>
            <a:chOff x="979911" y="2927097"/>
            <a:chExt cx="10635995" cy="1241302"/>
          </a:xfrm>
        </p:grpSpPr>
        <p:sp>
          <p:nvSpPr>
            <p:cNvPr id="12" name="文本框 11">
              <a:extLst>
                <a:ext uri="{FF2B5EF4-FFF2-40B4-BE49-F238E27FC236}">
                  <a16:creationId xmlns:a16="http://schemas.microsoft.com/office/drawing/2014/main" id="{C0712EC7-68FE-BCB0-A578-4C01B1FC3C10}"/>
                </a:ext>
              </a:extLst>
            </p:cNvPr>
            <p:cNvSpPr txBox="1"/>
            <p:nvPr>
              <p:custDataLst>
                <p:tags r:id="rId2"/>
              </p:custDataLst>
            </p:nvPr>
          </p:nvSpPr>
          <p:spPr>
            <a:xfrm>
              <a:off x="979912" y="3263536"/>
              <a:ext cx="10028984" cy="904863"/>
            </a:xfrm>
            <a:prstGeom prst="rect">
              <a:avLst/>
            </a:prstGeom>
          </p:spPr>
          <p:txBody>
            <a:bodyPr wrap="square">
              <a:spAutoFit/>
            </a:bodyPr>
            <a:lstStyle>
              <a:defPPr>
                <a:defRPr lang="zh-CN"/>
              </a:defPPr>
              <a:lvl1pPr>
                <a:lnSpc>
                  <a:spcPct val="130000"/>
                </a:lnSpc>
                <a:defRPr sz="1400">
                  <a:latin typeface="Arial" panose="020B0604020202020204" pitchFamily="34" charset="0"/>
                  <a:ea typeface="微软雅黑" panose="020B0503020204020204" pitchFamily="34" charset="-122"/>
                </a:defRPr>
              </a:lvl1pPr>
            </a:lstStyle>
            <a:p>
              <a:r>
                <a:rPr lang="zh-CN" altLang="en-US" dirty="0"/>
                <a:t>数字重庆建设的重要载体。在市和区县建设数字化城市运行和治理中心，在乡镇（街道）建设数字化基层治理中心，构建全局“一屏掌控”、政令“一键智达”、执行“一贯到底”、监督“一览无余”的数字化协同工作场景，提升超大城市敏捷治理、科学治理水平。</a:t>
              </a:r>
            </a:p>
          </p:txBody>
        </p:sp>
        <p:sp>
          <p:nvSpPr>
            <p:cNvPr id="16" name="文本框 15">
              <a:extLst>
                <a:ext uri="{FF2B5EF4-FFF2-40B4-BE49-F238E27FC236}">
                  <a16:creationId xmlns:a16="http://schemas.microsoft.com/office/drawing/2014/main" id="{F2A27A6A-73B3-9F3E-4AA0-54158BEC76D6}"/>
                </a:ext>
              </a:extLst>
            </p:cNvPr>
            <p:cNvSpPr txBox="1"/>
            <p:nvPr/>
          </p:nvSpPr>
          <p:spPr>
            <a:xfrm>
              <a:off x="979911" y="2927097"/>
              <a:ext cx="4443317" cy="400110"/>
            </a:xfrm>
            <a:prstGeom prst="rect">
              <a:avLst/>
            </a:prstGeom>
          </p:spPr>
          <p:txBody>
            <a:bodyPr wrap="square">
              <a:spAutoFit/>
            </a:bodyPr>
            <a:lstStyle/>
            <a:p>
              <a:pPr marL="342900" indent="-342900" algn="l">
                <a:buFont typeface="Wingdings" panose="05000000000000000000" pitchFamily="2" charset="2"/>
                <a:buChar char="Ø"/>
              </a:pPr>
              <a:r>
                <a:rPr lang="zh-CN" altLang="en-US" sz="2000" b="1" dirty="0">
                  <a:solidFill>
                    <a:srgbClr val="0070C0"/>
                  </a:solidFill>
                  <a:latin typeface="Arial" panose="020B0604020202020204" pitchFamily="34" charset="0"/>
                  <a:ea typeface="微软雅黑" panose="020B0503020204020204" pitchFamily="34" charset="-122"/>
                </a:rPr>
                <a:t>三级数字化城市运行和治理中心</a:t>
              </a:r>
            </a:p>
          </p:txBody>
        </p:sp>
        <p:cxnSp>
          <p:nvCxnSpPr>
            <p:cNvPr id="20" name="直接连接符 19">
              <a:extLst>
                <a:ext uri="{FF2B5EF4-FFF2-40B4-BE49-F238E27FC236}">
                  <a16:creationId xmlns:a16="http://schemas.microsoft.com/office/drawing/2014/main" id="{C9F64AC7-5805-5C85-EB7F-E8169E529515}"/>
                </a:ext>
              </a:extLst>
            </p:cNvPr>
            <p:cNvCxnSpPr>
              <a:cxnSpLocks/>
            </p:cNvCxnSpPr>
            <p:nvPr/>
          </p:nvCxnSpPr>
          <p:spPr>
            <a:xfrm>
              <a:off x="979911" y="4164945"/>
              <a:ext cx="10635995" cy="0"/>
            </a:xfrm>
            <a:prstGeom prst="line">
              <a:avLst/>
            </a:prstGeom>
            <a:ln w="15875">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37735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顶角 88">
            <a:extLst>
              <a:ext uri="{FF2B5EF4-FFF2-40B4-BE49-F238E27FC236}">
                <a16:creationId xmlns:a16="http://schemas.microsoft.com/office/drawing/2014/main" id="{B85F4BB6-C2C8-7F42-7B97-8C24B0839783}"/>
              </a:ext>
            </a:extLst>
          </p:cNvPr>
          <p:cNvSpPr/>
          <p:nvPr/>
        </p:nvSpPr>
        <p:spPr>
          <a:xfrm flipV="1">
            <a:off x="976374" y="4067907"/>
            <a:ext cx="10239252" cy="1626848"/>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9" name="矩形: 圆顶角 88">
            <a:extLst>
              <a:ext uri="{FF2B5EF4-FFF2-40B4-BE49-F238E27FC236}">
                <a16:creationId xmlns:a16="http://schemas.microsoft.com/office/drawing/2014/main" id="{11CB3B0E-87BF-D8A4-76AC-316F6CB49A9F}"/>
              </a:ext>
            </a:extLst>
          </p:cNvPr>
          <p:cNvSpPr/>
          <p:nvPr/>
        </p:nvSpPr>
        <p:spPr>
          <a:xfrm flipV="1">
            <a:off x="976374" y="2054815"/>
            <a:ext cx="10239252" cy="1626848"/>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1.2</a:t>
            </a:r>
            <a:r>
              <a:rPr kumimoji="1" lang="zh-CN" altLang="en-US" dirty="0"/>
              <a:t>相关术语解释</a:t>
            </a:r>
          </a:p>
        </p:txBody>
      </p:sp>
      <p:sp>
        <p:nvSpPr>
          <p:cNvPr id="3" name="文本框 2">
            <a:extLst>
              <a:ext uri="{FF2B5EF4-FFF2-40B4-BE49-F238E27FC236}">
                <a16:creationId xmlns:a16="http://schemas.microsoft.com/office/drawing/2014/main" id="{DD426A8A-4617-708A-82EF-0FC299279DA7}"/>
              </a:ext>
            </a:extLst>
          </p:cNvPr>
          <p:cNvSpPr txBox="1"/>
          <p:nvPr/>
        </p:nvSpPr>
        <p:spPr>
          <a:xfrm>
            <a:off x="1225920" y="2709113"/>
            <a:ext cx="9906847" cy="867417"/>
          </a:xfrm>
          <a:prstGeom prst="rect">
            <a:avLst/>
          </a:prstGeom>
          <a:ln>
            <a:noFill/>
          </a:ln>
        </p:spPr>
        <p:txBody>
          <a:bodyPr wrap="square">
            <a:spAutoFit/>
          </a:bodyPr>
          <a:lstStyle/>
          <a:p>
            <a:pPr algn="l">
              <a:lnSpc>
                <a:spcPts val="32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负责</a:t>
            </a:r>
            <a:r>
              <a:rPr lang="zh-CN" altLang="en-US" sz="1600" b="1" dirty="0">
                <a:solidFill>
                  <a:srgbClr val="C00000"/>
                </a:solidFill>
                <a:latin typeface="微软雅黑" panose="020B0503020204020204" pitchFamily="34" charset="-122"/>
                <a:ea typeface="微软雅黑" panose="020B0503020204020204" pitchFamily="34" charset="-122"/>
                <a:sym typeface="+mn-ea"/>
              </a:rPr>
              <a:t>统筹管理</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本领域的应用谋划、申报、设计、开发、运维和本领域专项</a:t>
            </a:r>
            <a:r>
              <a:rPr lang="zh-CN" altLang="en-US" sz="1600" b="1" dirty="0">
                <a:solidFill>
                  <a:srgbClr val="C00000"/>
                </a:solidFill>
                <a:latin typeface="微软雅黑" panose="020B0503020204020204" pitchFamily="34" charset="-122"/>
                <a:ea typeface="微软雅黑" panose="020B0503020204020204" pitchFamily="34" charset="-122"/>
                <a:sym typeface="+mn-ea"/>
              </a:rPr>
              <a:t>资金</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的预算编制、申报、执行工作，</a:t>
            </a:r>
            <a:r>
              <a:rPr lang="zh-CN" altLang="en-US" sz="1600" b="1" dirty="0">
                <a:solidFill>
                  <a:srgbClr val="C00000"/>
                </a:solidFill>
                <a:latin typeface="微软雅黑" panose="020B0503020204020204" pitchFamily="34" charset="-122"/>
                <a:ea typeface="微软雅黑" panose="020B0503020204020204" pitchFamily="34" charset="-122"/>
                <a:sym typeface="+mn-ea"/>
              </a:rPr>
              <a:t>审核</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市级有关应用责任部门提出的应用需求申请。</a:t>
            </a:r>
          </a:p>
        </p:txBody>
      </p:sp>
      <p:sp>
        <p:nvSpPr>
          <p:cNvPr id="4" name="文本框 3">
            <a:extLst>
              <a:ext uri="{FF2B5EF4-FFF2-40B4-BE49-F238E27FC236}">
                <a16:creationId xmlns:a16="http://schemas.microsoft.com/office/drawing/2014/main" id="{C0B00BF7-F011-4D87-BF28-B314C82734EB}"/>
              </a:ext>
            </a:extLst>
          </p:cNvPr>
          <p:cNvSpPr txBox="1"/>
          <p:nvPr>
            <p:custDataLst>
              <p:tags r:id="rId1"/>
            </p:custDataLst>
          </p:nvPr>
        </p:nvSpPr>
        <p:spPr>
          <a:xfrm>
            <a:off x="1225920" y="4567499"/>
            <a:ext cx="10086635" cy="814454"/>
          </a:xfrm>
          <a:prstGeom prst="rect">
            <a:avLst/>
          </a:prstGeom>
          <a:ln>
            <a:noFill/>
          </a:ln>
        </p:spPr>
        <p:txBody>
          <a:bodyPr wrap="square">
            <a:spAutoFit/>
          </a:bodyPr>
          <a:lstStyle/>
          <a:p>
            <a:pPr algn="l">
              <a:lnSpc>
                <a:spcPts val="3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负责本部门本系统应用的</a:t>
            </a:r>
            <a:r>
              <a:rPr lang="zh-CN" altLang="en-US" sz="1600" b="1" dirty="0">
                <a:solidFill>
                  <a:srgbClr val="C00000"/>
                </a:solidFill>
                <a:latin typeface="微软雅黑" panose="020B0503020204020204" pitchFamily="34" charset="-122"/>
                <a:ea typeface="微软雅黑" panose="020B0503020204020204" pitchFamily="34" charset="-122"/>
                <a:sym typeface="+mn-ea"/>
              </a:rPr>
              <a:t>需求分析</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、谋划、申报、设计、开发、验收、使用、推广、运维等工作的具体实施和</a:t>
            </a:r>
            <a:r>
              <a:rPr lang="zh-CN" altLang="en-US" sz="1600" b="1" dirty="0">
                <a:solidFill>
                  <a:srgbClr val="C00000"/>
                </a:solidFill>
                <a:latin typeface="微软雅黑" panose="020B0503020204020204" pitchFamily="34" charset="-122"/>
                <a:ea typeface="微软雅黑" panose="020B0503020204020204" pitchFamily="34" charset="-122"/>
                <a:sym typeface="+mn-ea"/>
              </a:rPr>
              <a:t>全流程闭环</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管理；负责本部门政务数字化应用市级专项资金的预算编制、申报、执行等工作。</a:t>
            </a:r>
          </a:p>
        </p:txBody>
      </p:sp>
      <p:sp>
        <p:nvSpPr>
          <p:cNvPr id="5" name="矩形: 圆角 4">
            <a:extLst>
              <a:ext uri="{FF2B5EF4-FFF2-40B4-BE49-F238E27FC236}">
                <a16:creationId xmlns:a16="http://schemas.microsoft.com/office/drawing/2014/main" id="{E158A892-9D51-4365-CF52-7A299E69A29C}"/>
              </a:ext>
            </a:extLst>
          </p:cNvPr>
          <p:cNvSpPr/>
          <p:nvPr/>
        </p:nvSpPr>
        <p:spPr>
          <a:xfrm>
            <a:off x="1225920" y="2006939"/>
            <a:ext cx="2933700" cy="526847"/>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市级应用牵头部门</a:t>
            </a:r>
          </a:p>
        </p:txBody>
      </p:sp>
      <p:sp>
        <p:nvSpPr>
          <p:cNvPr id="6" name="矩形: 圆角 5">
            <a:extLst>
              <a:ext uri="{FF2B5EF4-FFF2-40B4-BE49-F238E27FC236}">
                <a16:creationId xmlns:a16="http://schemas.microsoft.com/office/drawing/2014/main" id="{412BDF22-6E0E-7411-2889-00C2FCDB6D48}"/>
              </a:ext>
            </a:extLst>
          </p:cNvPr>
          <p:cNvSpPr/>
          <p:nvPr/>
        </p:nvSpPr>
        <p:spPr>
          <a:xfrm>
            <a:off x="1225920" y="3948291"/>
            <a:ext cx="2933700" cy="526847"/>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市级应用责任部门</a:t>
            </a:r>
          </a:p>
        </p:txBody>
      </p:sp>
    </p:spTree>
    <p:extLst>
      <p:ext uri="{BB962C8B-B14F-4D97-AF65-F5344CB8AC3E}">
        <p14:creationId xmlns:p14="http://schemas.microsoft.com/office/powerpoint/2010/main" val="1751004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1.2</a:t>
            </a:r>
            <a:r>
              <a:rPr kumimoji="1" lang="zh-CN" altLang="en-US" dirty="0"/>
              <a:t>相关术语解释</a:t>
            </a:r>
          </a:p>
        </p:txBody>
      </p:sp>
      <p:sp>
        <p:nvSpPr>
          <p:cNvPr id="7" name="矩形 6">
            <a:extLst>
              <a:ext uri="{FF2B5EF4-FFF2-40B4-BE49-F238E27FC236}">
                <a16:creationId xmlns:a16="http://schemas.microsoft.com/office/drawing/2014/main" id="{0C356CFF-6BB6-498D-8B0B-CD08BD6EAB25}"/>
              </a:ext>
            </a:extLst>
          </p:cNvPr>
          <p:cNvSpPr/>
          <p:nvPr>
            <p:custDataLst>
              <p:tags r:id="rId1"/>
            </p:custDataLst>
          </p:nvPr>
        </p:nvSpPr>
        <p:spPr>
          <a:xfrm>
            <a:off x="1023687" y="2558795"/>
            <a:ext cx="4557607" cy="1484207"/>
          </a:xfrm>
          <a:prstGeom prst="rect">
            <a:avLst/>
          </a:prstGeom>
          <a:noFill/>
          <a:ln w="12700" cap="flat" cmpd="sng" algn="ctr">
            <a:noFill/>
            <a:prstDash val="solid"/>
            <a:miter lim="800000"/>
          </a:ln>
          <a:effectLst/>
        </p:spPr>
        <p:txBody>
          <a:bodyPr lIns="90000" tIns="46800" rIns="90000" bIns="46800" rtlCol="0" anchor="ctr">
            <a:normAutofit/>
          </a:bodyPr>
          <a:lstStyle/>
          <a:p>
            <a:pPr algn="ctr">
              <a:lnSpc>
                <a:spcPct val="120000"/>
              </a:lnSpc>
            </a:pPr>
            <a:endParaRPr lang="zh-CN" altLang="en-US" sz="2800">
              <a:solidFill>
                <a:schemeClr val="bg1"/>
              </a:solidFill>
              <a:latin typeface="微软雅黑" panose="020B0503020204020204" pitchFamily="34" charset="-122"/>
              <a:ea typeface="微软雅黑" panose="020B0503020204020204" pitchFamily="34" charset="-122"/>
              <a:cs typeface="方正仿宋_GBK" panose="02000000000000000000" charset="-122"/>
              <a:sym typeface="+mn-ea"/>
            </a:endParaRPr>
          </a:p>
        </p:txBody>
      </p:sp>
      <p:sp>
        <p:nvSpPr>
          <p:cNvPr id="8" name="文本框 7">
            <a:extLst>
              <a:ext uri="{FF2B5EF4-FFF2-40B4-BE49-F238E27FC236}">
                <a16:creationId xmlns:a16="http://schemas.microsoft.com/office/drawing/2014/main" id="{8AA5FD0B-DAD3-4DFB-2F2A-AA113761359D}"/>
              </a:ext>
            </a:extLst>
          </p:cNvPr>
          <p:cNvSpPr txBox="1"/>
          <p:nvPr/>
        </p:nvSpPr>
        <p:spPr>
          <a:xfrm>
            <a:off x="1005647" y="2940554"/>
            <a:ext cx="4696653" cy="1064348"/>
          </a:xfrm>
          <a:prstGeom prst="rect">
            <a:avLst/>
          </a:prstGeom>
        </p:spPr>
        <p:txBody>
          <a:bodyPr>
            <a:noAutofit/>
          </a:bodyPr>
          <a:lstStyle/>
          <a:p>
            <a:pPr>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统筹建设管理政务云、电子政务网络、政务视联网、物联感知体系等基础支撑，集约提供服务。</a:t>
            </a:r>
          </a:p>
        </p:txBody>
      </p:sp>
      <p:sp>
        <p:nvSpPr>
          <p:cNvPr id="9" name="文本框 8">
            <a:extLst>
              <a:ext uri="{FF2B5EF4-FFF2-40B4-BE49-F238E27FC236}">
                <a16:creationId xmlns:a16="http://schemas.microsoft.com/office/drawing/2014/main" id="{4F83C8BA-5A08-BA74-217F-1AA3F6395958}"/>
              </a:ext>
            </a:extLst>
          </p:cNvPr>
          <p:cNvSpPr txBox="1"/>
          <p:nvPr/>
        </p:nvSpPr>
        <p:spPr>
          <a:xfrm>
            <a:off x="3515212" y="2590704"/>
            <a:ext cx="1998913" cy="396044"/>
          </a:xfrm>
          <a:prstGeom prst="rect">
            <a:avLst/>
          </a:prstGeom>
        </p:spPr>
        <p:txBody>
          <a:bodyPr>
            <a:noAutofit/>
          </a:bodyPr>
          <a:lstStyle/>
          <a:p>
            <a:pPr>
              <a:lnSpc>
                <a:spcPts val="24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信息化推进处</a:t>
            </a:r>
            <a:endParaRPr lang="zh-CN" altLang="en-US" b="1" dirty="0">
              <a:solidFill>
                <a:srgbClr val="C00000"/>
              </a:solidFill>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AB5E25AD-AB02-D2F8-0575-C6B63870AE80}"/>
              </a:ext>
            </a:extLst>
          </p:cNvPr>
          <p:cNvGrpSpPr/>
          <p:nvPr/>
        </p:nvGrpSpPr>
        <p:grpSpPr>
          <a:xfrm>
            <a:off x="873716" y="2518506"/>
            <a:ext cx="2580684" cy="473537"/>
            <a:chOff x="873716" y="1894224"/>
            <a:chExt cx="2580684" cy="473537"/>
          </a:xfrm>
          <a:solidFill>
            <a:srgbClr val="0070C0"/>
          </a:solidFill>
        </p:grpSpPr>
        <p:sp>
          <p:nvSpPr>
            <p:cNvPr id="11" name="矩形: 圆角 10">
              <a:extLst>
                <a:ext uri="{FF2B5EF4-FFF2-40B4-BE49-F238E27FC236}">
                  <a16:creationId xmlns:a16="http://schemas.microsoft.com/office/drawing/2014/main" id="{D9BFDEFF-4CDC-4529-7C18-C4BC80F6E892}"/>
                </a:ext>
              </a:extLst>
            </p:cNvPr>
            <p:cNvSpPr/>
            <p:nvPr/>
          </p:nvSpPr>
          <p:spPr>
            <a:xfrm>
              <a:off x="1084499" y="1906560"/>
              <a:ext cx="2369901" cy="459224"/>
            </a:xfrm>
            <a:prstGeom prst="round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基础设施体系</a:t>
              </a:r>
            </a:p>
          </p:txBody>
        </p:sp>
        <p:sp>
          <p:nvSpPr>
            <p:cNvPr id="12" name="椭圆 11">
              <a:extLst>
                <a:ext uri="{FF2B5EF4-FFF2-40B4-BE49-F238E27FC236}">
                  <a16:creationId xmlns:a16="http://schemas.microsoft.com/office/drawing/2014/main" id="{F572332A-7CB5-2BA1-9D7A-CAE78888F78D}"/>
                </a:ext>
              </a:extLst>
            </p:cNvPr>
            <p:cNvSpPr/>
            <p:nvPr/>
          </p:nvSpPr>
          <p:spPr>
            <a:xfrm>
              <a:off x="873716" y="1894224"/>
              <a:ext cx="473537" cy="473537"/>
            </a:xfrm>
            <a:prstGeom prst="ellipse">
              <a:avLst/>
            </a:prstGeom>
            <a:grpFill/>
            <a:ln w="222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微软雅黑" panose="020B0503020204020204" pitchFamily="34" charset="-122"/>
                  <a:ea typeface="微软雅黑" panose="020B0503020204020204" pitchFamily="34" charset="-122"/>
                </a:rPr>
                <a:t>1</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AF2916DB-A643-BC0C-E5CF-CE27EA37AEC5}"/>
              </a:ext>
            </a:extLst>
          </p:cNvPr>
          <p:cNvGrpSpPr/>
          <p:nvPr/>
        </p:nvGrpSpPr>
        <p:grpSpPr>
          <a:xfrm>
            <a:off x="873716" y="3811806"/>
            <a:ext cx="2580684" cy="473537"/>
            <a:chOff x="873716" y="1894224"/>
            <a:chExt cx="2580684" cy="473537"/>
          </a:xfrm>
          <a:solidFill>
            <a:srgbClr val="0070C0"/>
          </a:solidFill>
        </p:grpSpPr>
        <p:sp>
          <p:nvSpPr>
            <p:cNvPr id="14" name="矩形: 圆角 13">
              <a:extLst>
                <a:ext uri="{FF2B5EF4-FFF2-40B4-BE49-F238E27FC236}">
                  <a16:creationId xmlns:a16="http://schemas.microsoft.com/office/drawing/2014/main" id="{F21D3819-029B-C94F-255A-2C0CBA4CEE7D}"/>
                </a:ext>
              </a:extLst>
            </p:cNvPr>
            <p:cNvSpPr/>
            <p:nvPr/>
          </p:nvSpPr>
          <p:spPr>
            <a:xfrm>
              <a:off x="1084499" y="1906560"/>
              <a:ext cx="2369901" cy="459224"/>
            </a:xfrm>
            <a:prstGeom prst="round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能力组件体系</a:t>
              </a:r>
            </a:p>
          </p:txBody>
        </p:sp>
        <p:sp>
          <p:nvSpPr>
            <p:cNvPr id="15" name="椭圆 14">
              <a:extLst>
                <a:ext uri="{FF2B5EF4-FFF2-40B4-BE49-F238E27FC236}">
                  <a16:creationId xmlns:a16="http://schemas.microsoft.com/office/drawing/2014/main" id="{DF1CBD5F-4B30-70B4-23B7-09776BFC500E}"/>
                </a:ext>
              </a:extLst>
            </p:cNvPr>
            <p:cNvSpPr/>
            <p:nvPr/>
          </p:nvSpPr>
          <p:spPr>
            <a:xfrm>
              <a:off x="873716" y="1894224"/>
              <a:ext cx="473537" cy="473537"/>
            </a:xfrm>
            <a:prstGeom prst="ellipse">
              <a:avLst/>
            </a:prstGeom>
            <a:grpFill/>
            <a:ln w="222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微软雅黑" panose="020B0503020204020204" pitchFamily="34" charset="-122"/>
                  <a:ea typeface="微软雅黑" panose="020B0503020204020204" pitchFamily="34" charset="-122"/>
                </a:rPr>
                <a:t>2</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16" name="文本框 15">
            <a:extLst>
              <a:ext uri="{FF2B5EF4-FFF2-40B4-BE49-F238E27FC236}">
                <a16:creationId xmlns:a16="http://schemas.microsoft.com/office/drawing/2014/main" id="{E2A76CBE-6FC1-4B46-2EC9-DE938DB0790B}"/>
              </a:ext>
            </a:extLst>
          </p:cNvPr>
          <p:cNvSpPr txBox="1"/>
          <p:nvPr/>
        </p:nvSpPr>
        <p:spPr>
          <a:xfrm>
            <a:off x="3515212" y="3862025"/>
            <a:ext cx="1998913" cy="396044"/>
          </a:xfrm>
          <a:prstGeom prst="rect">
            <a:avLst/>
          </a:prstGeom>
        </p:spPr>
        <p:txBody>
          <a:bodyPr>
            <a:noAutofit/>
          </a:bodyPr>
          <a:lstStyle/>
          <a:p>
            <a:pPr>
              <a:lnSpc>
                <a:spcPts val="24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融合发展处</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5D9B4C65-CA5B-6A5D-380E-7A9CFD49243E}"/>
              </a:ext>
            </a:extLst>
          </p:cNvPr>
          <p:cNvSpPr txBox="1"/>
          <p:nvPr/>
        </p:nvSpPr>
        <p:spPr>
          <a:xfrm>
            <a:off x="1026226" y="4241691"/>
            <a:ext cx="4696653" cy="1064348"/>
          </a:xfrm>
          <a:prstGeom prst="rect">
            <a:avLst/>
          </a:prstGeom>
        </p:spPr>
        <p:txBody>
          <a:bodyPr>
            <a:noAutofit/>
          </a:bodyPr>
          <a:lstStyle/>
          <a:p>
            <a:pPr>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建立能力组件共建共享、分类使用机制，集成智能模块、算法模型、数字工具，迭代知识模型等智能要素，提升组件利用率。</a:t>
            </a:r>
          </a:p>
        </p:txBody>
      </p:sp>
      <p:grpSp>
        <p:nvGrpSpPr>
          <p:cNvPr id="18" name="组合 17">
            <a:extLst>
              <a:ext uri="{FF2B5EF4-FFF2-40B4-BE49-F238E27FC236}">
                <a16:creationId xmlns:a16="http://schemas.microsoft.com/office/drawing/2014/main" id="{A5C4C35F-F374-51D5-0334-95B1EDEDBFCF}"/>
              </a:ext>
            </a:extLst>
          </p:cNvPr>
          <p:cNvGrpSpPr/>
          <p:nvPr/>
        </p:nvGrpSpPr>
        <p:grpSpPr>
          <a:xfrm>
            <a:off x="873716" y="5165275"/>
            <a:ext cx="2580684" cy="473537"/>
            <a:chOff x="873716" y="1894224"/>
            <a:chExt cx="2580684" cy="473537"/>
          </a:xfrm>
          <a:solidFill>
            <a:srgbClr val="0070C0"/>
          </a:solidFill>
        </p:grpSpPr>
        <p:sp>
          <p:nvSpPr>
            <p:cNvPr id="19" name="矩形: 圆角 18">
              <a:extLst>
                <a:ext uri="{FF2B5EF4-FFF2-40B4-BE49-F238E27FC236}">
                  <a16:creationId xmlns:a16="http://schemas.microsoft.com/office/drawing/2014/main" id="{72FC9C73-9491-A369-EE43-2B8CCB16902E}"/>
                </a:ext>
              </a:extLst>
            </p:cNvPr>
            <p:cNvSpPr/>
            <p:nvPr/>
          </p:nvSpPr>
          <p:spPr>
            <a:xfrm>
              <a:off x="1084499" y="1906560"/>
              <a:ext cx="2369901" cy="459224"/>
            </a:xfrm>
            <a:prstGeom prst="round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渝快办</a:t>
              </a:r>
            </a:p>
          </p:txBody>
        </p:sp>
        <p:sp>
          <p:nvSpPr>
            <p:cNvPr id="20" name="椭圆 19">
              <a:extLst>
                <a:ext uri="{FF2B5EF4-FFF2-40B4-BE49-F238E27FC236}">
                  <a16:creationId xmlns:a16="http://schemas.microsoft.com/office/drawing/2014/main" id="{6D0195BE-1BE1-B174-D8A9-E38D04A65528}"/>
                </a:ext>
              </a:extLst>
            </p:cNvPr>
            <p:cNvSpPr/>
            <p:nvPr/>
          </p:nvSpPr>
          <p:spPr>
            <a:xfrm>
              <a:off x="873716" y="1894224"/>
              <a:ext cx="473537" cy="473537"/>
            </a:xfrm>
            <a:prstGeom prst="ellipse">
              <a:avLst/>
            </a:prstGeom>
            <a:grpFill/>
            <a:ln w="222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微软雅黑" panose="020B0503020204020204" pitchFamily="34" charset="-122"/>
                  <a:ea typeface="微软雅黑" panose="020B0503020204020204" pitchFamily="34" charset="-122"/>
                </a:rPr>
                <a:t>3</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21" name="文本框 20">
            <a:extLst>
              <a:ext uri="{FF2B5EF4-FFF2-40B4-BE49-F238E27FC236}">
                <a16:creationId xmlns:a16="http://schemas.microsoft.com/office/drawing/2014/main" id="{D85656C2-0BF5-53E7-EB63-F2A49916E9EA}"/>
              </a:ext>
            </a:extLst>
          </p:cNvPr>
          <p:cNvSpPr txBox="1"/>
          <p:nvPr/>
        </p:nvSpPr>
        <p:spPr>
          <a:xfrm>
            <a:off x="3515212" y="5215494"/>
            <a:ext cx="1998913" cy="396044"/>
          </a:xfrm>
          <a:prstGeom prst="rect">
            <a:avLst/>
          </a:prstGeom>
        </p:spPr>
        <p:txBody>
          <a:bodyPr>
            <a:noAutofit/>
          </a:bodyPr>
          <a:lstStyle/>
          <a:p>
            <a:pPr>
              <a:lnSpc>
                <a:spcPts val="24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办公室</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3B29C7EB-FF96-50CE-F551-222230EF26BA}"/>
              </a:ext>
            </a:extLst>
          </p:cNvPr>
          <p:cNvSpPr txBox="1"/>
          <p:nvPr/>
        </p:nvSpPr>
        <p:spPr>
          <a:xfrm>
            <a:off x="1026226" y="5620560"/>
            <a:ext cx="4696653" cy="1064348"/>
          </a:xfrm>
          <a:prstGeom prst="rect">
            <a:avLst/>
          </a:prstGeom>
        </p:spPr>
        <p:txBody>
          <a:bodyPr>
            <a:noAutofit/>
          </a:bodyPr>
          <a:lstStyle/>
          <a:p>
            <a:pPr>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建设全市统一的政务服务平台，提升政务服务能力，标准统一、全面融合、服务同质，构建全时在线、渠道多元、全渝通办的一体化政务服务体系，打造“掌上办事之城”。</a:t>
            </a:r>
          </a:p>
        </p:txBody>
      </p:sp>
      <p:sp>
        <p:nvSpPr>
          <p:cNvPr id="23" name="矩形 22">
            <a:extLst>
              <a:ext uri="{FF2B5EF4-FFF2-40B4-BE49-F238E27FC236}">
                <a16:creationId xmlns:a16="http://schemas.microsoft.com/office/drawing/2014/main" id="{A29AF5C4-3E5C-8F05-8EC3-0F673BE30F1E}"/>
              </a:ext>
            </a:extLst>
          </p:cNvPr>
          <p:cNvSpPr/>
          <p:nvPr>
            <p:custDataLst>
              <p:tags r:id="rId2"/>
            </p:custDataLst>
          </p:nvPr>
        </p:nvSpPr>
        <p:spPr>
          <a:xfrm>
            <a:off x="6202089" y="2558795"/>
            <a:ext cx="4557607" cy="1484207"/>
          </a:xfrm>
          <a:prstGeom prst="rect">
            <a:avLst/>
          </a:prstGeom>
          <a:noFill/>
          <a:ln w="12700" cap="flat" cmpd="sng" algn="ctr">
            <a:noFill/>
            <a:prstDash val="solid"/>
            <a:miter lim="800000"/>
          </a:ln>
          <a:effectLst/>
        </p:spPr>
        <p:txBody>
          <a:bodyPr lIns="90000" tIns="46800" rIns="90000" bIns="46800" rtlCol="0" anchor="ctr">
            <a:normAutofit/>
          </a:bodyPr>
          <a:lstStyle/>
          <a:p>
            <a:pPr algn="ctr">
              <a:lnSpc>
                <a:spcPct val="120000"/>
              </a:lnSpc>
            </a:pPr>
            <a:endParaRPr lang="zh-CN" altLang="en-US" sz="2800">
              <a:solidFill>
                <a:schemeClr val="bg1"/>
              </a:solidFill>
              <a:latin typeface="微软雅黑" panose="020B0503020204020204" pitchFamily="34" charset="-122"/>
              <a:ea typeface="微软雅黑" panose="020B0503020204020204" pitchFamily="34" charset="-122"/>
              <a:cs typeface="方正仿宋_GBK" panose="02000000000000000000" charset="-122"/>
              <a:sym typeface="+mn-ea"/>
            </a:endParaRPr>
          </a:p>
        </p:txBody>
      </p:sp>
      <p:sp>
        <p:nvSpPr>
          <p:cNvPr id="24" name="文本框 23">
            <a:extLst>
              <a:ext uri="{FF2B5EF4-FFF2-40B4-BE49-F238E27FC236}">
                <a16:creationId xmlns:a16="http://schemas.microsoft.com/office/drawing/2014/main" id="{85560F2F-2DCA-1D2E-EED5-A289808406C0}"/>
              </a:ext>
            </a:extLst>
          </p:cNvPr>
          <p:cNvSpPr txBox="1"/>
          <p:nvPr/>
        </p:nvSpPr>
        <p:spPr>
          <a:xfrm>
            <a:off x="6184049" y="2940554"/>
            <a:ext cx="5046471" cy="1064348"/>
          </a:xfrm>
          <a:prstGeom prst="rect">
            <a:avLst/>
          </a:prstGeom>
        </p:spPr>
        <p:txBody>
          <a:bodyPr>
            <a:noAutofit/>
          </a:bodyPr>
          <a:lstStyle/>
          <a:p>
            <a:pPr>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完善公共数据目录体系，迭代建设基础数据库，按需建设专题数据库，加快构建全市统一的公共数据资源体系，全面提升数据服务一体化水平。</a:t>
            </a:r>
          </a:p>
        </p:txBody>
      </p:sp>
      <p:sp>
        <p:nvSpPr>
          <p:cNvPr id="25" name="文本框 24">
            <a:extLst>
              <a:ext uri="{FF2B5EF4-FFF2-40B4-BE49-F238E27FC236}">
                <a16:creationId xmlns:a16="http://schemas.microsoft.com/office/drawing/2014/main" id="{740B0384-B0D8-F202-2296-7D55EBF4D67D}"/>
              </a:ext>
            </a:extLst>
          </p:cNvPr>
          <p:cNvSpPr txBox="1"/>
          <p:nvPr/>
        </p:nvSpPr>
        <p:spPr>
          <a:xfrm>
            <a:off x="8693614" y="2590704"/>
            <a:ext cx="1998913" cy="396044"/>
          </a:xfrm>
          <a:prstGeom prst="rect">
            <a:avLst/>
          </a:prstGeom>
        </p:spPr>
        <p:txBody>
          <a:bodyPr>
            <a:noAutofit/>
          </a:bodyPr>
          <a:lstStyle/>
          <a:p>
            <a:pPr>
              <a:lnSpc>
                <a:spcPts val="24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数据资源管理处</a:t>
            </a:r>
          </a:p>
        </p:txBody>
      </p:sp>
      <p:grpSp>
        <p:nvGrpSpPr>
          <p:cNvPr id="26" name="组合 25">
            <a:extLst>
              <a:ext uri="{FF2B5EF4-FFF2-40B4-BE49-F238E27FC236}">
                <a16:creationId xmlns:a16="http://schemas.microsoft.com/office/drawing/2014/main" id="{AE515A08-22BA-371C-0B69-C5DD85642AD9}"/>
              </a:ext>
            </a:extLst>
          </p:cNvPr>
          <p:cNvGrpSpPr/>
          <p:nvPr/>
        </p:nvGrpSpPr>
        <p:grpSpPr>
          <a:xfrm>
            <a:off x="6052118" y="2518506"/>
            <a:ext cx="2580684" cy="473537"/>
            <a:chOff x="873716" y="1894224"/>
            <a:chExt cx="2580684" cy="473537"/>
          </a:xfrm>
          <a:solidFill>
            <a:srgbClr val="0070C0"/>
          </a:solidFill>
        </p:grpSpPr>
        <p:sp>
          <p:nvSpPr>
            <p:cNvPr id="27" name="矩形: 圆角 26">
              <a:extLst>
                <a:ext uri="{FF2B5EF4-FFF2-40B4-BE49-F238E27FC236}">
                  <a16:creationId xmlns:a16="http://schemas.microsoft.com/office/drawing/2014/main" id="{BFB0AC9B-7F2B-608E-67A5-16F738FFB27B}"/>
                </a:ext>
              </a:extLst>
            </p:cNvPr>
            <p:cNvSpPr/>
            <p:nvPr/>
          </p:nvSpPr>
          <p:spPr>
            <a:xfrm>
              <a:off x="1084499" y="1906560"/>
              <a:ext cx="2369901" cy="459224"/>
            </a:xfrm>
            <a:prstGeom prst="round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数据资源体系</a:t>
              </a:r>
            </a:p>
          </p:txBody>
        </p:sp>
        <p:sp>
          <p:nvSpPr>
            <p:cNvPr id="28" name="椭圆 27">
              <a:extLst>
                <a:ext uri="{FF2B5EF4-FFF2-40B4-BE49-F238E27FC236}">
                  <a16:creationId xmlns:a16="http://schemas.microsoft.com/office/drawing/2014/main" id="{B50297C7-ED93-3C6D-C26E-9743A358844D}"/>
                </a:ext>
              </a:extLst>
            </p:cNvPr>
            <p:cNvSpPr/>
            <p:nvPr/>
          </p:nvSpPr>
          <p:spPr>
            <a:xfrm>
              <a:off x="873716" y="1894224"/>
              <a:ext cx="473537" cy="473537"/>
            </a:xfrm>
            <a:prstGeom prst="ellipse">
              <a:avLst/>
            </a:prstGeom>
            <a:grpFill/>
            <a:ln w="222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微软雅黑" panose="020B0503020204020204" pitchFamily="34" charset="-122"/>
                  <a:ea typeface="微软雅黑" panose="020B0503020204020204" pitchFamily="34" charset="-122"/>
                </a:rPr>
                <a:t>4</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29" name="组合 28">
            <a:extLst>
              <a:ext uri="{FF2B5EF4-FFF2-40B4-BE49-F238E27FC236}">
                <a16:creationId xmlns:a16="http://schemas.microsoft.com/office/drawing/2014/main" id="{C3C0F4BF-8784-6E16-53B4-714EBFFF7ACD}"/>
              </a:ext>
            </a:extLst>
          </p:cNvPr>
          <p:cNvGrpSpPr/>
          <p:nvPr/>
        </p:nvGrpSpPr>
        <p:grpSpPr>
          <a:xfrm>
            <a:off x="6052118" y="3849906"/>
            <a:ext cx="2580684" cy="473537"/>
            <a:chOff x="873716" y="1894224"/>
            <a:chExt cx="2580684" cy="473537"/>
          </a:xfrm>
          <a:solidFill>
            <a:srgbClr val="0070C0"/>
          </a:solidFill>
        </p:grpSpPr>
        <p:sp>
          <p:nvSpPr>
            <p:cNvPr id="30" name="矩形: 圆角 29">
              <a:extLst>
                <a:ext uri="{FF2B5EF4-FFF2-40B4-BE49-F238E27FC236}">
                  <a16:creationId xmlns:a16="http://schemas.microsoft.com/office/drawing/2014/main" id="{D74E8FEC-3331-49E8-2074-FDCB7DCB5371}"/>
                </a:ext>
              </a:extLst>
            </p:cNvPr>
            <p:cNvSpPr/>
            <p:nvPr/>
          </p:nvSpPr>
          <p:spPr>
            <a:xfrm>
              <a:off x="1084499" y="1906560"/>
              <a:ext cx="2369901" cy="459224"/>
            </a:xfrm>
            <a:prstGeom prst="round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业务应用体系</a:t>
              </a:r>
            </a:p>
          </p:txBody>
        </p:sp>
        <p:sp>
          <p:nvSpPr>
            <p:cNvPr id="31" name="椭圆 30">
              <a:extLst>
                <a:ext uri="{FF2B5EF4-FFF2-40B4-BE49-F238E27FC236}">
                  <a16:creationId xmlns:a16="http://schemas.microsoft.com/office/drawing/2014/main" id="{7A4F0DF2-D62A-7E00-E460-08BDEFA4257B}"/>
                </a:ext>
              </a:extLst>
            </p:cNvPr>
            <p:cNvSpPr/>
            <p:nvPr/>
          </p:nvSpPr>
          <p:spPr>
            <a:xfrm>
              <a:off x="873716" y="1894224"/>
              <a:ext cx="473537" cy="473537"/>
            </a:xfrm>
            <a:prstGeom prst="ellipse">
              <a:avLst/>
            </a:prstGeom>
            <a:grpFill/>
            <a:ln w="222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微软雅黑" panose="020B0503020204020204" pitchFamily="34" charset="-122"/>
                  <a:ea typeface="微软雅黑" panose="020B0503020204020204" pitchFamily="34" charset="-122"/>
                </a:rPr>
                <a:t>5</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32" name="文本框 31">
            <a:extLst>
              <a:ext uri="{FF2B5EF4-FFF2-40B4-BE49-F238E27FC236}">
                <a16:creationId xmlns:a16="http://schemas.microsoft.com/office/drawing/2014/main" id="{79E5C074-5444-FDD4-B6C1-43CA9681AD9D}"/>
              </a:ext>
            </a:extLst>
          </p:cNvPr>
          <p:cNvSpPr txBox="1"/>
          <p:nvPr/>
        </p:nvSpPr>
        <p:spPr>
          <a:xfrm>
            <a:off x="8693614" y="3900125"/>
            <a:ext cx="1998913" cy="396044"/>
          </a:xfrm>
          <a:prstGeom prst="rect">
            <a:avLst/>
          </a:prstGeom>
        </p:spPr>
        <p:txBody>
          <a:bodyPr>
            <a:noAutofit/>
          </a:bodyPr>
          <a:lstStyle/>
          <a:p>
            <a:pPr>
              <a:lnSpc>
                <a:spcPts val="24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应用推广处</a:t>
            </a:r>
          </a:p>
        </p:txBody>
      </p:sp>
      <p:sp>
        <p:nvSpPr>
          <p:cNvPr id="33" name="文本框 32">
            <a:extLst>
              <a:ext uri="{FF2B5EF4-FFF2-40B4-BE49-F238E27FC236}">
                <a16:creationId xmlns:a16="http://schemas.microsoft.com/office/drawing/2014/main" id="{2B97C92B-E929-33C3-187D-A032B533C455}"/>
              </a:ext>
            </a:extLst>
          </p:cNvPr>
          <p:cNvSpPr txBox="1"/>
          <p:nvPr/>
        </p:nvSpPr>
        <p:spPr>
          <a:xfrm>
            <a:off x="6204628" y="4279791"/>
            <a:ext cx="5046471" cy="1064348"/>
          </a:xfrm>
          <a:prstGeom prst="rect">
            <a:avLst/>
          </a:prstGeom>
        </p:spPr>
        <p:txBody>
          <a:bodyPr>
            <a:noAutofit/>
          </a:bodyPr>
          <a:lstStyle/>
          <a:p>
            <a:pPr>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建立健全应用全生命周期管理机制，促进业务应用集成部署、统建统用、多跨融合，实现应用“一地创新、全市复用”。</a:t>
            </a:r>
          </a:p>
        </p:txBody>
      </p:sp>
      <p:grpSp>
        <p:nvGrpSpPr>
          <p:cNvPr id="34" name="组合 33">
            <a:extLst>
              <a:ext uri="{FF2B5EF4-FFF2-40B4-BE49-F238E27FC236}">
                <a16:creationId xmlns:a16="http://schemas.microsoft.com/office/drawing/2014/main" id="{761B086F-8CCF-A51B-604A-8BD2506C4648}"/>
              </a:ext>
            </a:extLst>
          </p:cNvPr>
          <p:cNvGrpSpPr/>
          <p:nvPr/>
        </p:nvGrpSpPr>
        <p:grpSpPr>
          <a:xfrm>
            <a:off x="6052118" y="5089075"/>
            <a:ext cx="2580684" cy="473537"/>
            <a:chOff x="873716" y="1894224"/>
            <a:chExt cx="2580684" cy="473537"/>
          </a:xfrm>
          <a:solidFill>
            <a:srgbClr val="0070C0"/>
          </a:solidFill>
        </p:grpSpPr>
        <p:sp>
          <p:nvSpPr>
            <p:cNvPr id="35" name="矩形: 圆角 34">
              <a:extLst>
                <a:ext uri="{FF2B5EF4-FFF2-40B4-BE49-F238E27FC236}">
                  <a16:creationId xmlns:a16="http://schemas.microsoft.com/office/drawing/2014/main" id="{C6009039-C342-241C-E965-6D92714CC385}"/>
                </a:ext>
              </a:extLst>
            </p:cNvPr>
            <p:cNvSpPr/>
            <p:nvPr/>
          </p:nvSpPr>
          <p:spPr>
            <a:xfrm>
              <a:off x="1084499" y="1906560"/>
              <a:ext cx="2369901" cy="459224"/>
            </a:xfrm>
            <a:prstGeom prst="round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渝快政</a:t>
              </a:r>
            </a:p>
          </p:txBody>
        </p:sp>
        <p:sp>
          <p:nvSpPr>
            <p:cNvPr id="36" name="椭圆 35">
              <a:extLst>
                <a:ext uri="{FF2B5EF4-FFF2-40B4-BE49-F238E27FC236}">
                  <a16:creationId xmlns:a16="http://schemas.microsoft.com/office/drawing/2014/main" id="{36082837-1702-45C8-BD2A-ACD3EA5872A9}"/>
                </a:ext>
              </a:extLst>
            </p:cNvPr>
            <p:cNvSpPr/>
            <p:nvPr/>
          </p:nvSpPr>
          <p:spPr>
            <a:xfrm>
              <a:off x="873716" y="1894224"/>
              <a:ext cx="473537" cy="473537"/>
            </a:xfrm>
            <a:prstGeom prst="ellipse">
              <a:avLst/>
            </a:prstGeom>
            <a:grpFill/>
            <a:ln w="222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微软雅黑" panose="020B0503020204020204" pitchFamily="34" charset="-122"/>
                  <a:ea typeface="微软雅黑" panose="020B0503020204020204" pitchFamily="34" charset="-122"/>
                </a:rPr>
                <a:t>6</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37" name="文本框 36">
            <a:extLst>
              <a:ext uri="{FF2B5EF4-FFF2-40B4-BE49-F238E27FC236}">
                <a16:creationId xmlns:a16="http://schemas.microsoft.com/office/drawing/2014/main" id="{AC08E76A-A619-6477-D422-482BA0C1E214}"/>
              </a:ext>
            </a:extLst>
          </p:cNvPr>
          <p:cNvSpPr txBox="1"/>
          <p:nvPr/>
        </p:nvSpPr>
        <p:spPr>
          <a:xfrm>
            <a:off x="8693614" y="5139294"/>
            <a:ext cx="1998913" cy="396044"/>
          </a:xfrm>
          <a:prstGeom prst="rect">
            <a:avLst/>
          </a:prstGeom>
        </p:spPr>
        <p:txBody>
          <a:bodyPr>
            <a:noAutofit/>
          </a:bodyPr>
          <a:lstStyle/>
          <a:p>
            <a:pPr>
              <a:lnSpc>
                <a:spcPts val="24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信息化推进处</a:t>
            </a:r>
          </a:p>
        </p:txBody>
      </p:sp>
      <p:sp>
        <p:nvSpPr>
          <p:cNvPr id="38" name="文本框 37">
            <a:extLst>
              <a:ext uri="{FF2B5EF4-FFF2-40B4-BE49-F238E27FC236}">
                <a16:creationId xmlns:a16="http://schemas.microsoft.com/office/drawing/2014/main" id="{DCFE8B61-BC67-9C86-9DF0-D975F78C978B}"/>
              </a:ext>
            </a:extLst>
          </p:cNvPr>
          <p:cNvSpPr txBox="1"/>
          <p:nvPr/>
        </p:nvSpPr>
        <p:spPr>
          <a:xfrm>
            <a:off x="6204628" y="5544360"/>
            <a:ext cx="5046471" cy="1064348"/>
          </a:xfrm>
          <a:prstGeom prst="rect">
            <a:avLst/>
          </a:prstGeom>
        </p:spPr>
        <p:txBody>
          <a:bodyPr>
            <a:noAutofit/>
          </a:bodyPr>
          <a:lstStyle/>
          <a:p>
            <a:pPr>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完善基础功能，深化协同功能，推动党政机关、企事业单位和人员，应上尽上，快速实现组织在线、人员在线、沟通在线，及时推进，业务在线，打造“掌上办公之城”。</a:t>
            </a:r>
          </a:p>
        </p:txBody>
      </p:sp>
      <p:sp>
        <p:nvSpPr>
          <p:cNvPr id="39" name="文本框 38">
            <a:extLst>
              <a:ext uri="{FF2B5EF4-FFF2-40B4-BE49-F238E27FC236}">
                <a16:creationId xmlns:a16="http://schemas.microsoft.com/office/drawing/2014/main" id="{30A18E48-7C4B-06A5-357B-C18E3694C866}"/>
              </a:ext>
            </a:extLst>
          </p:cNvPr>
          <p:cNvSpPr txBox="1"/>
          <p:nvPr/>
        </p:nvSpPr>
        <p:spPr>
          <a:xfrm>
            <a:off x="1084498" y="1653017"/>
            <a:ext cx="9924397" cy="792012"/>
          </a:xfrm>
          <a:prstGeom prst="rect">
            <a:avLst/>
          </a:prstGeom>
          <a:ln w="19050">
            <a:noFill/>
            <a:prstDash val="sysDot"/>
          </a:ln>
        </p:spPr>
        <p:txBody>
          <a:bodyPr wrap="square">
            <a:spAutoFit/>
          </a:bodyPr>
          <a:lstStyle/>
          <a:p>
            <a:pPr>
              <a:lnSpc>
                <a:spcPts val="2935"/>
              </a:lnSpc>
            </a:pPr>
            <a:r>
              <a:rPr lang="zh-CN" altLang="en-US" sz="1600" b="1" dirty="0">
                <a:solidFill>
                  <a:srgbClr val="0070C0"/>
                </a:solidFill>
                <a:latin typeface="微软雅黑" panose="020B0503020204020204" pitchFamily="34" charset="-122"/>
                <a:ea typeface="微软雅黑" panose="020B0503020204020204" pitchFamily="34" charset="-122"/>
              </a:rPr>
              <a:t>一体化智能化公共数据平台由市大数据发展局统筹建设，各业务处室分工负责（有关工作规范</a:t>
            </a:r>
            <a:r>
              <a:rPr lang="zh-CN" altLang="en-US" sz="1600" b="1" dirty="0">
                <a:solidFill>
                  <a:srgbClr val="0070C0"/>
                </a:solidFill>
                <a:latin typeface="微软雅黑" panose="020B0503020204020204" pitchFamily="34" charset="-122"/>
                <a:ea typeface="微软雅黑" panose="020B0503020204020204" pitchFamily="34" charset="-122"/>
                <a:sym typeface="+mn-ea"/>
              </a:rPr>
              <a:t>由业务处室制定后另行发布）</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66430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组合 53">
            <a:extLst>
              <a:ext uri="{FF2B5EF4-FFF2-40B4-BE49-F238E27FC236}">
                <a16:creationId xmlns:a16="http://schemas.microsoft.com/office/drawing/2014/main" id="{E0DD57FE-1A5A-22CC-05A8-652176BD7FFC}"/>
              </a:ext>
            </a:extLst>
          </p:cNvPr>
          <p:cNvGrpSpPr/>
          <p:nvPr/>
        </p:nvGrpSpPr>
        <p:grpSpPr>
          <a:xfrm>
            <a:off x="444322" y="1170274"/>
            <a:ext cx="11261898" cy="4419602"/>
            <a:chOff x="154413" y="1170274"/>
            <a:chExt cx="11853267" cy="4419602"/>
          </a:xfrm>
        </p:grpSpPr>
        <p:sp>
          <p:nvSpPr>
            <p:cNvPr id="2" name="圆角矩形 25">
              <a:extLst>
                <a:ext uri="{FF2B5EF4-FFF2-40B4-BE49-F238E27FC236}">
                  <a16:creationId xmlns:a16="http://schemas.microsoft.com/office/drawing/2014/main" id="{EE93C8EC-5628-EF4A-6DB0-6C94F44B1324}"/>
                </a:ext>
              </a:extLst>
            </p:cNvPr>
            <p:cNvSpPr/>
            <p:nvPr>
              <p:custDataLst>
                <p:tags r:id="rId3"/>
              </p:custDataLst>
            </p:nvPr>
          </p:nvSpPr>
          <p:spPr>
            <a:xfrm>
              <a:off x="6854297" y="5127595"/>
              <a:ext cx="3708400" cy="419100"/>
            </a:xfrm>
            <a:prstGeom prst="roundRect">
              <a:avLst/>
            </a:prstGeom>
            <a:solidFill>
              <a:schemeClr val="accent1">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noProof="1">
                <a:latin typeface="微软雅黑" panose="020B0503020204020204" pitchFamily="34" charset="-122"/>
                <a:ea typeface="微软雅黑" panose="020B0503020204020204" pitchFamily="34" charset="-122"/>
              </a:endParaRPr>
            </a:p>
          </p:txBody>
        </p:sp>
        <p:sp>
          <p:nvSpPr>
            <p:cNvPr id="3" name="圆角矩形 24">
              <a:extLst>
                <a:ext uri="{FF2B5EF4-FFF2-40B4-BE49-F238E27FC236}">
                  <a16:creationId xmlns:a16="http://schemas.microsoft.com/office/drawing/2014/main" id="{3AB9195E-CDE3-DD75-95F5-1031E3318E78}"/>
                </a:ext>
              </a:extLst>
            </p:cNvPr>
            <p:cNvSpPr/>
            <p:nvPr>
              <p:custDataLst>
                <p:tags r:id="rId4"/>
              </p:custDataLst>
            </p:nvPr>
          </p:nvSpPr>
          <p:spPr>
            <a:xfrm>
              <a:off x="1402189" y="5137120"/>
              <a:ext cx="5098415" cy="419100"/>
            </a:xfrm>
            <a:prstGeom prst="roundRect">
              <a:avLst/>
            </a:prstGeom>
            <a:solidFill>
              <a:schemeClr val="accent1">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noProof="1">
                <a:latin typeface="微软雅黑" panose="020B0503020204020204" pitchFamily="34" charset="-122"/>
                <a:ea typeface="微软雅黑" panose="020B0503020204020204" pitchFamily="34" charset="-122"/>
              </a:endParaRPr>
            </a:p>
          </p:txBody>
        </p:sp>
        <p:sp>
          <p:nvSpPr>
            <p:cNvPr id="4" name="圆角矩形 234">
              <a:extLst>
                <a:ext uri="{FF2B5EF4-FFF2-40B4-BE49-F238E27FC236}">
                  <a16:creationId xmlns:a16="http://schemas.microsoft.com/office/drawing/2014/main" id="{AB30B820-C85A-10FE-1F5B-60CF7C2F01AE}"/>
                </a:ext>
              </a:extLst>
            </p:cNvPr>
            <p:cNvSpPr/>
            <p:nvPr>
              <p:custDataLst>
                <p:tags r:id="rId5"/>
              </p:custDataLst>
            </p:nvPr>
          </p:nvSpPr>
          <p:spPr bwMode="auto">
            <a:xfrm>
              <a:off x="205848" y="1767174"/>
              <a:ext cx="9031605" cy="792480"/>
            </a:xfrm>
            <a:prstGeom prst="roundRect">
              <a:avLst>
                <a:gd name="adj" fmla="val 0"/>
              </a:avLst>
            </a:prstGeom>
            <a:no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endParaRPr lang="zh-CN" altLang="en-US" sz="1000" noProof="1">
                <a:solidFill>
                  <a:schemeClr val="tx1"/>
                </a:solidFill>
                <a:latin typeface="微软雅黑" panose="020B0503020204020204" pitchFamily="34" charset="-122"/>
                <a:ea typeface="微软雅黑" panose="020B0503020204020204" pitchFamily="34" charset="-122"/>
                <a:sym typeface="+mn-lt"/>
              </a:endParaRPr>
            </a:p>
          </p:txBody>
        </p:sp>
        <p:sp>
          <p:nvSpPr>
            <p:cNvPr id="5" name="圆角矩形 234">
              <a:extLst>
                <a:ext uri="{FF2B5EF4-FFF2-40B4-BE49-F238E27FC236}">
                  <a16:creationId xmlns:a16="http://schemas.microsoft.com/office/drawing/2014/main" id="{9A000D14-5C88-D6CB-C8CF-325368433E78}"/>
                </a:ext>
              </a:extLst>
            </p:cNvPr>
            <p:cNvSpPr/>
            <p:nvPr>
              <p:custDataLst>
                <p:tags r:id="rId6"/>
              </p:custDataLst>
            </p:nvPr>
          </p:nvSpPr>
          <p:spPr bwMode="auto">
            <a:xfrm>
              <a:off x="205848" y="1664305"/>
              <a:ext cx="10454005" cy="3925571"/>
            </a:xfrm>
            <a:prstGeom prst="roundRect">
              <a:avLst>
                <a:gd name="adj" fmla="val 0"/>
              </a:avLst>
            </a:prstGeom>
            <a:noFill/>
            <a:ln w="9525">
              <a:solidFill>
                <a:schemeClr val="accent5">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endParaRPr lang="zh-CN" altLang="en-US" sz="1000" noProof="1">
                <a:solidFill>
                  <a:schemeClr val="tx1"/>
                </a:solidFill>
                <a:latin typeface="微软雅黑" panose="020B0503020204020204" pitchFamily="34" charset="-122"/>
                <a:ea typeface="微软雅黑" panose="020B0503020204020204" pitchFamily="34" charset="-122"/>
                <a:sym typeface="+mn-lt"/>
              </a:endParaRPr>
            </a:p>
          </p:txBody>
        </p:sp>
        <p:sp>
          <p:nvSpPr>
            <p:cNvPr id="6" name="矩形 290">
              <a:extLst>
                <a:ext uri="{FF2B5EF4-FFF2-40B4-BE49-F238E27FC236}">
                  <a16:creationId xmlns:a16="http://schemas.microsoft.com/office/drawing/2014/main" id="{93A179C6-AEB1-E620-5CAD-3D04668C7A14}"/>
                </a:ext>
              </a:extLst>
            </p:cNvPr>
            <p:cNvSpPr/>
            <p:nvPr>
              <p:custDataLst>
                <p:tags r:id="rId7"/>
              </p:custDataLst>
            </p:nvPr>
          </p:nvSpPr>
          <p:spPr>
            <a:xfrm>
              <a:off x="4534960" y="3858404"/>
              <a:ext cx="1971675" cy="310341"/>
            </a:xfrm>
            <a:prstGeom prst="rect">
              <a:avLst/>
            </a:prstGeom>
            <a:noFill/>
            <a:ln w="9525">
              <a:noFill/>
            </a:ln>
          </p:spPr>
          <p:txBody>
            <a:bodyPr anchor="b" anchorCtr="0">
              <a:spAutoFit/>
            </a:bodyPr>
            <a:lstStyle/>
            <a:p>
              <a:pPr algn="ctr">
                <a:lnSpc>
                  <a:spcPts val="1735"/>
                </a:lnSpc>
              </a:pPr>
              <a:r>
                <a:rPr lang="zh-CN" altLang="en-US" sz="1600" b="1" dirty="0">
                  <a:solidFill>
                    <a:srgbClr val="C00000"/>
                  </a:solidFill>
                  <a:latin typeface="微软雅黑" panose="020B0503020204020204" pitchFamily="34" charset="-122"/>
                  <a:ea typeface="微软雅黑" panose="020B0503020204020204" pitchFamily="34" charset="-122"/>
                  <a:sym typeface="等线" panose="02010600030101010101" charset="-122"/>
                </a:rPr>
                <a:t>数据集成</a:t>
              </a:r>
            </a:p>
          </p:txBody>
        </p:sp>
        <p:sp>
          <p:nvSpPr>
            <p:cNvPr id="7" name="圆角矩形 234">
              <a:extLst>
                <a:ext uri="{FF2B5EF4-FFF2-40B4-BE49-F238E27FC236}">
                  <a16:creationId xmlns:a16="http://schemas.microsoft.com/office/drawing/2014/main" id="{0C75F848-9E9D-5CFE-B9D7-ABC65AC8FF91}"/>
                </a:ext>
              </a:extLst>
            </p:cNvPr>
            <p:cNvSpPr/>
            <p:nvPr>
              <p:custDataLst>
                <p:tags r:id="rId8"/>
              </p:custDataLst>
            </p:nvPr>
          </p:nvSpPr>
          <p:spPr bwMode="auto">
            <a:xfrm>
              <a:off x="1364723" y="3823940"/>
              <a:ext cx="9226551" cy="835660"/>
            </a:xfrm>
            <a:prstGeom prst="roundRect">
              <a:avLst>
                <a:gd name="adj" fmla="val 2542"/>
              </a:avLst>
            </a:prstGeom>
            <a:noFill/>
            <a:ln w="12700">
              <a:solidFill>
                <a:schemeClr val="accent5">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400" b="1" noProof="1">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 name="矩形 290">
              <a:extLst>
                <a:ext uri="{FF2B5EF4-FFF2-40B4-BE49-F238E27FC236}">
                  <a16:creationId xmlns:a16="http://schemas.microsoft.com/office/drawing/2014/main" id="{134AA1F8-C5FF-8A90-21E1-83E1B062EAA4}"/>
                </a:ext>
              </a:extLst>
            </p:cNvPr>
            <p:cNvSpPr/>
            <p:nvPr>
              <p:custDataLst>
                <p:tags r:id="rId9"/>
              </p:custDataLst>
            </p:nvPr>
          </p:nvSpPr>
          <p:spPr>
            <a:xfrm>
              <a:off x="4326998" y="4888691"/>
              <a:ext cx="2536825" cy="310341"/>
            </a:xfrm>
            <a:prstGeom prst="rect">
              <a:avLst/>
            </a:prstGeom>
            <a:noFill/>
            <a:ln w="9525">
              <a:noFill/>
            </a:ln>
          </p:spPr>
          <p:txBody>
            <a:bodyPr anchor="b" anchorCtr="0">
              <a:spAutoFit/>
            </a:bodyPr>
            <a:lstStyle/>
            <a:p>
              <a:pPr algn="ctr">
                <a:lnSpc>
                  <a:spcPts val="1735"/>
                </a:lnSpc>
              </a:pPr>
              <a:r>
                <a:rPr lang="zh-CN" altLang="en-US" sz="1600" b="1" dirty="0">
                  <a:solidFill>
                    <a:srgbClr val="C00000"/>
                  </a:solidFill>
                  <a:latin typeface="微软雅黑" panose="020B0503020204020204" pitchFamily="34" charset="-122"/>
                  <a:ea typeface="微软雅黑" panose="020B0503020204020204" pitchFamily="34" charset="-122"/>
                  <a:sym typeface="等线" panose="02010600030101010101" charset="-122"/>
                </a:rPr>
                <a:t>算力集成</a:t>
              </a:r>
              <a:r>
                <a:rPr lang="en-US" altLang="zh-CN" sz="1600" b="1" dirty="0">
                  <a:solidFill>
                    <a:srgbClr val="C00000"/>
                  </a:solidFill>
                  <a:latin typeface="微软雅黑" panose="020B0503020204020204" pitchFamily="34" charset="-122"/>
                  <a:ea typeface="微软雅黑" panose="020B0503020204020204" pitchFamily="34" charset="-122"/>
                  <a:sym typeface="等线" panose="02010600030101010101" charset="-122"/>
                </a:rPr>
                <a:t>+</a:t>
              </a:r>
              <a:r>
                <a:rPr lang="zh-CN" altLang="en-US" sz="1600" b="1" dirty="0">
                  <a:solidFill>
                    <a:srgbClr val="C00000"/>
                  </a:solidFill>
                  <a:latin typeface="微软雅黑" panose="020B0503020204020204" pitchFamily="34" charset="-122"/>
                  <a:ea typeface="微软雅黑" panose="020B0503020204020204" pitchFamily="34" charset="-122"/>
                  <a:sym typeface="等线" panose="02010600030101010101" charset="-122"/>
                </a:rPr>
                <a:t>网络集成</a:t>
              </a:r>
            </a:p>
          </p:txBody>
        </p:sp>
        <p:sp>
          <p:nvSpPr>
            <p:cNvPr id="9" name="圆角矩形 234">
              <a:extLst>
                <a:ext uri="{FF2B5EF4-FFF2-40B4-BE49-F238E27FC236}">
                  <a16:creationId xmlns:a16="http://schemas.microsoft.com/office/drawing/2014/main" id="{077C1CE6-CE20-D2CE-CD6F-FF2D69EAC832}"/>
                </a:ext>
              </a:extLst>
            </p:cNvPr>
            <p:cNvSpPr/>
            <p:nvPr>
              <p:custDataLst>
                <p:tags r:id="rId10"/>
              </p:custDataLst>
            </p:nvPr>
          </p:nvSpPr>
          <p:spPr bwMode="auto">
            <a:xfrm>
              <a:off x="1352023" y="4862482"/>
              <a:ext cx="9226551" cy="727075"/>
            </a:xfrm>
            <a:prstGeom prst="roundRect">
              <a:avLst>
                <a:gd name="adj" fmla="val 2542"/>
              </a:avLst>
            </a:prstGeom>
            <a:noFill/>
            <a:ln w="12700">
              <a:solidFill>
                <a:schemeClr val="accent5">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400" b="1" noProof="1">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矩形 290">
              <a:extLst>
                <a:ext uri="{FF2B5EF4-FFF2-40B4-BE49-F238E27FC236}">
                  <a16:creationId xmlns:a16="http://schemas.microsoft.com/office/drawing/2014/main" id="{922544B8-2010-1461-C2C9-6CD4A0B05A47}"/>
                </a:ext>
              </a:extLst>
            </p:cNvPr>
            <p:cNvSpPr/>
            <p:nvPr>
              <p:custDataLst>
                <p:tags r:id="rId11"/>
              </p:custDataLst>
            </p:nvPr>
          </p:nvSpPr>
          <p:spPr>
            <a:xfrm>
              <a:off x="4207936" y="2899553"/>
              <a:ext cx="2562225" cy="310341"/>
            </a:xfrm>
            <a:prstGeom prst="rect">
              <a:avLst/>
            </a:prstGeom>
            <a:noFill/>
            <a:ln w="9525">
              <a:noFill/>
            </a:ln>
          </p:spPr>
          <p:txBody>
            <a:bodyPr anchor="b" anchorCtr="0">
              <a:spAutoFit/>
            </a:bodyPr>
            <a:lstStyle/>
            <a:p>
              <a:pPr algn="ctr">
                <a:lnSpc>
                  <a:spcPts val="1735"/>
                </a:lnSpc>
              </a:pPr>
              <a:r>
                <a:rPr lang="zh-CN" altLang="en-US" sz="1600" b="1" dirty="0">
                  <a:solidFill>
                    <a:srgbClr val="C00000"/>
                  </a:solidFill>
                  <a:latin typeface="微软雅黑" panose="020B0503020204020204" pitchFamily="34" charset="-122"/>
                  <a:ea typeface="微软雅黑" panose="020B0503020204020204" pitchFamily="34" charset="-122"/>
                  <a:sym typeface="等线" panose="02010600030101010101" charset="-122"/>
                </a:rPr>
                <a:t>算法、模型、工具集成</a:t>
              </a:r>
            </a:p>
          </p:txBody>
        </p:sp>
        <p:sp>
          <p:nvSpPr>
            <p:cNvPr id="11" name="圆角矩形 234">
              <a:extLst>
                <a:ext uri="{FF2B5EF4-FFF2-40B4-BE49-F238E27FC236}">
                  <a16:creationId xmlns:a16="http://schemas.microsoft.com/office/drawing/2014/main" id="{83D94DC7-E810-30BC-7DBD-75A2A0825423}"/>
                </a:ext>
              </a:extLst>
            </p:cNvPr>
            <p:cNvSpPr/>
            <p:nvPr>
              <p:custDataLst>
                <p:tags r:id="rId12"/>
              </p:custDataLst>
            </p:nvPr>
          </p:nvSpPr>
          <p:spPr bwMode="auto">
            <a:xfrm>
              <a:off x="1345672" y="2857469"/>
              <a:ext cx="9224963" cy="547688"/>
            </a:xfrm>
            <a:prstGeom prst="roundRect">
              <a:avLst>
                <a:gd name="adj" fmla="val 2542"/>
              </a:avLst>
            </a:prstGeom>
            <a:noFill/>
            <a:ln w="12700">
              <a:solidFill>
                <a:schemeClr val="accent5">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400" b="1" noProof="1">
                <a:solidFill>
                  <a:schemeClr val="tx1"/>
                </a:solidFill>
                <a:latin typeface="微软雅黑" panose="020B0503020204020204" pitchFamily="34" charset="-122"/>
                <a:ea typeface="微软雅黑" panose="020B0503020204020204" pitchFamily="34" charset="-122"/>
                <a:cs typeface="+mn-ea"/>
                <a:sym typeface="+mn-lt"/>
              </a:endParaRPr>
            </a:p>
          </p:txBody>
        </p:sp>
        <p:grpSp>
          <p:nvGrpSpPr>
            <p:cNvPr id="12" name="组合 49">
              <a:extLst>
                <a:ext uri="{FF2B5EF4-FFF2-40B4-BE49-F238E27FC236}">
                  <a16:creationId xmlns:a16="http://schemas.microsoft.com/office/drawing/2014/main" id="{5A86AF7D-9CF0-D39A-9298-0A6E88FB0DFE}"/>
                </a:ext>
              </a:extLst>
            </p:cNvPr>
            <p:cNvGrpSpPr/>
            <p:nvPr/>
          </p:nvGrpSpPr>
          <p:grpSpPr>
            <a:xfrm>
              <a:off x="10711891" y="1170274"/>
              <a:ext cx="1295789" cy="4408171"/>
              <a:chOff x="10220316" y="821754"/>
              <a:chExt cx="1257259" cy="5988000"/>
            </a:xfrm>
            <a:solidFill>
              <a:schemeClr val="accent1">
                <a:lumMod val="40000"/>
                <a:lumOff val="60000"/>
              </a:schemeClr>
            </a:solidFill>
          </p:grpSpPr>
          <p:sp>
            <p:nvSpPr>
              <p:cNvPr id="13" name="圆角矩形 320">
                <a:extLst>
                  <a:ext uri="{FF2B5EF4-FFF2-40B4-BE49-F238E27FC236}">
                    <a16:creationId xmlns:a16="http://schemas.microsoft.com/office/drawing/2014/main" id="{DBB3F172-94D6-FFF4-591A-972789B3B986}"/>
                  </a:ext>
                </a:extLst>
              </p:cNvPr>
              <p:cNvSpPr/>
              <p:nvPr>
                <p:custDataLst>
                  <p:tags r:id="rId48"/>
                </p:custDataLst>
              </p:nvPr>
            </p:nvSpPr>
            <p:spPr bwMode="auto">
              <a:xfrm>
                <a:off x="10220316" y="822617"/>
                <a:ext cx="271091" cy="5987137"/>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eaVert"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200" b="1" spc="800" noProof="1">
                    <a:solidFill>
                      <a:schemeClr val="tx1">
                        <a:lumMod val="85000"/>
                        <a:lumOff val="15000"/>
                      </a:schemeClr>
                    </a:solidFill>
                    <a:latin typeface="微软雅黑" panose="020B0503020204020204" pitchFamily="34" charset="-122"/>
                    <a:cs typeface="Times New Roman" panose="02020603050405020304" pitchFamily="18" charset="0"/>
                    <a:sym typeface="+mn-ea"/>
                  </a:rPr>
                  <a:t>标准规范体系</a:t>
                </a:r>
                <a:endParaRPr lang="zh-CN" altLang="en-US" sz="1200" b="1" spc="800" noProof="1">
                  <a:solidFill>
                    <a:schemeClr val="tx1">
                      <a:lumMod val="85000"/>
                      <a:lumOff val="15000"/>
                    </a:schemeClr>
                  </a:solidFill>
                  <a:latin typeface="微软雅黑" panose="020B0503020204020204" pitchFamily="34" charset="-122"/>
                  <a:cs typeface="Times New Roman" panose="02020603050405020304" pitchFamily="18" charset="0"/>
                </a:endParaRPr>
              </a:p>
            </p:txBody>
          </p:sp>
          <p:sp>
            <p:nvSpPr>
              <p:cNvPr id="14" name="圆角矩形 320">
                <a:extLst>
                  <a:ext uri="{FF2B5EF4-FFF2-40B4-BE49-F238E27FC236}">
                    <a16:creationId xmlns:a16="http://schemas.microsoft.com/office/drawing/2014/main" id="{BAC3E04B-A26E-C0DF-7191-195270D46AEF}"/>
                  </a:ext>
                </a:extLst>
              </p:cNvPr>
              <p:cNvSpPr/>
              <p:nvPr>
                <p:custDataLst>
                  <p:tags r:id="rId49"/>
                </p:custDataLst>
              </p:nvPr>
            </p:nvSpPr>
            <p:spPr bwMode="auto">
              <a:xfrm>
                <a:off x="10535413" y="821754"/>
                <a:ext cx="258842" cy="5980082"/>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eaVert"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200" b="1" spc="800" noProof="1">
                    <a:solidFill>
                      <a:schemeClr val="tx1">
                        <a:lumMod val="85000"/>
                        <a:lumOff val="15000"/>
                      </a:schemeClr>
                    </a:solidFill>
                    <a:latin typeface="微软雅黑" panose="020B0503020204020204" pitchFamily="34" charset="-122"/>
                    <a:cs typeface="Times New Roman" panose="02020603050405020304" pitchFamily="18" charset="0"/>
                    <a:sym typeface="+mn-ea"/>
                  </a:rPr>
                  <a:t>制度规则体系</a:t>
                </a:r>
                <a:endParaRPr lang="zh-CN" altLang="en-US" sz="1200" b="1" spc="800" noProof="1">
                  <a:solidFill>
                    <a:schemeClr val="tx1">
                      <a:lumMod val="85000"/>
                      <a:lumOff val="15000"/>
                    </a:schemeClr>
                  </a:solidFill>
                  <a:latin typeface="微软雅黑" panose="020B0503020204020204" pitchFamily="34" charset="-122"/>
                  <a:cs typeface="Times New Roman" panose="02020603050405020304" pitchFamily="18" charset="0"/>
                </a:endParaRPr>
              </a:p>
            </p:txBody>
          </p:sp>
          <p:sp>
            <p:nvSpPr>
              <p:cNvPr id="15" name="圆角矩形 320">
                <a:extLst>
                  <a:ext uri="{FF2B5EF4-FFF2-40B4-BE49-F238E27FC236}">
                    <a16:creationId xmlns:a16="http://schemas.microsoft.com/office/drawing/2014/main" id="{0F4597BB-589F-6797-4FD1-671F4FC44867}"/>
                  </a:ext>
                </a:extLst>
              </p:cNvPr>
              <p:cNvSpPr/>
              <p:nvPr>
                <p:custDataLst>
                  <p:tags r:id="rId50"/>
                </p:custDataLst>
              </p:nvPr>
            </p:nvSpPr>
            <p:spPr bwMode="auto">
              <a:xfrm>
                <a:off x="10849967" y="821754"/>
                <a:ext cx="283414" cy="5980237"/>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eaVert"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200" b="1" spc="800" noProof="1">
                    <a:solidFill>
                      <a:schemeClr val="tx1">
                        <a:lumMod val="85000"/>
                        <a:lumOff val="15000"/>
                      </a:schemeClr>
                    </a:solidFill>
                    <a:latin typeface="微软雅黑" panose="020B0503020204020204" pitchFamily="34" charset="-122"/>
                    <a:cs typeface="Times New Roman" panose="02020603050405020304" pitchFamily="18" charset="0"/>
                    <a:sym typeface="+mn-ea"/>
                  </a:rPr>
                  <a:t>安全防护体系</a:t>
                </a:r>
                <a:endParaRPr lang="zh-CN" altLang="en-US" sz="1200" b="1" spc="800" noProof="1">
                  <a:solidFill>
                    <a:schemeClr val="tx1">
                      <a:lumMod val="85000"/>
                      <a:lumOff val="15000"/>
                    </a:schemeClr>
                  </a:solidFill>
                  <a:latin typeface="微软雅黑" panose="020B0503020204020204" pitchFamily="34" charset="-122"/>
                  <a:cs typeface="Times New Roman" panose="02020603050405020304" pitchFamily="18" charset="0"/>
                </a:endParaRPr>
              </a:p>
            </p:txBody>
          </p:sp>
          <p:sp>
            <p:nvSpPr>
              <p:cNvPr id="16" name="圆角矩形 320">
                <a:extLst>
                  <a:ext uri="{FF2B5EF4-FFF2-40B4-BE49-F238E27FC236}">
                    <a16:creationId xmlns:a16="http://schemas.microsoft.com/office/drawing/2014/main" id="{C6D764D4-9137-C190-56CE-9ACF109FB2DA}"/>
                  </a:ext>
                </a:extLst>
              </p:cNvPr>
              <p:cNvSpPr/>
              <p:nvPr>
                <p:custDataLst>
                  <p:tags r:id="rId51"/>
                </p:custDataLst>
              </p:nvPr>
            </p:nvSpPr>
            <p:spPr bwMode="auto">
              <a:xfrm>
                <a:off x="11182455" y="834693"/>
                <a:ext cx="295120" cy="5960398"/>
              </a:xfrm>
              <a:prstGeom prst="roundRect">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eaVert"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200" b="1" spc="800" noProof="1">
                    <a:solidFill>
                      <a:schemeClr val="tx1">
                        <a:lumMod val="85000"/>
                        <a:lumOff val="15000"/>
                      </a:schemeClr>
                    </a:solidFill>
                    <a:latin typeface="微软雅黑" panose="020B0503020204020204" pitchFamily="34" charset="-122"/>
                    <a:cs typeface="Times New Roman" panose="02020603050405020304" pitchFamily="18" charset="0"/>
                    <a:sym typeface="+mn-ea"/>
                  </a:rPr>
                  <a:t>工作推进体系</a:t>
                </a:r>
                <a:endParaRPr lang="zh-CN" altLang="en-US" sz="1200" b="1" spc="800" noProof="1">
                  <a:solidFill>
                    <a:schemeClr val="tx1">
                      <a:lumMod val="85000"/>
                      <a:lumOff val="15000"/>
                    </a:schemeClr>
                  </a:solidFill>
                  <a:latin typeface="微软雅黑" panose="020B0503020204020204" pitchFamily="34" charset="-122"/>
                  <a:cs typeface="Times New Roman" panose="02020603050405020304" pitchFamily="18" charset="0"/>
                </a:endParaRPr>
              </a:p>
            </p:txBody>
          </p:sp>
        </p:grpSp>
        <p:sp>
          <p:nvSpPr>
            <p:cNvPr id="17" name="圆角矩形 320">
              <a:extLst>
                <a:ext uri="{FF2B5EF4-FFF2-40B4-BE49-F238E27FC236}">
                  <a16:creationId xmlns:a16="http://schemas.microsoft.com/office/drawing/2014/main" id="{71350A5A-E9D9-6670-91C9-E04C6B420184}"/>
                </a:ext>
              </a:extLst>
            </p:cNvPr>
            <p:cNvSpPr/>
            <p:nvPr>
              <p:custDataLst>
                <p:tags r:id="rId13"/>
              </p:custDataLst>
            </p:nvPr>
          </p:nvSpPr>
          <p:spPr bwMode="auto">
            <a:xfrm>
              <a:off x="1345672" y="2158969"/>
              <a:ext cx="9224963" cy="358775"/>
            </a:xfrm>
            <a:prstGeom prst="roundRect">
              <a:avLst>
                <a:gd name="adj" fmla="val 9126"/>
              </a:avLst>
            </a:prstGeom>
            <a:solidFill>
              <a:schemeClr val="bg1"/>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endParaRPr lang="zh-CN" altLang="en-US" sz="900" noProof="1">
                <a:latin typeface="微软雅黑" panose="020B0503020204020204" pitchFamily="34" charset="-122"/>
                <a:cs typeface="Times New Roman" panose="02020603050405020304" pitchFamily="18" charset="0"/>
              </a:endParaRPr>
            </a:p>
          </p:txBody>
        </p:sp>
        <p:sp>
          <p:nvSpPr>
            <p:cNvPr id="18" name="圆角矩形 320">
              <a:extLst>
                <a:ext uri="{FF2B5EF4-FFF2-40B4-BE49-F238E27FC236}">
                  <a16:creationId xmlns:a16="http://schemas.microsoft.com/office/drawing/2014/main" id="{46092E28-EC19-C249-92B1-C296B3BD430C}"/>
                </a:ext>
              </a:extLst>
            </p:cNvPr>
            <p:cNvSpPr/>
            <p:nvPr>
              <p:custDataLst>
                <p:tags r:id="rId14"/>
              </p:custDataLst>
            </p:nvPr>
          </p:nvSpPr>
          <p:spPr bwMode="auto">
            <a:xfrm>
              <a:off x="7284405" y="4454494"/>
              <a:ext cx="3285913" cy="269240"/>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200" b="1" noProof="1">
                  <a:latin typeface="微软雅黑" panose="020B0503020204020204" pitchFamily="34" charset="-122"/>
                  <a:cs typeface="Times New Roman" panose="02020603050405020304" pitchFamily="18" charset="0"/>
                </a:rPr>
                <a:t>数据仓</a:t>
              </a:r>
              <a:r>
                <a:rPr lang="zh-CN" altLang="en-US" sz="1200" noProof="1">
                  <a:latin typeface="微软雅黑" panose="020B0503020204020204" pitchFamily="34" charset="-122"/>
                  <a:cs typeface="Times New Roman" panose="02020603050405020304" pitchFamily="18" charset="0"/>
                </a:rPr>
                <a:t>（市数仓、公共数仓、部门数仓）</a:t>
              </a:r>
            </a:p>
          </p:txBody>
        </p:sp>
        <p:sp>
          <p:nvSpPr>
            <p:cNvPr id="19" name="文本框 461">
              <a:extLst>
                <a:ext uri="{FF2B5EF4-FFF2-40B4-BE49-F238E27FC236}">
                  <a16:creationId xmlns:a16="http://schemas.microsoft.com/office/drawing/2014/main" id="{7E3201DB-6A35-9A05-14AD-EEF26932CEBB}"/>
                </a:ext>
              </a:extLst>
            </p:cNvPr>
            <p:cNvSpPr txBox="1"/>
            <p:nvPr>
              <p:custDataLst>
                <p:tags r:id="rId15"/>
              </p:custDataLst>
            </p:nvPr>
          </p:nvSpPr>
          <p:spPr>
            <a:xfrm>
              <a:off x="10140423" y="4855602"/>
              <a:ext cx="422275" cy="246221"/>
            </a:xfrm>
            <a:prstGeom prst="rect">
              <a:avLst/>
            </a:prstGeom>
            <a:noFill/>
            <a:ln w="6350">
              <a:noFill/>
            </a:ln>
          </p:spPr>
          <p:txBody>
            <a:bodyPr anchor="t" anchorCtr="0">
              <a:spAutoFit/>
            </a:bodyPr>
            <a:lstStyle/>
            <a:p>
              <a:pPr algn="ctr"/>
              <a:r>
                <a:rPr lang="en-US" altLang="zh-CN" sz="1000">
                  <a:latin typeface="微软雅黑" panose="020B0503020204020204" pitchFamily="34" charset="-122"/>
                  <a:ea typeface="微软雅黑" panose="020B0503020204020204" pitchFamily="34" charset="-122"/>
                </a:rPr>
                <a:t>……</a:t>
              </a:r>
            </a:p>
          </p:txBody>
        </p:sp>
        <p:sp>
          <p:nvSpPr>
            <p:cNvPr id="20" name="圆角矩形 320">
              <a:extLst>
                <a:ext uri="{FF2B5EF4-FFF2-40B4-BE49-F238E27FC236}">
                  <a16:creationId xmlns:a16="http://schemas.microsoft.com/office/drawing/2014/main" id="{CA0B67EE-AF5D-7CA8-42FA-616D6AC1E32E}"/>
                </a:ext>
              </a:extLst>
            </p:cNvPr>
            <p:cNvSpPr/>
            <p:nvPr>
              <p:custDataLst>
                <p:tags r:id="rId16"/>
              </p:custDataLst>
            </p:nvPr>
          </p:nvSpPr>
          <p:spPr bwMode="auto">
            <a:xfrm>
              <a:off x="1621898" y="5245069"/>
              <a:ext cx="1476375" cy="284163"/>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noProof="1">
                  <a:latin typeface="微软雅黑" panose="020B0503020204020204" pitchFamily="34" charset="-122"/>
                  <a:cs typeface="Times New Roman" panose="02020603050405020304" pitchFamily="18" charset="0"/>
                </a:rPr>
                <a:t>一朵云</a:t>
              </a:r>
            </a:p>
          </p:txBody>
        </p:sp>
        <p:sp>
          <p:nvSpPr>
            <p:cNvPr id="21" name="圆角矩形 320">
              <a:extLst>
                <a:ext uri="{FF2B5EF4-FFF2-40B4-BE49-F238E27FC236}">
                  <a16:creationId xmlns:a16="http://schemas.microsoft.com/office/drawing/2014/main" id="{8B2A02AF-08EA-1FBF-0D7E-667381DB0090}"/>
                </a:ext>
              </a:extLst>
            </p:cNvPr>
            <p:cNvSpPr/>
            <p:nvPr>
              <p:custDataLst>
                <p:tags r:id="rId17"/>
              </p:custDataLst>
            </p:nvPr>
          </p:nvSpPr>
          <p:spPr bwMode="auto">
            <a:xfrm>
              <a:off x="3218924" y="5245069"/>
              <a:ext cx="1520825" cy="284163"/>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noProof="1">
                  <a:latin typeface="微软雅黑" panose="020B0503020204020204" pitchFamily="34" charset="-122"/>
                  <a:cs typeface="Times New Roman" panose="02020603050405020304" pitchFamily="18" charset="0"/>
                </a:rPr>
                <a:t>政务外网</a:t>
              </a:r>
            </a:p>
          </p:txBody>
        </p:sp>
        <p:sp>
          <p:nvSpPr>
            <p:cNvPr id="22" name="圆角矩形 320">
              <a:extLst>
                <a:ext uri="{FF2B5EF4-FFF2-40B4-BE49-F238E27FC236}">
                  <a16:creationId xmlns:a16="http://schemas.microsoft.com/office/drawing/2014/main" id="{5F4A4776-0475-8938-8E9D-56905A037B0C}"/>
                </a:ext>
              </a:extLst>
            </p:cNvPr>
            <p:cNvSpPr/>
            <p:nvPr>
              <p:custDataLst>
                <p:tags r:id="rId18"/>
              </p:custDataLst>
            </p:nvPr>
          </p:nvSpPr>
          <p:spPr bwMode="auto">
            <a:xfrm>
              <a:off x="7063848" y="5219669"/>
              <a:ext cx="1362075" cy="285751"/>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noProof="1">
                  <a:latin typeface="微软雅黑" panose="020B0503020204020204" pitchFamily="34" charset="-122"/>
                  <a:cs typeface="Times New Roman" panose="02020603050405020304" pitchFamily="18" charset="0"/>
                  <a:sym typeface="+mn-ea"/>
                </a:rPr>
                <a:t>政务内网</a:t>
              </a:r>
            </a:p>
          </p:txBody>
        </p:sp>
        <p:sp>
          <p:nvSpPr>
            <p:cNvPr id="23" name="圆角矩形 320">
              <a:extLst>
                <a:ext uri="{FF2B5EF4-FFF2-40B4-BE49-F238E27FC236}">
                  <a16:creationId xmlns:a16="http://schemas.microsoft.com/office/drawing/2014/main" id="{FD94A082-A176-1382-A091-BCBBBD25B1AB}"/>
                </a:ext>
              </a:extLst>
            </p:cNvPr>
            <p:cNvSpPr/>
            <p:nvPr>
              <p:custDataLst>
                <p:tags r:id="rId19"/>
              </p:custDataLst>
            </p:nvPr>
          </p:nvSpPr>
          <p:spPr bwMode="auto">
            <a:xfrm>
              <a:off x="8781523" y="5219669"/>
              <a:ext cx="1362075" cy="285751"/>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noProof="1">
                  <a:latin typeface="微软雅黑" panose="020B0503020204020204" pitchFamily="34" charset="-122"/>
                  <a:cs typeface="Times New Roman" panose="02020603050405020304" pitchFamily="18" charset="0"/>
                  <a:sym typeface="+mn-ea"/>
                </a:rPr>
                <a:t>互联网</a:t>
              </a:r>
            </a:p>
          </p:txBody>
        </p:sp>
        <p:sp>
          <p:nvSpPr>
            <p:cNvPr id="24" name="圆角矩形 320">
              <a:extLst>
                <a:ext uri="{FF2B5EF4-FFF2-40B4-BE49-F238E27FC236}">
                  <a16:creationId xmlns:a16="http://schemas.microsoft.com/office/drawing/2014/main" id="{8841E335-31FD-0426-406D-282EB94D9576}"/>
                </a:ext>
              </a:extLst>
            </p:cNvPr>
            <p:cNvSpPr/>
            <p:nvPr>
              <p:custDataLst>
                <p:tags r:id="rId20"/>
              </p:custDataLst>
            </p:nvPr>
          </p:nvSpPr>
          <p:spPr bwMode="auto">
            <a:xfrm>
              <a:off x="4906436" y="5245069"/>
              <a:ext cx="1481139" cy="284163"/>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lvl="0" algn="ctr" fontAlgn="base">
                <a:buClrTx/>
                <a:buSzTx/>
                <a:buFontTx/>
              </a:pPr>
              <a:r>
                <a:rPr lang="zh-CN" altLang="en-US" sz="1600" noProof="1">
                  <a:latin typeface="微软雅黑" panose="020B0503020204020204" pitchFamily="34" charset="-122"/>
                  <a:cs typeface="Times New Roman" panose="02020603050405020304" pitchFamily="18" charset="0"/>
                  <a:sym typeface="+mn-ea"/>
                </a:rPr>
                <a:t>视联网</a:t>
              </a:r>
            </a:p>
          </p:txBody>
        </p:sp>
        <p:sp>
          <p:nvSpPr>
            <p:cNvPr id="25" name="文本框 91">
              <a:extLst>
                <a:ext uri="{FF2B5EF4-FFF2-40B4-BE49-F238E27FC236}">
                  <a16:creationId xmlns:a16="http://schemas.microsoft.com/office/drawing/2014/main" id="{2B11B2E6-6BD1-3D88-2E9B-52FA36E94CE2}"/>
                </a:ext>
              </a:extLst>
            </p:cNvPr>
            <p:cNvSpPr txBox="1"/>
            <p:nvPr>
              <p:custDataLst>
                <p:tags r:id="rId21"/>
              </p:custDataLst>
            </p:nvPr>
          </p:nvSpPr>
          <p:spPr>
            <a:xfrm>
              <a:off x="4189204" y="2216120"/>
              <a:ext cx="3308985" cy="338554"/>
            </a:xfrm>
            <a:prstGeom prst="rect">
              <a:avLst/>
            </a:prstGeom>
            <a:noFill/>
            <a:ln w="9525">
              <a:noFill/>
            </a:ln>
          </p:spPr>
          <p:txBody>
            <a:bodyPr wrap="square" anchor="t" anchorCtr="0">
              <a:spAutoFit/>
            </a:bodyPr>
            <a:lstStyle/>
            <a:p>
              <a:r>
                <a:rPr lang="zh-CN" altLang="en-US" sz="1600" b="1" dirty="0">
                  <a:latin typeface="微软雅黑" panose="020B0503020204020204" pitchFamily="34" charset="-122"/>
                  <a:ea typeface="微软雅黑" panose="020B0503020204020204" pitchFamily="34" charset="-122"/>
                  <a:sym typeface="黑体" panose="02010609060101010101" charset="-122"/>
                </a:rPr>
                <a:t>一体化数字资源系统（</a:t>
              </a:r>
              <a:r>
                <a:rPr lang="en-US" altLang="zh-CN" sz="1600" b="1" dirty="0">
                  <a:latin typeface="微软雅黑" panose="020B0503020204020204" pitchFamily="34" charset="-122"/>
                  <a:ea typeface="微软雅黑" panose="020B0503020204020204" pitchFamily="34" charset="-122"/>
                  <a:sym typeface="黑体" panose="02010609060101010101" charset="-122"/>
                </a:rPr>
                <a:t>IRS</a:t>
              </a:r>
              <a:r>
                <a:rPr lang="zh-CN" altLang="en-US" sz="1600" b="1" dirty="0">
                  <a:latin typeface="微软雅黑" panose="020B0503020204020204" pitchFamily="34" charset="-122"/>
                  <a:ea typeface="微软雅黑" panose="020B0503020204020204" pitchFamily="34" charset="-122"/>
                  <a:sym typeface="黑体" panose="02010609060101010101" charset="-122"/>
                </a:rPr>
                <a:t>）</a:t>
              </a:r>
            </a:p>
          </p:txBody>
        </p:sp>
        <p:sp>
          <p:nvSpPr>
            <p:cNvPr id="26" name="圆角矩形 320">
              <a:extLst>
                <a:ext uri="{FF2B5EF4-FFF2-40B4-BE49-F238E27FC236}">
                  <a16:creationId xmlns:a16="http://schemas.microsoft.com/office/drawing/2014/main" id="{C1F0F37B-F810-9BB9-E7AE-EDC7B5810053}"/>
                </a:ext>
              </a:extLst>
            </p:cNvPr>
            <p:cNvSpPr/>
            <p:nvPr>
              <p:custDataLst>
                <p:tags r:id="rId22"/>
              </p:custDataLst>
            </p:nvPr>
          </p:nvSpPr>
          <p:spPr bwMode="auto">
            <a:xfrm>
              <a:off x="1401553" y="3210529"/>
              <a:ext cx="5793105" cy="335915"/>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400" b="1" noProof="1">
                  <a:latin typeface="微软雅黑" panose="020B0503020204020204" pitchFamily="34" charset="-122"/>
                  <a:cs typeface="Times New Roman" panose="02020603050405020304" pitchFamily="18" charset="0"/>
                </a:rPr>
                <a:t>统一类</a:t>
              </a:r>
              <a:r>
                <a:rPr lang="zh-CN" altLang="en-US" sz="1400" noProof="1">
                  <a:latin typeface="微软雅黑" panose="020B0503020204020204" pitchFamily="34" charset="-122"/>
                  <a:cs typeface="Times New Roman" panose="02020603050405020304" pitchFamily="18" charset="0"/>
                </a:rPr>
                <a:t>（</a:t>
              </a:r>
              <a:r>
                <a:rPr lang="zh-CN" altLang="en-US" sz="1400" noProof="1">
                  <a:solidFill>
                    <a:schemeClr val="tx1">
                      <a:lumMod val="85000"/>
                      <a:lumOff val="15000"/>
                    </a:schemeClr>
                  </a:solidFill>
                  <a:latin typeface="微软雅黑" panose="020B0503020204020204" pitchFamily="34" charset="-122"/>
                  <a:sym typeface="+mn-ea"/>
                </a:rPr>
                <a:t>组织架构、用户体系、信用奖惩、矢量电子地图等）</a:t>
              </a:r>
              <a:endParaRPr lang="zh-CN" altLang="en-US" sz="1400" noProof="1">
                <a:solidFill>
                  <a:schemeClr val="tx1">
                    <a:lumMod val="85000"/>
                    <a:lumOff val="15000"/>
                  </a:schemeClr>
                </a:solidFill>
                <a:latin typeface="微软雅黑" panose="020B0503020204020204" pitchFamily="34" charset="-122"/>
                <a:cs typeface="Times New Roman" panose="02020603050405020304" pitchFamily="18" charset="0"/>
                <a:sym typeface="+mn-ea"/>
              </a:endParaRPr>
            </a:p>
          </p:txBody>
        </p:sp>
        <p:sp>
          <p:nvSpPr>
            <p:cNvPr id="27" name="圆角矩形 320">
              <a:extLst>
                <a:ext uri="{FF2B5EF4-FFF2-40B4-BE49-F238E27FC236}">
                  <a16:creationId xmlns:a16="http://schemas.microsoft.com/office/drawing/2014/main" id="{92C1242A-EA94-2B8B-92D8-69B1379B7076}"/>
                </a:ext>
              </a:extLst>
            </p:cNvPr>
            <p:cNvSpPr/>
            <p:nvPr>
              <p:custDataLst>
                <p:tags r:id="rId23"/>
              </p:custDataLst>
            </p:nvPr>
          </p:nvSpPr>
          <p:spPr bwMode="auto">
            <a:xfrm>
              <a:off x="7341978" y="3210530"/>
              <a:ext cx="3192145" cy="321945"/>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400" b="1" noProof="1">
                  <a:latin typeface="微软雅黑" panose="020B0503020204020204" pitchFamily="34" charset="-122"/>
                  <a:cs typeface="Times New Roman" panose="02020603050405020304" pitchFamily="18" charset="0"/>
                </a:rPr>
                <a:t>推荐类组件</a:t>
              </a:r>
              <a:endParaRPr lang="zh-CN" altLang="en-US" sz="1400" noProof="1">
                <a:latin typeface="微软雅黑" panose="020B0503020204020204" pitchFamily="34" charset="-122"/>
                <a:cs typeface="Times New Roman" panose="02020603050405020304" pitchFamily="18" charset="0"/>
              </a:endParaRPr>
            </a:p>
          </p:txBody>
        </p:sp>
        <p:sp>
          <p:nvSpPr>
            <p:cNvPr id="28" name="圆角矩形 234">
              <a:extLst>
                <a:ext uri="{FF2B5EF4-FFF2-40B4-BE49-F238E27FC236}">
                  <a16:creationId xmlns:a16="http://schemas.microsoft.com/office/drawing/2014/main" id="{0B869D8A-F313-9C8F-C2B5-EE9DFCD5E680}"/>
                </a:ext>
              </a:extLst>
            </p:cNvPr>
            <p:cNvSpPr/>
            <p:nvPr>
              <p:custDataLst>
                <p:tags r:id="rId24"/>
              </p:custDataLst>
            </p:nvPr>
          </p:nvSpPr>
          <p:spPr bwMode="auto">
            <a:xfrm>
              <a:off x="9278729" y="1741774"/>
              <a:ext cx="1352551" cy="417195"/>
            </a:xfrm>
            <a:prstGeom prst="roundRect">
              <a:avLst>
                <a:gd name="adj" fmla="val 0"/>
              </a:avLst>
            </a:prstGeom>
            <a:solidFill>
              <a:srgbClr val="EAF4FC"/>
            </a:solid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endParaRPr lang="zh-CN" altLang="en-US" sz="1000" noProof="1">
                <a:solidFill>
                  <a:schemeClr val="tx1"/>
                </a:solidFill>
                <a:latin typeface="微软雅黑" panose="020B0503020204020204" pitchFamily="34" charset="-122"/>
                <a:ea typeface="微软雅黑" panose="020B0503020204020204" pitchFamily="34" charset="-122"/>
                <a:sym typeface="+mn-lt"/>
              </a:endParaRPr>
            </a:p>
          </p:txBody>
        </p:sp>
        <p:sp>
          <p:nvSpPr>
            <p:cNvPr id="29" name="矩形: 圆角 96">
              <a:extLst>
                <a:ext uri="{FF2B5EF4-FFF2-40B4-BE49-F238E27FC236}">
                  <a16:creationId xmlns:a16="http://schemas.microsoft.com/office/drawing/2014/main" id="{999F1875-4481-0C0A-C8BA-704AD037B39E}"/>
                </a:ext>
              </a:extLst>
            </p:cNvPr>
            <p:cNvSpPr/>
            <p:nvPr>
              <p:custDataLst>
                <p:tags r:id="rId25"/>
              </p:custDataLst>
            </p:nvPr>
          </p:nvSpPr>
          <p:spPr bwMode="auto">
            <a:xfrm>
              <a:off x="180449" y="1182975"/>
              <a:ext cx="1155700" cy="333375"/>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b="1" noProof="1">
                  <a:solidFill>
                    <a:schemeClr val="bg1"/>
                  </a:solidFill>
                  <a:effectLst>
                    <a:outerShdw blurRad="50800" dist="38100" dir="2700000" algn="tl" rotWithShape="0">
                      <a:prstClr val="black">
                        <a:alpha val="40000"/>
                      </a:prstClr>
                    </a:outerShdw>
                  </a:effectLst>
                  <a:latin typeface="微软雅黑" panose="020B0503020204020204" pitchFamily="34" charset="-122"/>
                  <a:cs typeface="Times New Roman" panose="02020603050405020304" pitchFamily="18" charset="0"/>
                </a:rPr>
                <a:t>两端</a:t>
              </a:r>
            </a:p>
          </p:txBody>
        </p:sp>
        <p:sp>
          <p:nvSpPr>
            <p:cNvPr id="30" name="矩形: 圆角 97">
              <a:extLst>
                <a:ext uri="{FF2B5EF4-FFF2-40B4-BE49-F238E27FC236}">
                  <a16:creationId xmlns:a16="http://schemas.microsoft.com/office/drawing/2014/main" id="{09991EA4-7813-1726-8E35-B77C5AC4EA64}"/>
                </a:ext>
              </a:extLst>
            </p:cNvPr>
            <p:cNvSpPr/>
            <p:nvPr>
              <p:custDataLst>
                <p:tags r:id="rId26"/>
              </p:custDataLst>
            </p:nvPr>
          </p:nvSpPr>
          <p:spPr bwMode="auto">
            <a:xfrm>
              <a:off x="1400283" y="1170274"/>
              <a:ext cx="4523740" cy="335280"/>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b="1" spc="400" noProof="1">
                  <a:solidFill>
                    <a:schemeClr val="bg1"/>
                  </a:solidFill>
                  <a:effectLst>
                    <a:outerShdw blurRad="50800" dist="38100" dir="2700000" algn="tl" rotWithShape="0">
                      <a:prstClr val="black">
                        <a:alpha val="40000"/>
                      </a:prstClr>
                    </a:outerShdw>
                  </a:effectLst>
                  <a:latin typeface="微软雅黑" panose="020B0503020204020204" pitchFamily="34" charset="-122"/>
                  <a:cs typeface="Times New Roman" panose="02020603050405020304" pitchFamily="18" charset="0"/>
                </a:rPr>
                <a:t>渝快办</a:t>
              </a:r>
            </a:p>
          </p:txBody>
        </p:sp>
        <p:sp>
          <p:nvSpPr>
            <p:cNvPr id="31" name="矩形: 圆角 98">
              <a:extLst>
                <a:ext uri="{FF2B5EF4-FFF2-40B4-BE49-F238E27FC236}">
                  <a16:creationId xmlns:a16="http://schemas.microsoft.com/office/drawing/2014/main" id="{CDFE4E7F-DA5F-8130-A15B-0C51504125A0}"/>
                </a:ext>
              </a:extLst>
            </p:cNvPr>
            <p:cNvSpPr/>
            <p:nvPr>
              <p:custDataLst>
                <p:tags r:id="rId27"/>
              </p:custDataLst>
            </p:nvPr>
          </p:nvSpPr>
          <p:spPr bwMode="auto">
            <a:xfrm>
              <a:off x="6014511" y="1171545"/>
              <a:ext cx="4600575" cy="333375"/>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r>
                <a:rPr lang="zh-CN" altLang="en-US" sz="1600" b="1" kern="100" spc="400" noProof="1">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渝快政</a:t>
              </a:r>
            </a:p>
          </p:txBody>
        </p:sp>
        <p:sp>
          <p:nvSpPr>
            <p:cNvPr id="32" name="矩形: 圆角 99">
              <a:extLst>
                <a:ext uri="{FF2B5EF4-FFF2-40B4-BE49-F238E27FC236}">
                  <a16:creationId xmlns:a16="http://schemas.microsoft.com/office/drawing/2014/main" id="{D3DBF959-4A99-AFCD-0CDA-C971F72A2D79}"/>
                </a:ext>
              </a:extLst>
            </p:cNvPr>
            <p:cNvSpPr/>
            <p:nvPr>
              <p:custDataLst>
                <p:tags r:id="rId28"/>
              </p:custDataLst>
            </p:nvPr>
          </p:nvSpPr>
          <p:spPr bwMode="auto">
            <a:xfrm>
              <a:off x="1369486" y="1811308"/>
              <a:ext cx="1255713" cy="223839"/>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defRPr/>
              </a:pPr>
              <a:r>
                <a:rPr lang="zh-CN" altLang="en-US" sz="1400" b="1" spc="400" noProof="1">
                  <a:solidFill>
                    <a:schemeClr val="bg2">
                      <a:lumMod val="25000"/>
                    </a:schemeClr>
                  </a:solidFill>
                  <a:latin typeface="微软雅黑" panose="020B0503020204020204" pitchFamily="34" charset="-122"/>
                  <a:ea typeface="微软雅黑" panose="020B0503020204020204" pitchFamily="34" charset="-122"/>
                  <a:cs typeface="Times New Roman" panose="02020603050405020304" pitchFamily="18" charset="0"/>
                </a:rPr>
                <a:t>数字党建</a:t>
              </a:r>
            </a:p>
          </p:txBody>
        </p:sp>
        <p:sp>
          <p:nvSpPr>
            <p:cNvPr id="33" name="矩形: 圆角 107">
              <a:extLst>
                <a:ext uri="{FF2B5EF4-FFF2-40B4-BE49-F238E27FC236}">
                  <a16:creationId xmlns:a16="http://schemas.microsoft.com/office/drawing/2014/main" id="{5AB63CF3-33AF-42EF-FAB4-1DFB35B829E2}"/>
                </a:ext>
              </a:extLst>
            </p:cNvPr>
            <p:cNvSpPr/>
            <p:nvPr>
              <p:custDataLst>
                <p:tags r:id="rId29"/>
              </p:custDataLst>
            </p:nvPr>
          </p:nvSpPr>
          <p:spPr bwMode="auto">
            <a:xfrm>
              <a:off x="2685523" y="1814483"/>
              <a:ext cx="1239839" cy="223839"/>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400" b="1" spc="400" noProof="1">
                  <a:solidFill>
                    <a:schemeClr val="bg2">
                      <a:lumMod val="25000"/>
                    </a:schemeClr>
                  </a:solidFill>
                  <a:latin typeface="微软雅黑" panose="020B0503020204020204" pitchFamily="34" charset="-122"/>
                  <a:cs typeface="Times New Roman" panose="02020603050405020304" pitchFamily="18" charset="0"/>
                  <a:sym typeface="+mn-lt"/>
                </a:rPr>
                <a:t>数字政务</a:t>
              </a:r>
            </a:p>
          </p:txBody>
        </p:sp>
        <p:sp>
          <p:nvSpPr>
            <p:cNvPr id="34" name="矩形: 圆角 108">
              <a:extLst>
                <a:ext uri="{FF2B5EF4-FFF2-40B4-BE49-F238E27FC236}">
                  <a16:creationId xmlns:a16="http://schemas.microsoft.com/office/drawing/2014/main" id="{25E73CBB-B806-2C87-0FBF-6F6FE6C48E42}"/>
                </a:ext>
              </a:extLst>
            </p:cNvPr>
            <p:cNvSpPr/>
            <p:nvPr>
              <p:custDataLst>
                <p:tags r:id="rId30"/>
              </p:custDataLst>
            </p:nvPr>
          </p:nvSpPr>
          <p:spPr bwMode="auto">
            <a:xfrm>
              <a:off x="3999973" y="1816069"/>
              <a:ext cx="1262063" cy="223839"/>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400" b="1" spc="400" noProof="1">
                  <a:solidFill>
                    <a:schemeClr val="bg2">
                      <a:lumMod val="25000"/>
                    </a:schemeClr>
                  </a:solidFill>
                  <a:latin typeface="微软雅黑" panose="020B0503020204020204" pitchFamily="34" charset="-122"/>
                  <a:cs typeface="Times New Roman" panose="02020603050405020304" pitchFamily="18" charset="0"/>
                  <a:sym typeface="+mn-lt"/>
                </a:rPr>
                <a:t>数字经济</a:t>
              </a:r>
            </a:p>
          </p:txBody>
        </p:sp>
        <p:sp>
          <p:nvSpPr>
            <p:cNvPr id="35" name="矩形: 圆角 109">
              <a:extLst>
                <a:ext uri="{FF2B5EF4-FFF2-40B4-BE49-F238E27FC236}">
                  <a16:creationId xmlns:a16="http://schemas.microsoft.com/office/drawing/2014/main" id="{FB13A5E2-0B3F-F490-C317-450917B5857F}"/>
                </a:ext>
              </a:extLst>
            </p:cNvPr>
            <p:cNvSpPr/>
            <p:nvPr>
              <p:custDataLst>
                <p:tags r:id="rId31"/>
              </p:custDataLst>
            </p:nvPr>
          </p:nvSpPr>
          <p:spPr bwMode="auto">
            <a:xfrm>
              <a:off x="5316011" y="1816069"/>
              <a:ext cx="1252539" cy="222251"/>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defRPr/>
              </a:pPr>
              <a:r>
                <a:rPr lang="zh-CN" altLang="en-US" sz="1400" b="1" spc="400" noProof="1">
                  <a:solidFill>
                    <a:schemeClr val="bg2">
                      <a:lumMod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lt"/>
                </a:rPr>
                <a:t>数字社会</a:t>
              </a:r>
            </a:p>
          </p:txBody>
        </p:sp>
        <p:sp>
          <p:nvSpPr>
            <p:cNvPr id="36" name="矩形: 圆角 110">
              <a:extLst>
                <a:ext uri="{FF2B5EF4-FFF2-40B4-BE49-F238E27FC236}">
                  <a16:creationId xmlns:a16="http://schemas.microsoft.com/office/drawing/2014/main" id="{B6209A0B-EB6D-F60F-B0E8-760A112A5FDD}"/>
                </a:ext>
              </a:extLst>
            </p:cNvPr>
            <p:cNvSpPr/>
            <p:nvPr>
              <p:custDataLst>
                <p:tags r:id="rId32"/>
              </p:custDataLst>
            </p:nvPr>
          </p:nvSpPr>
          <p:spPr bwMode="auto">
            <a:xfrm>
              <a:off x="6619349" y="1817657"/>
              <a:ext cx="1250951" cy="223839"/>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defRPr/>
              </a:pPr>
              <a:r>
                <a:rPr lang="zh-CN" altLang="en-US" sz="1400" b="1" spc="400" noProof="1">
                  <a:solidFill>
                    <a:schemeClr val="bg2">
                      <a:lumMod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lt"/>
                </a:rPr>
                <a:t>数字文化</a:t>
              </a:r>
            </a:p>
          </p:txBody>
        </p:sp>
        <p:sp>
          <p:nvSpPr>
            <p:cNvPr id="37" name="矩形: 圆角 111">
              <a:extLst>
                <a:ext uri="{FF2B5EF4-FFF2-40B4-BE49-F238E27FC236}">
                  <a16:creationId xmlns:a16="http://schemas.microsoft.com/office/drawing/2014/main" id="{ABF0F2FF-9DE8-7B6C-262A-39992817B705}"/>
                </a:ext>
              </a:extLst>
            </p:cNvPr>
            <p:cNvSpPr/>
            <p:nvPr>
              <p:custDataLst>
                <p:tags r:id="rId33"/>
              </p:custDataLst>
            </p:nvPr>
          </p:nvSpPr>
          <p:spPr bwMode="auto">
            <a:xfrm>
              <a:off x="7924273" y="1814482"/>
              <a:ext cx="1262063" cy="219075"/>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defRPr/>
              </a:pPr>
              <a:r>
                <a:rPr lang="zh-CN" altLang="en-US" sz="1400" b="1" spc="400" noProof="1">
                  <a:solidFill>
                    <a:schemeClr val="bg2">
                      <a:lumMod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lt"/>
                </a:rPr>
                <a:t>数字法治</a:t>
              </a:r>
            </a:p>
          </p:txBody>
        </p:sp>
        <p:sp>
          <p:nvSpPr>
            <p:cNvPr id="38" name="矩形: 圆角 261">
              <a:extLst>
                <a:ext uri="{FF2B5EF4-FFF2-40B4-BE49-F238E27FC236}">
                  <a16:creationId xmlns:a16="http://schemas.microsoft.com/office/drawing/2014/main" id="{2641CB39-8CBD-26AC-8A4A-AE6618A3917B}"/>
                </a:ext>
              </a:extLst>
            </p:cNvPr>
            <p:cNvSpPr/>
            <p:nvPr>
              <p:custDataLst>
                <p:tags r:id="rId34"/>
              </p:custDataLst>
            </p:nvPr>
          </p:nvSpPr>
          <p:spPr bwMode="auto">
            <a:xfrm>
              <a:off x="9292698" y="1812895"/>
              <a:ext cx="1322388" cy="225425"/>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defRPr/>
              </a:pPr>
              <a:r>
                <a:rPr lang="zh-CN" altLang="en-US" sz="1400" b="1" spc="400" noProof="1">
                  <a:solidFill>
                    <a:schemeClr val="bg2">
                      <a:lumMod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lt"/>
                </a:rPr>
                <a:t>基层智治</a:t>
              </a:r>
            </a:p>
          </p:txBody>
        </p:sp>
        <p:sp>
          <p:nvSpPr>
            <p:cNvPr id="39" name="箭头: 下 11464">
              <a:extLst>
                <a:ext uri="{FF2B5EF4-FFF2-40B4-BE49-F238E27FC236}">
                  <a16:creationId xmlns:a16="http://schemas.microsoft.com/office/drawing/2014/main" id="{D2952DA8-622C-90DD-B1E4-47E15AC8BF94}"/>
                </a:ext>
              </a:extLst>
            </p:cNvPr>
            <p:cNvSpPr/>
            <p:nvPr>
              <p:custDataLst>
                <p:tags r:id="rId35"/>
              </p:custDataLst>
            </p:nvPr>
          </p:nvSpPr>
          <p:spPr bwMode="auto">
            <a:xfrm rot="16200000">
              <a:off x="6606649" y="5176807"/>
              <a:ext cx="184151" cy="219075"/>
            </a:xfrm>
            <a:prstGeom prst="downArrow">
              <a:avLst/>
            </a:prstGeom>
            <a:solidFill>
              <a:schemeClr val="accent6">
                <a:lumMod val="60000"/>
                <a:lumOff val="40000"/>
              </a:schemeClr>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endParaRPr lang="zh-CN" altLang="en-US" sz="1400" noProof="1">
                <a:solidFill>
                  <a:schemeClr val="tx1"/>
                </a:solidFill>
                <a:latin typeface="微软雅黑" panose="020B0503020204020204" pitchFamily="34" charset="-122"/>
                <a:ea typeface="微软雅黑" panose="020B0503020204020204" pitchFamily="34" charset="-122"/>
              </a:endParaRPr>
            </a:p>
          </p:txBody>
        </p:sp>
        <p:sp>
          <p:nvSpPr>
            <p:cNvPr id="40" name="箭头: 下 11464">
              <a:extLst>
                <a:ext uri="{FF2B5EF4-FFF2-40B4-BE49-F238E27FC236}">
                  <a16:creationId xmlns:a16="http://schemas.microsoft.com/office/drawing/2014/main" id="{0F3B3693-8CBB-C826-ACBE-4F7E4C201772}"/>
                </a:ext>
              </a:extLst>
            </p:cNvPr>
            <p:cNvSpPr/>
            <p:nvPr>
              <p:custDataLst>
                <p:tags r:id="rId36"/>
              </p:custDataLst>
            </p:nvPr>
          </p:nvSpPr>
          <p:spPr bwMode="auto">
            <a:xfrm rot="5400000">
              <a:off x="6586805" y="5339525"/>
              <a:ext cx="184151" cy="220663"/>
            </a:xfrm>
            <a:prstGeom prst="downArrow">
              <a:avLst/>
            </a:prstGeom>
            <a:solidFill>
              <a:schemeClr val="accent6">
                <a:lumMod val="60000"/>
                <a:lumOff val="40000"/>
              </a:schemeClr>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endParaRPr lang="zh-CN" altLang="en-US" sz="1200" noProof="1">
                <a:solidFill>
                  <a:schemeClr val="tx1"/>
                </a:solidFill>
                <a:latin typeface="微软雅黑" panose="020B0503020204020204" pitchFamily="34" charset="-122"/>
                <a:ea typeface="微软雅黑" panose="020B0503020204020204" pitchFamily="34" charset="-122"/>
              </a:endParaRPr>
            </a:p>
          </p:txBody>
        </p:sp>
        <p:sp>
          <p:nvSpPr>
            <p:cNvPr id="41" name="矩形: 圆角 100">
              <a:extLst>
                <a:ext uri="{FF2B5EF4-FFF2-40B4-BE49-F238E27FC236}">
                  <a16:creationId xmlns:a16="http://schemas.microsoft.com/office/drawing/2014/main" id="{0C1BA203-6BCD-FE68-9763-22DB5D947A93}"/>
                </a:ext>
              </a:extLst>
            </p:cNvPr>
            <p:cNvSpPr/>
            <p:nvPr>
              <p:custDataLst>
                <p:tags r:id="rId37"/>
              </p:custDataLst>
            </p:nvPr>
          </p:nvSpPr>
          <p:spPr bwMode="auto">
            <a:xfrm>
              <a:off x="155048" y="4874866"/>
              <a:ext cx="1233805" cy="702945"/>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sym typeface="等线" panose="02010600030101010101" charset="-122"/>
                </a:rPr>
                <a:t>基础设施</a:t>
              </a:r>
            </a:p>
            <a:p>
              <a:pPr algn="ctr" eaLnBrk="1" fontAlgn="base" hangingPunct="1"/>
              <a:r>
                <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sym typeface="等线" panose="02010600030101010101" charset="-122"/>
                </a:rPr>
                <a:t>体系</a:t>
              </a:r>
              <a:endParaRPr lang="zh-CN" altLang="en-US" sz="1600" b="1" noProof="1">
                <a:solidFill>
                  <a:schemeClr val="bg1"/>
                </a:solidFill>
                <a:effectLst>
                  <a:outerShdw blurRad="38100" dist="38100" dir="2700000" algn="tl">
                    <a:srgbClr val="000000">
                      <a:alpha val="43137"/>
                    </a:srgbClr>
                  </a:outerShdw>
                </a:effectLst>
                <a:latin typeface="微软雅黑" panose="020B0503020204020204" pitchFamily="34" charset="-122"/>
                <a:cs typeface="Times New Roman" panose="02020603050405020304" pitchFamily="18" charset="0"/>
                <a:sym typeface="等线" panose="02010600030101010101" charset="-122"/>
              </a:endParaRPr>
            </a:p>
          </p:txBody>
        </p:sp>
        <p:sp>
          <p:nvSpPr>
            <p:cNvPr id="42" name="矩形: 圆角 100">
              <a:extLst>
                <a:ext uri="{FF2B5EF4-FFF2-40B4-BE49-F238E27FC236}">
                  <a16:creationId xmlns:a16="http://schemas.microsoft.com/office/drawing/2014/main" id="{A9504289-DE74-C42F-D485-DAA6FFA599EB}"/>
                </a:ext>
              </a:extLst>
            </p:cNvPr>
            <p:cNvSpPr/>
            <p:nvPr>
              <p:custDataLst>
                <p:tags r:id="rId38"/>
              </p:custDataLst>
            </p:nvPr>
          </p:nvSpPr>
          <p:spPr bwMode="auto">
            <a:xfrm>
              <a:off x="155049" y="3823305"/>
              <a:ext cx="1180465" cy="924560"/>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b="1" dirty="0">
                  <a:solidFill>
                    <a:schemeClr val="bg1"/>
                  </a:solidFill>
                  <a:latin typeface="微软雅黑" panose="020B0503020204020204" pitchFamily="34" charset="-122"/>
                  <a:sym typeface="等线" panose="02010600030101010101" charset="-122"/>
                </a:rPr>
                <a:t>数据资源体系</a:t>
              </a:r>
              <a:endParaRPr lang="zh-CN" altLang="en-US" sz="1600" b="1" noProof="1">
                <a:solidFill>
                  <a:schemeClr val="bg1"/>
                </a:solidFill>
                <a:effectLst>
                  <a:outerShdw blurRad="38100" dist="38100" dir="2700000" algn="tl">
                    <a:srgbClr val="000000">
                      <a:alpha val="43137"/>
                    </a:srgbClr>
                  </a:outerShdw>
                </a:effectLst>
                <a:latin typeface="微软雅黑" panose="020B0503020204020204" pitchFamily="34" charset="-122"/>
                <a:cs typeface="Times New Roman" panose="02020603050405020304" pitchFamily="18" charset="0"/>
                <a:sym typeface="等线" panose="02010600030101010101" charset="-122"/>
              </a:endParaRPr>
            </a:p>
          </p:txBody>
        </p:sp>
        <p:sp>
          <p:nvSpPr>
            <p:cNvPr id="43" name="矩形: 圆角 100">
              <a:extLst>
                <a:ext uri="{FF2B5EF4-FFF2-40B4-BE49-F238E27FC236}">
                  <a16:creationId xmlns:a16="http://schemas.microsoft.com/office/drawing/2014/main" id="{67145CB7-EE3B-976D-E863-99A37E899848}"/>
                </a:ext>
              </a:extLst>
            </p:cNvPr>
            <p:cNvSpPr/>
            <p:nvPr>
              <p:custDataLst>
                <p:tags r:id="rId39"/>
              </p:custDataLst>
            </p:nvPr>
          </p:nvSpPr>
          <p:spPr bwMode="auto">
            <a:xfrm>
              <a:off x="155048" y="2794605"/>
              <a:ext cx="1197611" cy="832485"/>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b="1" dirty="0">
                  <a:solidFill>
                    <a:schemeClr val="bg1"/>
                  </a:solidFill>
                  <a:latin typeface="微软雅黑" panose="020B0503020204020204" pitchFamily="34" charset="-122"/>
                  <a:sym typeface="等线" panose="02010600030101010101" charset="-122"/>
                </a:rPr>
                <a:t>能力组件体系</a:t>
              </a:r>
              <a:endParaRPr lang="zh-CN" altLang="en-US" sz="1600" b="1" noProof="1">
                <a:solidFill>
                  <a:schemeClr val="bg1"/>
                </a:solidFill>
                <a:effectLst>
                  <a:outerShdw blurRad="38100" dist="38100" dir="2700000" algn="tl">
                    <a:srgbClr val="000000">
                      <a:alpha val="43137"/>
                    </a:srgbClr>
                  </a:outerShdw>
                </a:effectLst>
                <a:latin typeface="微软雅黑" panose="020B0503020204020204" pitchFamily="34" charset="-122"/>
                <a:cs typeface="Times New Roman" panose="02020603050405020304" pitchFamily="18" charset="0"/>
                <a:sym typeface="等线" panose="02010600030101010101" charset="-122"/>
              </a:endParaRPr>
            </a:p>
          </p:txBody>
        </p:sp>
        <p:sp>
          <p:nvSpPr>
            <p:cNvPr id="44" name="矩形: 圆角 100">
              <a:extLst>
                <a:ext uri="{FF2B5EF4-FFF2-40B4-BE49-F238E27FC236}">
                  <a16:creationId xmlns:a16="http://schemas.microsoft.com/office/drawing/2014/main" id="{FA230471-9C85-B528-B499-5D17C414DDF7}"/>
                </a:ext>
              </a:extLst>
            </p:cNvPr>
            <p:cNvSpPr/>
            <p:nvPr>
              <p:custDataLst>
                <p:tags r:id="rId40"/>
              </p:custDataLst>
            </p:nvPr>
          </p:nvSpPr>
          <p:spPr bwMode="auto">
            <a:xfrm>
              <a:off x="154413" y="1767809"/>
              <a:ext cx="1181100" cy="792480"/>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600" b="1" dirty="0">
                  <a:solidFill>
                    <a:schemeClr val="bg1"/>
                  </a:solidFill>
                  <a:latin typeface="微软雅黑" panose="020B0503020204020204" pitchFamily="34" charset="-122"/>
                  <a:sym typeface="等线" panose="02010600030101010101" charset="-122"/>
                </a:rPr>
                <a:t>业务应用体系</a:t>
              </a:r>
              <a:endParaRPr lang="zh-CN" altLang="en-US" sz="1600" b="1" noProof="1">
                <a:solidFill>
                  <a:schemeClr val="bg1"/>
                </a:solidFill>
                <a:effectLst>
                  <a:outerShdw blurRad="38100" dist="38100" dir="2700000" algn="tl">
                    <a:srgbClr val="000000">
                      <a:alpha val="43137"/>
                    </a:srgbClr>
                  </a:outerShdw>
                </a:effectLst>
                <a:latin typeface="微软雅黑" panose="020B0503020204020204" pitchFamily="34" charset="-122"/>
                <a:cs typeface="Times New Roman" panose="02020603050405020304" pitchFamily="18" charset="0"/>
                <a:sym typeface="等线" panose="02010600030101010101" charset="-122"/>
              </a:endParaRPr>
            </a:p>
          </p:txBody>
        </p:sp>
        <p:sp>
          <p:nvSpPr>
            <p:cNvPr id="45" name="圆角矩形 234">
              <a:extLst>
                <a:ext uri="{FF2B5EF4-FFF2-40B4-BE49-F238E27FC236}">
                  <a16:creationId xmlns:a16="http://schemas.microsoft.com/office/drawing/2014/main" id="{99AAE167-1C8B-9236-50A4-17BE651BB8CA}"/>
                </a:ext>
              </a:extLst>
            </p:cNvPr>
            <p:cNvSpPr/>
            <p:nvPr>
              <p:custDataLst>
                <p:tags r:id="rId41"/>
              </p:custDataLst>
            </p:nvPr>
          </p:nvSpPr>
          <p:spPr bwMode="auto">
            <a:xfrm>
              <a:off x="180448" y="2795874"/>
              <a:ext cx="10398125" cy="843915"/>
            </a:xfrm>
            <a:prstGeom prst="roundRect">
              <a:avLst>
                <a:gd name="adj" fmla="val 0"/>
              </a:avLst>
            </a:prstGeom>
            <a:no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endParaRPr lang="zh-CN" altLang="en-US" sz="1000" noProof="1">
                <a:solidFill>
                  <a:schemeClr val="tx1"/>
                </a:solidFill>
                <a:latin typeface="微软雅黑" panose="020B0503020204020204" pitchFamily="34" charset="-122"/>
                <a:ea typeface="微软雅黑" panose="020B0503020204020204" pitchFamily="34" charset="-122"/>
                <a:sym typeface="+mn-lt"/>
              </a:endParaRPr>
            </a:p>
          </p:txBody>
        </p:sp>
        <p:sp>
          <p:nvSpPr>
            <p:cNvPr id="46" name="圆角矩形 320">
              <a:extLst>
                <a:ext uri="{FF2B5EF4-FFF2-40B4-BE49-F238E27FC236}">
                  <a16:creationId xmlns:a16="http://schemas.microsoft.com/office/drawing/2014/main" id="{BD8A248E-F091-46AE-DE39-B5C0C51293AE}"/>
                </a:ext>
              </a:extLst>
            </p:cNvPr>
            <p:cNvSpPr/>
            <p:nvPr>
              <p:custDataLst>
                <p:tags r:id="rId42"/>
              </p:custDataLst>
            </p:nvPr>
          </p:nvSpPr>
          <p:spPr bwMode="auto">
            <a:xfrm>
              <a:off x="1401552" y="4443065"/>
              <a:ext cx="5913755" cy="282575"/>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400" b="1" noProof="1">
                  <a:latin typeface="微软雅黑" panose="020B0503020204020204" pitchFamily="34" charset="-122"/>
                  <a:cs typeface="Times New Roman" panose="02020603050405020304" pitchFamily="18" charset="0"/>
                </a:rPr>
                <a:t>基础库</a:t>
              </a:r>
              <a:r>
                <a:rPr lang="zh-CN" altLang="en-US" sz="1400" noProof="1">
                  <a:latin typeface="微软雅黑" panose="020B0503020204020204" pitchFamily="34" charset="-122"/>
                  <a:cs typeface="Times New Roman" panose="02020603050405020304" pitchFamily="18" charset="0"/>
                </a:rPr>
                <a:t>（</a:t>
              </a:r>
              <a:r>
                <a:rPr lang="zh-CN" altLang="en-US" sz="1400" noProof="1">
                  <a:solidFill>
                    <a:schemeClr val="tx1">
                      <a:lumMod val="85000"/>
                      <a:lumOff val="15000"/>
                    </a:schemeClr>
                  </a:solidFill>
                  <a:latin typeface="微软雅黑" panose="020B0503020204020204" pitchFamily="34" charset="-122"/>
                  <a:sym typeface="+mn-ea"/>
                </a:rPr>
                <a:t>自然人、法人、电子证照、空间地理、信用库）</a:t>
              </a:r>
              <a:endParaRPr lang="zh-CN" altLang="en-US" sz="1400" noProof="1">
                <a:solidFill>
                  <a:schemeClr val="tx1">
                    <a:lumMod val="85000"/>
                    <a:lumOff val="15000"/>
                  </a:schemeClr>
                </a:solidFill>
                <a:latin typeface="微软雅黑" panose="020B0503020204020204" pitchFamily="34" charset="-122"/>
                <a:cs typeface="Times New Roman" panose="02020603050405020304" pitchFamily="18" charset="0"/>
                <a:sym typeface="+mn-ea"/>
              </a:endParaRPr>
            </a:p>
          </p:txBody>
        </p:sp>
        <p:sp>
          <p:nvSpPr>
            <p:cNvPr id="47" name="圆角矩形 320">
              <a:extLst>
                <a:ext uri="{FF2B5EF4-FFF2-40B4-BE49-F238E27FC236}">
                  <a16:creationId xmlns:a16="http://schemas.microsoft.com/office/drawing/2014/main" id="{23B7422C-5A8B-AA47-E3A4-56A96EF9B6C5}"/>
                </a:ext>
              </a:extLst>
            </p:cNvPr>
            <p:cNvSpPr/>
            <p:nvPr>
              <p:custDataLst>
                <p:tags r:id="rId43"/>
              </p:custDataLst>
            </p:nvPr>
          </p:nvSpPr>
          <p:spPr bwMode="auto">
            <a:xfrm>
              <a:off x="4174598" y="4080797"/>
              <a:ext cx="2720975" cy="269875"/>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400" b="1" noProof="1">
                  <a:latin typeface="微软雅黑" panose="020B0503020204020204" pitchFamily="34" charset="-122"/>
                  <a:cs typeface="Times New Roman" panose="02020603050405020304" pitchFamily="18" charset="0"/>
                </a:rPr>
                <a:t>专题库</a:t>
              </a:r>
              <a:endParaRPr lang="zh-CN" altLang="en-US" sz="1400" noProof="1">
                <a:solidFill>
                  <a:schemeClr val="tx1">
                    <a:lumMod val="85000"/>
                    <a:lumOff val="15000"/>
                  </a:schemeClr>
                </a:solidFill>
                <a:latin typeface="微软雅黑" panose="020B0503020204020204" pitchFamily="34" charset="-122"/>
                <a:cs typeface="Times New Roman" panose="02020603050405020304" pitchFamily="18" charset="0"/>
                <a:sym typeface="+mn-ea"/>
              </a:endParaRPr>
            </a:p>
          </p:txBody>
        </p:sp>
        <p:sp>
          <p:nvSpPr>
            <p:cNvPr id="48" name="圆角矩形 320">
              <a:extLst>
                <a:ext uri="{FF2B5EF4-FFF2-40B4-BE49-F238E27FC236}">
                  <a16:creationId xmlns:a16="http://schemas.microsoft.com/office/drawing/2014/main" id="{072AA27D-091B-6618-ACBA-7FA26740D633}"/>
                </a:ext>
              </a:extLst>
            </p:cNvPr>
            <p:cNvSpPr/>
            <p:nvPr>
              <p:custDataLst>
                <p:tags r:id="rId44"/>
              </p:custDataLst>
            </p:nvPr>
          </p:nvSpPr>
          <p:spPr bwMode="auto">
            <a:xfrm>
              <a:off x="6971773" y="4093497"/>
              <a:ext cx="3562351" cy="266700"/>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400" b="1" noProof="1">
                  <a:latin typeface="微软雅黑" panose="020B0503020204020204" pitchFamily="34" charset="-122"/>
                  <a:cs typeface="Times New Roman" panose="02020603050405020304" pitchFamily="18" charset="0"/>
                </a:rPr>
                <a:t>数据服务</a:t>
              </a:r>
              <a:endParaRPr lang="zh-CN" altLang="en-US" sz="1400" b="1" noProof="1">
                <a:solidFill>
                  <a:schemeClr val="tx1">
                    <a:lumMod val="85000"/>
                    <a:lumOff val="15000"/>
                  </a:schemeClr>
                </a:solidFill>
                <a:latin typeface="微软雅黑" panose="020B0503020204020204" pitchFamily="34" charset="-122"/>
                <a:cs typeface="Times New Roman" panose="02020603050405020304" pitchFamily="18" charset="0"/>
                <a:sym typeface="+mn-ea"/>
              </a:endParaRPr>
            </a:p>
          </p:txBody>
        </p:sp>
        <p:sp>
          <p:nvSpPr>
            <p:cNvPr id="49" name="圆角矩形 320">
              <a:extLst>
                <a:ext uri="{FF2B5EF4-FFF2-40B4-BE49-F238E27FC236}">
                  <a16:creationId xmlns:a16="http://schemas.microsoft.com/office/drawing/2014/main" id="{C09522BB-512D-76CC-7C13-342C4551167B}"/>
                </a:ext>
              </a:extLst>
            </p:cNvPr>
            <p:cNvSpPr/>
            <p:nvPr>
              <p:custDataLst>
                <p:tags r:id="rId45"/>
              </p:custDataLst>
            </p:nvPr>
          </p:nvSpPr>
          <p:spPr bwMode="auto">
            <a:xfrm>
              <a:off x="1400918" y="4081114"/>
              <a:ext cx="2673985" cy="269875"/>
            </a:xfrm>
            <a:prstGeom prst="roundRect">
              <a:avLst>
                <a:gd name="adj" fmla="val 9126"/>
              </a:avLst>
            </a:prstGeom>
            <a:solidFill>
              <a:schemeClr val="bg1"/>
            </a:solidFill>
            <a:ln w="63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1400" b="1" noProof="1">
                  <a:latin typeface="微软雅黑" panose="020B0503020204020204" pitchFamily="34" charset="-122"/>
                  <a:cs typeface="Times New Roman" panose="02020603050405020304" pitchFamily="18" charset="0"/>
                </a:rPr>
                <a:t>数据目录</a:t>
              </a:r>
              <a:endParaRPr lang="zh-CN" altLang="en-US" sz="1400" noProof="1">
                <a:solidFill>
                  <a:schemeClr val="tx1">
                    <a:lumMod val="85000"/>
                    <a:lumOff val="15000"/>
                  </a:schemeClr>
                </a:solidFill>
                <a:latin typeface="微软雅黑" panose="020B0503020204020204" pitchFamily="34" charset="-122"/>
                <a:cs typeface="Times New Roman" panose="02020603050405020304" pitchFamily="18" charset="0"/>
                <a:sym typeface="+mn-ea"/>
              </a:endParaRPr>
            </a:p>
          </p:txBody>
        </p:sp>
        <p:sp>
          <p:nvSpPr>
            <p:cNvPr id="50" name="圆角矩形 234">
              <a:extLst>
                <a:ext uri="{FF2B5EF4-FFF2-40B4-BE49-F238E27FC236}">
                  <a16:creationId xmlns:a16="http://schemas.microsoft.com/office/drawing/2014/main" id="{5AED6701-A172-E4D5-15BB-E6B1CF150626}"/>
                </a:ext>
              </a:extLst>
            </p:cNvPr>
            <p:cNvSpPr/>
            <p:nvPr>
              <p:custDataLst>
                <p:tags r:id="rId46"/>
              </p:custDataLst>
            </p:nvPr>
          </p:nvSpPr>
          <p:spPr bwMode="auto">
            <a:xfrm>
              <a:off x="167748" y="3822034"/>
              <a:ext cx="10398125" cy="1005205"/>
            </a:xfrm>
            <a:prstGeom prst="roundRect">
              <a:avLst>
                <a:gd name="adj" fmla="val 0"/>
              </a:avLst>
            </a:prstGeom>
            <a:no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endParaRPr lang="zh-CN" altLang="en-US" sz="1000" noProof="1">
                <a:solidFill>
                  <a:schemeClr val="tx1"/>
                </a:solidFill>
                <a:latin typeface="微软雅黑" panose="020B0503020204020204" pitchFamily="34" charset="-122"/>
                <a:ea typeface="微软雅黑" panose="020B0503020204020204" pitchFamily="34" charset="-122"/>
                <a:sym typeface="+mn-lt"/>
              </a:endParaRPr>
            </a:p>
          </p:txBody>
        </p:sp>
        <p:sp>
          <p:nvSpPr>
            <p:cNvPr id="51" name="圆角矩形 234">
              <a:extLst>
                <a:ext uri="{FF2B5EF4-FFF2-40B4-BE49-F238E27FC236}">
                  <a16:creationId xmlns:a16="http://schemas.microsoft.com/office/drawing/2014/main" id="{FEB792E3-E54E-2C4A-1ECD-B989E08028D0}"/>
                </a:ext>
              </a:extLst>
            </p:cNvPr>
            <p:cNvSpPr/>
            <p:nvPr>
              <p:custDataLst>
                <p:tags r:id="rId47"/>
              </p:custDataLst>
            </p:nvPr>
          </p:nvSpPr>
          <p:spPr bwMode="auto">
            <a:xfrm>
              <a:off x="167748" y="4825335"/>
              <a:ext cx="10422891" cy="763905"/>
            </a:xfrm>
            <a:prstGeom prst="roundRect">
              <a:avLst>
                <a:gd name="adj" fmla="val 0"/>
              </a:avLst>
            </a:prstGeom>
            <a:no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base" hangingPunct="1">
                <a:defRPr/>
              </a:pPr>
              <a:endParaRPr lang="zh-CN" altLang="en-US" sz="1000" noProof="1">
                <a:solidFill>
                  <a:schemeClr val="tx1"/>
                </a:solidFill>
                <a:latin typeface="微软雅黑" panose="020B0503020204020204" pitchFamily="34" charset="-122"/>
                <a:ea typeface="微软雅黑" panose="020B0503020204020204" pitchFamily="34" charset="-122"/>
                <a:sym typeface="+mn-lt"/>
              </a:endParaRPr>
            </a:p>
          </p:txBody>
        </p:sp>
      </p:grpSp>
      <p:sp>
        <p:nvSpPr>
          <p:cNvPr id="52" name="文本框 51">
            <a:extLst>
              <a:ext uri="{FF2B5EF4-FFF2-40B4-BE49-F238E27FC236}">
                <a16:creationId xmlns:a16="http://schemas.microsoft.com/office/drawing/2014/main" id="{0DC9AC2F-900E-0A33-69A9-C4138E705DCC}"/>
              </a:ext>
            </a:extLst>
          </p:cNvPr>
          <p:cNvSpPr txBox="1"/>
          <p:nvPr>
            <p:custDataLst>
              <p:tags r:id="rId1"/>
            </p:custDataLst>
          </p:nvPr>
        </p:nvSpPr>
        <p:spPr>
          <a:xfrm>
            <a:off x="444322" y="5712448"/>
            <a:ext cx="11313448" cy="757767"/>
          </a:xfrm>
          <a:prstGeom prst="rect">
            <a:avLst/>
          </a:prstGeom>
          <a:noFill/>
          <a:ln w="9525">
            <a:noFill/>
          </a:ln>
        </p:spPr>
        <p:txBody>
          <a:bodyPr wrap="square">
            <a:noAutofit/>
          </a:bodyPr>
          <a:lstStyle/>
          <a:p>
            <a:pPr indent="541655">
              <a:lnSpc>
                <a:spcPct val="110000"/>
              </a:lnSpc>
            </a:pPr>
            <a:r>
              <a:rPr lang="zh-CN" altLang="en-US" sz="1600" dirty="0">
                <a:latin typeface="微软雅黑" panose="020B0503020204020204" pitchFamily="34" charset="-122"/>
                <a:ea typeface="微软雅黑" panose="020B0503020204020204" pitchFamily="34" charset="-122"/>
                <a:cs typeface="方正仿宋_GBK" panose="02000000000000000000" charset="-122"/>
              </a:rPr>
              <a:t>全市非涉密应用的唯一支撑平台，</a:t>
            </a:r>
            <a:r>
              <a:rPr lang="zh-CN" altLang="en-US" sz="1600" dirty="0">
                <a:latin typeface="微软雅黑" panose="020B0503020204020204" pitchFamily="34" charset="-122"/>
                <a:ea typeface="微软雅黑" panose="020B0503020204020204" pitchFamily="34" charset="-122"/>
                <a:cs typeface="方正仿宋_GBK" panose="02000000000000000000" charset="-122"/>
                <a:sym typeface="+mn-ea"/>
              </a:rPr>
              <a:t>统一提供全市非涉密应用开发和运维所需的数字资源。</a:t>
            </a:r>
            <a:r>
              <a:rPr lang="zh-CN" altLang="en-US" sz="1600" dirty="0">
                <a:latin typeface="微软雅黑" panose="020B0503020204020204" pitchFamily="34" charset="-122"/>
                <a:ea typeface="微软雅黑" panose="020B0503020204020204" pitchFamily="34" charset="-122"/>
                <a:cs typeface="方正仿宋_GBK" panose="02000000000000000000" charset="-122"/>
              </a:rPr>
              <a:t>数字资源实行目录管理，市大数据发展局动态调整目录。</a:t>
            </a:r>
          </a:p>
        </p:txBody>
      </p:sp>
      <p:sp>
        <p:nvSpPr>
          <p:cNvPr id="53" name="矩形: 圆角 97">
            <a:extLst>
              <a:ext uri="{FF2B5EF4-FFF2-40B4-BE49-F238E27FC236}">
                <a16:creationId xmlns:a16="http://schemas.microsoft.com/office/drawing/2014/main" id="{070E2D49-FB02-63EC-789E-BED1128B0852}"/>
              </a:ext>
            </a:extLst>
          </p:cNvPr>
          <p:cNvSpPr/>
          <p:nvPr>
            <p:custDataLst>
              <p:tags r:id="rId2"/>
            </p:custDataLst>
          </p:nvPr>
        </p:nvSpPr>
        <p:spPr bwMode="auto">
          <a:xfrm>
            <a:off x="49637" y="726083"/>
            <a:ext cx="11856720" cy="335280"/>
          </a:xfrm>
          <a:prstGeom prst="roundRect">
            <a:avLst>
              <a:gd name="adj" fmla="val 0"/>
            </a:avLst>
          </a:prstGeom>
          <a:noFill/>
          <a:ln>
            <a:noFill/>
          </a:ln>
          <a:extLst>
            <a:ext uri="{909E8E84-426E-40DD-AFC4-6F175D3DCCD1}">
              <a14:hiddenFill xmlns:a14="http://schemas.microsoft.com/office/drawing/2010/main">
                <a:solidFill>
                  <a:schemeClr val="tx2">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fontAlgn="base" hangingPunct="1"/>
            <a:r>
              <a:rPr lang="zh-CN" altLang="en-US" sz="2400" b="1" spc="400" noProof="1">
                <a:solidFill>
                  <a:srgbClr val="0070C0"/>
                </a:solidFill>
                <a:latin typeface="微软雅黑" panose="020B0503020204020204" pitchFamily="34" charset="-122"/>
                <a:cs typeface="Times New Roman" panose="02020603050405020304" pitchFamily="18" charset="0"/>
              </a:rPr>
              <a:t>一体化智能化公共数据平台</a:t>
            </a:r>
            <a:r>
              <a:rPr lang="en-US" altLang="zh-CN" sz="2400" b="1" spc="400" noProof="1">
                <a:solidFill>
                  <a:srgbClr val="0070C0"/>
                </a:solidFill>
                <a:latin typeface="微软雅黑" panose="020B0503020204020204" pitchFamily="34" charset="-122"/>
                <a:cs typeface="Times New Roman" panose="02020603050405020304" pitchFamily="18" charset="0"/>
              </a:rPr>
              <a:t>“</a:t>
            </a:r>
            <a:r>
              <a:rPr lang="zh-CN" altLang="en-US" sz="2400" b="1" spc="400" noProof="1">
                <a:solidFill>
                  <a:srgbClr val="0070C0"/>
                </a:solidFill>
                <a:latin typeface="微软雅黑" panose="020B0503020204020204" pitchFamily="34" charset="-122"/>
                <a:cs typeface="Times New Roman" panose="02020603050405020304" pitchFamily="18" charset="0"/>
              </a:rPr>
              <a:t>四横四纵两端</a:t>
            </a:r>
            <a:r>
              <a:rPr lang="en-US" altLang="zh-CN" sz="2400" b="1" spc="400" noProof="1">
                <a:solidFill>
                  <a:srgbClr val="0070C0"/>
                </a:solidFill>
                <a:latin typeface="微软雅黑" panose="020B0503020204020204" pitchFamily="34" charset="-122"/>
                <a:cs typeface="Times New Roman" panose="02020603050405020304" pitchFamily="18" charset="0"/>
              </a:rPr>
              <a:t>”</a:t>
            </a:r>
            <a:r>
              <a:rPr lang="zh-CN" altLang="en-US" sz="2400" b="1" spc="400" noProof="1">
                <a:solidFill>
                  <a:srgbClr val="0070C0"/>
                </a:solidFill>
                <a:latin typeface="微软雅黑" panose="020B0503020204020204" pitchFamily="34" charset="-122"/>
                <a:cs typeface="Times New Roman" panose="02020603050405020304" pitchFamily="18" charset="0"/>
              </a:rPr>
              <a:t>架构</a:t>
            </a:r>
          </a:p>
        </p:txBody>
      </p:sp>
    </p:spTree>
    <p:extLst>
      <p:ext uri="{BB962C8B-B14F-4D97-AF65-F5344CB8AC3E}">
        <p14:creationId xmlns:p14="http://schemas.microsoft.com/office/powerpoint/2010/main" val="1624592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框 54">
            <a:extLst>
              <a:ext uri="{FF2B5EF4-FFF2-40B4-BE49-F238E27FC236}">
                <a16:creationId xmlns:a16="http://schemas.microsoft.com/office/drawing/2014/main" id="{8CFBD70F-CB9B-834A-D4DD-A4C0E6FA56C7}"/>
              </a:ext>
            </a:extLst>
          </p:cNvPr>
          <p:cNvSpPr txBox="1"/>
          <p:nvPr/>
        </p:nvSpPr>
        <p:spPr>
          <a:xfrm>
            <a:off x="4925102" y="5537676"/>
            <a:ext cx="2325370" cy="460375"/>
          </a:xfrm>
          <a:prstGeom prst="rect">
            <a:avLst/>
          </a:prstGeom>
          <a:noFill/>
        </p:spPr>
        <p:txBody>
          <a:bodyPr wrap="none" rtlCol="0">
            <a:spAutoFit/>
          </a:bodyPr>
          <a:lstStyle/>
          <a:p>
            <a:r>
              <a:rPr lang="en-US" altLang="zh-CN" sz="2400" b="1" dirty="0">
                <a:solidFill>
                  <a:srgbClr val="C00000"/>
                </a:solidFill>
                <a:latin typeface="微软雅黑" panose="020B0503020204020204" pitchFamily="34" charset="-122"/>
                <a:ea typeface="微软雅黑" panose="020B0503020204020204" pitchFamily="34" charset="-122"/>
                <a:cs typeface="方正仿宋_GBK" panose="02000000000000000000" charset="-122"/>
              </a:rPr>
              <a:t>超市的商品菜单</a:t>
            </a:r>
          </a:p>
        </p:txBody>
      </p:sp>
      <p:sp>
        <p:nvSpPr>
          <p:cNvPr id="56" name="文本框 55">
            <a:extLst>
              <a:ext uri="{FF2B5EF4-FFF2-40B4-BE49-F238E27FC236}">
                <a16:creationId xmlns:a16="http://schemas.microsoft.com/office/drawing/2014/main" id="{BE6F57B9-63F3-91F8-CC77-2E7421A15E15}"/>
              </a:ext>
            </a:extLst>
          </p:cNvPr>
          <p:cNvSpPr txBox="1"/>
          <p:nvPr>
            <p:custDataLst>
              <p:tags r:id="rId1"/>
            </p:custDataLst>
          </p:nvPr>
        </p:nvSpPr>
        <p:spPr>
          <a:xfrm>
            <a:off x="1027972" y="5976985"/>
            <a:ext cx="10080056" cy="524087"/>
          </a:xfrm>
          <a:prstGeom prst="rect">
            <a:avLst/>
          </a:prstGeom>
          <a:noFill/>
          <a:ln w="9525">
            <a:noFill/>
          </a:ln>
        </p:spPr>
        <p:txBody>
          <a:bodyPr wrap="square">
            <a:noAutofit/>
          </a:bodyPr>
          <a:lstStyle/>
          <a:p>
            <a:pPr indent="541655">
              <a:lnSpc>
                <a:spcPct val="11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方正仿宋_GBK" panose="02000000000000000000" charset="-122"/>
              </a:rPr>
              <a:t>重庆市一体化数字资源系统（</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方正仿宋_GBK" panose="02000000000000000000" charset="-122"/>
              </a:rPr>
              <a:t>IRS</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方正仿宋_GBK" panose="02000000000000000000" charset="-122"/>
              </a:rPr>
              <a:t>系统）是一体化智能化公共数据平台的管理系统</a:t>
            </a:r>
          </a:p>
        </p:txBody>
      </p:sp>
      <p:pic>
        <p:nvPicPr>
          <p:cNvPr id="57" name="图片 56">
            <a:extLst>
              <a:ext uri="{FF2B5EF4-FFF2-40B4-BE49-F238E27FC236}">
                <a16:creationId xmlns:a16="http://schemas.microsoft.com/office/drawing/2014/main" id="{6004397B-5AED-4EF5-5D28-624204CB61D4}"/>
              </a:ext>
            </a:extLst>
          </p:cNvPr>
          <p:cNvPicPr>
            <a:picLocks noChangeAspect="1"/>
          </p:cNvPicPr>
          <p:nvPr/>
        </p:nvPicPr>
        <p:blipFill rotWithShape="1">
          <a:blip r:embed="rId3"/>
          <a:srcRect b="14773"/>
          <a:stretch>
            <a:fillRect/>
          </a:stretch>
        </p:blipFill>
        <p:spPr>
          <a:xfrm>
            <a:off x="476518" y="849630"/>
            <a:ext cx="11204620" cy="4646930"/>
          </a:xfrm>
          <a:prstGeom prst="rect">
            <a:avLst/>
          </a:prstGeom>
          <a:ln>
            <a:solidFill>
              <a:schemeClr val="accent1"/>
            </a:solidFill>
          </a:ln>
        </p:spPr>
      </p:pic>
    </p:spTree>
    <p:extLst>
      <p:ext uri="{BB962C8B-B14F-4D97-AF65-F5344CB8AC3E}">
        <p14:creationId xmlns:p14="http://schemas.microsoft.com/office/powerpoint/2010/main" val="1313235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圆顶角 88">
            <a:extLst>
              <a:ext uri="{FF2B5EF4-FFF2-40B4-BE49-F238E27FC236}">
                <a16:creationId xmlns:a16="http://schemas.microsoft.com/office/drawing/2014/main" id="{7EF9AE81-A38E-19B2-15FB-BBB8291B8E3F}"/>
              </a:ext>
            </a:extLst>
          </p:cNvPr>
          <p:cNvSpPr/>
          <p:nvPr/>
        </p:nvSpPr>
        <p:spPr>
          <a:xfrm flipV="1">
            <a:off x="1063796" y="2051791"/>
            <a:ext cx="10239252" cy="1205144"/>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45" name="矩形: 圆顶角 88">
            <a:extLst>
              <a:ext uri="{FF2B5EF4-FFF2-40B4-BE49-F238E27FC236}">
                <a16:creationId xmlns:a16="http://schemas.microsoft.com/office/drawing/2014/main" id="{464F934F-9FA0-A559-27F7-C92D403E9A0F}"/>
              </a:ext>
            </a:extLst>
          </p:cNvPr>
          <p:cNvSpPr/>
          <p:nvPr/>
        </p:nvSpPr>
        <p:spPr>
          <a:xfrm flipV="1">
            <a:off x="1063796" y="3507889"/>
            <a:ext cx="10239252" cy="1205144"/>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46" name="矩形: 圆顶角 88">
            <a:extLst>
              <a:ext uri="{FF2B5EF4-FFF2-40B4-BE49-F238E27FC236}">
                <a16:creationId xmlns:a16="http://schemas.microsoft.com/office/drawing/2014/main" id="{3A18A93C-6660-7312-00BE-52AA00784718}"/>
              </a:ext>
            </a:extLst>
          </p:cNvPr>
          <p:cNvSpPr/>
          <p:nvPr/>
        </p:nvSpPr>
        <p:spPr>
          <a:xfrm flipV="1">
            <a:off x="1063796" y="4908599"/>
            <a:ext cx="10239252" cy="1205144"/>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1.2</a:t>
            </a:r>
            <a:r>
              <a:rPr kumimoji="1" lang="zh-CN" altLang="en-US" dirty="0"/>
              <a:t>相关术语解释</a:t>
            </a:r>
          </a:p>
        </p:txBody>
      </p:sp>
      <p:sp>
        <p:nvSpPr>
          <p:cNvPr id="3" name="文本框 2">
            <a:extLst>
              <a:ext uri="{FF2B5EF4-FFF2-40B4-BE49-F238E27FC236}">
                <a16:creationId xmlns:a16="http://schemas.microsoft.com/office/drawing/2014/main" id="{7FBABEF6-2A7E-4000-A285-4FA620CA6E61}"/>
              </a:ext>
            </a:extLst>
          </p:cNvPr>
          <p:cNvSpPr txBox="1"/>
          <p:nvPr>
            <p:custDataLst>
              <p:tags r:id="rId1"/>
            </p:custDataLst>
          </p:nvPr>
        </p:nvSpPr>
        <p:spPr>
          <a:xfrm>
            <a:off x="1356272" y="2131213"/>
            <a:ext cx="9405600" cy="1046300"/>
          </a:xfrm>
          <a:prstGeom prst="rect">
            <a:avLst/>
          </a:prstGeom>
          <a:noFill/>
        </p:spPr>
        <p:txBody>
          <a:bodyPr wrap="square" rtlCol="0" anchor="b" anchorCtr="0">
            <a:noAutofit/>
          </a:bodyPr>
          <a:lstStyle>
            <a:defPPr>
              <a:defRPr lang="zh-CN"/>
            </a:defPPr>
            <a:lvl1pPr>
              <a:defRPr sz="2000"/>
            </a:lvl1pPr>
          </a:lstStyle>
          <a:p>
            <a:pPr algn="ctr">
              <a:lnSpc>
                <a:spcPts val="3465"/>
              </a:lnSpc>
            </a:pPr>
            <a:r>
              <a:rPr lang="zh-CN" altLang="en-US" sz="1800" dirty="0">
                <a:latin typeface="微软雅黑" panose="020B0503020204020204" pitchFamily="34" charset="-122"/>
                <a:ea typeface="微软雅黑" panose="020B0503020204020204" pitchFamily="34" charset="-122"/>
                <a:cs typeface="方正仿宋_GBK" panose="02000000000000000000" charset="-122"/>
                <a:sym typeface="+mn-ea"/>
              </a:rPr>
              <a:t>应用责任部门</a:t>
            </a:r>
            <a:r>
              <a:rPr lang="zh-CN" altLang="en-US" sz="18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不得</a:t>
            </a:r>
            <a:r>
              <a:rPr lang="zh-CN" altLang="en-US" sz="1800" dirty="0">
                <a:latin typeface="微软雅黑" panose="020B0503020204020204" pitchFamily="34" charset="-122"/>
                <a:ea typeface="微软雅黑" panose="020B0503020204020204" pitchFamily="34" charset="-122"/>
                <a:cs typeface="方正仿宋_GBK" panose="02000000000000000000" charset="-122"/>
                <a:sym typeface="+mn-ea"/>
              </a:rPr>
              <a:t>开发和运维独立于</a:t>
            </a:r>
            <a:r>
              <a:rPr lang="zh-CN" altLang="en-US" sz="18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一体化智能化公共数据平台之外</a:t>
            </a:r>
            <a:r>
              <a:rPr lang="zh-CN" altLang="en-US" sz="1800" dirty="0">
                <a:latin typeface="微软雅黑" panose="020B0503020204020204" pitchFamily="34" charset="-122"/>
                <a:ea typeface="微软雅黑" panose="020B0503020204020204" pitchFamily="34" charset="-122"/>
                <a:cs typeface="方正仿宋_GBK" panose="02000000000000000000" charset="-122"/>
                <a:sym typeface="+mn-ea"/>
              </a:rPr>
              <a:t>的非涉密应用已建成非涉密应用须向</a:t>
            </a:r>
            <a:r>
              <a:rPr lang="zh-CN" altLang="en-US" sz="1800" dirty="0">
                <a:latin typeface="微软雅黑" panose="020B0503020204020204" pitchFamily="34" charset="-122"/>
                <a:ea typeface="微软雅黑" panose="020B0503020204020204" pitchFamily="34" charset="-122"/>
                <a:sym typeface="+mn-ea"/>
              </a:rPr>
              <a:t>一体化智能化公共数据平台迁移</a:t>
            </a:r>
            <a:endParaRPr lang="zh-CN" altLang="en-US" sz="1800" dirty="0">
              <a:latin typeface="微软雅黑" panose="020B0503020204020204" pitchFamily="34" charset="-122"/>
              <a:ea typeface="微软雅黑" panose="020B0503020204020204" pitchFamily="34" charset="-122"/>
              <a:cs typeface="方正仿宋_GBK" panose="02000000000000000000" charset="-122"/>
              <a:sym typeface="+mn-ea"/>
            </a:endParaRPr>
          </a:p>
        </p:txBody>
      </p:sp>
      <p:sp>
        <p:nvSpPr>
          <p:cNvPr id="4" name="文本框 3">
            <a:extLst>
              <a:ext uri="{FF2B5EF4-FFF2-40B4-BE49-F238E27FC236}">
                <a16:creationId xmlns:a16="http://schemas.microsoft.com/office/drawing/2014/main" id="{11D45C55-19B6-8976-5A44-73B57F476480}"/>
              </a:ext>
            </a:extLst>
          </p:cNvPr>
          <p:cNvSpPr txBox="1"/>
          <p:nvPr>
            <p:custDataLst>
              <p:tags r:id="rId2"/>
            </p:custDataLst>
          </p:nvPr>
        </p:nvSpPr>
        <p:spPr>
          <a:xfrm>
            <a:off x="1356272" y="3507890"/>
            <a:ext cx="9867665" cy="1094960"/>
          </a:xfrm>
          <a:prstGeom prst="rect">
            <a:avLst/>
          </a:prstGeom>
          <a:noFill/>
        </p:spPr>
        <p:txBody>
          <a:bodyPr wrap="square" rtlCol="0" anchor="b" anchorCtr="0">
            <a:noAutofit/>
          </a:bodyPr>
          <a:lstStyle>
            <a:defPPr>
              <a:defRPr lang="zh-CN"/>
            </a:defPPr>
            <a:lvl1pPr>
              <a:defRPr sz="2000"/>
            </a:lvl1pPr>
          </a:lstStyle>
          <a:p>
            <a:pPr algn="ctr">
              <a:lnSpc>
                <a:spcPts val="3465"/>
              </a:lnSpc>
            </a:pPr>
            <a:r>
              <a:rPr lang="zh-CN" altLang="en-US" sz="1800" dirty="0">
                <a:latin typeface="微软雅黑" panose="020B0503020204020204" pitchFamily="34" charset="-122"/>
                <a:ea typeface="微软雅黑" panose="020B0503020204020204" pitchFamily="34" charset="-122"/>
                <a:cs typeface="方正仿宋_GBK" panose="02000000000000000000" charset="-122"/>
                <a:sym typeface="+mn-ea"/>
              </a:rPr>
              <a:t>应用责任部门</a:t>
            </a:r>
            <a:r>
              <a:rPr lang="zh-CN" altLang="en-US" sz="18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不得</a:t>
            </a:r>
            <a:r>
              <a:rPr lang="zh-CN" altLang="en-US" sz="1800" dirty="0">
                <a:latin typeface="微软雅黑" panose="020B0503020204020204" pitchFamily="34" charset="-122"/>
                <a:ea typeface="微软雅黑" panose="020B0503020204020204" pitchFamily="34" charset="-122"/>
                <a:cs typeface="方正仿宋_GBK" panose="02000000000000000000" charset="-122"/>
                <a:sym typeface="+mn-ea"/>
              </a:rPr>
              <a:t>另建</a:t>
            </a:r>
            <a:r>
              <a:rPr lang="zh-CN" altLang="en-US" sz="18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非涉密业务专网、私（专）有云平台、自有机房和数据共享通道</a:t>
            </a:r>
          </a:p>
          <a:p>
            <a:pPr algn="ctr">
              <a:lnSpc>
                <a:spcPts val="3465"/>
              </a:lnSpc>
            </a:pPr>
            <a:r>
              <a:rPr lang="zh-CN" altLang="en-US" sz="1800" dirty="0">
                <a:latin typeface="微软雅黑" panose="020B0503020204020204" pitchFamily="34" charset="-122"/>
                <a:ea typeface="微软雅黑" panose="020B0503020204020204" pitchFamily="34" charset="-122"/>
                <a:sym typeface="+mn-ea"/>
              </a:rPr>
              <a:t>已建成的原则上应当向一体化智能化公共数据平台迁移、整合</a:t>
            </a:r>
            <a:endParaRPr lang="zh-CN" altLang="en-US" sz="1800" dirty="0">
              <a:latin typeface="微软雅黑" panose="020B0503020204020204" pitchFamily="34" charset="-122"/>
              <a:ea typeface="微软雅黑" panose="020B0503020204020204" pitchFamily="34" charset="-122"/>
              <a:cs typeface="方正仿宋_GBK" panose="02000000000000000000" charset="-122"/>
              <a:sym typeface="+mn-ea"/>
            </a:endParaRPr>
          </a:p>
        </p:txBody>
      </p:sp>
      <p:sp>
        <p:nvSpPr>
          <p:cNvPr id="40" name="文本框 39">
            <a:extLst>
              <a:ext uri="{FF2B5EF4-FFF2-40B4-BE49-F238E27FC236}">
                <a16:creationId xmlns:a16="http://schemas.microsoft.com/office/drawing/2014/main" id="{2522C14F-A02C-C074-1496-B09EB6FFDB48}"/>
              </a:ext>
            </a:extLst>
          </p:cNvPr>
          <p:cNvSpPr txBox="1"/>
          <p:nvPr>
            <p:custDataLst>
              <p:tags r:id="rId3"/>
            </p:custDataLst>
          </p:nvPr>
        </p:nvSpPr>
        <p:spPr>
          <a:xfrm>
            <a:off x="1356272" y="4933226"/>
            <a:ext cx="9447530" cy="705701"/>
          </a:xfrm>
          <a:prstGeom prst="rect">
            <a:avLst/>
          </a:prstGeom>
          <a:noFill/>
        </p:spPr>
        <p:txBody>
          <a:bodyPr wrap="square" rtlCol="0" anchor="b" anchorCtr="0">
            <a:noAutofit/>
          </a:bodyPr>
          <a:lstStyle>
            <a:defPPr>
              <a:defRPr lang="zh-CN"/>
            </a:defPPr>
            <a:lvl1pPr>
              <a:defRPr sz="2000"/>
            </a:lvl1pPr>
          </a:lstStyle>
          <a:p>
            <a:pPr algn="ctr">
              <a:lnSpc>
                <a:spcPts val="3465"/>
              </a:lnSpc>
            </a:pPr>
            <a:r>
              <a:rPr lang="zh-CN" altLang="en-US" sz="1800" dirty="0">
                <a:latin typeface="微软雅黑" panose="020B0503020204020204" pitchFamily="34" charset="-122"/>
                <a:ea typeface="微软雅黑" panose="020B0503020204020204" pitchFamily="34" charset="-122"/>
                <a:sym typeface="+mn-ea"/>
              </a:rPr>
              <a:t>应用责任部门原则上</a:t>
            </a:r>
            <a:r>
              <a:rPr lang="zh-CN" altLang="en-US" sz="18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不得建设和运维其他非涉密的集成运行平台</a:t>
            </a:r>
          </a:p>
        </p:txBody>
      </p:sp>
    </p:spTree>
    <p:extLst>
      <p:ext uri="{BB962C8B-B14F-4D97-AF65-F5344CB8AC3E}">
        <p14:creationId xmlns:p14="http://schemas.microsoft.com/office/powerpoint/2010/main" val="3206418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A40E6-380F-9951-0691-FD8DDE588F08}"/>
              </a:ext>
            </a:extLst>
          </p:cNvPr>
          <p:cNvSpPr>
            <a:spLocks noGrp="1"/>
          </p:cNvSpPr>
          <p:nvPr>
            <p:ph type="title"/>
          </p:nvPr>
        </p:nvSpPr>
        <p:spPr/>
        <p:txBody>
          <a:bodyPr/>
          <a:lstStyle/>
          <a:p>
            <a:r>
              <a:rPr kumimoji="1" lang="en-US" altLang="zh-CN" dirty="0"/>
              <a:t>02 </a:t>
            </a:r>
            <a:r>
              <a:rPr kumimoji="1" lang="zh-CN" altLang="en-US" dirty="0"/>
              <a:t>应用谋划</a:t>
            </a:r>
          </a:p>
        </p:txBody>
      </p:sp>
    </p:spTree>
    <p:extLst>
      <p:ext uri="{BB962C8B-B14F-4D97-AF65-F5344CB8AC3E}">
        <p14:creationId xmlns:p14="http://schemas.microsoft.com/office/powerpoint/2010/main" val="3090511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2.1</a:t>
            </a:r>
            <a:r>
              <a:rPr kumimoji="1" lang="zh-CN" altLang="en-US" dirty="0"/>
              <a:t>“三张清单”阶段流程 </a:t>
            </a:r>
          </a:p>
        </p:txBody>
      </p:sp>
      <p:graphicFrame>
        <p:nvGraphicFramePr>
          <p:cNvPr id="3" name="图示 2">
            <a:extLst>
              <a:ext uri="{FF2B5EF4-FFF2-40B4-BE49-F238E27FC236}">
                <a16:creationId xmlns:a16="http://schemas.microsoft.com/office/drawing/2014/main" id="{78FBC8F1-B6A0-C7CE-9526-0C407C8D9E6D}"/>
              </a:ext>
            </a:extLst>
          </p:cNvPr>
          <p:cNvGraphicFramePr/>
          <p:nvPr>
            <p:extLst>
              <p:ext uri="{D42A27DB-BD31-4B8C-83A1-F6EECF244321}">
                <p14:modId xmlns:p14="http://schemas.microsoft.com/office/powerpoint/2010/main" val="2028155148"/>
              </p:ext>
            </p:extLst>
          </p:nvPr>
        </p:nvGraphicFramePr>
        <p:xfrm>
          <a:off x="3583926" y="1782085"/>
          <a:ext cx="4973347" cy="39982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矩形 3">
            <a:extLst>
              <a:ext uri="{FF2B5EF4-FFF2-40B4-BE49-F238E27FC236}">
                <a16:creationId xmlns:a16="http://schemas.microsoft.com/office/drawing/2014/main" id="{D612883E-AFC2-0B78-39B9-D80D8E106291}"/>
              </a:ext>
            </a:extLst>
          </p:cNvPr>
          <p:cNvSpPr/>
          <p:nvPr/>
        </p:nvSpPr>
        <p:spPr>
          <a:xfrm>
            <a:off x="8868410" y="1820081"/>
            <a:ext cx="550545" cy="37661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65" b="1" spc="300" dirty="0">
                <a:latin typeface="微软雅黑" panose="020B0503020204020204" pitchFamily="34" charset="-122"/>
                <a:ea typeface="微软雅黑" panose="020B0503020204020204" pitchFamily="34" charset="-122"/>
              </a:rPr>
              <a:t>应用全周期管理系统线上申报</a:t>
            </a:r>
          </a:p>
        </p:txBody>
      </p:sp>
      <p:sp>
        <p:nvSpPr>
          <p:cNvPr id="5" name="矩形 4">
            <a:extLst>
              <a:ext uri="{FF2B5EF4-FFF2-40B4-BE49-F238E27FC236}">
                <a16:creationId xmlns:a16="http://schemas.microsoft.com/office/drawing/2014/main" id="{92FFFAA4-385C-0214-6D94-13725B1A1D50}"/>
              </a:ext>
            </a:extLst>
          </p:cNvPr>
          <p:cNvSpPr/>
          <p:nvPr/>
        </p:nvSpPr>
        <p:spPr>
          <a:xfrm>
            <a:off x="2796959" y="1820185"/>
            <a:ext cx="576000" cy="396010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市委改革办统筹</a:t>
            </a:r>
          </a:p>
        </p:txBody>
      </p:sp>
      <p:sp>
        <p:nvSpPr>
          <p:cNvPr id="6" name="Text Box 22">
            <a:extLst>
              <a:ext uri="{FF2B5EF4-FFF2-40B4-BE49-F238E27FC236}">
                <a16:creationId xmlns:a16="http://schemas.microsoft.com/office/drawing/2014/main" id="{EB75890D-6DC0-589B-3023-568C263853C5}"/>
              </a:ext>
            </a:extLst>
          </p:cNvPr>
          <p:cNvSpPr txBox="1">
            <a:spLocks noChangeArrowheads="1"/>
          </p:cNvSpPr>
          <p:nvPr>
            <p:custDataLst>
              <p:tags r:id="rId1"/>
            </p:custDataLst>
          </p:nvPr>
        </p:nvSpPr>
        <p:spPr bwMode="gray">
          <a:xfrm>
            <a:off x="2035387" y="5812086"/>
            <a:ext cx="8301567" cy="606213"/>
          </a:xfrm>
          <a:prstGeom prst="rect">
            <a:avLst/>
          </a:prstGeom>
          <a:noFill/>
          <a:ln w="9525">
            <a:noFill/>
            <a:miter lim="800000"/>
          </a:ln>
          <a:effectLst/>
          <a:extLst>
            <a:ext uri="{909E8E84-426E-40DD-AFC4-6F175D3DCCD1}">
              <a14:hiddenFill xmlns:a14="http://schemas.microsoft.com/office/drawing/2010/main">
                <a:solidFill>
                  <a:srgbClr val="0F6FC6"/>
                </a:solidFill>
              </a14:hiddenFill>
            </a:ext>
            <a:ext uri="{AF507438-7753-43E0-B8FC-AC1667EBCBE1}">
              <a14:hiddenEffects xmlns:a14="http://schemas.microsoft.com/office/drawing/2010/main">
                <a:effectLst>
                  <a:outerShdw dist="35921" dir="2700000" algn="ctr" rotWithShape="0">
                    <a:srgbClr val="DBEFF9"/>
                  </a:outerShdw>
                </a:effectLst>
              </a14:hiddenEffects>
            </a:ext>
          </a:extLst>
        </p:spPr>
        <p:txBody>
          <a:bodyPr wrap="square" lIns="0" tIns="0" rIns="0" bIns="0" anchor="ctr" anchorCtr="0">
            <a:normAutofit/>
          </a:bodyPr>
          <a:lstStyle>
            <a:lvl1pPr eaLnBrk="0" hangingPunct="0">
              <a:defRPr i="1">
                <a:solidFill>
                  <a:sysClr val="windowText" lastClr="000000"/>
                </a:solidFill>
                <a:latin typeface="Arial" panose="020B0604020202020204" pitchFamily="34" charset="0"/>
              </a:defRPr>
            </a:lvl1pPr>
            <a:lvl2pPr marL="742950" indent="-285750" eaLnBrk="0" hangingPunct="0">
              <a:defRPr i="1">
                <a:solidFill>
                  <a:sysClr val="windowText" lastClr="000000"/>
                </a:solidFill>
                <a:latin typeface="Arial" panose="020B0604020202020204" pitchFamily="34" charset="0"/>
              </a:defRPr>
            </a:lvl2pPr>
            <a:lvl3pPr marL="1143000" indent="-228600" eaLnBrk="0" hangingPunct="0">
              <a:defRPr i="1">
                <a:solidFill>
                  <a:sysClr val="windowText" lastClr="000000"/>
                </a:solidFill>
                <a:latin typeface="Arial" panose="020B0604020202020204" pitchFamily="34" charset="0"/>
              </a:defRPr>
            </a:lvl3pPr>
            <a:lvl4pPr marL="1600200" indent="-228600" eaLnBrk="0" hangingPunct="0">
              <a:defRPr i="1">
                <a:solidFill>
                  <a:sysClr val="windowText" lastClr="000000"/>
                </a:solidFill>
                <a:latin typeface="Arial" panose="020B0604020202020204" pitchFamily="34" charset="0"/>
              </a:defRPr>
            </a:lvl4pPr>
            <a:lvl5pPr marL="2057400" indent="-228600" eaLnBrk="0" hangingPunct="0">
              <a:defRPr i="1">
                <a:solidFill>
                  <a:sysClr val="windowText" lastClr="000000"/>
                </a:solidFill>
                <a:latin typeface="Arial" panose="020B0604020202020204" pitchFamily="34" charset="0"/>
              </a:defRPr>
            </a:lvl5pPr>
            <a:lvl6pPr marL="2514600" indent="-228600" algn="ctr" eaLnBrk="0" fontAlgn="base" hangingPunct="0">
              <a:spcBef>
                <a:spcPct val="0"/>
              </a:spcBef>
              <a:spcAft>
                <a:spcPct val="0"/>
              </a:spcAft>
              <a:defRPr i="1">
                <a:solidFill>
                  <a:sysClr val="windowText" lastClr="000000"/>
                </a:solidFill>
                <a:latin typeface="Arial" panose="020B0604020202020204" pitchFamily="34" charset="0"/>
              </a:defRPr>
            </a:lvl6pPr>
            <a:lvl7pPr marL="2971800" indent="-228600" algn="ctr" eaLnBrk="0" fontAlgn="base" hangingPunct="0">
              <a:spcBef>
                <a:spcPct val="0"/>
              </a:spcBef>
              <a:spcAft>
                <a:spcPct val="0"/>
              </a:spcAft>
              <a:defRPr i="1">
                <a:solidFill>
                  <a:sysClr val="windowText" lastClr="000000"/>
                </a:solidFill>
                <a:latin typeface="Arial" panose="020B0604020202020204" pitchFamily="34" charset="0"/>
              </a:defRPr>
            </a:lvl7pPr>
            <a:lvl8pPr marL="3429000" indent="-228600" algn="ctr" eaLnBrk="0" fontAlgn="base" hangingPunct="0">
              <a:spcBef>
                <a:spcPct val="0"/>
              </a:spcBef>
              <a:spcAft>
                <a:spcPct val="0"/>
              </a:spcAft>
              <a:defRPr i="1">
                <a:solidFill>
                  <a:sysClr val="windowText" lastClr="000000"/>
                </a:solidFill>
                <a:latin typeface="Arial" panose="020B0604020202020204" pitchFamily="34" charset="0"/>
              </a:defRPr>
            </a:lvl8pPr>
            <a:lvl9pPr marL="3886200" indent="-228600" algn="ctr" eaLnBrk="0" fontAlgn="base" hangingPunct="0">
              <a:spcBef>
                <a:spcPct val="0"/>
              </a:spcBef>
              <a:spcAft>
                <a:spcPct val="0"/>
              </a:spcAft>
              <a:defRPr i="1">
                <a:solidFill>
                  <a:sysClr val="windowText" lastClr="000000"/>
                </a:solidFill>
                <a:latin typeface="Arial" panose="020B0604020202020204" pitchFamily="34" charset="0"/>
              </a:defRPr>
            </a:lvl9pPr>
          </a:lstStyle>
          <a:p>
            <a:pPr algn="ctr" defTabSz="1219200">
              <a:defRPr/>
            </a:pPr>
            <a:r>
              <a:rPr lang="zh-CN" altLang="en-US" b="1" i="0"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纳入“一本账”后，即可启动应用申报</a:t>
            </a:r>
          </a:p>
        </p:txBody>
      </p:sp>
    </p:spTree>
    <p:extLst>
      <p:ext uri="{BB962C8B-B14F-4D97-AF65-F5344CB8AC3E}">
        <p14:creationId xmlns:p14="http://schemas.microsoft.com/office/powerpoint/2010/main" val="4031286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2.2</a:t>
            </a:r>
            <a:r>
              <a:rPr kumimoji="1" lang="zh-CN" altLang="en-US" dirty="0"/>
              <a:t>应用谋划原则及要求</a:t>
            </a:r>
          </a:p>
        </p:txBody>
      </p:sp>
      <p:sp>
        <p:nvSpPr>
          <p:cNvPr id="7" name="文本框 6">
            <a:extLst>
              <a:ext uri="{FF2B5EF4-FFF2-40B4-BE49-F238E27FC236}">
                <a16:creationId xmlns:a16="http://schemas.microsoft.com/office/drawing/2014/main" id="{03127F1D-3DAB-98E1-79E2-C505FF1AAAA7}"/>
              </a:ext>
            </a:extLst>
          </p:cNvPr>
          <p:cNvSpPr txBox="1"/>
          <p:nvPr>
            <p:custDataLst>
              <p:tags r:id="rId1"/>
            </p:custDataLst>
          </p:nvPr>
        </p:nvSpPr>
        <p:spPr>
          <a:xfrm>
            <a:off x="817123" y="1879859"/>
            <a:ext cx="1464733" cy="473287"/>
          </a:xfrm>
          <a:prstGeom prst="rect">
            <a:avLst/>
          </a:prstGeom>
        </p:spPr>
        <p:txBody>
          <a:bodyPr>
            <a:noAutofit/>
          </a:bodyPr>
          <a:lstStyle/>
          <a:p>
            <a:pPr algn="l"/>
            <a:r>
              <a:rPr lang="zh-CN" altLang="en-US" sz="2000" b="1" dirty="0">
                <a:solidFill>
                  <a:srgbClr val="C00000"/>
                </a:solidFill>
                <a:latin typeface="微软雅黑" panose="020B0503020204020204" pitchFamily="34" charset="-122"/>
                <a:ea typeface="微软雅黑" panose="020B0503020204020204" pitchFamily="34" charset="-122"/>
                <a:sym typeface="+mn-ea"/>
              </a:rPr>
              <a:t>五个坚持</a:t>
            </a:r>
          </a:p>
          <a:p>
            <a:pPr algn="l"/>
            <a:endPar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8" name="圆角矩形 4">
            <a:extLst>
              <a:ext uri="{FF2B5EF4-FFF2-40B4-BE49-F238E27FC236}">
                <a16:creationId xmlns:a16="http://schemas.microsoft.com/office/drawing/2014/main" id="{1560C843-4AFC-12F8-E5C8-9AD16C106C06}"/>
              </a:ext>
            </a:extLst>
          </p:cNvPr>
          <p:cNvSpPr/>
          <p:nvPr/>
        </p:nvSpPr>
        <p:spPr>
          <a:xfrm>
            <a:off x="872312" y="2479539"/>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需求导向</a:t>
            </a:r>
          </a:p>
        </p:txBody>
      </p:sp>
      <p:sp>
        <p:nvSpPr>
          <p:cNvPr id="9" name="圆角矩形 5">
            <a:extLst>
              <a:ext uri="{FF2B5EF4-FFF2-40B4-BE49-F238E27FC236}">
                <a16:creationId xmlns:a16="http://schemas.microsoft.com/office/drawing/2014/main" id="{501DB1B9-2E3D-0EBA-6149-D1A185B2FC4A}"/>
              </a:ext>
            </a:extLst>
          </p:cNvPr>
          <p:cNvSpPr/>
          <p:nvPr>
            <p:custDataLst>
              <p:tags r:id="rId2"/>
            </p:custDataLst>
          </p:nvPr>
        </p:nvSpPr>
        <p:spPr>
          <a:xfrm>
            <a:off x="3080419" y="2479539"/>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统筹管理</a:t>
            </a:r>
          </a:p>
        </p:txBody>
      </p:sp>
      <p:sp>
        <p:nvSpPr>
          <p:cNvPr id="10" name="圆角矩形 6">
            <a:extLst>
              <a:ext uri="{FF2B5EF4-FFF2-40B4-BE49-F238E27FC236}">
                <a16:creationId xmlns:a16="http://schemas.microsoft.com/office/drawing/2014/main" id="{FF012A8E-26D9-465B-72F3-4C7F5FAB5FC3}"/>
              </a:ext>
            </a:extLst>
          </p:cNvPr>
          <p:cNvSpPr/>
          <p:nvPr>
            <p:custDataLst>
              <p:tags r:id="rId3"/>
            </p:custDataLst>
          </p:nvPr>
        </p:nvSpPr>
        <p:spPr>
          <a:xfrm>
            <a:off x="5192006" y="2479539"/>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多跨协同</a:t>
            </a:r>
          </a:p>
        </p:txBody>
      </p:sp>
      <p:sp>
        <p:nvSpPr>
          <p:cNvPr id="11" name="圆角矩形 7">
            <a:extLst>
              <a:ext uri="{FF2B5EF4-FFF2-40B4-BE49-F238E27FC236}">
                <a16:creationId xmlns:a16="http://schemas.microsoft.com/office/drawing/2014/main" id="{FA14530E-F172-E1F5-DC39-35FF7C98B37F}"/>
              </a:ext>
            </a:extLst>
          </p:cNvPr>
          <p:cNvSpPr/>
          <p:nvPr>
            <p:custDataLst>
              <p:tags r:id="rId4"/>
            </p:custDataLst>
          </p:nvPr>
        </p:nvSpPr>
        <p:spPr>
          <a:xfrm>
            <a:off x="7400112" y="2479539"/>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变革重塑</a:t>
            </a:r>
          </a:p>
        </p:txBody>
      </p:sp>
      <p:sp>
        <p:nvSpPr>
          <p:cNvPr id="12" name="圆角矩形 8">
            <a:extLst>
              <a:ext uri="{FF2B5EF4-FFF2-40B4-BE49-F238E27FC236}">
                <a16:creationId xmlns:a16="http://schemas.microsoft.com/office/drawing/2014/main" id="{4D85373F-24C4-30EC-D7F3-5033951A5B53}"/>
              </a:ext>
            </a:extLst>
          </p:cNvPr>
          <p:cNvSpPr/>
          <p:nvPr>
            <p:custDataLst>
              <p:tags r:id="rId5"/>
            </p:custDataLst>
          </p:nvPr>
        </p:nvSpPr>
        <p:spPr>
          <a:xfrm>
            <a:off x="9511699" y="2479539"/>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安全发展</a:t>
            </a:r>
          </a:p>
        </p:txBody>
      </p:sp>
      <p:sp>
        <p:nvSpPr>
          <p:cNvPr id="13" name="文本框 12">
            <a:extLst>
              <a:ext uri="{FF2B5EF4-FFF2-40B4-BE49-F238E27FC236}">
                <a16:creationId xmlns:a16="http://schemas.microsoft.com/office/drawing/2014/main" id="{AB733FDF-60F6-7934-A17C-F280EED62E04}"/>
              </a:ext>
            </a:extLst>
          </p:cNvPr>
          <p:cNvSpPr txBox="1"/>
          <p:nvPr>
            <p:custDataLst>
              <p:tags r:id="rId6"/>
            </p:custDataLst>
          </p:nvPr>
        </p:nvSpPr>
        <p:spPr>
          <a:xfrm>
            <a:off x="817970" y="4041399"/>
            <a:ext cx="1464733" cy="473287"/>
          </a:xfrm>
          <a:prstGeom prst="rect">
            <a:avLst/>
          </a:prstGeom>
        </p:spPr>
        <p:txBody>
          <a:bodyPr>
            <a:noAutofit/>
          </a:bodyPr>
          <a:lstStyle>
            <a:defPPr>
              <a:defRPr lang="zh-CN"/>
            </a:defPPr>
            <a:lvl1pPr>
              <a:defRPr sz="24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sz="2000" dirty="0">
                <a:solidFill>
                  <a:srgbClr val="C00000"/>
                </a:solidFill>
                <a:sym typeface="+mn-ea"/>
              </a:rPr>
              <a:t>五个“一”</a:t>
            </a:r>
          </a:p>
          <a:p>
            <a:endParaRPr lang="zh-CN" altLang="en-US" sz="2000" dirty="0">
              <a:solidFill>
                <a:srgbClr val="C00000"/>
              </a:solidFill>
              <a:sym typeface="+mn-ea"/>
            </a:endParaRPr>
          </a:p>
        </p:txBody>
      </p:sp>
      <p:sp>
        <p:nvSpPr>
          <p:cNvPr id="14" name="圆角矩形 14">
            <a:extLst>
              <a:ext uri="{FF2B5EF4-FFF2-40B4-BE49-F238E27FC236}">
                <a16:creationId xmlns:a16="http://schemas.microsoft.com/office/drawing/2014/main" id="{24213B26-61E6-1F6B-10B5-03CCA9AF949E}"/>
              </a:ext>
            </a:extLst>
          </p:cNvPr>
          <p:cNvSpPr/>
          <p:nvPr>
            <p:custDataLst>
              <p:tags r:id="rId7"/>
            </p:custDataLst>
          </p:nvPr>
        </p:nvSpPr>
        <p:spPr>
          <a:xfrm>
            <a:off x="872312" y="4602087"/>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一平台</a:t>
            </a:r>
          </a:p>
        </p:txBody>
      </p:sp>
      <p:sp>
        <p:nvSpPr>
          <p:cNvPr id="15" name="圆角矩形 16">
            <a:extLst>
              <a:ext uri="{FF2B5EF4-FFF2-40B4-BE49-F238E27FC236}">
                <a16:creationId xmlns:a16="http://schemas.microsoft.com/office/drawing/2014/main" id="{9654E782-AEA2-CAA3-992A-324887CEF63A}"/>
              </a:ext>
            </a:extLst>
          </p:cNvPr>
          <p:cNvSpPr/>
          <p:nvPr>
            <p:custDataLst>
              <p:tags r:id="rId8"/>
            </p:custDataLst>
          </p:nvPr>
        </p:nvSpPr>
        <p:spPr>
          <a:xfrm>
            <a:off x="3080419" y="4602087"/>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一朵云</a:t>
            </a:r>
          </a:p>
        </p:txBody>
      </p:sp>
      <p:sp>
        <p:nvSpPr>
          <p:cNvPr id="16" name="圆角矩形 20">
            <a:extLst>
              <a:ext uri="{FF2B5EF4-FFF2-40B4-BE49-F238E27FC236}">
                <a16:creationId xmlns:a16="http://schemas.microsoft.com/office/drawing/2014/main" id="{12D4F43C-8B54-9EA9-0611-F8145CAF58DB}"/>
              </a:ext>
            </a:extLst>
          </p:cNvPr>
          <p:cNvSpPr/>
          <p:nvPr>
            <p:custDataLst>
              <p:tags r:id="rId9"/>
            </p:custDataLst>
          </p:nvPr>
        </p:nvSpPr>
        <p:spPr>
          <a:xfrm>
            <a:off x="5192006" y="4602087"/>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一张网</a:t>
            </a:r>
          </a:p>
        </p:txBody>
      </p:sp>
      <p:sp>
        <p:nvSpPr>
          <p:cNvPr id="17" name="圆角矩形 21">
            <a:extLst>
              <a:ext uri="{FF2B5EF4-FFF2-40B4-BE49-F238E27FC236}">
                <a16:creationId xmlns:a16="http://schemas.microsoft.com/office/drawing/2014/main" id="{9074E8CC-7F31-33B6-0138-BE1EFC960F44}"/>
              </a:ext>
            </a:extLst>
          </p:cNvPr>
          <p:cNvSpPr/>
          <p:nvPr>
            <p:custDataLst>
              <p:tags r:id="rId10"/>
            </p:custDataLst>
          </p:nvPr>
        </p:nvSpPr>
        <p:spPr>
          <a:xfrm>
            <a:off x="7400112" y="4602087"/>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一组库</a:t>
            </a:r>
          </a:p>
        </p:txBody>
      </p:sp>
      <p:sp>
        <p:nvSpPr>
          <p:cNvPr id="18" name="圆角矩形 22">
            <a:extLst>
              <a:ext uri="{FF2B5EF4-FFF2-40B4-BE49-F238E27FC236}">
                <a16:creationId xmlns:a16="http://schemas.microsoft.com/office/drawing/2014/main" id="{CEE97715-94A2-F6F2-3829-96C6F0CBC87E}"/>
              </a:ext>
            </a:extLst>
          </p:cNvPr>
          <p:cNvSpPr/>
          <p:nvPr>
            <p:custDataLst>
              <p:tags r:id="rId11"/>
            </p:custDataLst>
          </p:nvPr>
        </p:nvSpPr>
        <p:spPr>
          <a:xfrm>
            <a:off x="9511699" y="4602087"/>
            <a:ext cx="1791547" cy="672253"/>
          </a:xfrm>
          <a:prstGeom prst="roundRect">
            <a:avLst/>
          </a:prstGeom>
          <a:solidFill>
            <a:srgbClr val="0070C0"/>
          </a:solidFill>
          <a:ln>
            <a:solidFill>
              <a:schemeClr val="bg1"/>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一本账</a:t>
            </a:r>
          </a:p>
        </p:txBody>
      </p:sp>
      <p:cxnSp>
        <p:nvCxnSpPr>
          <p:cNvPr id="19" name="直接连接符 18">
            <a:extLst>
              <a:ext uri="{FF2B5EF4-FFF2-40B4-BE49-F238E27FC236}">
                <a16:creationId xmlns:a16="http://schemas.microsoft.com/office/drawing/2014/main" id="{0B0A7E5B-7D5C-5558-F0E8-B0B6F5EC2EF1}"/>
              </a:ext>
            </a:extLst>
          </p:cNvPr>
          <p:cNvCxnSpPr>
            <a:stCxn id="7" idx="3"/>
          </p:cNvCxnSpPr>
          <p:nvPr/>
        </p:nvCxnSpPr>
        <p:spPr>
          <a:xfrm flipV="1">
            <a:off x="2281856" y="2094420"/>
            <a:ext cx="8760883" cy="22083"/>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D8DC8B1-FEFA-B731-2705-3A03F3D95E35}"/>
              </a:ext>
            </a:extLst>
          </p:cNvPr>
          <p:cNvCxnSpPr/>
          <p:nvPr/>
        </p:nvCxnSpPr>
        <p:spPr>
          <a:xfrm flipV="1">
            <a:off x="2281856" y="4278042"/>
            <a:ext cx="8760883" cy="22083"/>
          </a:xfrm>
          <a:prstGeom prst="line">
            <a:avLst/>
          </a:prstGeom>
          <a:ln w="95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1042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顶角 88">
            <a:extLst>
              <a:ext uri="{FF2B5EF4-FFF2-40B4-BE49-F238E27FC236}">
                <a16:creationId xmlns:a16="http://schemas.microsoft.com/office/drawing/2014/main" id="{B745067E-6950-7475-FAB8-6105E60927BF}"/>
              </a:ext>
            </a:extLst>
          </p:cNvPr>
          <p:cNvSpPr/>
          <p:nvPr/>
        </p:nvSpPr>
        <p:spPr>
          <a:xfrm flipV="1">
            <a:off x="1021976" y="2148378"/>
            <a:ext cx="10239252" cy="2370155"/>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1" name="矩形: 圆顶角 88">
            <a:extLst>
              <a:ext uri="{FF2B5EF4-FFF2-40B4-BE49-F238E27FC236}">
                <a16:creationId xmlns:a16="http://schemas.microsoft.com/office/drawing/2014/main" id="{74233A2E-4522-FE27-0342-E698C23CE332}"/>
              </a:ext>
            </a:extLst>
          </p:cNvPr>
          <p:cNvSpPr/>
          <p:nvPr/>
        </p:nvSpPr>
        <p:spPr>
          <a:xfrm flipV="1">
            <a:off x="1021976" y="4705258"/>
            <a:ext cx="10239252" cy="1579629"/>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2.3</a:t>
            </a:r>
            <a:r>
              <a:rPr kumimoji="1" lang="zh-CN" altLang="en-US" dirty="0"/>
              <a:t>应用种类</a:t>
            </a:r>
          </a:p>
        </p:txBody>
      </p:sp>
      <p:sp>
        <p:nvSpPr>
          <p:cNvPr id="3" name="文本框 2">
            <a:extLst>
              <a:ext uri="{FF2B5EF4-FFF2-40B4-BE49-F238E27FC236}">
                <a16:creationId xmlns:a16="http://schemas.microsoft.com/office/drawing/2014/main" id="{2D4CA59E-0387-F996-EE4A-EF7655ADA0B8}"/>
              </a:ext>
            </a:extLst>
          </p:cNvPr>
          <p:cNvSpPr txBox="1"/>
          <p:nvPr/>
        </p:nvSpPr>
        <p:spPr>
          <a:xfrm>
            <a:off x="3009477" y="1704252"/>
            <a:ext cx="6173047" cy="400110"/>
          </a:xfrm>
          <a:prstGeom prst="rect">
            <a:avLst/>
          </a:prstGeom>
        </p:spPr>
        <p:txBody>
          <a:bodyPr wrap="square">
            <a:spAutoFit/>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应用分为涉密应用和非涉密应用</a:t>
            </a:r>
            <a:r>
              <a:rPr lang="en-US" altLang="zh-CN" sz="2000" b="1" dirty="0">
                <a:solidFill>
                  <a:srgbClr val="C00000"/>
                </a:solidFill>
                <a:latin typeface="微软雅黑" panose="020B0503020204020204" pitchFamily="34" charset="-122"/>
                <a:ea typeface="微软雅黑" panose="020B0503020204020204" pitchFamily="34" charset="-122"/>
              </a:rPr>
              <a:t>2</a:t>
            </a:r>
            <a:r>
              <a:rPr lang="zh-CN" altLang="en-US" sz="2000" b="1" dirty="0">
                <a:solidFill>
                  <a:srgbClr val="C00000"/>
                </a:solidFill>
                <a:latin typeface="微软雅黑" panose="020B0503020204020204" pitchFamily="34" charset="-122"/>
                <a:ea typeface="微软雅黑" panose="020B0503020204020204" pitchFamily="34" charset="-122"/>
              </a:rPr>
              <a:t>类</a:t>
            </a:r>
          </a:p>
        </p:txBody>
      </p:sp>
      <p:sp>
        <p:nvSpPr>
          <p:cNvPr id="4" name="文本框 3">
            <a:extLst>
              <a:ext uri="{FF2B5EF4-FFF2-40B4-BE49-F238E27FC236}">
                <a16:creationId xmlns:a16="http://schemas.microsoft.com/office/drawing/2014/main" id="{E6329CFF-3D70-641B-5150-28C5FD3BE5BC}"/>
              </a:ext>
            </a:extLst>
          </p:cNvPr>
          <p:cNvSpPr txBox="1"/>
          <p:nvPr>
            <p:custDataLst>
              <p:tags r:id="rId1"/>
            </p:custDataLst>
          </p:nvPr>
        </p:nvSpPr>
        <p:spPr>
          <a:xfrm>
            <a:off x="971973" y="2166068"/>
            <a:ext cx="10198051" cy="2352466"/>
          </a:xfrm>
          <a:prstGeom prst="roundRect">
            <a:avLst>
              <a:gd name="adj" fmla="val 7059"/>
            </a:avLst>
          </a:prstGeom>
          <a:noFill/>
          <a:ln w="12700">
            <a:noFill/>
          </a:ln>
        </p:spPr>
        <p:txBody>
          <a:bodyPr wrap="square">
            <a:spAutoFit/>
          </a:bodyPr>
          <a:lstStyle/>
          <a:p>
            <a:pPr>
              <a:lnSpc>
                <a:spcPct val="1500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非涉密应用</a:t>
            </a:r>
            <a:endParaRPr lang="zh-CN" altLang="en-US" sz="1600" dirty="0">
              <a:solidFill>
                <a:srgbClr val="C00000"/>
              </a:solidFill>
              <a:latin typeface="微软雅黑" panose="020B0503020204020204" pitchFamily="34" charset="-122"/>
              <a:ea typeface="微软雅黑" panose="020B0503020204020204" pitchFamily="34" charset="-122"/>
              <a:cs typeface="方正仿宋_GBK" panose="02000000000000000000" charset="-122"/>
            </a:endParaRPr>
          </a:p>
          <a:p>
            <a:pPr>
              <a:lnSpc>
                <a:spcPct val="150000"/>
              </a:lnSpc>
            </a:pPr>
            <a:r>
              <a:rPr lang="zh-CN" altLang="en-US" sz="1600" b="1" dirty="0">
                <a:solidFill>
                  <a:srgbClr val="C00000"/>
                </a:solidFill>
                <a:latin typeface="微软雅黑" panose="020B0503020204020204" pitchFamily="34" charset="-122"/>
                <a:ea typeface="微软雅黑" panose="020B0503020204020204" pitchFamily="34" charset="-122"/>
                <a:cs typeface="方正仿宋_GBK" panose="02000000000000000000" charset="-122"/>
              </a:rPr>
              <a:t>业务应用类：</a:t>
            </a:r>
            <a:r>
              <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rPr>
              <a:t>①</a:t>
            </a:r>
            <a:r>
              <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sym typeface="+mn-ea"/>
              </a:rPr>
              <a:t>符合“三张清单”逻辑主线，符合多跨协同等一体化、集约化、协同化规范要求主要为全市性的多融跨场景应用。</a:t>
            </a:r>
            <a:endParaRPr lang="en-US" altLang="zh-CN"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sym typeface="+mn-ea"/>
            </a:endParaRPr>
          </a:p>
          <a:p>
            <a:pPr>
              <a:lnSpc>
                <a:spcPct val="150000"/>
              </a:lnSpc>
            </a:pPr>
            <a:r>
              <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sym typeface="+mn-ea"/>
              </a:rPr>
              <a:t>②依托“一体化平台”对党政机关内部或各条线分级分散开发的存量应用进一步整合迭代。</a:t>
            </a:r>
            <a:endPar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endParaRPr>
          </a:p>
          <a:p>
            <a:pPr>
              <a:lnSpc>
                <a:spcPct val="1500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基础设施类</a:t>
            </a:r>
            <a:r>
              <a:rPr lang="zh-CN" altLang="en-US" sz="1600"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a:t>
            </a:r>
            <a:r>
              <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sym typeface="+mn-ea"/>
              </a:rPr>
              <a:t>包括“一体化平台”、“三级治理中心”有关应用，为全市非涉密应用开发和运维提供所需的数字资源及三级一体部署的支撑能力。</a:t>
            </a:r>
          </a:p>
        </p:txBody>
      </p:sp>
      <p:sp>
        <p:nvSpPr>
          <p:cNvPr id="5" name="文本框 4">
            <a:extLst>
              <a:ext uri="{FF2B5EF4-FFF2-40B4-BE49-F238E27FC236}">
                <a16:creationId xmlns:a16="http://schemas.microsoft.com/office/drawing/2014/main" id="{2032C2F5-21DD-D060-8AC3-D92D69AB96CA}"/>
              </a:ext>
            </a:extLst>
          </p:cNvPr>
          <p:cNvSpPr txBox="1"/>
          <p:nvPr>
            <p:custDataLst>
              <p:tags r:id="rId2"/>
            </p:custDataLst>
          </p:nvPr>
        </p:nvSpPr>
        <p:spPr>
          <a:xfrm>
            <a:off x="971973" y="4589957"/>
            <a:ext cx="10198051" cy="1845733"/>
          </a:xfrm>
          <a:prstGeom prst="roundRect">
            <a:avLst>
              <a:gd name="adj" fmla="val 13227"/>
            </a:avLst>
          </a:prstGeom>
          <a:noFill/>
          <a:ln w="12700">
            <a:noFill/>
          </a:ln>
        </p:spPr>
        <p:txBody>
          <a:bodyPr wrap="square">
            <a:noAutofit/>
          </a:bodyPr>
          <a:lstStyle/>
          <a:p>
            <a:pPr defTabSz="1219200" eaLnBrk="0" hangingPunct="0">
              <a:lnSpc>
                <a:spcPct val="150000"/>
              </a:lnSpc>
              <a:defRPr/>
            </a:pPr>
            <a:r>
              <a:rPr lang="zh-CN" altLang="en-US" sz="1600" b="1" dirty="0">
                <a:solidFill>
                  <a:srgbClr val="C00000"/>
                </a:solidFill>
                <a:latin typeface="微软雅黑" panose="020B0503020204020204" pitchFamily="34" charset="-122"/>
                <a:ea typeface="微软雅黑" panose="020B0503020204020204" pitchFamily="34" charset="-122"/>
              </a:rPr>
              <a:t>涉密应用</a:t>
            </a:r>
          </a:p>
          <a:p>
            <a:pPr defTabSz="1219200" eaLnBrk="0" hangingPunct="0">
              <a:lnSpc>
                <a:spcPct val="150000"/>
              </a:lnSpc>
              <a:defRPr/>
            </a:pPr>
            <a:r>
              <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sym typeface="+mn-ea"/>
              </a:rPr>
              <a:t>①涉密应用不编目；</a:t>
            </a:r>
          </a:p>
          <a:p>
            <a:pPr defTabSz="1219200" eaLnBrk="0" hangingPunct="0">
              <a:lnSpc>
                <a:spcPct val="150000"/>
              </a:lnSpc>
              <a:defRPr/>
            </a:pPr>
            <a:r>
              <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sym typeface="+mn-ea"/>
              </a:rPr>
              <a:t>②涉密应用在谋划阶段原则上不按照“三张清单”有关规定进行；</a:t>
            </a:r>
          </a:p>
          <a:p>
            <a:pPr defTabSz="1219200" eaLnBrk="0" hangingPunct="0">
              <a:lnSpc>
                <a:spcPct val="150000"/>
              </a:lnSpc>
              <a:defRPr/>
            </a:pPr>
            <a:r>
              <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sym typeface="+mn-ea"/>
              </a:rPr>
              <a:t>③应遵循相关保密法律法规有关规定，采取切实有效手段，安全报送资料。</a:t>
            </a:r>
          </a:p>
          <a:p>
            <a:pPr defTabSz="1219200" eaLnBrk="0" hangingPunct="0">
              <a:lnSpc>
                <a:spcPct val="150000"/>
              </a:lnSpc>
              <a:defRPr/>
            </a:pPr>
            <a:endParaRPr lang="zh-CN" altLang="en-US" sz="1600" dirty="0">
              <a:solidFill>
                <a:prstClr val="black"/>
              </a:solidFill>
              <a:latin typeface="微软雅黑" panose="020B0503020204020204" pitchFamily="34" charset="-122"/>
              <a:ea typeface="微软雅黑" panose="020B0503020204020204" pitchFamily="34" charset="-122"/>
              <a:cs typeface="方正仿宋_GBK" panose="02000000000000000000" charset="-122"/>
              <a:sym typeface="+mn-ea"/>
            </a:endParaRPr>
          </a:p>
          <a:p>
            <a:pPr>
              <a:lnSpc>
                <a:spcPct val="150000"/>
              </a:lnSpc>
            </a:pP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9757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顶角 88">
            <a:extLst>
              <a:ext uri="{FF2B5EF4-FFF2-40B4-BE49-F238E27FC236}">
                <a16:creationId xmlns:a16="http://schemas.microsoft.com/office/drawing/2014/main" id="{F1D98C4B-0ACF-9736-3D39-C3EA1E948903}"/>
              </a:ext>
            </a:extLst>
          </p:cNvPr>
          <p:cNvSpPr/>
          <p:nvPr/>
        </p:nvSpPr>
        <p:spPr>
          <a:xfrm flipV="1">
            <a:off x="1021976" y="2251407"/>
            <a:ext cx="10239252" cy="1884699"/>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4" name="矩形: 圆顶角 88">
            <a:extLst>
              <a:ext uri="{FF2B5EF4-FFF2-40B4-BE49-F238E27FC236}">
                <a16:creationId xmlns:a16="http://schemas.microsoft.com/office/drawing/2014/main" id="{F2592619-80B8-D2E9-04ED-544FE600E211}"/>
              </a:ext>
            </a:extLst>
          </p:cNvPr>
          <p:cNvSpPr/>
          <p:nvPr/>
        </p:nvSpPr>
        <p:spPr>
          <a:xfrm flipV="1">
            <a:off x="1021976" y="4197698"/>
            <a:ext cx="10239252" cy="1884699"/>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2.4</a:t>
            </a:r>
            <a:r>
              <a:rPr kumimoji="1" lang="zh-CN" altLang="en-US" dirty="0"/>
              <a:t>应用的项目类别</a:t>
            </a:r>
          </a:p>
        </p:txBody>
      </p:sp>
      <p:sp>
        <p:nvSpPr>
          <p:cNvPr id="6" name="文本框 5">
            <a:extLst>
              <a:ext uri="{FF2B5EF4-FFF2-40B4-BE49-F238E27FC236}">
                <a16:creationId xmlns:a16="http://schemas.microsoft.com/office/drawing/2014/main" id="{0BD79F2B-B8F7-7259-1A2C-4AEF783DF71E}"/>
              </a:ext>
            </a:extLst>
          </p:cNvPr>
          <p:cNvSpPr txBox="1"/>
          <p:nvPr/>
        </p:nvSpPr>
        <p:spPr>
          <a:xfrm>
            <a:off x="3009477" y="1720378"/>
            <a:ext cx="6173047" cy="400110"/>
          </a:xfrm>
          <a:prstGeom prst="rect">
            <a:avLst/>
          </a:prstGeom>
        </p:spPr>
        <p:txBody>
          <a:bodyPr wrap="square">
            <a:spAutoFit/>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应用项目分为应用开发、应用运维类</a:t>
            </a:r>
          </a:p>
        </p:txBody>
      </p:sp>
      <p:sp>
        <p:nvSpPr>
          <p:cNvPr id="7" name="文本框 6">
            <a:extLst>
              <a:ext uri="{FF2B5EF4-FFF2-40B4-BE49-F238E27FC236}">
                <a16:creationId xmlns:a16="http://schemas.microsoft.com/office/drawing/2014/main" id="{AF2A9A82-EA42-1B3F-A396-0DBA95E55764}"/>
              </a:ext>
            </a:extLst>
          </p:cNvPr>
          <p:cNvSpPr txBox="1"/>
          <p:nvPr>
            <p:custDataLst>
              <p:tags r:id="rId1"/>
            </p:custDataLst>
          </p:nvPr>
        </p:nvSpPr>
        <p:spPr>
          <a:xfrm>
            <a:off x="1093893" y="5334469"/>
            <a:ext cx="10399607" cy="584775"/>
          </a:xfrm>
          <a:prstGeom prst="rect">
            <a:avLst/>
          </a:prstGeom>
          <a:ln>
            <a:noFill/>
          </a:ln>
        </p:spPr>
        <p:txBody>
          <a:bodyPr wrap="square">
            <a:spAutoFit/>
          </a:bodyPr>
          <a:lstStyle/>
          <a:p>
            <a:pPr algn="l"/>
            <a:endPar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cs typeface="方正仿宋_GBK" panose="02000000000000000000" charset="-122"/>
            </a:endParaRPr>
          </a:p>
          <a:p>
            <a:pPr algn="l"/>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cs typeface="方正仿宋_GBK" panose="02000000000000000000" charset="-122"/>
              </a:rPr>
              <a:t>特别说明：运维项目所包含的应用，</a:t>
            </a:r>
            <a:r>
              <a:rPr lang="zh-CN" altLang="en-US" sz="1600" b="1" kern="100" dirty="0">
                <a:solidFill>
                  <a:srgbClr val="C00000"/>
                </a:solidFill>
                <a:latin typeface="微软雅黑" panose="020B0503020204020204" pitchFamily="34" charset="-122"/>
                <a:ea typeface="微软雅黑" panose="020B0503020204020204" pitchFamily="34" charset="-122"/>
                <a:sym typeface="+mn-ea"/>
              </a:rPr>
              <a:t>上线投用且</a:t>
            </a:r>
            <a:r>
              <a:rPr lang="zh-CN" altLang="en-US" sz="1600" b="1" noProof="0" dirty="0">
                <a:ln>
                  <a:noFill/>
                </a:ln>
                <a:solidFill>
                  <a:srgbClr val="C00000"/>
                </a:solidFill>
                <a:effectLst/>
                <a:uLnTx/>
                <a:uFillTx/>
                <a:latin typeface="微软雅黑" panose="020B0503020204020204" pitchFamily="34" charset="-122"/>
                <a:ea typeface="微软雅黑" panose="020B0503020204020204" pitchFamily="34" charset="-122"/>
                <a:cs typeface="方正仿宋_GBK" panose="02000000000000000000" charset="-122"/>
              </a:rPr>
              <a:t>通过验收。</a:t>
            </a:r>
          </a:p>
        </p:txBody>
      </p:sp>
      <p:sp>
        <p:nvSpPr>
          <p:cNvPr id="8" name="文本框 7">
            <a:extLst>
              <a:ext uri="{FF2B5EF4-FFF2-40B4-BE49-F238E27FC236}">
                <a16:creationId xmlns:a16="http://schemas.microsoft.com/office/drawing/2014/main" id="{B3FC3EF7-D1AC-F962-469F-8A0D9400A903}"/>
              </a:ext>
            </a:extLst>
          </p:cNvPr>
          <p:cNvSpPr txBox="1"/>
          <p:nvPr>
            <p:custDataLst>
              <p:tags r:id="rId2"/>
            </p:custDataLst>
          </p:nvPr>
        </p:nvSpPr>
        <p:spPr>
          <a:xfrm>
            <a:off x="971973" y="2193299"/>
            <a:ext cx="10198051" cy="1807583"/>
          </a:xfrm>
          <a:prstGeom prst="roundRect">
            <a:avLst>
              <a:gd name="adj" fmla="val 7059"/>
            </a:avLst>
          </a:prstGeom>
          <a:noFill/>
          <a:ln w="12700">
            <a:noFill/>
          </a:ln>
        </p:spPr>
        <p:txBody>
          <a:bodyPr wrap="square">
            <a:spAutoFit/>
          </a:bodyPr>
          <a:lstStyle/>
          <a:p>
            <a:pPr>
              <a:lnSpc>
                <a:spcPts val="32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应用开发类项目</a:t>
            </a:r>
          </a:p>
          <a:p>
            <a:pPr>
              <a:lnSpc>
                <a:spcPts val="32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①利用财政性资金实现新开发的应用项目；</a:t>
            </a:r>
          </a:p>
          <a:p>
            <a:pPr>
              <a:lnSpc>
                <a:spcPts val="32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②开发过程中，因“三张清单”有调整需要重新论证的应用项目；</a:t>
            </a:r>
          </a:p>
          <a:p>
            <a:pPr>
              <a:lnSpc>
                <a:spcPts val="32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③已完成验收并开始正常运行，因“三张清单”有调整需要重新论证的应用项目。</a:t>
            </a:r>
          </a:p>
        </p:txBody>
      </p:sp>
      <p:sp>
        <p:nvSpPr>
          <p:cNvPr id="9" name="文本框 8">
            <a:extLst>
              <a:ext uri="{FF2B5EF4-FFF2-40B4-BE49-F238E27FC236}">
                <a16:creationId xmlns:a16="http://schemas.microsoft.com/office/drawing/2014/main" id="{3DB62014-4366-EB2D-4426-71AAA95206AA}"/>
              </a:ext>
            </a:extLst>
          </p:cNvPr>
          <p:cNvSpPr txBox="1"/>
          <p:nvPr>
            <p:custDataLst>
              <p:tags r:id="rId3"/>
            </p:custDataLst>
          </p:nvPr>
        </p:nvSpPr>
        <p:spPr>
          <a:xfrm>
            <a:off x="971973" y="4093916"/>
            <a:ext cx="10198051" cy="1377126"/>
          </a:xfrm>
          <a:prstGeom prst="roundRect">
            <a:avLst>
              <a:gd name="adj" fmla="val 7059"/>
            </a:avLst>
          </a:prstGeom>
          <a:noFill/>
          <a:ln w="12700">
            <a:noFill/>
          </a:ln>
        </p:spPr>
        <p:txBody>
          <a:bodyPr wrap="square">
            <a:spAutoFit/>
          </a:bodyPr>
          <a:lstStyle/>
          <a:p>
            <a:pPr>
              <a:lnSpc>
                <a:spcPts val="32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应用运维类项目</a:t>
            </a:r>
          </a:p>
          <a:p>
            <a:pPr>
              <a:lnSpc>
                <a:spcPts val="32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①已完成验收且已过质保期，为保障政务应用正常运行所开展的运行维护项目；</a:t>
            </a:r>
          </a:p>
          <a:p>
            <a:pPr>
              <a:lnSpc>
                <a:spcPts val="32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②已完成验收且已过质保期，“三张清单”未发生改变，但需要进行迭代的运行维护项目。</a:t>
            </a:r>
          </a:p>
        </p:txBody>
      </p:sp>
    </p:spTree>
    <p:extLst>
      <p:ext uri="{BB962C8B-B14F-4D97-AF65-F5344CB8AC3E}">
        <p14:creationId xmlns:p14="http://schemas.microsoft.com/office/powerpoint/2010/main" val="1384148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2.5</a:t>
            </a:r>
            <a:r>
              <a:rPr kumimoji="1" lang="zh-CN" altLang="en-US" dirty="0"/>
              <a:t>应用的开发模式</a:t>
            </a:r>
          </a:p>
        </p:txBody>
      </p:sp>
      <p:sp>
        <p:nvSpPr>
          <p:cNvPr id="3" name="矩形: 圆角 223">
            <a:extLst>
              <a:ext uri="{FF2B5EF4-FFF2-40B4-BE49-F238E27FC236}">
                <a16:creationId xmlns:a16="http://schemas.microsoft.com/office/drawing/2014/main" id="{07009C41-37F8-8F32-81C7-AE8397A1120C}"/>
              </a:ext>
            </a:extLst>
          </p:cNvPr>
          <p:cNvSpPr/>
          <p:nvPr>
            <p:custDataLst>
              <p:tags r:id="rId1"/>
            </p:custDataLst>
          </p:nvPr>
        </p:nvSpPr>
        <p:spPr>
          <a:xfrm>
            <a:off x="1133685" y="2106075"/>
            <a:ext cx="9800477" cy="554839"/>
          </a:xfrm>
          <a:prstGeom prst="roundRect">
            <a:avLst>
              <a:gd name="adj" fmla="val 3638"/>
            </a:avLst>
          </a:prstGeom>
          <a:solidFill>
            <a:schemeClr val="bg1"/>
          </a:solidFill>
          <a:ln w="12700" cap="flat" cmpd="sng" algn="ctr">
            <a:solidFill>
              <a:srgbClr val="0070C0"/>
            </a:solidFill>
            <a:prstDash val="solid"/>
            <a:miter lim="800000"/>
          </a:ln>
          <a:effectLst/>
        </p:spPr>
        <p:txBody>
          <a:bodyPr rtlCol="0" anchor="ctr"/>
          <a:lstStyle/>
          <a:p>
            <a:pPr algn="ctr" defTabSz="1219200">
              <a:lnSpc>
                <a:spcPct val="120000"/>
              </a:lnSpc>
            </a:pPr>
            <a:r>
              <a:rPr lang="zh-CN" altLang="en-US" sz="1600" dirty="0">
                <a:latin typeface="微软雅黑" panose="020B0503020204020204" pitchFamily="34" charset="-122"/>
                <a:ea typeface="微软雅黑" panose="020B0503020204020204" pitchFamily="34" charset="-122"/>
              </a:rPr>
              <a:t>市级应用责任部门商市级应用牵头部门统一开发和运维应用，并推动市级有关应用责任部门和区县共同使用</a:t>
            </a:r>
          </a:p>
        </p:txBody>
      </p:sp>
      <p:sp>
        <p:nvSpPr>
          <p:cNvPr id="4" name="矩形: 圆角 3">
            <a:extLst>
              <a:ext uri="{FF2B5EF4-FFF2-40B4-BE49-F238E27FC236}">
                <a16:creationId xmlns:a16="http://schemas.microsoft.com/office/drawing/2014/main" id="{1D468FAE-C586-C08D-AB29-5D4BE8BCBF2F}"/>
              </a:ext>
            </a:extLst>
          </p:cNvPr>
          <p:cNvSpPr/>
          <p:nvPr>
            <p:custDataLst>
              <p:tags r:id="rId2"/>
            </p:custDataLst>
          </p:nvPr>
        </p:nvSpPr>
        <p:spPr>
          <a:xfrm>
            <a:off x="4460663" y="1711681"/>
            <a:ext cx="3086947" cy="496993"/>
          </a:xfrm>
          <a:prstGeom prst="roundRect">
            <a:avLst>
              <a:gd name="adj" fmla="val 50000"/>
            </a:avLst>
          </a:prstGeom>
          <a:solidFill>
            <a:srgbClr val="0070C0"/>
          </a:solidFill>
          <a:ln w="12700" cap="flat" cmpd="sng" algn="ctr">
            <a:noFill/>
            <a:prstDash val="solid"/>
            <a:miter lim="800000"/>
          </a:ln>
          <a:effectLst/>
        </p:spPr>
        <p:txBody>
          <a:bodyPr rtlCol="0" anchor="ctr"/>
          <a:lstStyle/>
          <a:p>
            <a:pPr algn="ctr" defTabSz="1219200">
              <a:lnSpc>
                <a:spcPct val="120000"/>
              </a:lnSpc>
              <a:defRPr/>
            </a:pPr>
            <a:endParaRPr lang="zh-CN" altLang="en-US" sz="1600" dirty="0">
              <a:solidFill>
                <a:prstClr val="black"/>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CD2D1DDC-7986-606D-3DBA-67BF14EE779A}"/>
              </a:ext>
            </a:extLst>
          </p:cNvPr>
          <p:cNvSpPr txBox="1"/>
          <p:nvPr>
            <p:custDataLst>
              <p:tags r:id="rId3"/>
            </p:custDataLst>
          </p:nvPr>
        </p:nvSpPr>
        <p:spPr>
          <a:xfrm>
            <a:off x="4726546" y="1736590"/>
            <a:ext cx="2504942" cy="494453"/>
          </a:xfrm>
          <a:prstGeom prst="rect">
            <a:avLst/>
          </a:prstGeom>
          <a:noFill/>
        </p:spPr>
        <p:txBody>
          <a:bodyPr wrap="square" lIns="91440" tIns="45720" rIns="91440" bIns="45720" rtlCol="0" anchor="ctr">
            <a:normAutofit/>
          </a:bodyPr>
          <a:lstStyle/>
          <a:p>
            <a:pPr algn="ctr" defTabSz="1219200">
              <a:defRPr/>
            </a:pPr>
            <a:r>
              <a:rPr lang="zh-CN" altLang="en-US" sz="1600" b="1" dirty="0">
                <a:solidFill>
                  <a:prstClr val="white"/>
                </a:solidFill>
                <a:latin typeface="微软雅黑" panose="020B0503020204020204" pitchFamily="34" charset="-122"/>
                <a:ea typeface="微软雅黑" panose="020B0503020204020204" pitchFamily="34" charset="-122"/>
                <a:sym typeface="微软雅黑 Light" panose="020B0502040204020203" pitchFamily="34" charset="-122"/>
              </a:rPr>
              <a:t>统一开发、共同使用</a:t>
            </a:r>
            <a:endParaRPr lang="zh-CN" altLang="en-US" sz="1600" b="1" spc="4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矩形: 圆角 223">
            <a:extLst>
              <a:ext uri="{FF2B5EF4-FFF2-40B4-BE49-F238E27FC236}">
                <a16:creationId xmlns:a16="http://schemas.microsoft.com/office/drawing/2014/main" id="{6995F4A5-388B-7037-6543-B50658E04FBA}"/>
              </a:ext>
            </a:extLst>
          </p:cNvPr>
          <p:cNvSpPr/>
          <p:nvPr>
            <p:custDataLst>
              <p:tags r:id="rId4"/>
            </p:custDataLst>
          </p:nvPr>
        </p:nvSpPr>
        <p:spPr>
          <a:xfrm>
            <a:off x="1133686" y="3080698"/>
            <a:ext cx="9800476" cy="857720"/>
          </a:xfrm>
          <a:prstGeom prst="roundRect">
            <a:avLst>
              <a:gd name="adj" fmla="val 3638"/>
            </a:avLst>
          </a:prstGeom>
          <a:solidFill>
            <a:schemeClr val="bg1"/>
          </a:solidFill>
          <a:ln w="12700" cap="flat" cmpd="sng" algn="ctr">
            <a:solidFill>
              <a:srgbClr val="0070C0"/>
            </a:solidFill>
            <a:prstDash val="solid"/>
            <a:miter lim="800000"/>
          </a:ln>
          <a:effectLst/>
        </p:spPr>
        <p:txBody>
          <a:bodyPr rtlCol="0" anchor="ctr"/>
          <a:lstStyle/>
          <a:p>
            <a:pPr algn="ctr" defTabSz="1219200">
              <a:lnSpc>
                <a:spcPct val="120000"/>
              </a:lnSpc>
            </a:pPr>
            <a:r>
              <a:rPr lang="zh-CN" altLang="en-US" sz="1600" dirty="0">
                <a:latin typeface="微软雅黑" panose="020B0503020204020204" pitchFamily="34" charset="-122"/>
                <a:ea typeface="微软雅黑" panose="020B0503020204020204" pitchFamily="34" charset="-122"/>
              </a:rPr>
              <a:t>市级应用责任部门商市级应用牵头部门统一开发应用，并推动市级有关应用责任部门和区县分别进行部署，集成后形成一体化应用</a:t>
            </a:r>
          </a:p>
        </p:txBody>
      </p:sp>
      <p:sp>
        <p:nvSpPr>
          <p:cNvPr id="11" name="矩形: 圆角 224">
            <a:extLst>
              <a:ext uri="{FF2B5EF4-FFF2-40B4-BE49-F238E27FC236}">
                <a16:creationId xmlns:a16="http://schemas.microsoft.com/office/drawing/2014/main" id="{486AEAA3-4481-8131-9755-BF7DE4FEBBA1}"/>
              </a:ext>
            </a:extLst>
          </p:cNvPr>
          <p:cNvSpPr/>
          <p:nvPr>
            <p:custDataLst>
              <p:tags r:id="rId5"/>
            </p:custDataLst>
          </p:nvPr>
        </p:nvSpPr>
        <p:spPr>
          <a:xfrm>
            <a:off x="4460663" y="2714323"/>
            <a:ext cx="3086947" cy="480907"/>
          </a:xfrm>
          <a:prstGeom prst="roundRect">
            <a:avLst>
              <a:gd name="adj" fmla="val 50000"/>
            </a:avLst>
          </a:prstGeom>
          <a:solidFill>
            <a:srgbClr val="0070C0"/>
          </a:solidFill>
          <a:ln w="12700" cap="flat" cmpd="sng" algn="ctr">
            <a:noFill/>
            <a:prstDash val="solid"/>
            <a:miter lim="800000"/>
          </a:ln>
          <a:effectLst/>
        </p:spPr>
        <p:txBody>
          <a:bodyPr rtlCol="0" anchor="ctr"/>
          <a:lstStyle/>
          <a:p>
            <a:pPr algn="ctr" defTabSz="1219200">
              <a:lnSpc>
                <a:spcPct val="120000"/>
              </a:lnSpc>
              <a:defRPr/>
            </a:pPr>
            <a:endParaRPr lang="zh-CN" altLang="en-US" sz="1600" dirty="0">
              <a:solidFill>
                <a:prstClr val="black"/>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411AA42F-34CF-5660-E05A-A158BF5DE9CA}"/>
              </a:ext>
            </a:extLst>
          </p:cNvPr>
          <p:cNvSpPr txBox="1"/>
          <p:nvPr>
            <p:custDataLst>
              <p:tags r:id="rId6"/>
            </p:custDataLst>
          </p:nvPr>
        </p:nvSpPr>
        <p:spPr>
          <a:xfrm>
            <a:off x="4726546" y="2714323"/>
            <a:ext cx="2556457" cy="477520"/>
          </a:xfrm>
          <a:prstGeom prst="rect">
            <a:avLst/>
          </a:prstGeom>
          <a:noFill/>
        </p:spPr>
        <p:txBody>
          <a:bodyPr wrap="square" lIns="91440" tIns="45720" rIns="91440" bIns="45720" rtlCol="0" anchor="ctr">
            <a:normAutofit/>
          </a:bodyPr>
          <a:lstStyle/>
          <a:p>
            <a:pPr algn="ctr" defTabSz="1219200">
              <a:defRPr/>
            </a:pPr>
            <a:r>
              <a:rPr lang="zh-CN" altLang="en-US" sz="1600" b="1" dirty="0">
                <a:solidFill>
                  <a:prstClr val="white"/>
                </a:solidFill>
                <a:latin typeface="微软雅黑" panose="020B0503020204020204" pitchFamily="34" charset="-122"/>
                <a:ea typeface="微软雅黑" panose="020B0503020204020204" pitchFamily="34" charset="-122"/>
                <a:sym typeface="微软雅黑 Light" panose="020B0502040204020203" pitchFamily="34" charset="-122"/>
              </a:rPr>
              <a:t>统一开发、分级部署</a:t>
            </a:r>
            <a:endParaRPr lang="zh-CN" altLang="en-US" sz="1600" b="1" spc="4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矩形: 圆角 223">
            <a:extLst>
              <a:ext uri="{FF2B5EF4-FFF2-40B4-BE49-F238E27FC236}">
                <a16:creationId xmlns:a16="http://schemas.microsoft.com/office/drawing/2014/main" id="{1DC4DC41-4DC7-9DB2-0B00-0D4C11766F41}"/>
              </a:ext>
            </a:extLst>
          </p:cNvPr>
          <p:cNvSpPr/>
          <p:nvPr>
            <p:custDataLst>
              <p:tags r:id="rId7"/>
            </p:custDataLst>
          </p:nvPr>
        </p:nvSpPr>
        <p:spPr>
          <a:xfrm>
            <a:off x="1133686" y="4303759"/>
            <a:ext cx="9800476" cy="885923"/>
          </a:xfrm>
          <a:prstGeom prst="roundRect">
            <a:avLst>
              <a:gd name="adj" fmla="val 3638"/>
            </a:avLst>
          </a:prstGeom>
          <a:solidFill>
            <a:schemeClr val="bg1"/>
          </a:solidFill>
          <a:ln w="12700" cap="flat" cmpd="sng" algn="ctr">
            <a:solidFill>
              <a:srgbClr val="0070C0"/>
            </a:solidFill>
            <a:prstDash val="solid"/>
            <a:miter lim="800000"/>
          </a:ln>
          <a:effectLst/>
        </p:spPr>
        <p:txBody>
          <a:bodyPr rtlCol="0" anchor="ctr"/>
          <a:lstStyle/>
          <a:p>
            <a:pPr algn="ctr" defTabSz="1219200">
              <a:lnSpc>
                <a:spcPct val="120000"/>
              </a:lnSpc>
              <a:defRPr/>
            </a:pPr>
            <a:r>
              <a:rPr lang="zh-CN" altLang="en-US" sz="1600" dirty="0">
                <a:latin typeface="微软雅黑" panose="020B0503020204020204" pitchFamily="34" charset="-122"/>
                <a:ea typeface="微软雅黑" panose="020B0503020204020204" pitchFamily="34" charset="-122"/>
                <a:sym typeface="Arial" panose="020B0604020202020204" pitchFamily="34" charset="0"/>
              </a:rPr>
              <a:t>市级应用责任部门商市级应用牵头部门统筹制定总体框架和数据共享、业务协同等规范，并推动市级有关应用责任部门和区县分别开发应用，集成后形成完备、贯通的应用体系</a:t>
            </a:r>
          </a:p>
        </p:txBody>
      </p:sp>
      <p:sp>
        <p:nvSpPr>
          <p:cNvPr id="14" name="矩形: 圆角 224">
            <a:extLst>
              <a:ext uri="{FF2B5EF4-FFF2-40B4-BE49-F238E27FC236}">
                <a16:creationId xmlns:a16="http://schemas.microsoft.com/office/drawing/2014/main" id="{027816A6-34CF-609E-E648-387CDF6DA037}"/>
              </a:ext>
            </a:extLst>
          </p:cNvPr>
          <p:cNvSpPr/>
          <p:nvPr>
            <p:custDataLst>
              <p:tags r:id="rId8"/>
            </p:custDataLst>
          </p:nvPr>
        </p:nvSpPr>
        <p:spPr>
          <a:xfrm>
            <a:off x="4460663" y="3972693"/>
            <a:ext cx="3086947" cy="461433"/>
          </a:xfrm>
          <a:prstGeom prst="roundRect">
            <a:avLst>
              <a:gd name="adj" fmla="val 50000"/>
            </a:avLst>
          </a:prstGeom>
          <a:solidFill>
            <a:srgbClr val="0070C0"/>
          </a:solidFill>
          <a:ln w="12700" cap="flat" cmpd="sng" algn="ctr">
            <a:noFill/>
            <a:prstDash val="solid"/>
            <a:miter lim="800000"/>
          </a:ln>
          <a:effectLst/>
        </p:spPr>
        <p:txBody>
          <a:bodyPr rtlCol="0" anchor="ctr"/>
          <a:lstStyle/>
          <a:p>
            <a:pPr algn="ctr" defTabSz="1219200">
              <a:lnSpc>
                <a:spcPct val="120000"/>
              </a:lnSpc>
              <a:defRPr/>
            </a:pPr>
            <a:endParaRPr lang="zh-CN" altLang="en-US" sz="1600" dirty="0">
              <a:solidFill>
                <a:prstClr val="black"/>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文本框 14">
            <a:extLst>
              <a:ext uri="{FF2B5EF4-FFF2-40B4-BE49-F238E27FC236}">
                <a16:creationId xmlns:a16="http://schemas.microsoft.com/office/drawing/2014/main" id="{64E93A4E-C2C5-F99A-61FC-8F43B55E4DBC}"/>
              </a:ext>
            </a:extLst>
          </p:cNvPr>
          <p:cNvSpPr txBox="1"/>
          <p:nvPr>
            <p:custDataLst>
              <p:tags r:id="rId9"/>
            </p:custDataLst>
          </p:nvPr>
        </p:nvSpPr>
        <p:spPr>
          <a:xfrm>
            <a:off x="4848896" y="3972693"/>
            <a:ext cx="2382591" cy="458047"/>
          </a:xfrm>
          <a:prstGeom prst="rect">
            <a:avLst/>
          </a:prstGeom>
          <a:noFill/>
        </p:spPr>
        <p:txBody>
          <a:bodyPr wrap="square" lIns="91440" tIns="45720" rIns="91440" bIns="45720" rtlCol="0" anchor="ctr">
            <a:normAutofit/>
          </a:bodyPr>
          <a:lstStyle/>
          <a:p>
            <a:pPr algn="ctr" defTabSz="1219200">
              <a:defRPr/>
            </a:pPr>
            <a:r>
              <a:rPr lang="zh-CN" altLang="en-US" sz="1600" b="1" dirty="0">
                <a:solidFill>
                  <a:prstClr val="white"/>
                </a:solidFill>
                <a:latin typeface="微软雅黑" panose="020B0503020204020204" pitchFamily="34" charset="-122"/>
                <a:ea typeface="微软雅黑" panose="020B0503020204020204" pitchFamily="34" charset="-122"/>
                <a:sym typeface="微软雅黑 Light" panose="020B0502040204020203" pitchFamily="34" charset="-122"/>
              </a:rPr>
              <a:t>统筹规划、分级开发</a:t>
            </a:r>
            <a:endParaRPr lang="zh-CN" altLang="en-US" sz="1600" b="1" spc="4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文本框 15">
            <a:extLst>
              <a:ext uri="{FF2B5EF4-FFF2-40B4-BE49-F238E27FC236}">
                <a16:creationId xmlns:a16="http://schemas.microsoft.com/office/drawing/2014/main" id="{67E16E08-205D-C5A4-A2FA-20AE14FEC5CE}"/>
              </a:ext>
            </a:extLst>
          </p:cNvPr>
          <p:cNvSpPr txBox="1"/>
          <p:nvPr>
            <p:custDataLst>
              <p:tags r:id="rId10"/>
            </p:custDataLst>
          </p:nvPr>
        </p:nvSpPr>
        <p:spPr>
          <a:xfrm>
            <a:off x="786685" y="5233734"/>
            <a:ext cx="10618630" cy="1130967"/>
          </a:xfrm>
          <a:prstGeom prst="rect">
            <a:avLst/>
          </a:prstGeom>
          <a:solidFill>
            <a:schemeClr val="bg1"/>
          </a:solidFill>
          <a:ln>
            <a:noFill/>
          </a:ln>
        </p:spPr>
        <p:txBody>
          <a:bodyPr>
            <a:noAutofit/>
          </a:bodyPr>
          <a:lstStyle/>
          <a:p>
            <a:pPr algn="l">
              <a:lnSpc>
                <a:spcPct val="130000"/>
              </a:lnSpc>
            </a:pPr>
            <a:r>
              <a:rPr lang="zh-CN" altLang="en-US" sz="1400" dirty="0">
                <a:latin typeface="微软雅黑" panose="020B0503020204020204" pitchFamily="34" charset="-122"/>
                <a:ea typeface="微软雅黑" panose="020B0503020204020204" pitchFamily="34" charset="-122"/>
                <a:sym typeface="+mn-ea"/>
              </a:rPr>
              <a:t>特别说明</a:t>
            </a:r>
          </a:p>
          <a:p>
            <a:pPr algn="l">
              <a:lnSpc>
                <a:spcPct val="130000"/>
              </a:lnSpc>
            </a:pPr>
            <a:r>
              <a:rPr lang="zh-CN" altLang="en-US" sz="1400" dirty="0">
                <a:latin typeface="微软雅黑" panose="020B0503020204020204" pitchFamily="34" charset="-122"/>
                <a:ea typeface="微软雅黑" panose="020B0503020204020204" pitchFamily="34" charset="-122"/>
                <a:sym typeface="+mn-ea"/>
              </a:rPr>
              <a:t>①原则上采用“统一开发、共同使用”或者“统一开发、分级部署”模式开发应用。确需市、区县分级开发的，应当经过充分论证，并做好统筹规划。</a:t>
            </a:r>
          </a:p>
          <a:p>
            <a:pPr algn="l">
              <a:lnSpc>
                <a:spcPct val="130000"/>
              </a:lnSpc>
            </a:pPr>
            <a:r>
              <a:rPr lang="zh-CN" altLang="en-US" sz="1400" dirty="0">
                <a:latin typeface="微软雅黑" panose="020B0503020204020204" pitchFamily="34" charset="-122"/>
                <a:ea typeface="微软雅黑" panose="020B0503020204020204" pitchFamily="34" charset="-122"/>
                <a:sym typeface="+mn-ea"/>
              </a:rPr>
              <a:t>②市级有关部门和区县不得重复开发，已造成重复开发的应用，应当</a:t>
            </a:r>
            <a:r>
              <a:rPr lang="zh-CN" altLang="en-US" sz="1400" b="1" dirty="0">
                <a:solidFill>
                  <a:srgbClr val="C00000"/>
                </a:solidFill>
                <a:latin typeface="微软雅黑" panose="020B0503020204020204" pitchFamily="34" charset="-122"/>
                <a:ea typeface="微软雅黑" panose="020B0503020204020204" pitchFamily="34" charset="-122"/>
                <a:sym typeface="+mn-ea"/>
              </a:rPr>
              <a:t>逐步停用或者整合接入。</a:t>
            </a:r>
          </a:p>
        </p:txBody>
      </p:sp>
    </p:spTree>
    <p:extLst>
      <p:ext uri="{BB962C8B-B14F-4D97-AF65-F5344CB8AC3E}">
        <p14:creationId xmlns:p14="http://schemas.microsoft.com/office/powerpoint/2010/main" val="4168236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顶角 88">
            <a:extLst>
              <a:ext uri="{FF2B5EF4-FFF2-40B4-BE49-F238E27FC236}">
                <a16:creationId xmlns:a16="http://schemas.microsoft.com/office/drawing/2014/main" id="{05BF2D85-3018-68FF-920E-3674D3BF18CB}"/>
              </a:ext>
            </a:extLst>
          </p:cNvPr>
          <p:cNvSpPr/>
          <p:nvPr/>
        </p:nvSpPr>
        <p:spPr>
          <a:xfrm flipV="1">
            <a:off x="1021976" y="3224529"/>
            <a:ext cx="10239252" cy="3068324"/>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3" name="矩形: 圆顶角 88">
            <a:extLst>
              <a:ext uri="{FF2B5EF4-FFF2-40B4-BE49-F238E27FC236}">
                <a16:creationId xmlns:a16="http://schemas.microsoft.com/office/drawing/2014/main" id="{7108C6B2-820C-7708-FC55-575637D2BF75}"/>
              </a:ext>
            </a:extLst>
          </p:cNvPr>
          <p:cNvSpPr/>
          <p:nvPr/>
        </p:nvSpPr>
        <p:spPr>
          <a:xfrm flipV="1">
            <a:off x="1021976" y="2148378"/>
            <a:ext cx="10239252" cy="975190"/>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2.6</a:t>
            </a:r>
            <a:r>
              <a:rPr kumimoji="1" lang="zh-CN" altLang="en-US" dirty="0"/>
              <a:t>应用查重及复用</a:t>
            </a:r>
          </a:p>
        </p:txBody>
      </p:sp>
      <p:sp>
        <p:nvSpPr>
          <p:cNvPr id="7" name="圆角矩形 26">
            <a:extLst>
              <a:ext uri="{FF2B5EF4-FFF2-40B4-BE49-F238E27FC236}">
                <a16:creationId xmlns:a16="http://schemas.microsoft.com/office/drawing/2014/main" id="{41AD042F-8F9F-A303-C402-44DE9DBA17D6}"/>
              </a:ext>
            </a:extLst>
          </p:cNvPr>
          <p:cNvSpPr/>
          <p:nvPr/>
        </p:nvSpPr>
        <p:spPr>
          <a:xfrm>
            <a:off x="1111531" y="2018715"/>
            <a:ext cx="730873" cy="1042817"/>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70C0"/>
                </a:solidFill>
                <a:latin typeface="微软雅黑" panose="020B0503020204020204" pitchFamily="34" charset="-122"/>
                <a:ea typeface="微软雅黑" panose="020B0503020204020204" pitchFamily="34" charset="-122"/>
                <a:cs typeface="+mj-ea"/>
                <a:sym typeface="+mn-ea"/>
              </a:rPr>
              <a:t>应用查重</a:t>
            </a:r>
          </a:p>
        </p:txBody>
      </p:sp>
      <p:sp>
        <p:nvSpPr>
          <p:cNvPr id="8" name="文本框 7">
            <a:extLst>
              <a:ext uri="{FF2B5EF4-FFF2-40B4-BE49-F238E27FC236}">
                <a16:creationId xmlns:a16="http://schemas.microsoft.com/office/drawing/2014/main" id="{BAAED5BF-B48D-4084-1708-AE23DAE35A3B}"/>
              </a:ext>
            </a:extLst>
          </p:cNvPr>
          <p:cNvSpPr txBox="1"/>
          <p:nvPr/>
        </p:nvSpPr>
        <p:spPr>
          <a:xfrm>
            <a:off x="2023336" y="2124503"/>
            <a:ext cx="9445624" cy="787460"/>
          </a:xfrm>
          <a:prstGeom prst="rect">
            <a:avLst/>
          </a:prstGeom>
          <a:noFill/>
          <a:ln w="12700">
            <a:noFill/>
          </a:ln>
        </p:spPr>
        <p:txBody>
          <a:bodyPr wrap="square">
            <a:spAutoFit/>
          </a:bodyPr>
          <a:lstStyle/>
          <a:p>
            <a:pPr algn="l">
              <a:lnSpc>
                <a:spcPct val="150000"/>
              </a:lnSpc>
            </a:pPr>
            <a:r>
              <a:rPr lang="zh-CN" altLang="en-US" sz="1600" dirty="0">
                <a:latin typeface="微软雅黑" panose="020B0503020204020204" pitchFamily="34" charset="-122"/>
                <a:ea typeface="微软雅黑" panose="020B0503020204020204" pitchFamily="34" charset="-122"/>
                <a:sym typeface="+mn-ea"/>
              </a:rPr>
              <a:t>应用责任部门在应用谋划时，应依托</a:t>
            </a:r>
            <a:r>
              <a:rPr lang="en-US" altLang="zh-CN" sz="1600" dirty="0">
                <a:latin typeface="微软雅黑" panose="020B0503020204020204" pitchFamily="34" charset="-122"/>
                <a:ea typeface="微软雅黑" panose="020B0503020204020204" pitchFamily="34" charset="-122"/>
                <a:sym typeface="+mn-ea"/>
              </a:rPr>
              <a:t>IRS</a:t>
            </a:r>
            <a:r>
              <a:rPr lang="zh-CN" altLang="en-US" sz="1600" dirty="0">
                <a:latin typeface="微软雅黑" panose="020B0503020204020204" pitchFamily="34" charset="-122"/>
                <a:ea typeface="微软雅黑" panose="020B0503020204020204" pitchFamily="34" charset="-122"/>
                <a:sym typeface="+mn-ea"/>
              </a:rPr>
              <a:t>系统开展查询比对工作；</a:t>
            </a:r>
            <a:endParaRPr lang="en-US" altLang="zh-CN" sz="1600" dirty="0">
              <a:latin typeface="微软雅黑" panose="020B0503020204020204" pitchFamily="34" charset="-122"/>
              <a:ea typeface="微软雅黑" panose="020B0503020204020204" pitchFamily="34" charset="-122"/>
              <a:sym typeface="+mn-ea"/>
            </a:endParaRPr>
          </a:p>
          <a:p>
            <a:pPr algn="l">
              <a:lnSpc>
                <a:spcPct val="150000"/>
              </a:lnSpc>
            </a:pPr>
            <a:r>
              <a:rPr lang="zh-CN" altLang="en-US" sz="1600" dirty="0">
                <a:latin typeface="微软雅黑" panose="020B0503020204020204" pitchFamily="34" charset="-122"/>
                <a:ea typeface="微软雅黑" panose="020B0503020204020204" pitchFamily="34" charset="-122"/>
                <a:sym typeface="+mn-ea"/>
              </a:rPr>
              <a:t>对发现应用名称、功能、内容等重复的，应及时研判、调整拟谋划应用，原则上不得重复建设。</a:t>
            </a:r>
          </a:p>
        </p:txBody>
      </p:sp>
      <p:sp>
        <p:nvSpPr>
          <p:cNvPr id="17" name="文本框 16">
            <a:extLst>
              <a:ext uri="{FF2B5EF4-FFF2-40B4-BE49-F238E27FC236}">
                <a16:creationId xmlns:a16="http://schemas.microsoft.com/office/drawing/2014/main" id="{1A6E3B1B-D898-9740-D5CA-052F31D17C94}"/>
              </a:ext>
            </a:extLst>
          </p:cNvPr>
          <p:cNvSpPr txBox="1"/>
          <p:nvPr/>
        </p:nvSpPr>
        <p:spPr>
          <a:xfrm>
            <a:off x="1991586" y="3243886"/>
            <a:ext cx="9477374" cy="3003451"/>
          </a:xfrm>
          <a:prstGeom prst="rect">
            <a:avLst/>
          </a:prstGeom>
          <a:noFill/>
          <a:ln w="12700">
            <a:noFill/>
          </a:ln>
        </p:spPr>
        <p:txBody>
          <a:bodyPr wrap="square">
            <a:spAutoFit/>
          </a:bodyPr>
          <a:lstStyle/>
          <a:p>
            <a:pPr algn="l">
              <a:lnSpc>
                <a:spcPct val="150000"/>
              </a:lnSpc>
            </a:pPr>
            <a:r>
              <a:rPr lang="en-US" altLang="zh-CN" sz="1600" b="1" dirty="0">
                <a:solidFill>
                  <a:srgbClr val="C00000"/>
                </a:solidFill>
                <a:latin typeface="微软雅黑" panose="020B0503020204020204" pitchFamily="34" charset="-122"/>
                <a:ea typeface="微软雅黑" panose="020B0503020204020204" pitchFamily="34" charset="-122"/>
                <a:sym typeface="+mn-ea"/>
              </a:rPr>
              <a:t>SaaS</a:t>
            </a:r>
            <a:r>
              <a:rPr lang="zh-CN" altLang="en-US" sz="1600" b="1" dirty="0">
                <a:solidFill>
                  <a:srgbClr val="C00000"/>
                </a:solidFill>
                <a:latin typeface="微软雅黑" panose="020B0503020204020204" pitchFamily="34" charset="-122"/>
                <a:ea typeface="微软雅黑" panose="020B0503020204020204" pitchFamily="34" charset="-122"/>
                <a:sym typeface="+mn-ea"/>
              </a:rPr>
              <a:t>（软件即服务）化复用</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lnSpc>
                <a:spcPct val="150000"/>
              </a:lnSpc>
            </a:pPr>
            <a:r>
              <a:rPr lang="zh-CN" altLang="en-US" sz="1600" dirty="0">
                <a:latin typeface="微软雅黑" panose="020B0503020204020204" pitchFamily="34" charset="-122"/>
                <a:ea typeface="微软雅黑" panose="020B0503020204020204" pitchFamily="34" charset="-122"/>
                <a:sym typeface="+mn-ea"/>
              </a:rPr>
              <a:t>复用方无需部署应用，以租户形式使用可共享应用；</a:t>
            </a:r>
          </a:p>
          <a:p>
            <a:pPr algn="l">
              <a:lnSpc>
                <a:spcPct val="1500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私有化复用</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lnSpc>
                <a:spcPct val="150000"/>
              </a:lnSpc>
            </a:pPr>
            <a:r>
              <a:rPr lang="zh-CN" altLang="en-US" sz="1600" dirty="0">
                <a:latin typeface="微软雅黑" panose="020B0503020204020204" pitchFamily="34" charset="-122"/>
                <a:ea typeface="微软雅黑" panose="020B0503020204020204" pitchFamily="34" charset="-122"/>
                <a:sym typeface="+mn-ea"/>
              </a:rPr>
              <a:t>复用方需获取软件安装包，私有化部署可共享应用；</a:t>
            </a:r>
          </a:p>
          <a:p>
            <a:pPr algn="l">
              <a:lnSpc>
                <a:spcPct val="1500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组件化复用</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lnSpc>
                <a:spcPct val="150000"/>
              </a:lnSpc>
            </a:pPr>
            <a:r>
              <a:rPr lang="zh-CN" altLang="en-US" sz="1600" dirty="0">
                <a:latin typeface="微软雅黑" panose="020B0503020204020204" pitchFamily="34" charset="-122"/>
                <a:ea typeface="微软雅黑" panose="020B0503020204020204" pitchFamily="34" charset="-122"/>
                <a:sym typeface="+mn-ea"/>
              </a:rPr>
              <a:t>复用方使用共享应用解耦出的组件；</a:t>
            </a:r>
          </a:p>
          <a:p>
            <a:pPr algn="l">
              <a:lnSpc>
                <a:spcPct val="150000"/>
              </a:lnSpc>
            </a:pPr>
            <a:r>
              <a:rPr lang="zh-CN" altLang="en-US" sz="1600" b="1" dirty="0">
                <a:solidFill>
                  <a:srgbClr val="C00000"/>
                </a:solidFill>
                <a:latin typeface="微软雅黑" panose="020B0503020204020204" pitchFamily="34" charset="-122"/>
                <a:ea typeface="微软雅黑" panose="020B0503020204020204" pitchFamily="34" charset="-122"/>
                <a:sym typeface="+mn-ea"/>
              </a:rPr>
              <a:t>源码复用</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lnSpc>
                <a:spcPct val="150000"/>
              </a:lnSpc>
            </a:pPr>
            <a:r>
              <a:rPr lang="zh-CN" altLang="en-US" sz="1600" dirty="0">
                <a:latin typeface="微软雅黑" panose="020B0503020204020204" pitchFamily="34" charset="-122"/>
                <a:ea typeface="微软雅黑" panose="020B0503020204020204" pitchFamily="34" charset="-122"/>
                <a:sym typeface="+mn-ea"/>
              </a:rPr>
              <a:t>共享方通过</a:t>
            </a:r>
            <a:r>
              <a:rPr lang="en-US" altLang="zh-CN" sz="1600" dirty="0">
                <a:latin typeface="微软雅黑" panose="020B0503020204020204" pitchFamily="34" charset="-122"/>
                <a:ea typeface="微软雅黑" panose="020B0503020204020204" pitchFamily="34" charset="-122"/>
                <a:sym typeface="+mn-ea"/>
              </a:rPr>
              <a:t>IRS</a:t>
            </a:r>
            <a:r>
              <a:rPr lang="zh-CN" altLang="en-US" sz="1600" dirty="0">
                <a:latin typeface="微软雅黑" panose="020B0503020204020204" pitchFamily="34" charset="-122"/>
                <a:ea typeface="微软雅黑" panose="020B0503020204020204" pitchFamily="34" charset="-122"/>
                <a:sym typeface="+mn-ea"/>
              </a:rPr>
              <a:t>系统开放拥有软件著作权的源码，复用方基于源码定制开发应用。</a:t>
            </a:r>
          </a:p>
        </p:txBody>
      </p:sp>
      <p:sp>
        <p:nvSpPr>
          <p:cNvPr id="18" name="圆角矩形 26">
            <a:extLst>
              <a:ext uri="{FF2B5EF4-FFF2-40B4-BE49-F238E27FC236}">
                <a16:creationId xmlns:a16="http://schemas.microsoft.com/office/drawing/2014/main" id="{B225CC12-209B-71B8-0842-F3E72C05C652}"/>
              </a:ext>
            </a:extLst>
          </p:cNvPr>
          <p:cNvSpPr/>
          <p:nvPr/>
        </p:nvSpPr>
        <p:spPr>
          <a:xfrm>
            <a:off x="1111531" y="3039954"/>
            <a:ext cx="730873" cy="3252899"/>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70C0"/>
                </a:solidFill>
                <a:latin typeface="微软雅黑" panose="020B0503020204020204" pitchFamily="34" charset="-122"/>
                <a:ea typeface="微软雅黑" panose="020B0503020204020204" pitchFamily="34" charset="-122"/>
                <a:cs typeface="+mj-ea"/>
                <a:sym typeface="+mn-ea"/>
              </a:rPr>
              <a:t>应用复用</a:t>
            </a:r>
          </a:p>
        </p:txBody>
      </p:sp>
    </p:spTree>
    <p:extLst>
      <p:ext uri="{BB962C8B-B14F-4D97-AF65-F5344CB8AC3E}">
        <p14:creationId xmlns:p14="http://schemas.microsoft.com/office/powerpoint/2010/main" val="3583021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2.7</a:t>
            </a:r>
            <a:r>
              <a:rPr kumimoji="1" lang="zh-CN" altLang="en-US" dirty="0"/>
              <a:t>应用开发方案编制要求</a:t>
            </a:r>
          </a:p>
        </p:txBody>
      </p:sp>
      <p:sp>
        <p:nvSpPr>
          <p:cNvPr id="4" name="矩形: 圆角 3">
            <a:extLst>
              <a:ext uri="{FF2B5EF4-FFF2-40B4-BE49-F238E27FC236}">
                <a16:creationId xmlns:a16="http://schemas.microsoft.com/office/drawing/2014/main" id="{FEBC66E3-6C72-4438-1E42-BFB056692BA5}"/>
              </a:ext>
            </a:extLst>
          </p:cNvPr>
          <p:cNvSpPr/>
          <p:nvPr/>
        </p:nvSpPr>
        <p:spPr>
          <a:xfrm flipV="1">
            <a:off x="725510" y="2048106"/>
            <a:ext cx="4445000" cy="1712404"/>
          </a:xfrm>
          <a:prstGeom prst="roundRect">
            <a:avLst>
              <a:gd name="adj" fmla="val 5810"/>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2" name="圆角矩形 26">
            <a:extLst>
              <a:ext uri="{FF2B5EF4-FFF2-40B4-BE49-F238E27FC236}">
                <a16:creationId xmlns:a16="http://schemas.microsoft.com/office/drawing/2014/main" id="{E78583BF-2CBC-0E10-E286-71FBB7C2A138}"/>
              </a:ext>
            </a:extLst>
          </p:cNvPr>
          <p:cNvSpPr/>
          <p:nvPr/>
        </p:nvSpPr>
        <p:spPr>
          <a:xfrm>
            <a:off x="1404714" y="1753514"/>
            <a:ext cx="3171263" cy="641616"/>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ea"/>
                <a:sym typeface="+mn-ea"/>
              </a:rPr>
              <a:t>遵循“三张清单”内容要求</a:t>
            </a:r>
          </a:p>
        </p:txBody>
      </p:sp>
      <p:sp>
        <p:nvSpPr>
          <p:cNvPr id="13" name="文本框 12">
            <a:extLst>
              <a:ext uri="{FF2B5EF4-FFF2-40B4-BE49-F238E27FC236}">
                <a16:creationId xmlns:a16="http://schemas.microsoft.com/office/drawing/2014/main" id="{5B22AE60-3A74-8AD4-08F1-95C20A753747}"/>
              </a:ext>
            </a:extLst>
          </p:cNvPr>
          <p:cNvSpPr txBox="1"/>
          <p:nvPr/>
        </p:nvSpPr>
        <p:spPr>
          <a:xfrm>
            <a:off x="880169" y="2618847"/>
            <a:ext cx="4316730" cy="1014730"/>
          </a:xfrm>
          <a:prstGeom prst="rect">
            <a:avLst/>
          </a:prstGeom>
          <a:noFill/>
        </p:spPr>
        <p:txBody>
          <a:bodyPr wrap="square">
            <a:spAutoFit/>
          </a:bodyPr>
          <a:lstStyle/>
          <a:p>
            <a:pPr algn="l">
              <a:lnSpc>
                <a:spcPts val="24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严格对照“三张清单”明确的需求、场景、改革事项开展方案编制，</a:t>
            </a:r>
            <a:r>
              <a:rPr lang="zh-CN" altLang="en-US" sz="1600" b="1" dirty="0">
                <a:solidFill>
                  <a:srgbClr val="C00000"/>
                </a:solidFill>
                <a:latin typeface="微软雅黑" panose="020B0503020204020204" pitchFamily="34" charset="-122"/>
                <a:ea typeface="微软雅黑" panose="020B0503020204020204" pitchFamily="34" charset="-122"/>
                <a:sym typeface="+mn-ea"/>
              </a:rPr>
              <a:t>原则上不得突破“三张清单”框定内容。</a:t>
            </a:r>
          </a:p>
        </p:txBody>
      </p:sp>
      <p:sp>
        <p:nvSpPr>
          <p:cNvPr id="15" name="矩形: 圆角 14">
            <a:extLst>
              <a:ext uri="{FF2B5EF4-FFF2-40B4-BE49-F238E27FC236}">
                <a16:creationId xmlns:a16="http://schemas.microsoft.com/office/drawing/2014/main" id="{C48E2BC3-06BC-301D-DE9B-953C62DEE2AA}"/>
              </a:ext>
            </a:extLst>
          </p:cNvPr>
          <p:cNvSpPr/>
          <p:nvPr/>
        </p:nvSpPr>
        <p:spPr>
          <a:xfrm flipV="1">
            <a:off x="5404128" y="2048106"/>
            <a:ext cx="6096000" cy="1712404"/>
          </a:xfrm>
          <a:prstGeom prst="roundRect">
            <a:avLst>
              <a:gd name="adj" fmla="val 5810"/>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1" name="圆角矩形 26">
            <a:extLst>
              <a:ext uri="{FF2B5EF4-FFF2-40B4-BE49-F238E27FC236}">
                <a16:creationId xmlns:a16="http://schemas.microsoft.com/office/drawing/2014/main" id="{C7A5CA30-9BDE-903A-2C63-C5623A760227}"/>
              </a:ext>
            </a:extLst>
          </p:cNvPr>
          <p:cNvSpPr/>
          <p:nvPr/>
        </p:nvSpPr>
        <p:spPr>
          <a:xfrm>
            <a:off x="7030131" y="1753514"/>
            <a:ext cx="3171263" cy="641616"/>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ea"/>
                <a:sym typeface="+mn-ea"/>
              </a:rPr>
              <a:t>基于“一体化平台”开发</a:t>
            </a:r>
          </a:p>
        </p:txBody>
      </p:sp>
      <p:sp>
        <p:nvSpPr>
          <p:cNvPr id="22" name="文本框 21">
            <a:extLst>
              <a:ext uri="{FF2B5EF4-FFF2-40B4-BE49-F238E27FC236}">
                <a16:creationId xmlns:a16="http://schemas.microsoft.com/office/drawing/2014/main" id="{23052DAF-964C-D8E9-E298-C822F728AB63}"/>
              </a:ext>
            </a:extLst>
          </p:cNvPr>
          <p:cNvSpPr txBox="1"/>
          <p:nvPr/>
        </p:nvSpPr>
        <p:spPr>
          <a:xfrm>
            <a:off x="5524320" y="2502823"/>
            <a:ext cx="5803233" cy="1322070"/>
          </a:xfrm>
          <a:prstGeom prst="rect">
            <a:avLst/>
          </a:prstGeom>
          <a:noFill/>
        </p:spPr>
        <p:txBody>
          <a:bodyPr wrap="square">
            <a:spAutoFit/>
          </a:bodyPr>
          <a:lstStyle/>
          <a:p>
            <a:pPr algn="l">
              <a:lnSpc>
                <a:spcPts val="24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通过“一体化平台”依规申请、规范对接数字资源；</a:t>
            </a:r>
          </a:p>
          <a:p>
            <a:pPr algn="l">
              <a:lnSpc>
                <a:spcPts val="24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按照云网、感知、数据、组件、标准规范等相关要求开展方案编制；</a:t>
            </a:r>
          </a:p>
          <a:p>
            <a:pPr algn="l">
              <a:lnSpc>
                <a:spcPts val="24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对已有的或者功能相似的应用杜绝重复建设。</a:t>
            </a:r>
          </a:p>
        </p:txBody>
      </p:sp>
      <p:sp>
        <p:nvSpPr>
          <p:cNvPr id="24" name="矩形: 圆角 23">
            <a:extLst>
              <a:ext uri="{FF2B5EF4-FFF2-40B4-BE49-F238E27FC236}">
                <a16:creationId xmlns:a16="http://schemas.microsoft.com/office/drawing/2014/main" id="{D71A1623-D95F-76EC-C8DA-24912CCA8C3C}"/>
              </a:ext>
            </a:extLst>
          </p:cNvPr>
          <p:cNvSpPr/>
          <p:nvPr/>
        </p:nvSpPr>
        <p:spPr>
          <a:xfrm flipV="1">
            <a:off x="725509" y="4307017"/>
            <a:ext cx="5899393" cy="1963246"/>
          </a:xfrm>
          <a:prstGeom prst="roundRect">
            <a:avLst>
              <a:gd name="adj" fmla="val 5810"/>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8" name="圆角矩形 26">
            <a:extLst>
              <a:ext uri="{FF2B5EF4-FFF2-40B4-BE49-F238E27FC236}">
                <a16:creationId xmlns:a16="http://schemas.microsoft.com/office/drawing/2014/main" id="{BA6F2622-57A9-CFF2-6F54-99BD6CB93CCB}"/>
              </a:ext>
            </a:extLst>
          </p:cNvPr>
          <p:cNvSpPr/>
          <p:nvPr/>
        </p:nvSpPr>
        <p:spPr>
          <a:xfrm>
            <a:off x="2094324" y="4012425"/>
            <a:ext cx="3422202" cy="641616"/>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ea"/>
                <a:sym typeface="+mn-ea"/>
              </a:rPr>
              <a:t>基于“三级治理中心”一体部署</a:t>
            </a:r>
          </a:p>
        </p:txBody>
      </p:sp>
      <p:sp>
        <p:nvSpPr>
          <p:cNvPr id="29" name="文本框 28">
            <a:extLst>
              <a:ext uri="{FF2B5EF4-FFF2-40B4-BE49-F238E27FC236}">
                <a16:creationId xmlns:a16="http://schemas.microsoft.com/office/drawing/2014/main" id="{5E57AA27-3D94-F2D4-9C4D-F80D34AD9D76}"/>
              </a:ext>
            </a:extLst>
          </p:cNvPr>
          <p:cNvSpPr txBox="1"/>
          <p:nvPr/>
        </p:nvSpPr>
        <p:spPr>
          <a:xfrm>
            <a:off x="880169" y="4698238"/>
            <a:ext cx="5570117" cy="1609223"/>
          </a:xfrm>
          <a:prstGeom prst="rect">
            <a:avLst/>
          </a:prstGeom>
          <a:noFill/>
        </p:spPr>
        <p:txBody>
          <a:bodyPr wrap="square">
            <a:spAutoFit/>
          </a:bodyPr>
          <a:lstStyle/>
          <a:p>
            <a:pPr algn="l">
              <a:lnSpc>
                <a:spcPts val="24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编制前：分析场景需求，跨部门和三级贯通需求；</a:t>
            </a:r>
          </a:p>
          <a:p>
            <a:pPr algn="l">
              <a:lnSpc>
                <a:spcPts val="24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编制中：充分利用“三级治理中心”能力组件，理清业务协同关系，划清权责围栏，梳理关联系统，明确数据目录、数据结构、数据流向；明确应用部署至“三级治理中心”的方案。</a:t>
            </a:r>
          </a:p>
        </p:txBody>
      </p:sp>
      <p:sp>
        <p:nvSpPr>
          <p:cNvPr id="31" name="矩形: 圆角 30">
            <a:extLst>
              <a:ext uri="{FF2B5EF4-FFF2-40B4-BE49-F238E27FC236}">
                <a16:creationId xmlns:a16="http://schemas.microsoft.com/office/drawing/2014/main" id="{AE55B339-079B-60B2-18F5-87AEB1020E59}"/>
              </a:ext>
            </a:extLst>
          </p:cNvPr>
          <p:cNvSpPr/>
          <p:nvPr/>
        </p:nvSpPr>
        <p:spPr>
          <a:xfrm flipV="1">
            <a:off x="6936006" y="4307017"/>
            <a:ext cx="4564122" cy="1963246"/>
          </a:xfrm>
          <a:prstGeom prst="roundRect">
            <a:avLst>
              <a:gd name="adj" fmla="val 5810"/>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5" name="圆角矩形 26">
            <a:extLst>
              <a:ext uri="{FF2B5EF4-FFF2-40B4-BE49-F238E27FC236}">
                <a16:creationId xmlns:a16="http://schemas.microsoft.com/office/drawing/2014/main" id="{AD6E5922-1C53-F5A5-42F1-75A382FA5EBF}"/>
              </a:ext>
            </a:extLst>
          </p:cNvPr>
          <p:cNvSpPr/>
          <p:nvPr/>
        </p:nvSpPr>
        <p:spPr>
          <a:xfrm>
            <a:off x="7760532" y="4012425"/>
            <a:ext cx="3171263" cy="641616"/>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ea"/>
                <a:sym typeface="+mn-ea"/>
              </a:rPr>
              <a:t>遵循重庆市政务数字化应用开发方案（模板）</a:t>
            </a:r>
          </a:p>
        </p:txBody>
      </p:sp>
      <p:sp>
        <p:nvSpPr>
          <p:cNvPr id="36" name="文本框 35">
            <a:extLst>
              <a:ext uri="{FF2B5EF4-FFF2-40B4-BE49-F238E27FC236}">
                <a16:creationId xmlns:a16="http://schemas.microsoft.com/office/drawing/2014/main" id="{B3F7FF90-0C1D-23A6-0878-2CE7DAC6447E}"/>
              </a:ext>
            </a:extLst>
          </p:cNvPr>
          <p:cNvSpPr txBox="1"/>
          <p:nvPr/>
        </p:nvSpPr>
        <p:spPr>
          <a:xfrm>
            <a:off x="7049418" y="4832251"/>
            <a:ext cx="4278135" cy="706755"/>
          </a:xfrm>
          <a:prstGeom prst="rect">
            <a:avLst/>
          </a:prstGeom>
          <a:noFill/>
        </p:spPr>
        <p:txBody>
          <a:bodyPr wrap="square">
            <a:spAutoFit/>
          </a:bodyPr>
          <a:lstStyle/>
          <a:p>
            <a:pPr algn="l">
              <a:lnSpc>
                <a:spcPts val="24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遵循应用开发方案（模板）；</a:t>
            </a:r>
          </a:p>
          <a:p>
            <a:pPr algn="l">
              <a:lnSpc>
                <a:spcPts val="24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应用开发方案应达到施工设计深度。</a:t>
            </a:r>
          </a:p>
        </p:txBody>
      </p:sp>
    </p:spTree>
    <p:extLst>
      <p:ext uri="{BB962C8B-B14F-4D97-AF65-F5344CB8AC3E}">
        <p14:creationId xmlns:p14="http://schemas.microsoft.com/office/powerpoint/2010/main" val="2303660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顶角 88">
            <a:extLst>
              <a:ext uri="{FF2B5EF4-FFF2-40B4-BE49-F238E27FC236}">
                <a16:creationId xmlns:a16="http://schemas.microsoft.com/office/drawing/2014/main" id="{3948F2AF-F39F-C03B-3882-57685F80A824}"/>
              </a:ext>
            </a:extLst>
          </p:cNvPr>
          <p:cNvSpPr/>
          <p:nvPr/>
        </p:nvSpPr>
        <p:spPr>
          <a:xfrm flipV="1">
            <a:off x="1021976" y="3075643"/>
            <a:ext cx="10239252" cy="1884699"/>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2.8 </a:t>
            </a:r>
            <a:r>
              <a:rPr kumimoji="1" lang="zh-CN" altLang="en-US" dirty="0"/>
              <a:t>应用运维方案编制要求</a:t>
            </a:r>
          </a:p>
        </p:txBody>
      </p:sp>
      <p:sp>
        <p:nvSpPr>
          <p:cNvPr id="7" name="文本框 6">
            <a:extLst>
              <a:ext uri="{FF2B5EF4-FFF2-40B4-BE49-F238E27FC236}">
                <a16:creationId xmlns:a16="http://schemas.microsoft.com/office/drawing/2014/main" id="{8E45CE9A-0988-3A41-6BDC-4CBB5096D42B}"/>
              </a:ext>
            </a:extLst>
          </p:cNvPr>
          <p:cNvSpPr txBox="1"/>
          <p:nvPr/>
        </p:nvSpPr>
        <p:spPr>
          <a:xfrm>
            <a:off x="1233488" y="1975172"/>
            <a:ext cx="9477374" cy="826637"/>
          </a:xfrm>
          <a:prstGeom prst="rect">
            <a:avLst/>
          </a:prstGeom>
          <a:noFill/>
        </p:spPr>
        <p:txBody>
          <a:bodyPr wrap="square">
            <a:spAutoFit/>
          </a:bodyPr>
          <a:lstStyle/>
          <a:p>
            <a:pPr algn="ctr">
              <a:lnSpc>
                <a:spcPts val="3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参照重庆市政务数字化应用运维方案（模板），分年度开展应用运维方案编制；</a:t>
            </a:r>
          </a:p>
          <a:p>
            <a:pPr algn="ctr">
              <a:lnSpc>
                <a:spcPts val="3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特殊情况下，可按照预算追加规定履行程序。</a:t>
            </a:r>
          </a:p>
        </p:txBody>
      </p:sp>
      <p:sp>
        <p:nvSpPr>
          <p:cNvPr id="8" name="文本框 7">
            <a:extLst>
              <a:ext uri="{FF2B5EF4-FFF2-40B4-BE49-F238E27FC236}">
                <a16:creationId xmlns:a16="http://schemas.microsoft.com/office/drawing/2014/main" id="{8DAC5393-5168-E894-AE7B-B85E13007EF8}"/>
              </a:ext>
            </a:extLst>
          </p:cNvPr>
          <p:cNvSpPr txBox="1"/>
          <p:nvPr>
            <p:custDataLst>
              <p:tags r:id="rId1"/>
            </p:custDataLst>
          </p:nvPr>
        </p:nvSpPr>
        <p:spPr>
          <a:xfrm>
            <a:off x="1929167" y="3103204"/>
            <a:ext cx="8333666" cy="1601146"/>
          </a:xfrm>
          <a:prstGeom prst="rect">
            <a:avLst/>
          </a:prstGeom>
          <a:noFill/>
          <a:ln w="12700">
            <a:noFill/>
          </a:ln>
        </p:spPr>
        <p:txBody>
          <a:bodyPr wrap="square">
            <a:noAutofit/>
          </a:bodyPr>
          <a:lstStyle/>
          <a:p>
            <a:pPr algn="ctr">
              <a:lnSpc>
                <a:spcPct val="150000"/>
              </a:lnSpc>
            </a:pPr>
            <a:r>
              <a:rPr lang="zh-CN" altLang="en-US" sz="2135" kern="100" dirty="0">
                <a:solidFill>
                  <a:srgbClr val="000000"/>
                </a:solidFill>
                <a:latin typeface="微软雅黑" panose="020B0503020204020204" pitchFamily="34" charset="-122"/>
                <a:ea typeface="微软雅黑" panose="020B0503020204020204" pitchFamily="34" charset="-122"/>
                <a:sym typeface="+mn-ea"/>
              </a:rPr>
              <a:t>系统运行须</a:t>
            </a:r>
            <a:r>
              <a:rPr lang="zh-CN" altLang="en-US" sz="2135" b="1" kern="100" dirty="0">
                <a:solidFill>
                  <a:srgbClr val="C00000"/>
                </a:solidFill>
                <a:latin typeface="微软雅黑" panose="020B0503020204020204" pitchFamily="34" charset="-122"/>
                <a:ea typeface="微软雅黑" panose="020B0503020204020204" pitchFamily="34" charset="-122"/>
                <a:sym typeface="+mn-ea"/>
              </a:rPr>
              <a:t>落实“三张清单”</a:t>
            </a:r>
            <a:r>
              <a:rPr lang="zh-CN" altLang="en-US" sz="2135" kern="100" dirty="0">
                <a:solidFill>
                  <a:srgbClr val="000000"/>
                </a:solidFill>
                <a:latin typeface="微软雅黑" panose="020B0503020204020204" pitchFamily="34" charset="-122"/>
                <a:ea typeface="微软雅黑" panose="020B0503020204020204" pitchFamily="34" charset="-122"/>
                <a:sym typeface="+mn-ea"/>
              </a:rPr>
              <a:t>业务内容；</a:t>
            </a:r>
          </a:p>
          <a:p>
            <a:pPr algn="ctr">
              <a:lnSpc>
                <a:spcPct val="150000"/>
              </a:lnSpc>
            </a:pPr>
            <a:r>
              <a:rPr lang="zh-CN" altLang="en-US" sz="2135" kern="100" dirty="0">
                <a:solidFill>
                  <a:srgbClr val="000000"/>
                </a:solidFill>
                <a:latin typeface="微软雅黑" panose="020B0503020204020204" pitchFamily="34" charset="-122"/>
                <a:ea typeface="微软雅黑" panose="020B0503020204020204" pitchFamily="34" charset="-122"/>
                <a:sym typeface="+mn-ea"/>
              </a:rPr>
              <a:t>数字资源须</a:t>
            </a:r>
            <a:r>
              <a:rPr lang="zh-CN" altLang="en-US" sz="2135" b="1" kern="100" dirty="0">
                <a:solidFill>
                  <a:srgbClr val="C00000"/>
                </a:solidFill>
                <a:latin typeface="微软雅黑" panose="020B0503020204020204" pitchFamily="34" charset="-122"/>
                <a:ea typeface="微软雅黑" panose="020B0503020204020204" pitchFamily="34" charset="-122"/>
                <a:sym typeface="+mn-ea"/>
              </a:rPr>
              <a:t>依托</a:t>
            </a:r>
            <a:r>
              <a:rPr lang="en-US" altLang="zh-CN" sz="2135" b="1" kern="100" dirty="0">
                <a:solidFill>
                  <a:srgbClr val="C00000"/>
                </a:solidFill>
                <a:latin typeface="微软雅黑" panose="020B0503020204020204" pitchFamily="34" charset="-122"/>
                <a:ea typeface="微软雅黑" panose="020B0503020204020204" pitchFamily="34" charset="-122"/>
                <a:sym typeface="+mn-ea"/>
              </a:rPr>
              <a:t>“</a:t>
            </a:r>
            <a:r>
              <a:rPr lang="zh-CN" altLang="en-US" sz="2135" b="1" kern="100" dirty="0">
                <a:solidFill>
                  <a:srgbClr val="C00000"/>
                </a:solidFill>
                <a:latin typeface="微软雅黑" panose="020B0503020204020204" pitchFamily="34" charset="-122"/>
                <a:ea typeface="微软雅黑" panose="020B0503020204020204" pitchFamily="34" charset="-122"/>
                <a:sym typeface="+mn-ea"/>
              </a:rPr>
              <a:t>一体化平台</a:t>
            </a:r>
            <a:r>
              <a:rPr lang="en-US" altLang="zh-CN" sz="2135" b="1" kern="100" dirty="0">
                <a:solidFill>
                  <a:srgbClr val="C00000"/>
                </a:solidFill>
                <a:latin typeface="微软雅黑" panose="020B0503020204020204" pitchFamily="34" charset="-122"/>
                <a:ea typeface="微软雅黑" panose="020B0503020204020204" pitchFamily="34" charset="-122"/>
                <a:sym typeface="+mn-ea"/>
              </a:rPr>
              <a:t>”</a:t>
            </a:r>
            <a:r>
              <a:rPr lang="zh-CN" altLang="en-US" sz="2135" kern="100" dirty="0">
                <a:solidFill>
                  <a:srgbClr val="000000"/>
                </a:solidFill>
                <a:latin typeface="微软雅黑" panose="020B0503020204020204" pitchFamily="34" charset="-122"/>
                <a:ea typeface="微软雅黑" panose="020B0503020204020204" pitchFamily="34" charset="-122"/>
                <a:sym typeface="+mn-ea"/>
              </a:rPr>
              <a:t>开展供需对接；</a:t>
            </a:r>
          </a:p>
          <a:p>
            <a:pPr algn="ctr">
              <a:lnSpc>
                <a:spcPct val="150000"/>
              </a:lnSpc>
            </a:pPr>
            <a:r>
              <a:rPr lang="zh-CN" altLang="en-US" sz="2135" kern="100" dirty="0">
                <a:solidFill>
                  <a:srgbClr val="000000"/>
                </a:solidFill>
                <a:latin typeface="微软雅黑" panose="020B0503020204020204" pitchFamily="34" charset="-122"/>
                <a:ea typeface="微软雅黑" panose="020B0503020204020204" pitchFamily="34" charset="-122"/>
                <a:sym typeface="+mn-ea"/>
              </a:rPr>
              <a:t>业务流转须</a:t>
            </a:r>
            <a:r>
              <a:rPr lang="zh-CN" altLang="en-US" sz="2135" b="1" kern="100" dirty="0">
                <a:solidFill>
                  <a:srgbClr val="C00000"/>
                </a:solidFill>
                <a:latin typeface="微软雅黑" panose="020B0503020204020204" pitchFamily="34" charset="-122"/>
                <a:ea typeface="微软雅黑" panose="020B0503020204020204" pitchFamily="34" charset="-122"/>
                <a:sym typeface="+mn-ea"/>
              </a:rPr>
              <a:t>依托“</a:t>
            </a:r>
            <a:r>
              <a:rPr lang="zh-CN" altLang="en-US" sz="2135" b="1" kern="100" dirty="0">
                <a:solidFill>
                  <a:srgbClr val="C00000"/>
                </a:solidFill>
                <a:effectLst/>
                <a:latin typeface="微软雅黑" panose="020B0503020204020204" pitchFamily="34" charset="-122"/>
                <a:ea typeface="微软雅黑" panose="020B0503020204020204" pitchFamily="34" charset="-122"/>
                <a:sym typeface="+mn-ea"/>
              </a:rPr>
              <a:t>三级治理中心</a:t>
            </a:r>
            <a:r>
              <a:rPr lang="zh-CN" altLang="en-US" sz="2135" b="1" kern="100" dirty="0">
                <a:solidFill>
                  <a:srgbClr val="C00000"/>
                </a:solidFill>
                <a:latin typeface="微软雅黑" panose="020B0503020204020204" pitchFamily="34" charset="-122"/>
                <a:ea typeface="微软雅黑" panose="020B0503020204020204" pitchFamily="34" charset="-122"/>
                <a:sym typeface="+mn-ea"/>
              </a:rPr>
              <a:t>”</a:t>
            </a:r>
            <a:r>
              <a:rPr lang="zh-CN" altLang="en-US" sz="2135" kern="100" dirty="0">
                <a:solidFill>
                  <a:srgbClr val="000000"/>
                </a:solidFill>
                <a:latin typeface="微软雅黑" panose="020B0503020204020204" pitchFamily="34" charset="-122"/>
                <a:ea typeface="微软雅黑" panose="020B0503020204020204" pitchFamily="34" charset="-122"/>
                <a:sym typeface="+mn-ea"/>
              </a:rPr>
              <a:t>。</a:t>
            </a:r>
          </a:p>
        </p:txBody>
      </p:sp>
    </p:spTree>
    <p:extLst>
      <p:ext uri="{BB962C8B-B14F-4D97-AF65-F5344CB8AC3E}">
        <p14:creationId xmlns:p14="http://schemas.microsoft.com/office/powerpoint/2010/main" val="669418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A40E6-380F-9951-0691-FD8DDE588F08}"/>
              </a:ext>
            </a:extLst>
          </p:cNvPr>
          <p:cNvSpPr>
            <a:spLocks noGrp="1"/>
          </p:cNvSpPr>
          <p:nvPr>
            <p:ph type="title"/>
          </p:nvPr>
        </p:nvSpPr>
        <p:spPr/>
        <p:txBody>
          <a:bodyPr/>
          <a:lstStyle/>
          <a:p>
            <a:r>
              <a:rPr kumimoji="1" lang="en-US" altLang="zh-CN" dirty="0"/>
              <a:t>03 </a:t>
            </a:r>
            <a:r>
              <a:rPr kumimoji="1" lang="zh-CN" altLang="en-US" dirty="0"/>
              <a:t>应用申报及审核</a:t>
            </a:r>
          </a:p>
        </p:txBody>
      </p:sp>
    </p:spTree>
    <p:extLst>
      <p:ext uri="{BB962C8B-B14F-4D97-AF65-F5344CB8AC3E}">
        <p14:creationId xmlns:p14="http://schemas.microsoft.com/office/powerpoint/2010/main" val="3824325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3.1 </a:t>
            </a:r>
            <a:r>
              <a:rPr kumimoji="1" lang="zh-CN" altLang="en-US" dirty="0"/>
              <a:t>联合评审机制</a:t>
            </a:r>
          </a:p>
        </p:txBody>
      </p:sp>
      <p:sp>
        <p:nvSpPr>
          <p:cNvPr id="39" name="文本框 38">
            <a:extLst>
              <a:ext uri="{FF2B5EF4-FFF2-40B4-BE49-F238E27FC236}">
                <a16:creationId xmlns:a16="http://schemas.microsoft.com/office/drawing/2014/main" id="{30A18E48-7C4B-06A5-357B-C18E3694C866}"/>
              </a:ext>
            </a:extLst>
          </p:cNvPr>
          <p:cNvSpPr txBox="1"/>
          <p:nvPr/>
        </p:nvSpPr>
        <p:spPr>
          <a:xfrm>
            <a:off x="1030130" y="1713177"/>
            <a:ext cx="10343784" cy="426207"/>
          </a:xfrm>
          <a:prstGeom prst="rect">
            <a:avLst/>
          </a:prstGeom>
          <a:ln w="19050">
            <a:noFill/>
            <a:prstDash val="sysDot"/>
          </a:ln>
        </p:spPr>
        <p:txBody>
          <a:bodyPr wrap="square">
            <a:spAutoFit/>
          </a:bodyPr>
          <a:lstStyle/>
          <a:p>
            <a:pPr algn="ctr">
              <a:lnSpc>
                <a:spcPts val="2935"/>
              </a:lnSpc>
            </a:pPr>
            <a:r>
              <a:rPr lang="zh-CN" altLang="en-US" b="1" dirty="0">
                <a:solidFill>
                  <a:srgbClr val="0070C0"/>
                </a:solidFill>
                <a:latin typeface="微软雅黑" panose="020B0503020204020204" pitchFamily="34" charset="-122"/>
                <a:ea typeface="微软雅黑" panose="020B0503020204020204" pitchFamily="34" charset="-122"/>
              </a:rPr>
              <a:t>市大数据发展局会同市委网信办、市委机要局、市财政局对市级应用开发、运维项目开展联合评审</a:t>
            </a:r>
          </a:p>
        </p:txBody>
      </p:sp>
      <p:sp>
        <p:nvSpPr>
          <p:cNvPr id="3" name="矩形: 圆角 2">
            <a:extLst>
              <a:ext uri="{FF2B5EF4-FFF2-40B4-BE49-F238E27FC236}">
                <a16:creationId xmlns:a16="http://schemas.microsoft.com/office/drawing/2014/main" id="{C343B832-1753-A4DA-3F98-73A794205D3A}"/>
              </a:ext>
            </a:extLst>
          </p:cNvPr>
          <p:cNvSpPr/>
          <p:nvPr/>
        </p:nvSpPr>
        <p:spPr>
          <a:xfrm>
            <a:off x="6173820" y="2309242"/>
            <a:ext cx="5520377" cy="1193807"/>
          </a:xfrm>
          <a:prstGeom prst="roundRect">
            <a:avLst>
              <a:gd name="adj" fmla="val 8313"/>
            </a:avLst>
          </a:prstGeom>
          <a:noFill/>
          <a:ln>
            <a:solidFill>
              <a:schemeClr val="accent1">
                <a:shade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4" name="直接连接符 3">
            <a:extLst>
              <a:ext uri="{FF2B5EF4-FFF2-40B4-BE49-F238E27FC236}">
                <a16:creationId xmlns:a16="http://schemas.microsoft.com/office/drawing/2014/main" id="{AE5C65ED-735A-62AA-D18F-4991094DCAA4}"/>
              </a:ext>
            </a:extLst>
          </p:cNvPr>
          <p:cNvCxnSpPr>
            <a:cxnSpLocks/>
          </p:cNvCxnSpPr>
          <p:nvPr>
            <p:custDataLst>
              <p:tags r:id="rId1"/>
            </p:custDataLst>
          </p:nvPr>
        </p:nvCxnSpPr>
        <p:spPr>
          <a:xfrm>
            <a:off x="6017179" y="2314621"/>
            <a:ext cx="0" cy="4040893"/>
          </a:xfrm>
          <a:prstGeom prst="line">
            <a:avLst/>
          </a:prstGeom>
          <a:ln w="19050">
            <a:solidFill>
              <a:srgbClr val="00325D"/>
            </a:solidFill>
            <a:prstDash val="sysDot"/>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B1551AE-32D5-8EB1-59F3-1B0FCB9868D9}"/>
              </a:ext>
            </a:extLst>
          </p:cNvPr>
          <p:cNvSpPr/>
          <p:nvPr>
            <p:custDataLst>
              <p:tags r:id="rId2"/>
            </p:custDataLst>
          </p:nvPr>
        </p:nvSpPr>
        <p:spPr>
          <a:xfrm>
            <a:off x="601580" y="2313467"/>
            <a:ext cx="682283" cy="40937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latin typeface="微软雅黑" panose="020B0503020204020204" pitchFamily="34" charset="-122"/>
                <a:ea typeface="微软雅黑" panose="020B0503020204020204" pitchFamily="34" charset="-122"/>
              </a:rPr>
              <a:t>市大数据发展局</a:t>
            </a:r>
          </a:p>
        </p:txBody>
      </p:sp>
      <p:sp>
        <p:nvSpPr>
          <p:cNvPr id="6" name="矩形 5">
            <a:extLst>
              <a:ext uri="{FF2B5EF4-FFF2-40B4-BE49-F238E27FC236}">
                <a16:creationId xmlns:a16="http://schemas.microsoft.com/office/drawing/2014/main" id="{673AF544-7E7C-F660-EE6C-6F133DA4EC7E}"/>
              </a:ext>
            </a:extLst>
          </p:cNvPr>
          <p:cNvSpPr/>
          <p:nvPr>
            <p:custDataLst>
              <p:tags r:id="rId3"/>
            </p:custDataLst>
          </p:nvPr>
        </p:nvSpPr>
        <p:spPr>
          <a:xfrm>
            <a:off x="6286422" y="2309241"/>
            <a:ext cx="652777" cy="119380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市委网信办</a:t>
            </a:r>
          </a:p>
        </p:txBody>
      </p:sp>
      <p:sp>
        <p:nvSpPr>
          <p:cNvPr id="40" name="矩形: 圆角 39">
            <a:extLst>
              <a:ext uri="{FF2B5EF4-FFF2-40B4-BE49-F238E27FC236}">
                <a16:creationId xmlns:a16="http://schemas.microsoft.com/office/drawing/2014/main" id="{CD108EC8-08E4-6998-1D68-D55BC9503721}"/>
              </a:ext>
            </a:extLst>
          </p:cNvPr>
          <p:cNvSpPr/>
          <p:nvPr/>
        </p:nvSpPr>
        <p:spPr>
          <a:xfrm>
            <a:off x="1388004" y="2313468"/>
            <a:ext cx="4476642" cy="4093770"/>
          </a:xfrm>
          <a:prstGeom prst="roundRect">
            <a:avLst>
              <a:gd name="adj" fmla="val 3364"/>
            </a:avLst>
          </a:prstGeom>
          <a:noFill/>
          <a:ln>
            <a:solidFill>
              <a:schemeClr val="accent1">
                <a:shade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1" name="文本框 40">
            <a:extLst>
              <a:ext uri="{FF2B5EF4-FFF2-40B4-BE49-F238E27FC236}">
                <a16:creationId xmlns:a16="http://schemas.microsoft.com/office/drawing/2014/main" id="{E0AF3C13-75F3-B424-3D8B-1F9129636C2D}"/>
              </a:ext>
            </a:extLst>
          </p:cNvPr>
          <p:cNvSpPr txBox="1"/>
          <p:nvPr>
            <p:custDataLst>
              <p:tags r:id="rId4"/>
            </p:custDataLst>
          </p:nvPr>
        </p:nvSpPr>
        <p:spPr>
          <a:xfrm>
            <a:off x="1553105" y="2581471"/>
            <a:ext cx="4187771" cy="3507191"/>
          </a:xfrm>
          <a:prstGeom prst="rect">
            <a:avLst/>
          </a:prstGeom>
          <a:ln w="12700">
            <a:noFill/>
            <a:prstDash val="solid"/>
          </a:ln>
        </p:spPr>
        <p:txBody>
          <a:bodyPr wrap="square">
            <a:noAutofit/>
          </a:bodyPr>
          <a:lstStyle/>
          <a:p>
            <a:pPr marL="0" marR="0" algn="just">
              <a:lnSpc>
                <a:spcPts val="2400"/>
              </a:lnSpc>
              <a:spcBef>
                <a:spcPts val="0"/>
              </a:spcBef>
              <a:spcAft>
                <a:spcPts val="0"/>
              </a:spcAft>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solidFill>
                  <a:prstClr val="black"/>
                </a:solidFill>
                <a:latin typeface="微软雅黑" panose="020B0503020204020204" pitchFamily="34" charset="-122"/>
                <a:ea typeface="微软雅黑" panose="020B0503020204020204" pitchFamily="34" charset="-122"/>
              </a:rPr>
              <a:t>专项资金预算编制、汇总、安排使用，</a:t>
            </a:r>
            <a:r>
              <a:rPr lang="zh-CN" altLang="en-US" sz="1600" dirty="0">
                <a:latin typeface="微软雅黑" panose="020B0503020204020204" pitchFamily="34" charset="-122"/>
                <a:ea typeface="微软雅黑" panose="020B0503020204020204" pitchFamily="34" charset="-122"/>
              </a:rPr>
              <a:t>开展资金绩效管理及使用情况的监督检查；</a:t>
            </a:r>
            <a:endParaRPr lang="en-US" altLang="zh-CN" sz="1600" dirty="0">
              <a:latin typeface="微软雅黑" panose="020B0503020204020204" pitchFamily="34" charset="-122"/>
              <a:ea typeface="微软雅黑" panose="020B0503020204020204" pitchFamily="34" charset="-122"/>
            </a:endParaRPr>
          </a:p>
          <a:p>
            <a:pPr marL="0" marR="0" algn="just">
              <a:lnSpc>
                <a:spcPts val="2400"/>
              </a:lnSpc>
              <a:spcBef>
                <a:spcPts val="0"/>
              </a:spcBef>
              <a:spcAft>
                <a:spcPts val="0"/>
              </a:spcAft>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latin typeface="微软雅黑" panose="020B0503020204020204" pitchFamily="34" charset="-122"/>
                <a:ea typeface="微软雅黑" panose="020B0503020204020204" pitchFamily="34" charset="-122"/>
              </a:rPr>
              <a:t>应用开发、运维项目资金需求和数据安全体系规范审查；组织市级应用开发、运维项目的申报和联合评审；</a:t>
            </a:r>
          </a:p>
          <a:p>
            <a:pPr marL="0" marR="0" algn="just">
              <a:lnSpc>
                <a:spcPts val="2400"/>
              </a:lnSpc>
              <a:spcBef>
                <a:spcPts val="0"/>
              </a:spcBef>
              <a:spcAft>
                <a:spcPts val="0"/>
              </a:spcAft>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latin typeface="微软雅黑" panose="020B0503020204020204" pitchFamily="34" charset="-122"/>
                <a:ea typeface="微软雅黑" panose="020B0503020204020204" pitchFamily="34" charset="-122"/>
              </a:rPr>
              <a:t>应用接入</a:t>
            </a:r>
            <a:r>
              <a:rPr lang="zh-CN" altLang="en-US" sz="1600" dirty="0">
                <a:solidFill>
                  <a:prstClr val="black"/>
                </a:solidFill>
                <a:latin typeface="微软雅黑" panose="020B0503020204020204" pitchFamily="34" charset="-122"/>
                <a:ea typeface="微软雅黑" panose="020B0503020204020204" pitchFamily="34" charset="-122"/>
              </a:rPr>
              <a:t>“一体化平台”、“三级治理中心”等技术审查及规范校验；</a:t>
            </a:r>
          </a:p>
          <a:p>
            <a:pPr marL="0" marR="0" algn="just">
              <a:lnSpc>
                <a:spcPts val="2400"/>
              </a:lnSpc>
              <a:spcBef>
                <a:spcPts val="0"/>
              </a:spcBef>
              <a:spcAft>
                <a:spcPts val="0"/>
              </a:spcAft>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solidFill>
                  <a:schemeClr val="tx1"/>
                </a:solidFill>
                <a:latin typeface="微软雅黑" panose="020B0503020204020204" pitchFamily="34" charset="-122"/>
                <a:ea typeface="微软雅黑" panose="020B0503020204020204" pitchFamily="34" charset="-122"/>
              </a:rPr>
              <a:t>接入</a:t>
            </a:r>
            <a:r>
              <a:rPr lang="zh-CN" altLang="en-US" sz="1600" dirty="0">
                <a:solidFill>
                  <a:prstClr val="black"/>
                </a:solidFill>
                <a:latin typeface="微软雅黑" panose="020B0503020204020204" pitchFamily="34" charset="-122"/>
                <a:ea typeface="微软雅黑" panose="020B0503020204020204" pitchFamily="34" charset="-122"/>
                <a:sym typeface="+mn-ea"/>
              </a:rPr>
              <a:t>“两端”、</a:t>
            </a:r>
            <a:r>
              <a:rPr lang="zh-CN" altLang="en-US" sz="1600" dirty="0">
                <a:solidFill>
                  <a:prstClr val="black"/>
                </a:solidFill>
                <a:latin typeface="微软雅黑" panose="020B0503020204020204" pitchFamily="34" charset="-122"/>
                <a:ea typeface="微软雅黑" panose="020B0503020204020204" pitchFamily="34" charset="-122"/>
              </a:rPr>
              <a:t>市级电子政务外网的需求和技术的规范审查；</a:t>
            </a:r>
            <a:endParaRPr lang="zh-CN" altLang="en-US" sz="1600" dirty="0">
              <a:solidFill>
                <a:srgbClr val="FF0000"/>
              </a:solidFill>
              <a:latin typeface="微软雅黑" panose="020B0503020204020204" pitchFamily="34" charset="-122"/>
              <a:ea typeface="微软雅黑" panose="020B0503020204020204" pitchFamily="34" charset="-122"/>
            </a:endParaRPr>
          </a:p>
          <a:p>
            <a:pPr marL="0" marR="0" algn="just">
              <a:lnSpc>
                <a:spcPts val="2400"/>
              </a:lnSpc>
              <a:spcBef>
                <a:spcPts val="0"/>
              </a:spcBef>
              <a:spcAft>
                <a:spcPts val="0"/>
              </a:spcAft>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solidFill>
                  <a:prstClr val="black"/>
                </a:solidFill>
                <a:latin typeface="微软雅黑" panose="020B0503020204020204" pitchFamily="34" charset="-122"/>
                <a:ea typeface="微软雅黑" panose="020B0503020204020204" pitchFamily="34" charset="-122"/>
              </a:rPr>
              <a:t>组织开展应用开发和运维的督促、检查和评价工作。</a:t>
            </a:r>
          </a:p>
        </p:txBody>
      </p:sp>
      <p:sp>
        <p:nvSpPr>
          <p:cNvPr id="42" name="文本框 41">
            <a:extLst>
              <a:ext uri="{FF2B5EF4-FFF2-40B4-BE49-F238E27FC236}">
                <a16:creationId xmlns:a16="http://schemas.microsoft.com/office/drawing/2014/main" id="{6503F5FC-FAC9-6C31-7DE3-2F01864CC977}"/>
              </a:ext>
            </a:extLst>
          </p:cNvPr>
          <p:cNvSpPr txBox="1"/>
          <p:nvPr/>
        </p:nvSpPr>
        <p:spPr>
          <a:xfrm>
            <a:off x="7022603" y="2578384"/>
            <a:ext cx="4068233" cy="781473"/>
          </a:xfrm>
          <a:prstGeom prst="rect">
            <a:avLst/>
          </a:prstGeom>
          <a:ln w="12700">
            <a:noFill/>
          </a:ln>
        </p:spPr>
        <p:txBody>
          <a:bodyPr wrap="square">
            <a:noAutofit/>
          </a:bodyPr>
          <a:lstStyle/>
          <a:p>
            <a:pPr marL="0" marR="0" lvl="0" indent="0" algn="l" defTabSz="914400" rtl="0" eaLnBrk="1" fontAlgn="auto" latinLnBrk="0" hangingPunct="1">
              <a:lnSpc>
                <a:spcPts val="28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方正仿宋_GBK" panose="02000000000000000000" charset="-122"/>
                <a:sym typeface="+mn-ea"/>
              </a:rPr>
              <a:t>负责</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方正仿宋_GBK" panose="02000000000000000000" charset="-122"/>
                <a:sym typeface="+mn-ea"/>
              </a:rPr>
              <a:t>应用开发项目网络安全审查，依法开展应用的网络安全监督。</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3" name="矩形: 圆角 42">
            <a:extLst>
              <a:ext uri="{FF2B5EF4-FFF2-40B4-BE49-F238E27FC236}">
                <a16:creationId xmlns:a16="http://schemas.microsoft.com/office/drawing/2014/main" id="{3BEC97E3-7B56-B7B8-0CEF-BB8333EE4EC0}"/>
              </a:ext>
            </a:extLst>
          </p:cNvPr>
          <p:cNvSpPr/>
          <p:nvPr/>
        </p:nvSpPr>
        <p:spPr>
          <a:xfrm>
            <a:off x="6173820" y="3557927"/>
            <a:ext cx="5520377" cy="1294703"/>
          </a:xfrm>
          <a:prstGeom prst="roundRect">
            <a:avLst>
              <a:gd name="adj" fmla="val 8313"/>
            </a:avLst>
          </a:prstGeom>
          <a:noFill/>
          <a:ln>
            <a:solidFill>
              <a:schemeClr val="accent1">
                <a:shade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4" name="文本框 43">
            <a:extLst>
              <a:ext uri="{FF2B5EF4-FFF2-40B4-BE49-F238E27FC236}">
                <a16:creationId xmlns:a16="http://schemas.microsoft.com/office/drawing/2014/main" id="{43AFCE5B-4938-7F0E-F1BF-EA129CDDFEB1}"/>
              </a:ext>
            </a:extLst>
          </p:cNvPr>
          <p:cNvSpPr txBox="1"/>
          <p:nvPr/>
        </p:nvSpPr>
        <p:spPr>
          <a:xfrm>
            <a:off x="7051801" y="3699696"/>
            <a:ext cx="4726517" cy="1061659"/>
          </a:xfrm>
          <a:prstGeom prst="rect">
            <a:avLst/>
          </a:prstGeom>
          <a:ln w="12700">
            <a:noFill/>
          </a:ln>
        </p:spPr>
        <p:txBody>
          <a:bodyPr wrap="square">
            <a:noAutofit/>
          </a:bodyPr>
          <a:lstStyle/>
          <a:p>
            <a:pPr marL="0" marR="0" algn="just">
              <a:lnSpc>
                <a:spcPts val="2600"/>
              </a:lnSpc>
              <a:spcBef>
                <a:spcPts val="0"/>
              </a:spcBef>
              <a:spcAft>
                <a:spcPts val="0"/>
              </a:spcAft>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solidFill>
                  <a:prstClr val="black"/>
                </a:solidFill>
                <a:latin typeface="微软雅黑" panose="020B0503020204020204" pitchFamily="34" charset="-122"/>
                <a:ea typeface="微软雅黑" panose="020B0503020204020204" pitchFamily="34" charset="-122"/>
              </a:rPr>
              <a:t>应用开发项目的密码应用方案、电子政务内网需求和技术规范审查；</a:t>
            </a:r>
            <a:endParaRPr lang="en-US" altLang="zh-CN" sz="1600" dirty="0">
              <a:solidFill>
                <a:prstClr val="black"/>
              </a:solidFill>
              <a:latin typeface="微软雅黑" panose="020B0503020204020204" pitchFamily="34" charset="-122"/>
              <a:ea typeface="微软雅黑" panose="020B0503020204020204" pitchFamily="34" charset="-122"/>
            </a:endParaRPr>
          </a:p>
          <a:p>
            <a:pPr marL="0" marR="0" algn="just">
              <a:lnSpc>
                <a:spcPts val="2600"/>
              </a:lnSpc>
              <a:spcBef>
                <a:spcPts val="0"/>
              </a:spcBef>
              <a:spcAft>
                <a:spcPts val="0"/>
              </a:spcAft>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solidFill>
                  <a:prstClr val="black"/>
                </a:solidFill>
                <a:latin typeface="微软雅黑" panose="020B0503020204020204" pitchFamily="34" charset="-122"/>
                <a:ea typeface="微软雅黑" panose="020B0503020204020204" pitchFamily="34" charset="-122"/>
              </a:rPr>
              <a:t>应用的信创和密码应用工作的监督管理。</a:t>
            </a:r>
          </a:p>
        </p:txBody>
      </p:sp>
      <p:sp>
        <p:nvSpPr>
          <p:cNvPr id="45" name="矩形 44">
            <a:extLst>
              <a:ext uri="{FF2B5EF4-FFF2-40B4-BE49-F238E27FC236}">
                <a16:creationId xmlns:a16="http://schemas.microsoft.com/office/drawing/2014/main" id="{D7BE00A0-CD5F-D3AE-3884-9561CD9EDEDA}"/>
              </a:ext>
            </a:extLst>
          </p:cNvPr>
          <p:cNvSpPr/>
          <p:nvPr>
            <p:custDataLst>
              <p:tags r:id="rId5"/>
            </p:custDataLst>
          </p:nvPr>
        </p:nvSpPr>
        <p:spPr>
          <a:xfrm>
            <a:off x="6286422" y="3556601"/>
            <a:ext cx="652777" cy="129602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市委机要局</a:t>
            </a:r>
          </a:p>
        </p:txBody>
      </p:sp>
      <p:sp>
        <p:nvSpPr>
          <p:cNvPr id="46" name="矩形: 圆角 45">
            <a:extLst>
              <a:ext uri="{FF2B5EF4-FFF2-40B4-BE49-F238E27FC236}">
                <a16:creationId xmlns:a16="http://schemas.microsoft.com/office/drawing/2014/main" id="{4E60111E-BEF3-4A46-5BC6-E8127DD06B39}"/>
              </a:ext>
            </a:extLst>
          </p:cNvPr>
          <p:cNvSpPr/>
          <p:nvPr/>
        </p:nvSpPr>
        <p:spPr>
          <a:xfrm>
            <a:off x="6173820" y="4921770"/>
            <a:ext cx="5520377" cy="1485467"/>
          </a:xfrm>
          <a:prstGeom prst="roundRect">
            <a:avLst>
              <a:gd name="adj" fmla="val 8313"/>
            </a:avLst>
          </a:prstGeom>
          <a:noFill/>
          <a:ln>
            <a:solidFill>
              <a:schemeClr val="accent1">
                <a:shade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7" name="文本框 46">
            <a:extLst>
              <a:ext uri="{FF2B5EF4-FFF2-40B4-BE49-F238E27FC236}">
                <a16:creationId xmlns:a16="http://schemas.microsoft.com/office/drawing/2014/main" id="{C72B38F2-8AF6-608A-D0EE-E2140A2D9D09}"/>
              </a:ext>
            </a:extLst>
          </p:cNvPr>
          <p:cNvSpPr txBox="1"/>
          <p:nvPr/>
        </p:nvSpPr>
        <p:spPr>
          <a:xfrm>
            <a:off x="7051801" y="4985719"/>
            <a:ext cx="4726517" cy="1667186"/>
          </a:xfrm>
          <a:prstGeom prst="rect">
            <a:avLst/>
          </a:prstGeom>
          <a:ln w="12700">
            <a:noFill/>
          </a:ln>
        </p:spPr>
        <p:txBody>
          <a:bodyPr wrap="square">
            <a:noAutofit/>
          </a:bodyPr>
          <a:lstStyle/>
          <a:p>
            <a:pPr algn="just">
              <a:lnSpc>
                <a:spcPts val="2600"/>
              </a:lnSpc>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solidFill>
                  <a:prstClr val="black"/>
                </a:solidFill>
                <a:latin typeface="微软雅黑" panose="020B0503020204020204" pitchFamily="34" charset="-122"/>
                <a:ea typeface="微软雅黑" panose="020B0503020204020204" pitchFamily="34" charset="-122"/>
              </a:rPr>
              <a:t>组织开展专项资金绩效管理和财政监督检查；</a:t>
            </a:r>
          </a:p>
          <a:p>
            <a:pPr algn="just">
              <a:lnSpc>
                <a:spcPts val="2600"/>
              </a:lnSpc>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solidFill>
                  <a:prstClr val="black"/>
                </a:solidFill>
                <a:latin typeface="微软雅黑" panose="020B0503020204020204" pitchFamily="34" charset="-122"/>
                <a:ea typeface="微软雅黑" panose="020B0503020204020204" pitchFamily="34" charset="-122"/>
              </a:rPr>
              <a:t>专项资金预算管理和资金下达；</a:t>
            </a:r>
            <a:endParaRPr lang="en-US" altLang="zh-CN" sz="1600" dirty="0">
              <a:solidFill>
                <a:prstClr val="black"/>
              </a:solidFill>
              <a:latin typeface="微软雅黑" panose="020B0503020204020204" pitchFamily="34" charset="-122"/>
              <a:ea typeface="微软雅黑" panose="020B0503020204020204" pitchFamily="34" charset="-122"/>
            </a:endParaRPr>
          </a:p>
          <a:p>
            <a:pPr algn="just">
              <a:lnSpc>
                <a:spcPts val="2600"/>
              </a:lnSpc>
            </a:pPr>
            <a:r>
              <a:rPr lang="zh-CN" altLang="en-US" sz="1600" b="1" dirty="0">
                <a:solidFill>
                  <a:srgbClr val="C00000"/>
                </a:solidFill>
                <a:latin typeface="微软雅黑" panose="020B0503020204020204" pitchFamily="34" charset="-122"/>
                <a:ea typeface="微软雅黑" panose="020B0503020204020204" pitchFamily="34" charset="-122"/>
              </a:rPr>
              <a:t>负责</a:t>
            </a:r>
            <a:r>
              <a:rPr lang="zh-CN" altLang="en-US" sz="1600" dirty="0">
                <a:solidFill>
                  <a:prstClr val="black"/>
                </a:solidFill>
                <a:latin typeface="微软雅黑" panose="020B0503020204020204" pitchFamily="34" charset="-122"/>
                <a:ea typeface="微软雅黑" panose="020B0503020204020204" pitchFamily="34" charset="-122"/>
              </a:rPr>
              <a:t>专项资金到期或者撤销后的清算、资金收回等工作。</a:t>
            </a:r>
          </a:p>
        </p:txBody>
      </p:sp>
      <p:sp>
        <p:nvSpPr>
          <p:cNvPr id="48" name="矩形 47">
            <a:extLst>
              <a:ext uri="{FF2B5EF4-FFF2-40B4-BE49-F238E27FC236}">
                <a16:creationId xmlns:a16="http://schemas.microsoft.com/office/drawing/2014/main" id="{563F0045-7032-F96A-D6F3-314CFA928A6F}"/>
              </a:ext>
            </a:extLst>
          </p:cNvPr>
          <p:cNvSpPr/>
          <p:nvPr>
            <p:custDataLst>
              <p:tags r:id="rId6"/>
            </p:custDataLst>
          </p:nvPr>
        </p:nvSpPr>
        <p:spPr>
          <a:xfrm>
            <a:off x="6286422" y="4920706"/>
            <a:ext cx="652777" cy="143480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市财政局</a:t>
            </a:r>
          </a:p>
        </p:txBody>
      </p:sp>
    </p:spTree>
    <p:extLst>
      <p:ext uri="{BB962C8B-B14F-4D97-AF65-F5344CB8AC3E}">
        <p14:creationId xmlns:p14="http://schemas.microsoft.com/office/powerpoint/2010/main" val="366204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3.2 </a:t>
            </a:r>
            <a:r>
              <a:rPr kumimoji="1" lang="zh-CN" altLang="en-US" dirty="0"/>
              <a:t>应用申报范围及边界</a:t>
            </a:r>
          </a:p>
        </p:txBody>
      </p:sp>
      <p:graphicFrame>
        <p:nvGraphicFramePr>
          <p:cNvPr id="7" name="表格 6">
            <a:extLst>
              <a:ext uri="{FF2B5EF4-FFF2-40B4-BE49-F238E27FC236}">
                <a16:creationId xmlns:a16="http://schemas.microsoft.com/office/drawing/2014/main" id="{E412CF8A-0F50-2EEA-C14A-D2EF28E1E035}"/>
              </a:ext>
            </a:extLst>
          </p:cNvPr>
          <p:cNvGraphicFramePr/>
          <p:nvPr>
            <p:custDataLst>
              <p:tags r:id="rId1"/>
            </p:custDataLst>
            <p:extLst>
              <p:ext uri="{D42A27DB-BD31-4B8C-83A1-F6EECF244321}">
                <p14:modId xmlns:p14="http://schemas.microsoft.com/office/powerpoint/2010/main" val="1796051331"/>
              </p:ext>
            </p:extLst>
          </p:nvPr>
        </p:nvGraphicFramePr>
        <p:xfrm>
          <a:off x="1165532" y="1938269"/>
          <a:ext cx="9923172" cy="4228053"/>
        </p:xfrm>
        <a:graphic>
          <a:graphicData uri="http://schemas.openxmlformats.org/drawingml/2006/table">
            <a:tbl>
              <a:tblPr/>
              <a:tblGrid>
                <a:gridCol w="1707268">
                  <a:extLst>
                    <a:ext uri="{9D8B030D-6E8A-4147-A177-3AD203B41FA5}">
                      <a16:colId xmlns:a16="http://schemas.microsoft.com/office/drawing/2014/main" val="20000"/>
                    </a:ext>
                  </a:extLst>
                </a:gridCol>
                <a:gridCol w="8215904">
                  <a:extLst>
                    <a:ext uri="{9D8B030D-6E8A-4147-A177-3AD203B41FA5}">
                      <a16:colId xmlns:a16="http://schemas.microsoft.com/office/drawing/2014/main" val="20001"/>
                    </a:ext>
                  </a:extLst>
                </a:gridCol>
              </a:tblGrid>
              <a:tr h="584743">
                <a:tc gridSpan="2">
                  <a:txBody>
                    <a:bodyPr/>
                    <a:lstStyle/>
                    <a:p>
                      <a:pPr indent="0" algn="ctr">
                        <a:buNone/>
                      </a:pPr>
                      <a:r>
                        <a:rPr lang="zh-CN" sz="2400" b="1" dirty="0">
                          <a:solidFill>
                            <a:schemeClr val="bg1"/>
                          </a:solidFill>
                          <a:effectLst/>
                          <a:latin typeface="微软雅黑" panose="020B0503020204020204" pitchFamily="34" charset="-122"/>
                          <a:ea typeface="微软雅黑" panose="020B0503020204020204" pitchFamily="34" charset="-122"/>
                          <a:sym typeface="+mn-ea"/>
                        </a:rPr>
                        <a:t>重庆市政务数字化应用申报范围及边界</a:t>
                      </a:r>
                      <a:endParaRPr lang="zh-CN" altLang="en-US" sz="2400" b="1" dirty="0">
                        <a:solidFill>
                          <a:schemeClr val="bg1"/>
                        </a:solidFill>
                        <a:effectLst/>
                        <a:latin typeface="微软雅黑" panose="020B0503020204020204" pitchFamily="34" charset="-122"/>
                        <a:ea typeface="微软雅黑" panose="020B0503020204020204" pitchFamily="34" charset="-122"/>
                        <a:cs typeface="方正仿宋_GBK" panose="02000000000000000000" charset="-122"/>
                        <a:sym typeface="+mn-ea"/>
                      </a:endParaRPr>
                    </a:p>
                  </a:txBody>
                  <a:tcPr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hMerge="1">
                  <a:txBody>
                    <a:bodyPr/>
                    <a:lstStyle/>
                    <a:p>
                      <a:endParaRPr lang="zh-CN"/>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776">
                <a:tc gridSpan="2">
                  <a:txBody>
                    <a:bodyPr/>
                    <a:lstStyle/>
                    <a:p>
                      <a:pPr indent="0" algn="ctr">
                        <a:buNone/>
                      </a:pPr>
                      <a:endParaRPr lang="en-US" altLang="en-US" sz="265" b="0" dirty="0">
                        <a:effectLst/>
                        <a:latin typeface="微软雅黑" panose="020B0503020204020204" pitchFamily="34" charset="-122"/>
                        <a:ea typeface="微软雅黑" panose="020B0503020204020204" pitchFamily="34" charset="-122"/>
                        <a:cs typeface="方正仿宋_GBK" panose="02000000000000000000" charset="-122"/>
                      </a:endParaRPr>
                    </a:p>
                  </a:txBody>
                  <a:tcPr marT="0" marB="0">
                    <a:lnL w="12700" cap="flat" cmpd="sng">
                      <a:noFill/>
                      <a:prstDash val="solid"/>
                      <a:headEnd type="none" w="med" len="med"/>
                      <a:tailEnd type="none" w="med" len="med"/>
                    </a:lnL>
                    <a:lnR w="12700" cap="flat" cmpd="sng">
                      <a:no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CN"/>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0104">
                <a:tc>
                  <a:txBody>
                    <a:bodyPr/>
                    <a:lstStyle/>
                    <a:p>
                      <a:pPr indent="0" algn="ctr">
                        <a:buNone/>
                      </a:pPr>
                      <a:r>
                        <a:rPr lang="en-US" sz="2000" b="1"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名称／分类</a:t>
                      </a:r>
                      <a:endParaRPr lang="en-US" sz="2000" b="1"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txBody>
                  <a:tcPr marT="0" marB="0" anchor="ctr">
                    <a:lnL w="12700" cap="flat" cmpd="sng">
                      <a:no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p>
                      <a:pPr indent="0" algn="ctr">
                        <a:buNone/>
                      </a:pPr>
                      <a:r>
                        <a:rPr lang="en-US" sz="2000" b="1"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定义</a:t>
                      </a:r>
                      <a:r>
                        <a:rPr lang="en-US" sz="2000" b="1"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a:t>
                      </a:r>
                      <a:r>
                        <a:rPr lang="en-US" sz="2000" b="1"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范围</a:t>
                      </a:r>
                      <a:endParaRPr lang="en-US" sz="2000" b="1"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txBody>
                  <a:tcPr marT="0" marB="0" anchor="ctr">
                    <a:lnL w="12700" cap="flat" cmpd="sng" algn="ctr">
                      <a:solidFill>
                        <a:srgbClr val="FFFFFF"/>
                      </a:solidFill>
                      <a:prstDash val="solid"/>
                      <a:round/>
                      <a:headEnd type="none" w="med" len="med"/>
                      <a:tailEnd type="none" w="med" len="med"/>
                    </a:lnL>
                    <a:lnR w="12700" cap="flat" cmpd="sng">
                      <a:no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36209">
                <a:tc gridSpan="2">
                  <a:txBody>
                    <a:bodyPr/>
                    <a:lstStyle/>
                    <a:p>
                      <a:pPr indent="0">
                        <a:buNone/>
                      </a:pPr>
                      <a:endParaRPr lang="en-US" altLang="en-US" sz="2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txBody>
                  <a:tcPr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22982">
                <a:tc>
                  <a:txBody>
                    <a:bodyPr/>
                    <a:lstStyle/>
                    <a:p>
                      <a:pPr indent="0" algn="ctr">
                        <a:buNone/>
                      </a:pPr>
                      <a:r>
                        <a:rPr lang="en-US" sz="2000" b="1"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政务单位范围</a:t>
                      </a:r>
                      <a:r>
                        <a:rPr lang="en-US" sz="2000" b="1"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 </a:t>
                      </a:r>
                    </a:p>
                  </a:txBody>
                  <a:tcPr marT="0" marB="0" anchor="ctr">
                    <a:lnL w="12700" cap="flat" cmpd="sng">
                      <a:no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indent="0">
                        <a:buNone/>
                      </a:pPr>
                      <a:r>
                        <a:rPr lang="en-US" sz="1600" b="0"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市级政务单位范围：使用市级以上财政资金开展数字化应用开发、运行维护的下列单位</a:t>
                      </a:r>
                      <a:r>
                        <a:rPr lang="en-US" sz="16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a:t>
                      </a:r>
                    </a:p>
                    <a:p>
                      <a:pPr indent="0">
                        <a:buNone/>
                      </a:pPr>
                      <a:r>
                        <a:rPr lang="en-US" sz="16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1、市委、市人大、市政府、市政协直属单位及其归口管理单位和下属各单位；</a:t>
                      </a:r>
                    </a:p>
                    <a:p>
                      <a:pPr indent="0">
                        <a:buNone/>
                      </a:pPr>
                      <a:r>
                        <a:rPr lang="en-US" sz="16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2、市高法院，以及下辖各中级人民法院、区县人民法院及其下属各单位；</a:t>
                      </a:r>
                    </a:p>
                    <a:p>
                      <a:pPr indent="0">
                        <a:buNone/>
                      </a:pPr>
                      <a:r>
                        <a:rPr lang="en-US" sz="16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3、市检察院，以及下辖各检察院分院、区县人民检察院及其下属各单位；</a:t>
                      </a:r>
                    </a:p>
                    <a:p>
                      <a:pPr indent="0">
                        <a:buNone/>
                      </a:pPr>
                      <a:r>
                        <a:rPr lang="en-US" sz="16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4、各民主党派市级机关、市工商联、市级人民团体及其归口管理单位和下属各单位；</a:t>
                      </a:r>
                    </a:p>
                    <a:p>
                      <a:pPr indent="0">
                        <a:buNone/>
                      </a:pPr>
                      <a:r>
                        <a:rPr lang="en-US" sz="1600" b="0"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区县政务单位范围参照市级界定</a:t>
                      </a:r>
                      <a:r>
                        <a:rPr lang="en-US" sz="16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a:t>
                      </a:r>
                      <a:endParaRPr lang="en-US" sz="20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txBody>
                  <a:tcPr marT="0" marB="0" anchor="ctr">
                    <a:lnL w="12700" cap="flat" cmpd="sng" algn="ctr">
                      <a:solidFill>
                        <a:srgbClr val="FFFFFF"/>
                      </a:solidFill>
                      <a:prstDash val="solid"/>
                      <a:round/>
                      <a:headEnd type="none" w="med" len="med"/>
                      <a:tailEnd type="none" w="med" len="med"/>
                    </a:lnL>
                    <a:lnR w="12700" cap="flat" cmpd="sng">
                      <a:no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6209">
                <a:tc gridSpan="2">
                  <a:txBody>
                    <a:bodyPr/>
                    <a:lstStyle/>
                    <a:p>
                      <a:pPr indent="0" algn="ctr">
                        <a:buNone/>
                      </a:pPr>
                      <a:endParaRPr lang="en-US" altLang="en-US" sz="200" b="1"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txBody>
                  <a:tcPr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158497">
                <a:tc>
                  <a:txBody>
                    <a:bodyPr/>
                    <a:lstStyle/>
                    <a:p>
                      <a:pPr indent="0" algn="ctr">
                        <a:buNone/>
                      </a:pPr>
                      <a:r>
                        <a:rPr lang="en-US" sz="2000" b="1"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    </a:t>
                      </a:r>
                      <a:r>
                        <a:rPr lang="en-US" sz="2000" b="1"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申报主体</a:t>
                      </a:r>
                      <a:endParaRPr lang="en-US" altLang="en-US" sz="2000" b="1"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txBody>
                  <a:tcPr marT="0" marB="0" anchor="ctr">
                    <a:lnL w="12700" cap="flat" cmpd="sng">
                      <a:noFill/>
                      <a:prstDash val="soli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noFill/>
                      <a:prstDash val="solid"/>
                      <a:headEnd type="none" w="med" len="med"/>
                      <a:tailEnd type="none" w="med" len="med"/>
                    </a:lnB>
                    <a:lnTlToBr>
                      <a:noFill/>
                    </a:lnTlToBr>
                    <a:lnBlToTr>
                      <a:noFill/>
                    </a:lnBlToTr>
                    <a:solidFill>
                      <a:schemeClr val="bg2"/>
                    </a:solidFill>
                  </a:tcPr>
                </a:tc>
                <a:tc>
                  <a:txBody>
                    <a:bodyPr/>
                    <a:lstStyle/>
                    <a:p>
                      <a:pPr indent="0">
                        <a:lnSpc>
                          <a:spcPts val="2400"/>
                        </a:lnSpc>
                        <a:buNone/>
                      </a:pPr>
                      <a:r>
                        <a:rPr lang="en-US" sz="1800" b="0"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由应用责任部门牵头，按照办法有关要求统筹谋划本单位及</a:t>
                      </a:r>
                      <a:r>
                        <a:rPr lang="en-US" sz="1800" b="1" dirty="0" err="1">
                          <a:solidFill>
                            <a:srgbClr val="C00000"/>
                          </a:solidFill>
                          <a:effectLst/>
                          <a:latin typeface="微软雅黑" panose="020B0503020204020204" pitchFamily="34" charset="-122"/>
                          <a:ea typeface="微软雅黑" panose="020B0503020204020204" pitchFamily="34" charset="-122"/>
                          <a:cs typeface="方正仿宋_GBK" panose="02000000000000000000" charset="-122"/>
                        </a:rPr>
                        <a:t>下属单位</a:t>
                      </a:r>
                      <a:r>
                        <a:rPr lang="en-US" sz="1800" b="0"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和</a:t>
                      </a:r>
                      <a:r>
                        <a:rPr lang="en-US" sz="1800" b="1" dirty="0" err="1">
                          <a:solidFill>
                            <a:srgbClr val="C00000"/>
                          </a:solidFill>
                          <a:effectLst/>
                          <a:latin typeface="微软雅黑" panose="020B0503020204020204" pitchFamily="34" charset="-122"/>
                          <a:ea typeface="微软雅黑" panose="020B0503020204020204" pitchFamily="34" charset="-122"/>
                          <a:cs typeface="方正仿宋_GBK" panose="02000000000000000000" charset="-122"/>
                        </a:rPr>
                        <a:t>归口管理</a:t>
                      </a:r>
                      <a:r>
                        <a:rPr lang="en-US" sz="1800" b="0"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单位政务数字化应用后申报</a:t>
                      </a:r>
                      <a:r>
                        <a:rPr lang="zh-CN" altLang="en-US" sz="18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a:t>
                      </a:r>
                      <a:endParaRPr lang="en-US" sz="18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p>
                      <a:pPr indent="0">
                        <a:lnSpc>
                          <a:spcPts val="2400"/>
                        </a:lnSpc>
                        <a:buNone/>
                      </a:pPr>
                      <a:r>
                        <a:rPr lang="en-US" sz="1800" b="0"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审判机关由市高法院汇总申报，检察机关由市检察院汇总申报</a:t>
                      </a:r>
                      <a:r>
                        <a:rPr lang="zh-CN" altLang="en-US" sz="18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a:t>
                      </a:r>
                      <a:endParaRPr lang="en-US" sz="18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p>
                      <a:pPr indent="0">
                        <a:lnSpc>
                          <a:spcPts val="2400"/>
                        </a:lnSpc>
                        <a:buNone/>
                      </a:pPr>
                      <a:r>
                        <a:rPr lang="en-US" sz="1800" b="0" dirty="0" err="1">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区县申报主体参照市级界定</a:t>
                      </a:r>
                      <a:r>
                        <a:rPr lang="en-US" sz="18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rPr>
                        <a:t>。</a:t>
                      </a:r>
                      <a:endParaRPr lang="en-US" altLang="en-US" sz="1800" b="0" dirty="0">
                        <a:solidFill>
                          <a:schemeClr val="tx1">
                            <a:lumMod val="75000"/>
                            <a:lumOff val="25000"/>
                          </a:schemeClr>
                        </a:solidFill>
                        <a:effectLst/>
                        <a:latin typeface="微软雅黑" panose="020B0503020204020204" pitchFamily="34" charset="-122"/>
                        <a:ea typeface="微软雅黑" panose="020B0503020204020204" pitchFamily="34" charset="-122"/>
                        <a:cs typeface="方正仿宋_GBK" panose="02000000000000000000" charset="-122"/>
                      </a:endParaRPr>
                    </a:p>
                  </a:txBody>
                  <a:tcPr marT="0" marB="0" anchor="ctr">
                    <a:lnL w="12700" cap="flat" cmpd="sng" algn="ctr">
                      <a:solidFill>
                        <a:srgbClr val="FFFFFF"/>
                      </a:solidFill>
                      <a:prstDash val="solid"/>
                      <a:round/>
                      <a:headEnd type="none" w="med" len="med"/>
                      <a:tailEnd type="none" w="med" len="med"/>
                    </a:lnL>
                    <a:lnR w="12700" cap="flat" cmpd="sng">
                      <a:no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noFill/>
                      <a:prstDash val="soli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34736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顶角 88">
            <a:extLst>
              <a:ext uri="{FF2B5EF4-FFF2-40B4-BE49-F238E27FC236}">
                <a16:creationId xmlns:a16="http://schemas.microsoft.com/office/drawing/2014/main" id="{A0314555-5D7A-5ADE-ACEA-63AA7A5B1C4E}"/>
              </a:ext>
            </a:extLst>
          </p:cNvPr>
          <p:cNvSpPr/>
          <p:nvPr/>
        </p:nvSpPr>
        <p:spPr>
          <a:xfrm flipV="1">
            <a:off x="619251" y="2223750"/>
            <a:ext cx="5382280" cy="4122621"/>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1" name="矩形: 圆顶角 88">
            <a:extLst>
              <a:ext uri="{FF2B5EF4-FFF2-40B4-BE49-F238E27FC236}">
                <a16:creationId xmlns:a16="http://schemas.microsoft.com/office/drawing/2014/main" id="{11CEDDCF-5989-65D0-BF2E-1EEAD561D2E7}"/>
              </a:ext>
            </a:extLst>
          </p:cNvPr>
          <p:cNvSpPr/>
          <p:nvPr/>
        </p:nvSpPr>
        <p:spPr>
          <a:xfrm flipV="1">
            <a:off x="6194107" y="2223750"/>
            <a:ext cx="5382280" cy="4122621"/>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a:t>3.3 </a:t>
            </a:r>
            <a:r>
              <a:rPr kumimoji="1" lang="zh-CN" altLang="en-US"/>
              <a:t>应用</a:t>
            </a:r>
            <a:r>
              <a:rPr kumimoji="1" lang="zh-CN" altLang="en-US" dirty="0"/>
              <a:t>专项资金边界</a:t>
            </a:r>
          </a:p>
        </p:txBody>
      </p:sp>
      <p:sp>
        <p:nvSpPr>
          <p:cNvPr id="4" name="文本框 3">
            <a:extLst>
              <a:ext uri="{FF2B5EF4-FFF2-40B4-BE49-F238E27FC236}">
                <a16:creationId xmlns:a16="http://schemas.microsoft.com/office/drawing/2014/main" id="{507DA932-FC0F-57BD-C4E1-5475CD25CA83}"/>
              </a:ext>
            </a:extLst>
          </p:cNvPr>
          <p:cNvSpPr txBox="1"/>
          <p:nvPr>
            <p:custDataLst>
              <p:tags r:id="rId1"/>
            </p:custDataLst>
          </p:nvPr>
        </p:nvSpPr>
        <p:spPr>
          <a:xfrm>
            <a:off x="6194107" y="2153121"/>
            <a:ext cx="5491554" cy="2797195"/>
          </a:xfrm>
          <a:prstGeom prst="rect">
            <a:avLst/>
          </a:prstGeom>
          <a:ln w="12700">
            <a:noFill/>
            <a:prstDash val="solid"/>
          </a:ln>
        </p:spPr>
        <p:txBody>
          <a:bodyPr wrap="square">
            <a:noAutofit/>
          </a:bodyPr>
          <a:lstStyle>
            <a:defPPr>
              <a:defRPr lang="zh-CN"/>
            </a:defPPr>
            <a:lvl1pPr marR="0" algn="just">
              <a:lnSpc>
                <a:spcPct val="130000"/>
              </a:lnSpc>
              <a:spcBef>
                <a:spcPts val="0"/>
              </a:spcBef>
              <a:spcAft>
                <a:spcPts val="0"/>
              </a:spcAft>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endParaRPr lang="zh-CN" altLang="zh-CN" dirty="0"/>
          </a:p>
          <a:p>
            <a:r>
              <a:rPr lang="en-US" altLang="zh-CN" dirty="0"/>
              <a:t>1、因特殊需要确需建设的局域网络费用；</a:t>
            </a:r>
            <a:endParaRPr lang="zh-CN" altLang="zh-CN" dirty="0"/>
          </a:p>
          <a:p>
            <a:r>
              <a:rPr lang="en-US" altLang="zh-CN" dirty="0"/>
              <a:t>2、因特殊需要确需建设的服务器、存储设备费用；</a:t>
            </a:r>
            <a:endParaRPr lang="zh-CN" altLang="zh-CN" dirty="0"/>
          </a:p>
          <a:p>
            <a:r>
              <a:rPr lang="en-US" altLang="zh-CN" dirty="0"/>
              <a:t>3、与系统紧密相关的网络机房费用（交换机、防火墙等）；</a:t>
            </a:r>
            <a:endParaRPr lang="zh-CN" altLang="zh-CN" dirty="0"/>
          </a:p>
          <a:p>
            <a:r>
              <a:rPr lang="en-US" altLang="zh-CN" dirty="0"/>
              <a:t>4、室外站点（通信基站、监测站点等）工程建设费用；</a:t>
            </a:r>
            <a:endParaRPr lang="zh-CN" altLang="zh-CN" dirty="0"/>
          </a:p>
          <a:p>
            <a:r>
              <a:rPr lang="en-US" altLang="zh-CN" dirty="0"/>
              <a:t>5、应急通信设备费用，电话卡费用，网络卡费用等；</a:t>
            </a:r>
            <a:endParaRPr lang="zh-CN" altLang="zh-CN" dirty="0"/>
          </a:p>
          <a:p>
            <a:r>
              <a:rPr lang="en-US" altLang="zh-CN" dirty="0"/>
              <a:t>6、专项网络费用。</a:t>
            </a:r>
            <a:endParaRPr lang="zh-CN" altLang="zh-CN" dirty="0"/>
          </a:p>
        </p:txBody>
      </p:sp>
      <p:sp>
        <p:nvSpPr>
          <p:cNvPr id="6" name="文本框 5">
            <a:extLst>
              <a:ext uri="{FF2B5EF4-FFF2-40B4-BE49-F238E27FC236}">
                <a16:creationId xmlns:a16="http://schemas.microsoft.com/office/drawing/2014/main" id="{463521BA-2A1D-2D02-E780-8BD8F24E36C4}"/>
              </a:ext>
            </a:extLst>
          </p:cNvPr>
          <p:cNvSpPr txBox="1"/>
          <p:nvPr>
            <p:custDataLst>
              <p:tags r:id="rId2"/>
            </p:custDataLst>
          </p:nvPr>
        </p:nvSpPr>
        <p:spPr>
          <a:xfrm>
            <a:off x="619251" y="2475090"/>
            <a:ext cx="5280808" cy="3871282"/>
          </a:xfrm>
          <a:prstGeom prst="rect">
            <a:avLst/>
          </a:prstGeom>
          <a:ln w="12700">
            <a:noFill/>
            <a:prstDash val="solid"/>
          </a:ln>
        </p:spPr>
        <p:txBody>
          <a:bodyPr wrap="square">
            <a:noAutofit/>
          </a:bodyPr>
          <a:lstStyle/>
          <a:p>
            <a:pPr marL="0" marR="0" algn="just">
              <a:lnSpc>
                <a:spcPct val="130000"/>
              </a:lnSpc>
              <a:spcBef>
                <a:spcPts val="0"/>
              </a:spcBef>
              <a:spcAft>
                <a:spcPts val="0"/>
              </a:spcAft>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、办公设备及办公软件费用、</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OA</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系统费用（统建除外）、市政府网站费用（统建除外）、视频会议系统费用（统建除外）、互联网网络费用（统建除外）、公众号、</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APP</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等推广宣传及内容更新维护费用、办公区域弱电安装和智能楼宇设备费用；</a:t>
            </a:r>
          </a:p>
          <a:p>
            <a:pPr marL="0" marR="0" algn="just">
              <a:lnSpc>
                <a:spcPct val="130000"/>
              </a:lnSpc>
              <a:spcBef>
                <a:spcPts val="0"/>
              </a:spcBef>
              <a:spcAft>
                <a:spcPts val="0"/>
              </a:spcAft>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2</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、办公设备及耗材采购费用（办公电脑、电话线路、办公设施更换、平板电脑、录音笔、办公软件正版化等）；</a:t>
            </a:r>
          </a:p>
          <a:p>
            <a:pPr marL="0" marR="0" algn="just">
              <a:lnSpc>
                <a:spcPct val="130000"/>
              </a:lnSpc>
              <a:spcBef>
                <a:spcPts val="0"/>
              </a:spcBef>
              <a:spcAft>
                <a:spcPts val="0"/>
              </a:spcAft>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、人员工资、差旅费用、学习培训费用、房屋租赁费用、会议室改造费用；</a:t>
            </a:r>
          </a:p>
          <a:p>
            <a:pPr marL="0" marR="0" algn="just">
              <a:lnSpc>
                <a:spcPct val="130000"/>
              </a:lnSpc>
              <a:spcBef>
                <a:spcPts val="0"/>
              </a:spcBef>
              <a:spcAft>
                <a:spcPts val="0"/>
              </a:spcAft>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4</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、网络机房的物管费、空调费、电费等费用；</a:t>
            </a:r>
          </a:p>
          <a:p>
            <a:pPr marL="0" marR="0" algn="just">
              <a:lnSpc>
                <a:spcPct val="130000"/>
              </a:lnSpc>
              <a:spcBef>
                <a:spcPts val="0"/>
              </a:spcBef>
              <a:spcAft>
                <a:spcPts val="0"/>
              </a:spcAft>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5</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、车辆购置费用；</a:t>
            </a:r>
          </a:p>
          <a:p>
            <a:pPr marL="0" marR="0" algn="just">
              <a:lnSpc>
                <a:spcPct val="130000"/>
              </a:lnSpc>
              <a:spcBef>
                <a:spcPts val="0"/>
              </a:spcBef>
              <a:spcAft>
                <a:spcPts val="0"/>
              </a:spcAft>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6</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、可复用的数字资源费用；</a:t>
            </a:r>
          </a:p>
          <a:p>
            <a:pPr marL="0" marR="0" algn="just">
              <a:lnSpc>
                <a:spcPct val="130000"/>
              </a:lnSpc>
              <a:spcBef>
                <a:spcPts val="0"/>
              </a:spcBef>
              <a:spcAft>
                <a:spcPts val="0"/>
              </a:spcAft>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7</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、数据报告购买费用；</a:t>
            </a:r>
          </a:p>
          <a:p>
            <a:pPr marL="0" marR="0" algn="just">
              <a:lnSpc>
                <a:spcPct val="130000"/>
              </a:lnSpc>
              <a:spcBef>
                <a:spcPts val="0"/>
              </a:spcBef>
              <a:spcAft>
                <a:spcPts val="0"/>
              </a:spcAft>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8</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、应用系统涉及培训类购买电子课程、课件等数字内容费用。</a:t>
            </a:r>
          </a:p>
        </p:txBody>
      </p:sp>
      <p:sp>
        <p:nvSpPr>
          <p:cNvPr id="8" name="圆角矩形 26">
            <a:extLst>
              <a:ext uri="{FF2B5EF4-FFF2-40B4-BE49-F238E27FC236}">
                <a16:creationId xmlns:a16="http://schemas.microsoft.com/office/drawing/2014/main" id="{E084FA4C-67A1-3843-B1F3-8C275FC03CBF}"/>
              </a:ext>
            </a:extLst>
          </p:cNvPr>
          <p:cNvSpPr/>
          <p:nvPr/>
        </p:nvSpPr>
        <p:spPr>
          <a:xfrm>
            <a:off x="913299" y="1992137"/>
            <a:ext cx="4841906" cy="517544"/>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ea"/>
                <a:sym typeface="+mn-ea"/>
              </a:rPr>
              <a:t>不纳入数字化应用专项资金</a:t>
            </a:r>
          </a:p>
        </p:txBody>
      </p:sp>
      <p:sp>
        <p:nvSpPr>
          <p:cNvPr id="9" name="圆角矩形 26">
            <a:extLst>
              <a:ext uri="{FF2B5EF4-FFF2-40B4-BE49-F238E27FC236}">
                <a16:creationId xmlns:a16="http://schemas.microsoft.com/office/drawing/2014/main" id="{607583B1-2A97-95FD-2A45-E8229847475C}"/>
              </a:ext>
            </a:extLst>
          </p:cNvPr>
          <p:cNvSpPr/>
          <p:nvPr/>
        </p:nvSpPr>
        <p:spPr>
          <a:xfrm>
            <a:off x="6493309" y="1992137"/>
            <a:ext cx="4841906" cy="517544"/>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ea"/>
                <a:sym typeface="+mn-ea"/>
              </a:rPr>
              <a:t>经评估纳入数字化应用专项资金</a:t>
            </a:r>
          </a:p>
        </p:txBody>
      </p:sp>
    </p:spTree>
    <p:extLst>
      <p:ext uri="{BB962C8B-B14F-4D97-AF65-F5344CB8AC3E}">
        <p14:creationId xmlns:p14="http://schemas.microsoft.com/office/powerpoint/2010/main" val="1320549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圆顶角 88">
            <a:extLst>
              <a:ext uri="{FF2B5EF4-FFF2-40B4-BE49-F238E27FC236}">
                <a16:creationId xmlns:a16="http://schemas.microsoft.com/office/drawing/2014/main" id="{2B6C7961-2029-9269-FBD9-EE7981E7923F}"/>
              </a:ext>
            </a:extLst>
          </p:cNvPr>
          <p:cNvSpPr/>
          <p:nvPr/>
        </p:nvSpPr>
        <p:spPr>
          <a:xfrm flipV="1">
            <a:off x="721216" y="1827166"/>
            <a:ext cx="10515599" cy="4708857"/>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3.4 </a:t>
            </a:r>
            <a:r>
              <a:rPr kumimoji="1" lang="zh-CN" altLang="en-US" dirty="0"/>
              <a:t>应用申报流程</a:t>
            </a:r>
          </a:p>
        </p:txBody>
      </p:sp>
      <p:grpSp>
        <p:nvGrpSpPr>
          <p:cNvPr id="10" name="组合 9">
            <a:extLst>
              <a:ext uri="{FF2B5EF4-FFF2-40B4-BE49-F238E27FC236}">
                <a16:creationId xmlns:a16="http://schemas.microsoft.com/office/drawing/2014/main" id="{619124A6-4776-7672-1532-0608CB804F93}"/>
              </a:ext>
            </a:extLst>
          </p:cNvPr>
          <p:cNvGrpSpPr/>
          <p:nvPr/>
        </p:nvGrpSpPr>
        <p:grpSpPr>
          <a:xfrm>
            <a:off x="1767714" y="2277921"/>
            <a:ext cx="4578138" cy="396222"/>
            <a:chOff x="690464" y="4105612"/>
            <a:chExt cx="3384442" cy="365308"/>
          </a:xfrm>
          <a:solidFill>
            <a:schemeClr val="bg1"/>
          </a:solidFill>
        </p:grpSpPr>
        <p:sp>
          <p:nvSpPr>
            <p:cNvPr id="11" name="矩形 10">
              <a:extLst>
                <a:ext uri="{FF2B5EF4-FFF2-40B4-BE49-F238E27FC236}">
                  <a16:creationId xmlns:a16="http://schemas.microsoft.com/office/drawing/2014/main" id="{D981675B-85E2-570B-34A6-082E0098A4BB}"/>
                </a:ext>
              </a:extLst>
            </p:cNvPr>
            <p:cNvSpPr/>
            <p:nvPr>
              <p:custDataLst>
                <p:tags r:id="rId36"/>
              </p:custDataLst>
            </p:nvPr>
          </p:nvSpPr>
          <p:spPr>
            <a:xfrm>
              <a:off x="690464" y="4105612"/>
              <a:ext cx="3384442" cy="3653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A8E13457-B99F-B192-4113-59EE8F6E8247}"/>
                </a:ext>
              </a:extLst>
            </p:cNvPr>
            <p:cNvSpPr txBox="1"/>
            <p:nvPr>
              <p:custDataLst>
                <p:tags r:id="rId37"/>
              </p:custDataLst>
            </p:nvPr>
          </p:nvSpPr>
          <p:spPr>
            <a:xfrm>
              <a:off x="693639" y="4123615"/>
              <a:ext cx="3176802" cy="312139"/>
            </a:xfrm>
            <a:prstGeom prst="rect">
              <a:avLst/>
            </a:prstGeom>
            <a:noFill/>
            <a:ln>
              <a:noFill/>
            </a:ln>
          </p:spPr>
          <p:txBody>
            <a:bodyPr wrap="square">
              <a:spAutoFit/>
            </a:bodyPr>
            <a:lstStyle/>
            <a:p>
              <a:r>
                <a:rPr lang="en-US" altLang="zh-CN"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1. </a:t>
              </a:r>
              <a:r>
                <a:rPr lang="zh-CN" altLang="en-US"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编制应用资金需求计划表及完善预编目</a:t>
              </a:r>
              <a:endParaRPr lang="zh-CN" altLang="en-US" sz="1600" dirty="0">
                <a:solidFill>
                  <a:schemeClr val="bg2">
                    <a:lumMod val="25000"/>
                  </a:schemeClr>
                </a:solidFill>
                <a:latin typeface="Microsoft YaHei" panose="020B0503020204020204" pitchFamily="34" charset="-122"/>
                <a:ea typeface="Microsoft YaHei" panose="020B0503020204020204" pitchFamily="34" charset="-122"/>
              </a:endParaRPr>
            </a:p>
          </p:txBody>
        </p:sp>
      </p:grpSp>
      <p:grpSp>
        <p:nvGrpSpPr>
          <p:cNvPr id="13" name="组合 12">
            <a:extLst>
              <a:ext uri="{FF2B5EF4-FFF2-40B4-BE49-F238E27FC236}">
                <a16:creationId xmlns:a16="http://schemas.microsoft.com/office/drawing/2014/main" id="{4E138207-0D56-F08C-5F75-260BEA1C6552}"/>
              </a:ext>
            </a:extLst>
          </p:cNvPr>
          <p:cNvGrpSpPr/>
          <p:nvPr/>
        </p:nvGrpSpPr>
        <p:grpSpPr>
          <a:xfrm>
            <a:off x="1766232" y="2906892"/>
            <a:ext cx="4580255" cy="396418"/>
            <a:chOff x="690464" y="4541061"/>
            <a:chExt cx="3384442" cy="365308"/>
          </a:xfrm>
          <a:solidFill>
            <a:schemeClr val="bg1"/>
          </a:solidFill>
        </p:grpSpPr>
        <p:sp>
          <p:nvSpPr>
            <p:cNvPr id="14" name="矩形 13">
              <a:extLst>
                <a:ext uri="{FF2B5EF4-FFF2-40B4-BE49-F238E27FC236}">
                  <a16:creationId xmlns:a16="http://schemas.microsoft.com/office/drawing/2014/main" id="{3D47ED5C-7BAE-5822-9F1B-5916757F00BA}"/>
                </a:ext>
              </a:extLst>
            </p:cNvPr>
            <p:cNvSpPr/>
            <p:nvPr>
              <p:custDataLst>
                <p:tags r:id="rId34"/>
              </p:custDataLst>
            </p:nvPr>
          </p:nvSpPr>
          <p:spPr>
            <a:xfrm>
              <a:off x="690464" y="4541061"/>
              <a:ext cx="3384442" cy="3653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D09EA6C8-B469-3BAA-6733-A05662D86227}"/>
                </a:ext>
              </a:extLst>
            </p:cNvPr>
            <p:cNvSpPr txBox="1"/>
            <p:nvPr>
              <p:custDataLst>
                <p:tags r:id="rId35"/>
              </p:custDataLst>
            </p:nvPr>
          </p:nvSpPr>
          <p:spPr>
            <a:xfrm>
              <a:off x="692369" y="4559064"/>
              <a:ext cx="3222625" cy="311985"/>
            </a:xfrm>
            <a:prstGeom prst="rect">
              <a:avLst/>
            </a:prstGeom>
            <a:grpFill/>
            <a:ln>
              <a:noFill/>
            </a:ln>
          </p:spPr>
          <p:txBody>
            <a:bodyPr wrap="square">
              <a:spAutoFit/>
            </a:bodyPr>
            <a:lstStyle/>
            <a:p>
              <a:r>
                <a:rPr lang="en-US" altLang="zh-CN"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2. </a:t>
              </a:r>
              <a:r>
                <a:rPr lang="zh-CN" altLang="en-US"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资金需求计划表初审</a:t>
              </a:r>
              <a:endParaRPr lang="zh-CN" altLang="en-US" sz="1600" dirty="0">
                <a:solidFill>
                  <a:schemeClr val="bg2">
                    <a:lumMod val="25000"/>
                  </a:schemeClr>
                </a:solidFill>
                <a:latin typeface="Microsoft YaHei" panose="020B0503020204020204" pitchFamily="34" charset="-122"/>
                <a:ea typeface="Microsoft YaHei" panose="020B0503020204020204" pitchFamily="34" charset="-122"/>
              </a:endParaRPr>
            </a:p>
          </p:txBody>
        </p:sp>
      </p:grpSp>
      <p:grpSp>
        <p:nvGrpSpPr>
          <p:cNvPr id="16" name="组合 15">
            <a:extLst>
              <a:ext uri="{FF2B5EF4-FFF2-40B4-BE49-F238E27FC236}">
                <a16:creationId xmlns:a16="http://schemas.microsoft.com/office/drawing/2014/main" id="{26BCA177-1811-7CD9-7020-37B2708FFE54}"/>
              </a:ext>
            </a:extLst>
          </p:cNvPr>
          <p:cNvGrpSpPr/>
          <p:nvPr/>
        </p:nvGrpSpPr>
        <p:grpSpPr>
          <a:xfrm>
            <a:off x="1766232" y="3525216"/>
            <a:ext cx="4579620" cy="396041"/>
            <a:chOff x="690464" y="4976510"/>
            <a:chExt cx="3384442" cy="365308"/>
          </a:xfrm>
          <a:solidFill>
            <a:schemeClr val="bg1"/>
          </a:solidFill>
        </p:grpSpPr>
        <p:sp>
          <p:nvSpPr>
            <p:cNvPr id="17" name="矩形 16">
              <a:extLst>
                <a:ext uri="{FF2B5EF4-FFF2-40B4-BE49-F238E27FC236}">
                  <a16:creationId xmlns:a16="http://schemas.microsoft.com/office/drawing/2014/main" id="{E813F40F-AAC0-61D2-A486-9E816657D69E}"/>
                </a:ext>
              </a:extLst>
            </p:cNvPr>
            <p:cNvSpPr/>
            <p:nvPr>
              <p:custDataLst>
                <p:tags r:id="rId32"/>
              </p:custDataLst>
            </p:nvPr>
          </p:nvSpPr>
          <p:spPr>
            <a:xfrm>
              <a:off x="690464" y="4976510"/>
              <a:ext cx="3384442" cy="3653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18" name="文本框 17">
              <a:extLst>
                <a:ext uri="{FF2B5EF4-FFF2-40B4-BE49-F238E27FC236}">
                  <a16:creationId xmlns:a16="http://schemas.microsoft.com/office/drawing/2014/main" id="{BE2BAD28-4200-1191-7A9D-F0B91C56A13D}"/>
                </a:ext>
              </a:extLst>
            </p:cNvPr>
            <p:cNvSpPr txBox="1"/>
            <p:nvPr>
              <p:custDataLst>
                <p:tags r:id="rId33"/>
              </p:custDataLst>
            </p:nvPr>
          </p:nvSpPr>
          <p:spPr>
            <a:xfrm>
              <a:off x="692377" y="5008370"/>
              <a:ext cx="3179769" cy="312282"/>
            </a:xfrm>
            <a:prstGeom prst="rect">
              <a:avLst/>
            </a:prstGeom>
            <a:grpFill/>
            <a:ln>
              <a:noFill/>
            </a:ln>
          </p:spPr>
          <p:txBody>
            <a:bodyPr wrap="square">
              <a:spAutoFit/>
            </a:bodyPr>
            <a:lstStyle/>
            <a:p>
              <a:r>
                <a:rPr lang="en-US" altLang="zh-CN"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3. </a:t>
              </a:r>
              <a:r>
                <a:rPr lang="zh-CN" altLang="en-US"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资金需求计划表</a:t>
              </a:r>
              <a:r>
                <a:rPr lang="zh-CN" altLang="en-US" sz="1600" kern="100" dirty="0">
                  <a:solidFill>
                    <a:schemeClr val="bg2">
                      <a:lumMod val="25000"/>
                    </a:schemeClr>
                  </a:solidFill>
                  <a:latin typeface="Microsoft YaHei" panose="020B0503020204020204" pitchFamily="34" charset="-122"/>
                  <a:ea typeface="Microsoft YaHei" panose="020B0503020204020204" pitchFamily="34" charset="-122"/>
                  <a:cs typeface="Times New Roman" panose="02020603050405020304" pitchFamily="18" charset="0"/>
                </a:rPr>
                <a:t>审核</a:t>
              </a:r>
              <a:endParaRPr lang="zh-CN" altLang="en-US" sz="1600" dirty="0">
                <a:solidFill>
                  <a:schemeClr val="bg2">
                    <a:lumMod val="25000"/>
                  </a:schemeClr>
                </a:solidFill>
                <a:latin typeface="Microsoft YaHei" panose="020B0503020204020204" pitchFamily="34" charset="-122"/>
                <a:ea typeface="Microsoft YaHei" panose="020B0503020204020204" pitchFamily="34" charset="-122"/>
              </a:endParaRPr>
            </a:p>
          </p:txBody>
        </p:sp>
      </p:grpSp>
      <p:grpSp>
        <p:nvGrpSpPr>
          <p:cNvPr id="19" name="组合 18">
            <a:extLst>
              <a:ext uri="{FF2B5EF4-FFF2-40B4-BE49-F238E27FC236}">
                <a16:creationId xmlns:a16="http://schemas.microsoft.com/office/drawing/2014/main" id="{B37B08E0-F8D5-758C-2863-88111C1EA751}"/>
              </a:ext>
            </a:extLst>
          </p:cNvPr>
          <p:cNvGrpSpPr/>
          <p:nvPr/>
        </p:nvGrpSpPr>
        <p:grpSpPr>
          <a:xfrm>
            <a:off x="1714374" y="4148129"/>
            <a:ext cx="4623710" cy="397087"/>
            <a:chOff x="650493" y="5411956"/>
            <a:chExt cx="3763529" cy="365241"/>
          </a:xfrm>
          <a:solidFill>
            <a:schemeClr val="bg1"/>
          </a:solidFill>
        </p:grpSpPr>
        <p:sp>
          <p:nvSpPr>
            <p:cNvPr id="20" name="矩形 19">
              <a:extLst>
                <a:ext uri="{FF2B5EF4-FFF2-40B4-BE49-F238E27FC236}">
                  <a16:creationId xmlns:a16="http://schemas.microsoft.com/office/drawing/2014/main" id="{170DAFCE-609F-3729-6D97-FF3A90D5AC3C}"/>
                </a:ext>
              </a:extLst>
            </p:cNvPr>
            <p:cNvSpPr/>
            <p:nvPr>
              <p:custDataLst>
                <p:tags r:id="rId30"/>
              </p:custDataLst>
            </p:nvPr>
          </p:nvSpPr>
          <p:spPr>
            <a:xfrm>
              <a:off x="690464" y="5411956"/>
              <a:ext cx="3723558" cy="36524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0FCB5D78-96DE-D703-3930-5DF8394F358E}"/>
                </a:ext>
              </a:extLst>
            </p:cNvPr>
            <p:cNvSpPr txBox="1"/>
            <p:nvPr>
              <p:custDataLst>
                <p:tags r:id="rId31"/>
              </p:custDataLst>
            </p:nvPr>
          </p:nvSpPr>
          <p:spPr>
            <a:xfrm>
              <a:off x="650493" y="5436101"/>
              <a:ext cx="3442428" cy="311403"/>
            </a:xfrm>
            <a:prstGeom prst="rect">
              <a:avLst/>
            </a:prstGeom>
            <a:noFill/>
            <a:ln>
              <a:noFill/>
            </a:ln>
          </p:spPr>
          <p:txBody>
            <a:bodyPr wrap="square">
              <a:spAutoFit/>
            </a:bodyPr>
            <a:lstStyle/>
            <a:p>
              <a:r>
                <a:rPr lang="en-US" altLang="zh-CN"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4. </a:t>
              </a:r>
              <a:r>
                <a:rPr lang="zh-CN" altLang="en-US"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编制应用开发方案及全量数字资源编目</a:t>
              </a:r>
              <a:endParaRPr lang="zh-CN" altLang="en-US" sz="1600" dirty="0">
                <a:solidFill>
                  <a:schemeClr val="bg2">
                    <a:lumMod val="25000"/>
                  </a:schemeClr>
                </a:solidFill>
                <a:latin typeface="Microsoft YaHei" panose="020B0503020204020204" pitchFamily="34" charset="-122"/>
                <a:ea typeface="Microsoft YaHei" panose="020B0503020204020204" pitchFamily="34" charset="-122"/>
              </a:endParaRPr>
            </a:p>
          </p:txBody>
        </p:sp>
      </p:grpSp>
      <p:grpSp>
        <p:nvGrpSpPr>
          <p:cNvPr id="22" name="组合 21">
            <a:extLst>
              <a:ext uri="{FF2B5EF4-FFF2-40B4-BE49-F238E27FC236}">
                <a16:creationId xmlns:a16="http://schemas.microsoft.com/office/drawing/2014/main" id="{F7328762-1131-3E8B-C463-D65B6EB48D05}"/>
              </a:ext>
            </a:extLst>
          </p:cNvPr>
          <p:cNvGrpSpPr/>
          <p:nvPr/>
        </p:nvGrpSpPr>
        <p:grpSpPr>
          <a:xfrm>
            <a:off x="1752262" y="4816049"/>
            <a:ext cx="4595495" cy="396399"/>
            <a:chOff x="690464" y="5847408"/>
            <a:chExt cx="3384442" cy="365308"/>
          </a:xfrm>
          <a:solidFill>
            <a:schemeClr val="bg1"/>
          </a:solidFill>
        </p:grpSpPr>
        <p:sp>
          <p:nvSpPr>
            <p:cNvPr id="23" name="矩形 22">
              <a:extLst>
                <a:ext uri="{FF2B5EF4-FFF2-40B4-BE49-F238E27FC236}">
                  <a16:creationId xmlns:a16="http://schemas.microsoft.com/office/drawing/2014/main" id="{C2993664-567F-D818-A8A5-5F886281A748}"/>
                </a:ext>
              </a:extLst>
            </p:cNvPr>
            <p:cNvSpPr/>
            <p:nvPr>
              <p:custDataLst>
                <p:tags r:id="rId28"/>
              </p:custDataLst>
            </p:nvPr>
          </p:nvSpPr>
          <p:spPr>
            <a:xfrm>
              <a:off x="690464" y="5847408"/>
              <a:ext cx="3384442" cy="3653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43BE5967-4458-E746-7F39-097EB69B2216}"/>
                </a:ext>
              </a:extLst>
            </p:cNvPr>
            <p:cNvSpPr txBox="1"/>
            <p:nvPr>
              <p:custDataLst>
                <p:tags r:id="rId29"/>
              </p:custDataLst>
            </p:nvPr>
          </p:nvSpPr>
          <p:spPr>
            <a:xfrm>
              <a:off x="705530" y="5879009"/>
              <a:ext cx="3125419" cy="312000"/>
            </a:xfrm>
            <a:prstGeom prst="rect">
              <a:avLst/>
            </a:prstGeom>
            <a:noFill/>
            <a:ln>
              <a:noFill/>
            </a:ln>
          </p:spPr>
          <p:txBody>
            <a:bodyPr wrap="square">
              <a:spAutoFit/>
            </a:bodyPr>
            <a:lstStyle/>
            <a:p>
              <a:r>
                <a:rPr lang="en-US" altLang="zh-CN"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5. </a:t>
              </a:r>
              <a:r>
                <a:rPr lang="zh-CN" altLang="en-US"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组织专家和机构初审开发方案</a:t>
              </a:r>
              <a:endParaRPr lang="zh-CN" altLang="en-US" sz="1600" dirty="0">
                <a:solidFill>
                  <a:schemeClr val="bg2">
                    <a:lumMod val="25000"/>
                  </a:schemeClr>
                </a:solidFill>
                <a:latin typeface="Microsoft YaHei" panose="020B0503020204020204" pitchFamily="34" charset="-122"/>
                <a:ea typeface="Microsoft YaHei" panose="020B0503020204020204" pitchFamily="34" charset="-122"/>
              </a:endParaRPr>
            </a:p>
          </p:txBody>
        </p:sp>
      </p:grpSp>
      <p:grpSp>
        <p:nvGrpSpPr>
          <p:cNvPr id="25" name="组合 24">
            <a:extLst>
              <a:ext uri="{FF2B5EF4-FFF2-40B4-BE49-F238E27FC236}">
                <a16:creationId xmlns:a16="http://schemas.microsoft.com/office/drawing/2014/main" id="{9FA0C4A4-0202-0014-8B6B-1E1053051094}"/>
              </a:ext>
            </a:extLst>
          </p:cNvPr>
          <p:cNvGrpSpPr/>
          <p:nvPr/>
        </p:nvGrpSpPr>
        <p:grpSpPr>
          <a:xfrm>
            <a:off x="1763692" y="5444523"/>
            <a:ext cx="4582160" cy="397432"/>
            <a:chOff x="690464" y="6282857"/>
            <a:chExt cx="3384442" cy="365308"/>
          </a:xfrm>
          <a:solidFill>
            <a:schemeClr val="bg1"/>
          </a:solidFill>
        </p:grpSpPr>
        <p:sp>
          <p:nvSpPr>
            <p:cNvPr id="26" name="矩形 25">
              <a:extLst>
                <a:ext uri="{FF2B5EF4-FFF2-40B4-BE49-F238E27FC236}">
                  <a16:creationId xmlns:a16="http://schemas.microsoft.com/office/drawing/2014/main" id="{D510C03D-D589-5D8D-6DBF-7EFAAEE2A11B}"/>
                </a:ext>
              </a:extLst>
            </p:cNvPr>
            <p:cNvSpPr/>
            <p:nvPr>
              <p:custDataLst>
                <p:tags r:id="rId26"/>
              </p:custDataLst>
            </p:nvPr>
          </p:nvSpPr>
          <p:spPr>
            <a:xfrm>
              <a:off x="690464" y="6282857"/>
              <a:ext cx="3384442" cy="3653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EFFD4712-F4C1-9E41-DAEA-430EB5D37257}"/>
                </a:ext>
              </a:extLst>
            </p:cNvPr>
            <p:cNvSpPr txBox="1"/>
            <p:nvPr>
              <p:custDataLst>
                <p:tags r:id="rId27"/>
              </p:custDataLst>
            </p:nvPr>
          </p:nvSpPr>
          <p:spPr>
            <a:xfrm>
              <a:off x="694274" y="6307785"/>
              <a:ext cx="3220720" cy="311189"/>
            </a:xfrm>
            <a:prstGeom prst="rect">
              <a:avLst/>
            </a:prstGeom>
            <a:grpFill/>
            <a:ln>
              <a:noFill/>
            </a:ln>
          </p:spPr>
          <p:txBody>
            <a:bodyPr wrap="square">
              <a:spAutoFit/>
            </a:bodyPr>
            <a:lstStyle/>
            <a:p>
              <a:r>
                <a:rPr lang="en-US" altLang="zh-CN"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6. </a:t>
              </a:r>
              <a:r>
                <a:rPr lang="zh-CN" altLang="en-US"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四部门联合评审开发方案</a:t>
              </a:r>
              <a:endParaRPr lang="zh-CN" altLang="en-US" sz="1600" dirty="0">
                <a:solidFill>
                  <a:schemeClr val="bg2">
                    <a:lumMod val="25000"/>
                  </a:schemeClr>
                </a:solidFill>
                <a:latin typeface="Microsoft YaHei" panose="020B0503020204020204" pitchFamily="34" charset="-122"/>
                <a:ea typeface="Microsoft YaHei" panose="020B0503020204020204" pitchFamily="34" charset="-122"/>
              </a:endParaRPr>
            </a:p>
          </p:txBody>
        </p:sp>
      </p:grpSp>
      <p:grpSp>
        <p:nvGrpSpPr>
          <p:cNvPr id="28" name="组合 27">
            <a:extLst>
              <a:ext uri="{FF2B5EF4-FFF2-40B4-BE49-F238E27FC236}">
                <a16:creationId xmlns:a16="http://schemas.microsoft.com/office/drawing/2014/main" id="{24D42749-D9D7-01D9-9E11-D8BD98AB34FC}"/>
              </a:ext>
            </a:extLst>
          </p:cNvPr>
          <p:cNvGrpSpPr/>
          <p:nvPr/>
        </p:nvGrpSpPr>
        <p:grpSpPr>
          <a:xfrm>
            <a:off x="1766867" y="6061683"/>
            <a:ext cx="4578985" cy="397432"/>
            <a:chOff x="690464" y="6718306"/>
            <a:chExt cx="3384442" cy="365308"/>
          </a:xfrm>
          <a:solidFill>
            <a:schemeClr val="bg1"/>
          </a:solidFill>
        </p:grpSpPr>
        <p:sp>
          <p:nvSpPr>
            <p:cNvPr id="29" name="矩形 28">
              <a:extLst>
                <a:ext uri="{FF2B5EF4-FFF2-40B4-BE49-F238E27FC236}">
                  <a16:creationId xmlns:a16="http://schemas.microsoft.com/office/drawing/2014/main" id="{1CE5E2E1-D775-D5DF-9FD2-72EA918C182A}"/>
                </a:ext>
              </a:extLst>
            </p:cNvPr>
            <p:cNvSpPr/>
            <p:nvPr>
              <p:custDataLst>
                <p:tags r:id="rId24"/>
              </p:custDataLst>
            </p:nvPr>
          </p:nvSpPr>
          <p:spPr>
            <a:xfrm>
              <a:off x="690464" y="6718306"/>
              <a:ext cx="3384442" cy="3653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30" name="文本框 29">
              <a:extLst>
                <a:ext uri="{FF2B5EF4-FFF2-40B4-BE49-F238E27FC236}">
                  <a16:creationId xmlns:a16="http://schemas.microsoft.com/office/drawing/2014/main" id="{C1856E1E-84F2-8685-880B-32580E2374FB}"/>
                </a:ext>
              </a:extLst>
            </p:cNvPr>
            <p:cNvSpPr txBox="1"/>
            <p:nvPr>
              <p:custDataLst>
                <p:tags r:id="rId25"/>
              </p:custDataLst>
            </p:nvPr>
          </p:nvSpPr>
          <p:spPr>
            <a:xfrm>
              <a:off x="691734" y="6743234"/>
              <a:ext cx="3223260" cy="311189"/>
            </a:xfrm>
            <a:prstGeom prst="rect">
              <a:avLst/>
            </a:prstGeom>
            <a:grpFill/>
            <a:ln>
              <a:noFill/>
            </a:ln>
          </p:spPr>
          <p:txBody>
            <a:bodyPr wrap="square">
              <a:spAutoFit/>
            </a:bodyPr>
            <a:lstStyle/>
            <a:p>
              <a:r>
                <a:rPr lang="en-US" altLang="zh-CN"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7. </a:t>
              </a:r>
              <a:r>
                <a:rPr lang="zh-CN" altLang="en-US" sz="1600" kern="100" dirty="0">
                  <a:solidFill>
                    <a:schemeClr val="bg2">
                      <a:lumMod val="2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下达项目批复文件（含资金）</a:t>
              </a:r>
              <a:endParaRPr lang="zh-CN" altLang="en-US" sz="1600" dirty="0">
                <a:solidFill>
                  <a:schemeClr val="bg2">
                    <a:lumMod val="25000"/>
                  </a:schemeClr>
                </a:solidFill>
                <a:latin typeface="Microsoft YaHei" panose="020B0503020204020204" pitchFamily="34" charset="-122"/>
                <a:ea typeface="Microsoft YaHei" panose="020B0503020204020204" pitchFamily="34" charset="-122"/>
              </a:endParaRPr>
            </a:p>
          </p:txBody>
        </p:sp>
      </p:grpSp>
      <p:grpSp>
        <p:nvGrpSpPr>
          <p:cNvPr id="31" name="组合 30">
            <a:extLst>
              <a:ext uri="{FF2B5EF4-FFF2-40B4-BE49-F238E27FC236}">
                <a16:creationId xmlns:a16="http://schemas.microsoft.com/office/drawing/2014/main" id="{AC072FD2-99CB-3FEF-FDD9-AE92D30811DB}"/>
              </a:ext>
            </a:extLst>
          </p:cNvPr>
          <p:cNvGrpSpPr/>
          <p:nvPr/>
        </p:nvGrpSpPr>
        <p:grpSpPr>
          <a:xfrm>
            <a:off x="6922220" y="2284663"/>
            <a:ext cx="3014345" cy="402591"/>
            <a:chOff x="6459903" y="3627973"/>
            <a:chExt cx="2345286" cy="343851"/>
          </a:xfrm>
          <a:solidFill>
            <a:schemeClr val="bg1"/>
          </a:solidFill>
        </p:grpSpPr>
        <p:sp>
          <p:nvSpPr>
            <p:cNvPr id="32" name="矩形 31">
              <a:extLst>
                <a:ext uri="{FF2B5EF4-FFF2-40B4-BE49-F238E27FC236}">
                  <a16:creationId xmlns:a16="http://schemas.microsoft.com/office/drawing/2014/main" id="{FA48FBCE-D68B-F925-89FF-74D483FB5560}"/>
                </a:ext>
              </a:extLst>
            </p:cNvPr>
            <p:cNvSpPr/>
            <p:nvPr>
              <p:custDataLst>
                <p:tags r:id="rId22"/>
              </p:custDataLst>
            </p:nvPr>
          </p:nvSpPr>
          <p:spPr>
            <a:xfrm>
              <a:off x="6459903" y="3627973"/>
              <a:ext cx="2344756" cy="34385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icrosoft YaHei" panose="020B0503020204020204" pitchFamily="34" charset="-122"/>
                <a:ea typeface="Microsoft YaHei" panose="020B0503020204020204" pitchFamily="34" charset="-122"/>
              </a:endParaRPr>
            </a:p>
          </p:txBody>
        </p:sp>
        <p:sp>
          <p:nvSpPr>
            <p:cNvPr id="33" name="文本框 32">
              <a:extLst>
                <a:ext uri="{FF2B5EF4-FFF2-40B4-BE49-F238E27FC236}">
                  <a16:creationId xmlns:a16="http://schemas.microsoft.com/office/drawing/2014/main" id="{B9A3A808-25D7-250D-64C0-7496E56C5889}"/>
                </a:ext>
              </a:extLst>
            </p:cNvPr>
            <p:cNvSpPr txBox="1"/>
            <p:nvPr>
              <p:custDataLst>
                <p:tags r:id="rId23"/>
              </p:custDataLst>
            </p:nvPr>
          </p:nvSpPr>
          <p:spPr>
            <a:xfrm>
              <a:off x="6459903" y="3657802"/>
              <a:ext cx="2345286" cy="289157"/>
            </a:xfrm>
            <a:prstGeom prst="rect">
              <a:avLst/>
            </a:prstGeom>
            <a:grpFill/>
            <a:ln>
              <a:noFill/>
            </a:ln>
          </p:spPr>
          <p:txBody>
            <a:bodyPr wrap="square">
              <a:spAutoFit/>
            </a:bodyPr>
            <a:lstStyle/>
            <a:p>
              <a:r>
                <a:rPr lang="zh-CN" altLang="en-US"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rPr>
                <a:t>市级应用责任部门</a:t>
              </a:r>
            </a:p>
          </p:txBody>
        </p:sp>
      </p:grpSp>
      <p:grpSp>
        <p:nvGrpSpPr>
          <p:cNvPr id="34" name="组合 33">
            <a:extLst>
              <a:ext uri="{FF2B5EF4-FFF2-40B4-BE49-F238E27FC236}">
                <a16:creationId xmlns:a16="http://schemas.microsoft.com/office/drawing/2014/main" id="{BE15F6FF-07D2-C2A2-A9C2-FA76DB633E7E}"/>
              </a:ext>
            </a:extLst>
          </p:cNvPr>
          <p:cNvGrpSpPr/>
          <p:nvPr/>
        </p:nvGrpSpPr>
        <p:grpSpPr>
          <a:xfrm>
            <a:off x="6922220" y="2899393"/>
            <a:ext cx="3006725" cy="402424"/>
            <a:chOff x="6460154" y="4037555"/>
            <a:chExt cx="3395980" cy="343610"/>
          </a:xfrm>
          <a:solidFill>
            <a:schemeClr val="bg1"/>
          </a:solidFill>
        </p:grpSpPr>
        <p:sp>
          <p:nvSpPr>
            <p:cNvPr id="35" name="矩形 34">
              <a:extLst>
                <a:ext uri="{FF2B5EF4-FFF2-40B4-BE49-F238E27FC236}">
                  <a16:creationId xmlns:a16="http://schemas.microsoft.com/office/drawing/2014/main" id="{5FDC2E1A-B15E-006A-A46E-4F8EE336F2EA}"/>
                </a:ext>
              </a:extLst>
            </p:cNvPr>
            <p:cNvSpPr/>
            <p:nvPr>
              <p:custDataLst>
                <p:tags r:id="rId20"/>
              </p:custDataLst>
            </p:nvPr>
          </p:nvSpPr>
          <p:spPr>
            <a:xfrm>
              <a:off x="6460154" y="4037555"/>
              <a:ext cx="3395980" cy="343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icrosoft YaHei" panose="020B0503020204020204" pitchFamily="34" charset="-122"/>
                <a:ea typeface="Microsoft YaHei" panose="020B0503020204020204" pitchFamily="34" charset="-122"/>
              </a:endParaRPr>
            </a:p>
          </p:txBody>
        </p:sp>
        <p:sp>
          <p:nvSpPr>
            <p:cNvPr id="36" name="文本框 35">
              <a:extLst>
                <a:ext uri="{FF2B5EF4-FFF2-40B4-BE49-F238E27FC236}">
                  <a16:creationId xmlns:a16="http://schemas.microsoft.com/office/drawing/2014/main" id="{4B60A172-42E8-5D0A-8034-53823B988A6B}"/>
                </a:ext>
              </a:extLst>
            </p:cNvPr>
            <p:cNvSpPr txBox="1"/>
            <p:nvPr>
              <p:custDataLst>
                <p:tags r:id="rId21"/>
              </p:custDataLst>
            </p:nvPr>
          </p:nvSpPr>
          <p:spPr>
            <a:xfrm>
              <a:off x="6486573" y="4063063"/>
              <a:ext cx="2459199" cy="289074"/>
            </a:xfrm>
            <a:prstGeom prst="rect">
              <a:avLst/>
            </a:prstGeom>
            <a:grpFill/>
            <a:ln>
              <a:noFill/>
            </a:ln>
          </p:spPr>
          <p:txBody>
            <a:bodyPr wrap="square">
              <a:spAutoFit/>
            </a:bodyPr>
            <a:lstStyle/>
            <a:p>
              <a:r>
                <a:rPr lang="zh-CN" altLang="en-US"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rPr>
                <a:t>市级应用牵头部门</a:t>
              </a:r>
            </a:p>
          </p:txBody>
        </p:sp>
      </p:grpSp>
      <p:grpSp>
        <p:nvGrpSpPr>
          <p:cNvPr id="37" name="组合 36">
            <a:extLst>
              <a:ext uri="{FF2B5EF4-FFF2-40B4-BE49-F238E27FC236}">
                <a16:creationId xmlns:a16="http://schemas.microsoft.com/office/drawing/2014/main" id="{2C150E07-C413-F62D-2081-DD60B45CF6D7}"/>
              </a:ext>
            </a:extLst>
          </p:cNvPr>
          <p:cNvGrpSpPr/>
          <p:nvPr/>
        </p:nvGrpSpPr>
        <p:grpSpPr>
          <a:xfrm>
            <a:off x="6922220" y="3513956"/>
            <a:ext cx="3006090" cy="401955"/>
            <a:chOff x="6460789" y="4447136"/>
            <a:chExt cx="3247841" cy="343840"/>
          </a:xfrm>
          <a:solidFill>
            <a:schemeClr val="bg1"/>
          </a:solidFill>
        </p:grpSpPr>
        <p:sp>
          <p:nvSpPr>
            <p:cNvPr id="38" name="矩形 37">
              <a:extLst>
                <a:ext uri="{FF2B5EF4-FFF2-40B4-BE49-F238E27FC236}">
                  <a16:creationId xmlns:a16="http://schemas.microsoft.com/office/drawing/2014/main" id="{463747DA-3E97-92DB-FC4C-06282D49F2E5}"/>
                </a:ext>
              </a:extLst>
            </p:cNvPr>
            <p:cNvSpPr/>
            <p:nvPr>
              <p:custDataLst>
                <p:tags r:id="rId18"/>
              </p:custDataLst>
            </p:nvPr>
          </p:nvSpPr>
          <p:spPr>
            <a:xfrm>
              <a:off x="6460789" y="4447136"/>
              <a:ext cx="3247841" cy="3438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icrosoft YaHei" panose="020B0503020204020204" pitchFamily="34" charset="-122"/>
                <a:ea typeface="Microsoft YaHei" panose="020B0503020204020204" pitchFamily="34" charset="-122"/>
              </a:endParaRPr>
            </a:p>
          </p:txBody>
        </p:sp>
        <p:sp>
          <p:nvSpPr>
            <p:cNvPr id="39" name="文本框 38">
              <a:extLst>
                <a:ext uri="{FF2B5EF4-FFF2-40B4-BE49-F238E27FC236}">
                  <a16:creationId xmlns:a16="http://schemas.microsoft.com/office/drawing/2014/main" id="{DA10210D-8A39-C9B4-EF84-DACB09458B7C}"/>
                </a:ext>
              </a:extLst>
            </p:cNvPr>
            <p:cNvSpPr txBox="1"/>
            <p:nvPr>
              <p:custDataLst>
                <p:tags r:id="rId19"/>
              </p:custDataLst>
            </p:nvPr>
          </p:nvSpPr>
          <p:spPr>
            <a:xfrm>
              <a:off x="6486173" y="4484073"/>
              <a:ext cx="2535703" cy="289606"/>
            </a:xfrm>
            <a:prstGeom prst="rect">
              <a:avLst/>
            </a:prstGeom>
            <a:noFill/>
            <a:ln>
              <a:noFill/>
            </a:ln>
          </p:spPr>
          <p:txBody>
            <a:bodyPr wrap="square">
              <a:spAutoFit/>
            </a:bodyPr>
            <a:lstStyle/>
            <a:p>
              <a:r>
                <a:rPr lang="zh-CN" altLang="zh-CN"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rPr>
                <a:t>市大数据发展局</a:t>
              </a:r>
              <a:endParaRPr lang="zh-CN" altLang="en-US"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grpSp>
      <p:grpSp>
        <p:nvGrpSpPr>
          <p:cNvPr id="40" name="组合 39">
            <a:extLst>
              <a:ext uri="{FF2B5EF4-FFF2-40B4-BE49-F238E27FC236}">
                <a16:creationId xmlns:a16="http://schemas.microsoft.com/office/drawing/2014/main" id="{9776B6FC-068C-CDB1-4A2C-EF7042483841}"/>
              </a:ext>
            </a:extLst>
          </p:cNvPr>
          <p:cNvGrpSpPr/>
          <p:nvPr/>
        </p:nvGrpSpPr>
        <p:grpSpPr>
          <a:xfrm>
            <a:off x="6922220" y="4128050"/>
            <a:ext cx="3006090" cy="401955"/>
            <a:chOff x="4473874" y="4856718"/>
            <a:chExt cx="3975354" cy="343484"/>
          </a:xfrm>
          <a:solidFill>
            <a:schemeClr val="bg1"/>
          </a:solidFill>
        </p:grpSpPr>
        <p:sp>
          <p:nvSpPr>
            <p:cNvPr id="41" name="矩形 40">
              <a:extLst>
                <a:ext uri="{FF2B5EF4-FFF2-40B4-BE49-F238E27FC236}">
                  <a16:creationId xmlns:a16="http://schemas.microsoft.com/office/drawing/2014/main" id="{F0A4CED5-D894-D050-7169-626D65BE62CC}"/>
                </a:ext>
              </a:extLst>
            </p:cNvPr>
            <p:cNvSpPr/>
            <p:nvPr>
              <p:custDataLst>
                <p:tags r:id="rId16"/>
              </p:custDataLst>
            </p:nvPr>
          </p:nvSpPr>
          <p:spPr>
            <a:xfrm>
              <a:off x="4473874" y="4856718"/>
              <a:ext cx="3975354" cy="3434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A98D6EA9-2C8A-3420-9182-7BB89006619F}"/>
                </a:ext>
              </a:extLst>
            </p:cNvPr>
            <p:cNvSpPr txBox="1"/>
            <p:nvPr>
              <p:custDataLst>
                <p:tags r:id="rId17"/>
              </p:custDataLst>
            </p:nvPr>
          </p:nvSpPr>
          <p:spPr>
            <a:xfrm>
              <a:off x="4544413" y="4887105"/>
              <a:ext cx="3231340" cy="289306"/>
            </a:xfrm>
            <a:prstGeom prst="rect">
              <a:avLst/>
            </a:prstGeom>
            <a:grpFill/>
            <a:ln>
              <a:noFill/>
            </a:ln>
          </p:spPr>
          <p:txBody>
            <a:bodyPr wrap="square">
              <a:spAutoFit/>
            </a:bodyPr>
            <a:lstStyle/>
            <a:p>
              <a:r>
                <a:rPr lang="zh-CN" altLang="en-US"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rPr>
                <a:t>市级应用责任部门</a:t>
              </a:r>
            </a:p>
          </p:txBody>
        </p:sp>
      </p:grpSp>
      <p:grpSp>
        <p:nvGrpSpPr>
          <p:cNvPr id="43" name="组合 42">
            <a:extLst>
              <a:ext uri="{FF2B5EF4-FFF2-40B4-BE49-F238E27FC236}">
                <a16:creationId xmlns:a16="http://schemas.microsoft.com/office/drawing/2014/main" id="{F7FAEBBC-3029-6B75-9B9F-F74B95ED07D2}"/>
              </a:ext>
            </a:extLst>
          </p:cNvPr>
          <p:cNvGrpSpPr/>
          <p:nvPr/>
        </p:nvGrpSpPr>
        <p:grpSpPr>
          <a:xfrm>
            <a:off x="6922220" y="4742144"/>
            <a:ext cx="3055620" cy="402329"/>
            <a:chOff x="4473874" y="5266300"/>
            <a:chExt cx="5382208" cy="343607"/>
          </a:xfrm>
          <a:solidFill>
            <a:schemeClr val="bg1"/>
          </a:solidFill>
        </p:grpSpPr>
        <p:sp>
          <p:nvSpPr>
            <p:cNvPr id="44" name="矩形 43">
              <a:extLst>
                <a:ext uri="{FF2B5EF4-FFF2-40B4-BE49-F238E27FC236}">
                  <a16:creationId xmlns:a16="http://schemas.microsoft.com/office/drawing/2014/main" id="{88424791-E6AC-2A4E-1585-DF963130AA49}"/>
                </a:ext>
              </a:extLst>
            </p:cNvPr>
            <p:cNvSpPr/>
            <p:nvPr>
              <p:custDataLst>
                <p:tags r:id="rId14"/>
              </p:custDataLst>
            </p:nvPr>
          </p:nvSpPr>
          <p:spPr>
            <a:xfrm>
              <a:off x="4473874" y="5266300"/>
              <a:ext cx="5382208" cy="3436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icrosoft YaHei" panose="020B0503020204020204" pitchFamily="34" charset="-122"/>
                <a:ea typeface="Microsoft YaHei" panose="020B0503020204020204" pitchFamily="34" charset="-122"/>
              </a:endParaRPr>
            </a:p>
          </p:txBody>
        </p:sp>
        <p:sp>
          <p:nvSpPr>
            <p:cNvPr id="45" name="文本框 44">
              <a:extLst>
                <a:ext uri="{FF2B5EF4-FFF2-40B4-BE49-F238E27FC236}">
                  <a16:creationId xmlns:a16="http://schemas.microsoft.com/office/drawing/2014/main" id="{6C2435AD-131F-C838-DBA4-AA039A8A429E}"/>
                </a:ext>
              </a:extLst>
            </p:cNvPr>
            <p:cNvSpPr txBox="1"/>
            <p:nvPr>
              <p:custDataLst>
                <p:tags r:id="rId15"/>
              </p:custDataLst>
            </p:nvPr>
          </p:nvSpPr>
          <p:spPr>
            <a:xfrm>
              <a:off x="4544339" y="5296670"/>
              <a:ext cx="4427011" cy="289141"/>
            </a:xfrm>
            <a:prstGeom prst="rect">
              <a:avLst/>
            </a:prstGeom>
            <a:grpFill/>
            <a:ln>
              <a:noFill/>
            </a:ln>
          </p:spPr>
          <p:txBody>
            <a:bodyPr wrap="square">
              <a:spAutoFit/>
            </a:bodyPr>
            <a:lstStyle/>
            <a:p>
              <a:r>
                <a:rPr lang="zh-CN" altLang="zh-CN"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rPr>
                <a:t>市大数据发展局</a:t>
              </a:r>
              <a:endParaRPr lang="zh-CN" altLang="en-US"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grpSp>
      <p:grpSp>
        <p:nvGrpSpPr>
          <p:cNvPr id="46" name="组合 45">
            <a:extLst>
              <a:ext uri="{FF2B5EF4-FFF2-40B4-BE49-F238E27FC236}">
                <a16:creationId xmlns:a16="http://schemas.microsoft.com/office/drawing/2014/main" id="{A02EB428-B0D4-159F-B23D-EBEAD51B867C}"/>
              </a:ext>
            </a:extLst>
          </p:cNvPr>
          <p:cNvGrpSpPr/>
          <p:nvPr/>
        </p:nvGrpSpPr>
        <p:grpSpPr>
          <a:xfrm>
            <a:off x="6922220" y="5356612"/>
            <a:ext cx="3024505" cy="477520"/>
            <a:chOff x="6478919" y="5764329"/>
            <a:chExt cx="3363995" cy="214098"/>
          </a:xfrm>
          <a:solidFill>
            <a:schemeClr val="bg1"/>
          </a:solidFill>
        </p:grpSpPr>
        <p:sp>
          <p:nvSpPr>
            <p:cNvPr id="47" name="矩形 46">
              <a:extLst>
                <a:ext uri="{FF2B5EF4-FFF2-40B4-BE49-F238E27FC236}">
                  <a16:creationId xmlns:a16="http://schemas.microsoft.com/office/drawing/2014/main" id="{55254C65-00EB-7414-A740-9853AA4C6163}"/>
                </a:ext>
              </a:extLst>
            </p:cNvPr>
            <p:cNvSpPr/>
            <p:nvPr>
              <p:custDataLst>
                <p:tags r:id="rId12"/>
              </p:custDataLst>
            </p:nvPr>
          </p:nvSpPr>
          <p:spPr>
            <a:xfrm>
              <a:off x="6478919" y="5764329"/>
              <a:ext cx="3363995" cy="21409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icrosoft YaHei" panose="020B0503020204020204" pitchFamily="34" charset="-122"/>
                <a:ea typeface="Microsoft YaHei" panose="020B0503020204020204" pitchFamily="34" charset="-122"/>
              </a:endParaRPr>
            </a:p>
          </p:txBody>
        </p:sp>
        <p:sp>
          <p:nvSpPr>
            <p:cNvPr id="48" name="文本框 47">
              <a:extLst>
                <a:ext uri="{FF2B5EF4-FFF2-40B4-BE49-F238E27FC236}">
                  <a16:creationId xmlns:a16="http://schemas.microsoft.com/office/drawing/2014/main" id="{181ADFAB-B564-2023-9B08-2844DF09AB00}"/>
                </a:ext>
              </a:extLst>
            </p:cNvPr>
            <p:cNvSpPr txBox="1"/>
            <p:nvPr>
              <p:custDataLst>
                <p:tags r:id="rId13"/>
              </p:custDataLst>
            </p:nvPr>
          </p:nvSpPr>
          <p:spPr>
            <a:xfrm>
              <a:off x="6495978" y="5795077"/>
              <a:ext cx="2797525" cy="151792"/>
            </a:xfrm>
            <a:prstGeom prst="rect">
              <a:avLst/>
            </a:prstGeom>
            <a:grpFill/>
            <a:ln>
              <a:noFill/>
            </a:ln>
          </p:spPr>
          <p:txBody>
            <a:bodyPr wrap="square">
              <a:spAutoFit/>
            </a:bodyPr>
            <a:lstStyle/>
            <a:p>
              <a:r>
                <a:rPr lang="zh-CN" altLang="en-US"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rPr>
                <a:t>市级联合评审单位</a:t>
              </a:r>
            </a:p>
          </p:txBody>
        </p:sp>
      </p:grpSp>
      <p:grpSp>
        <p:nvGrpSpPr>
          <p:cNvPr id="49" name="组合 48">
            <a:extLst>
              <a:ext uri="{FF2B5EF4-FFF2-40B4-BE49-F238E27FC236}">
                <a16:creationId xmlns:a16="http://schemas.microsoft.com/office/drawing/2014/main" id="{F4E70205-6425-DD44-F7FB-1C94CEDF3A03}"/>
              </a:ext>
            </a:extLst>
          </p:cNvPr>
          <p:cNvGrpSpPr/>
          <p:nvPr/>
        </p:nvGrpSpPr>
        <p:grpSpPr>
          <a:xfrm>
            <a:off x="6922220" y="6046274"/>
            <a:ext cx="3050540" cy="614680"/>
            <a:chOff x="4473874" y="6085463"/>
            <a:chExt cx="5382208" cy="526008"/>
          </a:xfrm>
          <a:solidFill>
            <a:schemeClr val="bg1"/>
          </a:solidFill>
        </p:grpSpPr>
        <p:sp>
          <p:nvSpPr>
            <p:cNvPr id="50" name="矩形 49">
              <a:extLst>
                <a:ext uri="{FF2B5EF4-FFF2-40B4-BE49-F238E27FC236}">
                  <a16:creationId xmlns:a16="http://schemas.microsoft.com/office/drawing/2014/main" id="{F86D1B2C-D544-7FBD-511A-8C1A192D076B}"/>
                </a:ext>
              </a:extLst>
            </p:cNvPr>
            <p:cNvSpPr/>
            <p:nvPr>
              <p:custDataLst>
                <p:tags r:id="rId10"/>
              </p:custDataLst>
            </p:nvPr>
          </p:nvSpPr>
          <p:spPr>
            <a:xfrm>
              <a:off x="4473874" y="6085463"/>
              <a:ext cx="5382208" cy="3436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icrosoft YaHei" panose="020B0503020204020204" pitchFamily="34" charset="-122"/>
                <a:ea typeface="Microsoft YaHei" panose="020B0503020204020204" pitchFamily="34" charset="-122"/>
              </a:endParaRPr>
            </a:p>
          </p:txBody>
        </p:sp>
        <p:sp>
          <p:nvSpPr>
            <p:cNvPr id="51" name="文本框 50">
              <a:extLst>
                <a:ext uri="{FF2B5EF4-FFF2-40B4-BE49-F238E27FC236}">
                  <a16:creationId xmlns:a16="http://schemas.microsoft.com/office/drawing/2014/main" id="{594EC9DD-D146-C6E4-9D35-5063D5511272}"/>
                </a:ext>
              </a:extLst>
            </p:cNvPr>
            <p:cNvSpPr txBox="1"/>
            <p:nvPr>
              <p:custDataLst>
                <p:tags r:id="rId11"/>
              </p:custDataLst>
            </p:nvPr>
          </p:nvSpPr>
          <p:spPr>
            <a:xfrm>
              <a:off x="4473874" y="6115893"/>
              <a:ext cx="4040854" cy="495578"/>
            </a:xfrm>
            <a:prstGeom prst="rect">
              <a:avLst/>
            </a:prstGeom>
            <a:noFill/>
            <a:ln>
              <a:noFill/>
            </a:ln>
          </p:spPr>
          <p:txBody>
            <a:bodyPr wrap="square">
              <a:noAutofit/>
            </a:bodyPr>
            <a:lstStyle/>
            <a:p>
              <a:r>
                <a:rPr lang="zh-CN" altLang="en-US" sz="1600" b="1" kern="100" dirty="0">
                  <a:solidFill>
                    <a:schemeClr val="bg2">
                      <a:lumMod val="10000"/>
                    </a:schemeClr>
                  </a:solidFill>
                  <a:latin typeface="Microsoft YaHei" panose="020B0503020204020204" pitchFamily="34" charset="-122"/>
                  <a:ea typeface="Microsoft YaHei" panose="020B0503020204020204" pitchFamily="34" charset="-122"/>
                  <a:cs typeface="Times New Roman" panose="02020603050405020304" pitchFamily="18" charset="0"/>
                </a:rPr>
                <a:t>市级联合评审单位</a:t>
              </a:r>
            </a:p>
          </p:txBody>
        </p:sp>
      </p:grpSp>
      <p:sp>
        <p:nvSpPr>
          <p:cNvPr id="52" name="箭头: 下 51">
            <a:extLst>
              <a:ext uri="{FF2B5EF4-FFF2-40B4-BE49-F238E27FC236}">
                <a16:creationId xmlns:a16="http://schemas.microsoft.com/office/drawing/2014/main" id="{2569DDEF-ADC7-E84F-847A-B34A05091C9D}"/>
              </a:ext>
            </a:extLst>
          </p:cNvPr>
          <p:cNvSpPr/>
          <p:nvPr>
            <p:custDataLst>
              <p:tags r:id="rId1"/>
            </p:custDataLst>
          </p:nvPr>
        </p:nvSpPr>
        <p:spPr>
          <a:xfrm>
            <a:off x="4012227" y="2674817"/>
            <a:ext cx="330200" cy="262612"/>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53" name="箭头: 下 52">
            <a:extLst>
              <a:ext uri="{FF2B5EF4-FFF2-40B4-BE49-F238E27FC236}">
                <a16:creationId xmlns:a16="http://schemas.microsoft.com/office/drawing/2014/main" id="{C7BF71F8-9D4C-AA67-4F99-1991938A7929}"/>
              </a:ext>
            </a:extLst>
          </p:cNvPr>
          <p:cNvSpPr/>
          <p:nvPr>
            <p:custDataLst>
              <p:tags r:id="rId2"/>
            </p:custDataLst>
          </p:nvPr>
        </p:nvSpPr>
        <p:spPr>
          <a:xfrm>
            <a:off x="4012227" y="3922294"/>
            <a:ext cx="330200" cy="255661"/>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54" name="箭头: 下 53">
            <a:extLst>
              <a:ext uri="{FF2B5EF4-FFF2-40B4-BE49-F238E27FC236}">
                <a16:creationId xmlns:a16="http://schemas.microsoft.com/office/drawing/2014/main" id="{825BC48C-A266-D42E-9A92-843CEA7C54CE}"/>
              </a:ext>
            </a:extLst>
          </p:cNvPr>
          <p:cNvSpPr/>
          <p:nvPr>
            <p:custDataLst>
              <p:tags r:id="rId3"/>
            </p:custDataLst>
          </p:nvPr>
        </p:nvSpPr>
        <p:spPr>
          <a:xfrm>
            <a:off x="4012227" y="4569201"/>
            <a:ext cx="330200" cy="260088"/>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55" name="箭头: 下 54">
            <a:extLst>
              <a:ext uri="{FF2B5EF4-FFF2-40B4-BE49-F238E27FC236}">
                <a16:creationId xmlns:a16="http://schemas.microsoft.com/office/drawing/2014/main" id="{97BF0B4D-512A-195A-DDDE-9DC2E8F5BAC5}"/>
              </a:ext>
            </a:extLst>
          </p:cNvPr>
          <p:cNvSpPr/>
          <p:nvPr>
            <p:custDataLst>
              <p:tags r:id="rId4"/>
            </p:custDataLst>
          </p:nvPr>
        </p:nvSpPr>
        <p:spPr>
          <a:xfrm>
            <a:off x="4012227" y="5197674"/>
            <a:ext cx="330200" cy="253507"/>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56" name="箭头: 下 55">
            <a:extLst>
              <a:ext uri="{FF2B5EF4-FFF2-40B4-BE49-F238E27FC236}">
                <a16:creationId xmlns:a16="http://schemas.microsoft.com/office/drawing/2014/main" id="{12DA0196-4D13-6CC4-3869-3A71AB429A6E}"/>
              </a:ext>
            </a:extLst>
          </p:cNvPr>
          <p:cNvSpPr/>
          <p:nvPr>
            <p:custDataLst>
              <p:tags r:id="rId5"/>
            </p:custDataLst>
          </p:nvPr>
        </p:nvSpPr>
        <p:spPr>
          <a:xfrm>
            <a:off x="4012227" y="5847113"/>
            <a:ext cx="330200" cy="209878"/>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57" name="箭头: 下 56">
            <a:extLst>
              <a:ext uri="{FF2B5EF4-FFF2-40B4-BE49-F238E27FC236}">
                <a16:creationId xmlns:a16="http://schemas.microsoft.com/office/drawing/2014/main" id="{BE21C9C9-9DB8-2BE8-693B-A5D1CDF51E48}"/>
              </a:ext>
            </a:extLst>
          </p:cNvPr>
          <p:cNvSpPr/>
          <p:nvPr>
            <p:custDataLst>
              <p:tags r:id="rId6"/>
            </p:custDataLst>
          </p:nvPr>
        </p:nvSpPr>
        <p:spPr>
          <a:xfrm>
            <a:off x="4012227" y="3239322"/>
            <a:ext cx="330200" cy="290004"/>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Microsoft YaHei" panose="020B0503020204020204" pitchFamily="34" charset="-122"/>
            </a:endParaRPr>
          </a:p>
        </p:txBody>
      </p:sp>
      <p:sp>
        <p:nvSpPr>
          <p:cNvPr id="58" name="文本框 57">
            <a:extLst>
              <a:ext uri="{FF2B5EF4-FFF2-40B4-BE49-F238E27FC236}">
                <a16:creationId xmlns:a16="http://schemas.microsoft.com/office/drawing/2014/main" id="{199C9720-EFA2-1B9C-9BA8-3C305F3CC2CF}"/>
              </a:ext>
            </a:extLst>
          </p:cNvPr>
          <p:cNvSpPr txBox="1"/>
          <p:nvPr>
            <p:custDataLst>
              <p:tags r:id="rId7"/>
            </p:custDataLst>
          </p:nvPr>
        </p:nvSpPr>
        <p:spPr>
          <a:xfrm>
            <a:off x="7387717" y="1831065"/>
            <a:ext cx="1982544" cy="461665"/>
          </a:xfrm>
          <a:prstGeom prst="rect">
            <a:avLst/>
          </a:prstGeom>
          <a:noFill/>
          <a:ln>
            <a:noFill/>
          </a:ln>
        </p:spPr>
        <p:txBody>
          <a:bodyPr wrap="square">
            <a:spAutoFit/>
          </a:bodyPr>
          <a:lstStyle/>
          <a:p>
            <a:pPr algn="ctr"/>
            <a:r>
              <a:rPr lang="zh-CN" altLang="en-US" sz="2400" b="1" kern="100"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责任单位</a:t>
            </a:r>
          </a:p>
        </p:txBody>
      </p:sp>
      <p:sp>
        <p:nvSpPr>
          <p:cNvPr id="59" name="文本框 58">
            <a:extLst>
              <a:ext uri="{FF2B5EF4-FFF2-40B4-BE49-F238E27FC236}">
                <a16:creationId xmlns:a16="http://schemas.microsoft.com/office/drawing/2014/main" id="{7DECC086-BEE2-3957-C61A-99B91ACF49D7}"/>
              </a:ext>
            </a:extLst>
          </p:cNvPr>
          <p:cNvSpPr txBox="1"/>
          <p:nvPr>
            <p:custDataLst>
              <p:tags r:id="rId8"/>
            </p:custDataLst>
          </p:nvPr>
        </p:nvSpPr>
        <p:spPr>
          <a:xfrm>
            <a:off x="3011453" y="1818705"/>
            <a:ext cx="1982544" cy="461665"/>
          </a:xfrm>
          <a:prstGeom prst="rect">
            <a:avLst/>
          </a:prstGeom>
          <a:noFill/>
          <a:ln>
            <a:noFill/>
          </a:ln>
        </p:spPr>
        <p:txBody>
          <a:bodyPr wrap="square">
            <a:spAutoFit/>
          </a:bodyPr>
          <a:lstStyle/>
          <a:p>
            <a:pPr algn="ctr"/>
            <a:r>
              <a:rPr lang="zh-CN" altLang="en-US" sz="2400" b="1" kern="100"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流 程</a:t>
            </a:r>
          </a:p>
        </p:txBody>
      </p:sp>
      <p:sp>
        <p:nvSpPr>
          <p:cNvPr id="60" name="矩形 59">
            <a:extLst>
              <a:ext uri="{FF2B5EF4-FFF2-40B4-BE49-F238E27FC236}">
                <a16:creationId xmlns:a16="http://schemas.microsoft.com/office/drawing/2014/main" id="{5DF315A3-E37E-1CB6-FE92-DB64D38EA6AA}"/>
              </a:ext>
            </a:extLst>
          </p:cNvPr>
          <p:cNvSpPr/>
          <p:nvPr/>
        </p:nvSpPr>
        <p:spPr>
          <a:xfrm>
            <a:off x="1060112" y="2277921"/>
            <a:ext cx="464185" cy="41175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latin typeface="Microsoft YaHei" panose="020B0503020204020204" pitchFamily="34" charset="-122"/>
                <a:ea typeface="Microsoft YaHei" panose="020B0503020204020204" pitchFamily="34" charset="-122"/>
                <a:sym typeface="+mn-ea"/>
              </a:rPr>
              <a:t>市大数据发展局统筹</a:t>
            </a:r>
          </a:p>
        </p:txBody>
      </p:sp>
      <p:sp>
        <p:nvSpPr>
          <p:cNvPr id="61" name="矩形 60">
            <a:extLst>
              <a:ext uri="{FF2B5EF4-FFF2-40B4-BE49-F238E27FC236}">
                <a16:creationId xmlns:a16="http://schemas.microsoft.com/office/drawing/2014/main" id="{ED6FF463-409B-B49F-0779-DEFB41228C0D}"/>
              </a:ext>
            </a:extLst>
          </p:cNvPr>
          <p:cNvSpPr/>
          <p:nvPr>
            <p:custDataLst>
              <p:tags r:id="rId9"/>
            </p:custDataLst>
          </p:nvPr>
        </p:nvSpPr>
        <p:spPr>
          <a:xfrm>
            <a:off x="10434617" y="2277921"/>
            <a:ext cx="464185" cy="412514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latin typeface="Microsoft YaHei" panose="020B0503020204020204" pitchFamily="34" charset="-122"/>
                <a:ea typeface="Microsoft YaHei" panose="020B0503020204020204" pitchFamily="34" charset="-122"/>
                <a:sym typeface="+mn-ea"/>
              </a:rPr>
              <a:t>应用全周期管理系统线上申报</a:t>
            </a:r>
            <a:endParaRPr lang="zh-CN" altLang="en-US" sz="1600"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639973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3.5 </a:t>
            </a:r>
            <a:r>
              <a:rPr kumimoji="1" lang="zh-CN" altLang="en-US" dirty="0"/>
              <a:t>应用开发资金需求计划</a:t>
            </a:r>
            <a:r>
              <a:rPr kumimoji="1" lang="en-US" altLang="zh-CN" dirty="0"/>
              <a:t>·</a:t>
            </a:r>
            <a:r>
              <a:rPr kumimoji="1" lang="zh-CN" altLang="en-US" dirty="0"/>
              <a:t>申报及审核</a:t>
            </a:r>
          </a:p>
        </p:txBody>
      </p:sp>
      <p:graphicFrame>
        <p:nvGraphicFramePr>
          <p:cNvPr id="3" name="表格 2">
            <a:extLst>
              <a:ext uri="{FF2B5EF4-FFF2-40B4-BE49-F238E27FC236}">
                <a16:creationId xmlns:a16="http://schemas.microsoft.com/office/drawing/2014/main" id="{456F0FB8-FA74-0F7F-D9F3-A43CD3C8E95C}"/>
              </a:ext>
            </a:extLst>
          </p:cNvPr>
          <p:cNvGraphicFramePr/>
          <p:nvPr>
            <p:custDataLst>
              <p:tags r:id="rId1"/>
            </p:custDataLst>
            <p:extLst>
              <p:ext uri="{D42A27DB-BD31-4B8C-83A1-F6EECF244321}">
                <p14:modId xmlns:p14="http://schemas.microsoft.com/office/powerpoint/2010/main" val="2710556076"/>
              </p:ext>
            </p:extLst>
          </p:nvPr>
        </p:nvGraphicFramePr>
        <p:xfrm>
          <a:off x="590308" y="1857859"/>
          <a:ext cx="10949652" cy="4279201"/>
        </p:xfrm>
        <a:graphic>
          <a:graphicData uri="http://schemas.openxmlformats.org/drawingml/2006/table">
            <a:tbl>
              <a:tblPr firstRow="1" bandRow="1">
                <a:tableStyleId>{5C22544A-7EE6-4342-B048-85BDC9FD1C3A}</a:tableStyleId>
              </a:tblPr>
              <a:tblGrid>
                <a:gridCol w="2303363">
                  <a:extLst>
                    <a:ext uri="{9D8B030D-6E8A-4147-A177-3AD203B41FA5}">
                      <a16:colId xmlns:a16="http://schemas.microsoft.com/office/drawing/2014/main" val="20000"/>
                    </a:ext>
                  </a:extLst>
                </a:gridCol>
                <a:gridCol w="2963119">
                  <a:extLst>
                    <a:ext uri="{9D8B030D-6E8A-4147-A177-3AD203B41FA5}">
                      <a16:colId xmlns:a16="http://schemas.microsoft.com/office/drawing/2014/main" val="20001"/>
                    </a:ext>
                  </a:extLst>
                </a:gridCol>
                <a:gridCol w="5683170">
                  <a:extLst>
                    <a:ext uri="{9D8B030D-6E8A-4147-A177-3AD203B41FA5}">
                      <a16:colId xmlns:a16="http://schemas.microsoft.com/office/drawing/2014/main" val="20002"/>
                    </a:ext>
                  </a:extLst>
                </a:gridCol>
              </a:tblGrid>
              <a:tr h="360853">
                <a:tc>
                  <a:txBody>
                    <a:bodyPr/>
                    <a:lstStyle/>
                    <a:p>
                      <a:pPr algn="ctr">
                        <a:buNone/>
                      </a:pPr>
                      <a:r>
                        <a:rPr lang="zh-CN" altLang="en-US" sz="2000" dirty="0">
                          <a:solidFill>
                            <a:schemeClr val="bg1"/>
                          </a:solidFill>
                          <a:latin typeface="微软雅黑" panose="020B0503020204020204" pitchFamily="34" charset="-122"/>
                          <a:ea typeface="微软雅黑" panose="020B0503020204020204" pitchFamily="34" charset="-122"/>
                          <a:sym typeface="+mn-ea"/>
                        </a:rPr>
                        <a:t>流程</a:t>
                      </a:r>
                    </a:p>
                  </a:txBody>
                  <a:tcPr marL="121920" marR="121920" marT="60960" marB="60960">
                    <a:solidFill>
                      <a:srgbClr val="0070C0"/>
                    </a:solidFill>
                  </a:tcPr>
                </a:tc>
                <a:tc>
                  <a:txBody>
                    <a:bodyPr/>
                    <a:lstStyle/>
                    <a:p>
                      <a:pPr algn="ctr">
                        <a:buNone/>
                      </a:pPr>
                      <a:r>
                        <a:rPr lang="zh-CN" altLang="en-US" sz="2000" dirty="0"/>
                        <a:t>参考模板</a:t>
                      </a:r>
                    </a:p>
                  </a:txBody>
                  <a:tcPr marL="121920" marR="121920" marT="60960" marB="60960">
                    <a:solidFill>
                      <a:srgbClr val="0070C0"/>
                    </a:solidFill>
                  </a:tcPr>
                </a:tc>
                <a:tc>
                  <a:txBody>
                    <a:bodyPr/>
                    <a:lstStyle/>
                    <a:p>
                      <a:pPr algn="ctr">
                        <a:buNone/>
                      </a:pPr>
                      <a:r>
                        <a:rPr lang="zh-CN" altLang="en-US" sz="2000" dirty="0"/>
                        <a:t>主要内容</a:t>
                      </a:r>
                      <a:r>
                        <a:rPr lang="en-US" altLang="zh-CN" sz="2000" dirty="0"/>
                        <a:t>/</a:t>
                      </a:r>
                      <a:r>
                        <a:rPr lang="zh-CN" altLang="en-US" sz="2000" dirty="0"/>
                        <a:t>审核要点</a:t>
                      </a:r>
                    </a:p>
                  </a:txBody>
                  <a:tcPr marL="121920" marR="121920" marT="60960" marB="60960">
                    <a:solidFill>
                      <a:srgbClr val="0070C0"/>
                    </a:solidFill>
                  </a:tcPr>
                </a:tc>
                <a:extLst>
                  <a:ext uri="{0D108BD9-81ED-4DB2-BD59-A6C34878D82A}">
                    <a16:rowId xmlns:a16="http://schemas.microsoft.com/office/drawing/2014/main" val="10000"/>
                  </a:ext>
                </a:extLst>
              </a:tr>
              <a:tr h="0">
                <a:tc>
                  <a:txBody>
                    <a:bodyPr/>
                    <a:lstStyle/>
                    <a:p>
                      <a:pPr algn="ctr">
                        <a:buNone/>
                      </a:pPr>
                      <a:endParaRPr lang="zh-CN" altLang="en-US" sz="200" dirty="0">
                        <a:solidFill>
                          <a:schemeClr val="tx1"/>
                        </a:solidFill>
                        <a:latin typeface="微软雅黑" panose="020B0503020204020204" pitchFamily="34" charset="-122"/>
                        <a:ea typeface="微软雅黑" panose="020B0503020204020204" pitchFamily="34" charset="-122"/>
                        <a:sym typeface="+mn-ea"/>
                      </a:endParaRPr>
                    </a:p>
                  </a:txBody>
                  <a:tcPr marL="121920" marR="121920" marT="60960" marB="60960">
                    <a:solidFill>
                      <a:schemeClr val="bg1"/>
                    </a:solidFill>
                  </a:tcPr>
                </a:tc>
                <a:tc>
                  <a:txBody>
                    <a:bodyPr/>
                    <a:lstStyle/>
                    <a:p>
                      <a:pPr algn="ctr">
                        <a:buNone/>
                      </a:pPr>
                      <a:endParaRPr lang="zh-CN" altLang="en-US" sz="200"/>
                    </a:p>
                  </a:txBody>
                  <a:tcPr marL="121920" marR="121920" marT="60960" marB="60960">
                    <a:solidFill>
                      <a:schemeClr val="bg1"/>
                    </a:solidFill>
                  </a:tcPr>
                </a:tc>
                <a:tc>
                  <a:txBody>
                    <a:bodyPr/>
                    <a:lstStyle/>
                    <a:p>
                      <a:pPr algn="ctr">
                        <a:buNone/>
                      </a:pPr>
                      <a:endParaRPr lang="en-US" altLang="zh-CN" sz="200"/>
                    </a:p>
                  </a:txBody>
                  <a:tcPr marL="121920" marR="121920" marT="60960" marB="60960">
                    <a:solidFill>
                      <a:schemeClr val="bg1"/>
                    </a:solidFill>
                  </a:tcPr>
                </a:tc>
                <a:extLst>
                  <a:ext uri="{0D108BD9-81ED-4DB2-BD59-A6C34878D82A}">
                    <a16:rowId xmlns:a16="http://schemas.microsoft.com/office/drawing/2014/main" val="10001"/>
                  </a:ext>
                </a:extLst>
              </a:tr>
              <a:tr h="618982">
                <a:tc rowSpan="2">
                  <a:txBody>
                    <a:bodyPr/>
                    <a:lstStyle/>
                    <a:p>
                      <a:pPr algn="l">
                        <a:lnSpc>
                          <a:spcPts val="2500"/>
                        </a:lnSpc>
                        <a:buNone/>
                      </a:pP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sym typeface="+mn-ea"/>
                        </a:rPr>
                        <a:t>第一步：</a:t>
                      </a:r>
                      <a:endParaRPr lang="en-US" altLang="zh-CN" sz="1600" dirty="0">
                        <a:solidFill>
                          <a:schemeClr val="tx1"/>
                        </a:solidFill>
                        <a:latin typeface="微软雅黑" panose="020B0503020204020204" pitchFamily="34" charset="-122"/>
                        <a:ea typeface="微软雅黑" panose="020B0503020204020204" pitchFamily="34" charset="-122"/>
                        <a:sym typeface="+mn-ea"/>
                      </a:endParaRPr>
                    </a:p>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sym typeface="+mn-ea"/>
                        </a:rPr>
                        <a:t>应用责任部门填写资金需求计划表</a:t>
                      </a:r>
                    </a:p>
                  </a:txBody>
                  <a:tcPr marL="121920" marR="121920" marT="60960" marB="60960">
                    <a:solidFill>
                      <a:schemeClr val="bg1">
                        <a:lumMod val="95000"/>
                      </a:schemeClr>
                    </a:solidFill>
                  </a:tcPr>
                </a:tc>
                <a:tc>
                  <a:txBody>
                    <a:bodyPr/>
                    <a:lstStyle/>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rPr>
                        <a:t>《重庆市政务数字化应用资金需求计划表》</a:t>
                      </a:r>
                    </a:p>
                  </a:txBody>
                  <a:tcPr marL="121920" marR="121920" marT="60960" marB="60960">
                    <a:solidFill>
                      <a:schemeClr val="bg1">
                        <a:lumMod val="95000"/>
                      </a:schemeClr>
                    </a:solidFill>
                  </a:tcPr>
                </a:tc>
                <a:tc>
                  <a:txBody>
                    <a:bodyPr/>
                    <a:lstStyle/>
                    <a:p>
                      <a:pPr algn="l">
                        <a:lnSpc>
                          <a:spcPts val="2500"/>
                        </a:lnSpc>
                        <a:buNone/>
                      </a:pPr>
                      <a:r>
                        <a:rPr lang="zh-CN" altLang="en-US" sz="1600">
                          <a:solidFill>
                            <a:schemeClr val="tx1"/>
                          </a:solidFill>
                          <a:latin typeface="微软雅黑" panose="020B0503020204020204" pitchFamily="34" charset="-122"/>
                          <a:ea typeface="微软雅黑" panose="020B0503020204020204" pitchFamily="34" charset="-122"/>
                        </a:rPr>
                        <a:t>通过</a:t>
                      </a:r>
                      <a:r>
                        <a:rPr lang="en-US" altLang="zh-CN" sz="1600">
                          <a:solidFill>
                            <a:schemeClr val="tx1"/>
                          </a:solidFill>
                          <a:latin typeface="微软雅黑" panose="020B0503020204020204" pitchFamily="34" charset="-122"/>
                          <a:ea typeface="微软雅黑" panose="020B0503020204020204" pitchFamily="34" charset="-122"/>
                          <a:sym typeface="+mn-ea"/>
                        </a:rPr>
                        <a:t>“</a:t>
                      </a:r>
                      <a:r>
                        <a:rPr lang="zh-CN" altLang="en-US" sz="1600">
                          <a:solidFill>
                            <a:schemeClr val="tx1"/>
                          </a:solidFill>
                          <a:latin typeface="微软雅黑" panose="020B0503020204020204" pitchFamily="34" charset="-122"/>
                          <a:ea typeface="微软雅黑" panose="020B0503020204020204" pitchFamily="34" charset="-122"/>
                        </a:rPr>
                        <a:t>应用管理系统</a:t>
                      </a:r>
                      <a:r>
                        <a:rPr lang="en-US" altLang="zh-CN" sz="1600">
                          <a:solidFill>
                            <a:schemeClr val="tx1"/>
                          </a:solidFill>
                          <a:latin typeface="微软雅黑" panose="020B0503020204020204" pitchFamily="34" charset="-122"/>
                          <a:ea typeface="微软雅黑" panose="020B0503020204020204" pitchFamily="34" charset="-122"/>
                        </a:rPr>
                        <a:t>”</a:t>
                      </a:r>
                      <a:r>
                        <a:rPr lang="zh-CN" altLang="en-US" sz="1600">
                          <a:solidFill>
                            <a:schemeClr val="tx1"/>
                          </a:solidFill>
                          <a:latin typeface="微软雅黑" panose="020B0503020204020204" pitchFamily="34" charset="-122"/>
                          <a:ea typeface="微软雅黑" panose="020B0503020204020204" pitchFamily="34" charset="-122"/>
                        </a:rPr>
                        <a:t>，据实完善应用、云网、数据、组件、感知等预编目信息</a:t>
                      </a:r>
                    </a:p>
                  </a:txBody>
                  <a:tcPr marL="121920" marR="121920" marT="60960" marB="60960">
                    <a:solidFill>
                      <a:schemeClr val="bg1">
                        <a:lumMod val="95000"/>
                      </a:schemeClr>
                    </a:solidFill>
                  </a:tcPr>
                </a:tc>
                <a:extLst>
                  <a:ext uri="{0D108BD9-81ED-4DB2-BD59-A6C34878D82A}">
                    <a16:rowId xmlns:a16="http://schemas.microsoft.com/office/drawing/2014/main" val="10002"/>
                  </a:ext>
                </a:extLst>
              </a:tr>
              <a:tr h="887474">
                <a:tc vMerge="1">
                  <a:txBody>
                    <a:bodyPr/>
                    <a:lstStyle/>
                    <a:p>
                      <a:endParaRPr lang="zh-CN"/>
                    </a:p>
                  </a:txBody>
                  <a:tcPr/>
                </a:tc>
                <a:tc>
                  <a:txBody>
                    <a:bodyPr/>
                    <a:lstStyle/>
                    <a:p>
                      <a:pPr algn="l">
                        <a:lnSpc>
                          <a:spcPts val="2500"/>
                        </a:lnSpc>
                        <a:buNone/>
                      </a:pP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sym typeface="+mn-ea"/>
                        </a:rPr>
                        <a:t>《重庆市政务数字化应用资金计划报告（模板）》</a:t>
                      </a:r>
                    </a:p>
                  </a:txBody>
                  <a:tcPr marL="121920" marR="121920" marT="60960" marB="60960">
                    <a:solidFill>
                      <a:schemeClr val="bg1">
                        <a:lumMod val="95000"/>
                      </a:schemeClr>
                    </a:solidFill>
                  </a:tcPr>
                </a:tc>
                <a:tc>
                  <a:txBody>
                    <a:bodyPr/>
                    <a:lstStyle/>
                    <a:p>
                      <a:pPr algn="l">
                        <a:lnSpc>
                          <a:spcPts val="2500"/>
                        </a:lnSpc>
                        <a:buNone/>
                      </a:pP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sym typeface="+mn-ea"/>
                        </a:rPr>
                        <a:t>应用核心业务、总体方案、资金使用计划等</a:t>
                      </a:r>
                      <a:endParaRPr lang="zh-CN" altLang="en-US" sz="1600" dirty="0">
                        <a:solidFill>
                          <a:schemeClr val="tx1"/>
                        </a:solidFill>
                        <a:latin typeface="微软雅黑" panose="020B0503020204020204" pitchFamily="34" charset="-122"/>
                        <a:ea typeface="微软雅黑" panose="020B0503020204020204" pitchFamily="34" charset="-122"/>
                      </a:endParaRPr>
                    </a:p>
                    <a:p>
                      <a:pPr algn="l">
                        <a:lnSpc>
                          <a:spcPts val="2500"/>
                        </a:lnSpc>
                        <a:buNone/>
                      </a:pPr>
                      <a:endParaRPr lang="zh-CN" altLang="en-US" sz="1600" dirty="0">
                        <a:solidFill>
                          <a:schemeClr val="tx1"/>
                        </a:solidFill>
                        <a:latin typeface="微软雅黑" panose="020B0503020204020204" pitchFamily="34" charset="-122"/>
                        <a:ea typeface="微软雅黑" panose="020B0503020204020204" pitchFamily="34" charset="-122"/>
                      </a:endParaRPr>
                    </a:p>
                  </a:txBody>
                  <a:tcPr marL="121920" marR="121920" marT="60960" marB="60960">
                    <a:solidFill>
                      <a:schemeClr val="bg1">
                        <a:lumMod val="95000"/>
                      </a:schemeClr>
                    </a:solidFill>
                  </a:tcPr>
                </a:tc>
                <a:extLst>
                  <a:ext uri="{0D108BD9-81ED-4DB2-BD59-A6C34878D82A}">
                    <a16:rowId xmlns:a16="http://schemas.microsoft.com/office/drawing/2014/main" val="10003"/>
                  </a:ext>
                </a:extLst>
              </a:tr>
              <a:tr h="887474">
                <a:tc>
                  <a:txBody>
                    <a:bodyPr/>
                    <a:lstStyle/>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rPr>
                        <a:t>第二步：</a:t>
                      </a:r>
                      <a:endParaRPr lang="en-US" altLang="zh-CN" sz="1600" dirty="0">
                        <a:solidFill>
                          <a:schemeClr val="tx1"/>
                        </a:solidFill>
                        <a:latin typeface="微软雅黑" panose="020B0503020204020204" pitchFamily="34" charset="-122"/>
                        <a:ea typeface="微软雅黑" panose="020B0503020204020204" pitchFamily="34" charset="-122"/>
                      </a:endParaRPr>
                    </a:p>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rPr>
                        <a:t>市级应用牵头部门初审</a:t>
                      </a:r>
                    </a:p>
                  </a:txBody>
                  <a:tcPr marL="121920" marR="121920" marT="60960" marB="60960">
                    <a:solidFill>
                      <a:schemeClr val="bg1">
                        <a:lumMod val="95000"/>
                      </a:schemeClr>
                    </a:solidFill>
                  </a:tcPr>
                </a:tc>
                <a:tc>
                  <a:txBody>
                    <a:bodyPr/>
                    <a:lstStyle/>
                    <a:p>
                      <a:pPr algn="l">
                        <a:lnSpc>
                          <a:spcPts val="2500"/>
                        </a:lnSpc>
                        <a:buNone/>
                      </a:pPr>
                      <a:endParaRPr lang="en-US" altLang="zh-CN" sz="1600">
                        <a:solidFill>
                          <a:schemeClr val="tx1"/>
                        </a:solidFill>
                        <a:latin typeface="微软雅黑" panose="020B0503020204020204" pitchFamily="34" charset="-122"/>
                        <a:ea typeface="微软雅黑" panose="020B0503020204020204" pitchFamily="34" charset="-122"/>
                      </a:endParaRPr>
                    </a:p>
                    <a:p>
                      <a:pPr algn="ctr">
                        <a:lnSpc>
                          <a:spcPts val="2500"/>
                        </a:lnSpc>
                        <a:buNone/>
                      </a:pPr>
                      <a:r>
                        <a:rPr lang="en-US" altLang="zh-CN" sz="1600">
                          <a:solidFill>
                            <a:schemeClr val="tx1"/>
                          </a:solidFill>
                          <a:latin typeface="微软雅黑" panose="020B0503020204020204" pitchFamily="34" charset="-122"/>
                          <a:ea typeface="微软雅黑" panose="020B0503020204020204" pitchFamily="34" charset="-122"/>
                        </a:rPr>
                        <a:t>——</a:t>
                      </a:r>
                    </a:p>
                  </a:txBody>
                  <a:tcPr marL="121920" marR="121920" marT="60960" marB="60960">
                    <a:solidFill>
                      <a:schemeClr val="bg1">
                        <a:lumMod val="95000"/>
                      </a:schemeClr>
                    </a:solidFill>
                  </a:tcPr>
                </a:tc>
                <a:tc>
                  <a:txBody>
                    <a:bodyPr/>
                    <a:lstStyle/>
                    <a:p>
                      <a:pPr algn="l">
                        <a:lnSpc>
                          <a:spcPts val="2500"/>
                        </a:lnSpc>
                        <a:buNone/>
                      </a:pPr>
                      <a:r>
                        <a:rPr lang="zh-CN" altLang="en-US" sz="1600" b="1" dirty="0">
                          <a:solidFill>
                            <a:srgbClr val="C00000"/>
                          </a:solidFill>
                          <a:latin typeface="微软雅黑" panose="020B0503020204020204" pitchFamily="34" charset="-122"/>
                          <a:ea typeface="微软雅黑" panose="020B0503020204020204" pitchFamily="34" charset="-122"/>
                        </a:rPr>
                        <a:t>重点审核：</a:t>
                      </a:r>
                      <a:r>
                        <a:rPr lang="zh-CN" altLang="en-US" sz="1600" dirty="0">
                          <a:solidFill>
                            <a:schemeClr val="tx1"/>
                          </a:solidFill>
                          <a:latin typeface="微软雅黑" panose="020B0503020204020204" pitchFamily="34" charset="-122"/>
                          <a:ea typeface="微软雅黑" panose="020B0503020204020204" pitchFamily="34" charset="-122"/>
                        </a:rPr>
                        <a:t>是否对应“三张清单”内容；</a:t>
                      </a:r>
                    </a:p>
                    <a:p>
                      <a:pPr algn="l">
                        <a:lnSpc>
                          <a:spcPts val="2500"/>
                        </a:lnSpc>
                        <a:buNone/>
                      </a:pPr>
                      <a:r>
                        <a:rPr lang="en-US" altLang="zh-CN" sz="1600" dirty="0">
                          <a:solidFill>
                            <a:schemeClr val="tx1"/>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是否符合“六大应用系统”有关要求</a:t>
                      </a:r>
                    </a:p>
                  </a:txBody>
                  <a:tcPr marL="121920" marR="121920" marT="60960" marB="60960">
                    <a:solidFill>
                      <a:schemeClr val="bg1">
                        <a:lumMod val="95000"/>
                      </a:schemeClr>
                    </a:solidFill>
                  </a:tcPr>
                </a:tc>
                <a:extLst>
                  <a:ext uri="{0D108BD9-81ED-4DB2-BD59-A6C34878D82A}">
                    <a16:rowId xmlns:a16="http://schemas.microsoft.com/office/drawing/2014/main" val="10004"/>
                  </a:ext>
                </a:extLst>
              </a:tr>
              <a:tr h="887474">
                <a:tc>
                  <a:txBody>
                    <a:bodyPr/>
                    <a:lstStyle/>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rPr>
                        <a:t>第三步：</a:t>
                      </a:r>
                      <a:endParaRPr lang="en-US" altLang="zh-CN" sz="1600" dirty="0">
                        <a:solidFill>
                          <a:schemeClr val="tx1"/>
                        </a:solidFill>
                        <a:latin typeface="微软雅黑" panose="020B0503020204020204" pitchFamily="34" charset="-122"/>
                        <a:ea typeface="微软雅黑" panose="020B0503020204020204" pitchFamily="34" charset="-122"/>
                      </a:endParaRPr>
                    </a:p>
                    <a:p>
                      <a:pPr algn="l">
                        <a:lnSpc>
                          <a:spcPts val="2500"/>
                        </a:lnSpc>
                        <a:buNone/>
                      </a:pPr>
                      <a:r>
                        <a:rPr lang="zh-CN" altLang="en-US" sz="1600" dirty="0">
                          <a:solidFill>
                            <a:schemeClr val="tx1"/>
                          </a:solidFill>
                          <a:latin typeface="微软雅黑" panose="020B0503020204020204" pitchFamily="34" charset="-122"/>
                          <a:ea typeface="微软雅黑" panose="020B0503020204020204" pitchFamily="34" charset="-122"/>
                        </a:rPr>
                        <a:t>市大数据发展局对资金需求计划表审核</a:t>
                      </a:r>
                    </a:p>
                  </a:txBody>
                  <a:tcPr marL="121920" marR="121920" marT="60960" marB="60960">
                    <a:solidFill>
                      <a:schemeClr val="bg1">
                        <a:lumMod val="95000"/>
                      </a:schemeClr>
                    </a:solidFill>
                  </a:tcPr>
                </a:tc>
                <a:tc>
                  <a:txBody>
                    <a:bodyPr/>
                    <a:lstStyle/>
                    <a:p>
                      <a:pPr algn="l">
                        <a:lnSpc>
                          <a:spcPts val="2500"/>
                        </a:lnSpc>
                        <a:buNone/>
                      </a:pPr>
                      <a:endParaRPr lang="en-US" altLang="zh-CN" sz="1600">
                        <a:solidFill>
                          <a:schemeClr val="tx1"/>
                        </a:solidFill>
                        <a:latin typeface="微软雅黑" panose="020B0503020204020204" pitchFamily="34" charset="-122"/>
                        <a:ea typeface="微软雅黑" panose="020B0503020204020204" pitchFamily="34" charset="-122"/>
                        <a:sym typeface="+mn-ea"/>
                      </a:endParaRPr>
                    </a:p>
                    <a:p>
                      <a:pPr algn="ctr">
                        <a:lnSpc>
                          <a:spcPts val="2500"/>
                        </a:lnSpc>
                        <a:buNone/>
                      </a:pPr>
                      <a:r>
                        <a:rPr lang="en-US" altLang="zh-CN" sz="1600">
                          <a:solidFill>
                            <a:schemeClr val="tx1"/>
                          </a:solidFill>
                          <a:latin typeface="微软雅黑" panose="020B0503020204020204" pitchFamily="34" charset="-122"/>
                          <a:ea typeface="微软雅黑" panose="020B0503020204020204" pitchFamily="34" charset="-122"/>
                          <a:sym typeface="+mn-ea"/>
                        </a:rPr>
                        <a:t>——</a:t>
                      </a:r>
                      <a:endParaRPr lang="en-US" altLang="zh-CN" sz="1600">
                        <a:solidFill>
                          <a:schemeClr val="tx1"/>
                        </a:solidFill>
                        <a:latin typeface="微软雅黑" panose="020B0503020204020204" pitchFamily="34" charset="-122"/>
                        <a:ea typeface="微软雅黑" panose="020B0503020204020204" pitchFamily="34" charset="-122"/>
                      </a:endParaRPr>
                    </a:p>
                    <a:p>
                      <a:pPr algn="l">
                        <a:lnSpc>
                          <a:spcPts val="2500"/>
                        </a:lnSpc>
                        <a:buNone/>
                      </a:pPr>
                      <a:endParaRPr lang="en-US" altLang="zh-CN" sz="1600">
                        <a:solidFill>
                          <a:schemeClr val="tx1"/>
                        </a:solidFill>
                        <a:latin typeface="微软雅黑" panose="020B0503020204020204" pitchFamily="34" charset="-122"/>
                        <a:ea typeface="微软雅黑" panose="020B0503020204020204" pitchFamily="34" charset="-122"/>
                      </a:endParaRPr>
                    </a:p>
                  </a:txBody>
                  <a:tcPr marL="121920" marR="121920" marT="60960" marB="60960">
                    <a:solidFill>
                      <a:schemeClr val="bg1">
                        <a:lumMod val="95000"/>
                      </a:schemeClr>
                    </a:solidFill>
                  </a:tcPr>
                </a:tc>
                <a:tc>
                  <a:txBody>
                    <a:bodyPr/>
                    <a:lstStyle/>
                    <a:p>
                      <a:pPr algn="l">
                        <a:lnSpc>
                          <a:spcPts val="2500"/>
                        </a:lnSpc>
                        <a:buNone/>
                      </a:pP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a:p>
                      <a:pPr algn="l">
                        <a:lnSpc>
                          <a:spcPts val="2500"/>
                        </a:lnSpc>
                        <a:buNone/>
                      </a:pPr>
                      <a:r>
                        <a:rPr lang="zh-CN" altLang="en-US" sz="1600" b="1" dirty="0">
                          <a:solidFill>
                            <a:srgbClr val="C00000"/>
                          </a:solidFill>
                          <a:latin typeface="微软雅黑" panose="020B0503020204020204" pitchFamily="34" charset="-122"/>
                          <a:ea typeface="微软雅黑" panose="020B0503020204020204" pitchFamily="34" charset="-122"/>
                          <a:sym typeface="+mn-ea"/>
                        </a:rPr>
                        <a:t>重点审核：</a:t>
                      </a:r>
                      <a:r>
                        <a:rPr lang="zh-CN" altLang="en-US" sz="1600" dirty="0">
                          <a:solidFill>
                            <a:schemeClr val="tx1"/>
                          </a:solidFill>
                          <a:latin typeface="微软雅黑" panose="020B0503020204020204" pitchFamily="34" charset="-122"/>
                          <a:ea typeface="微软雅黑" panose="020B0503020204020204" pitchFamily="34" charset="-122"/>
                          <a:sym typeface="+mn-ea"/>
                        </a:rPr>
                        <a:t>资金计划的规范性、合理性</a:t>
                      </a:r>
                    </a:p>
                  </a:txBody>
                  <a:tcPr marL="121920" marR="121920" marT="60960" marB="60960">
                    <a:solidFill>
                      <a:schemeClr val="bg1">
                        <a:lumMod val="9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37429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3.6 </a:t>
            </a:r>
            <a:r>
              <a:rPr kumimoji="1" lang="zh-CN" altLang="en-US" dirty="0"/>
              <a:t>应用开发方案</a:t>
            </a:r>
            <a:r>
              <a:rPr kumimoji="1" lang="en-US" altLang="zh-CN" dirty="0"/>
              <a:t>·</a:t>
            </a:r>
            <a:r>
              <a:rPr kumimoji="1" lang="zh-CN" altLang="en-US" dirty="0"/>
              <a:t>申报及审核</a:t>
            </a:r>
          </a:p>
        </p:txBody>
      </p:sp>
      <p:graphicFrame>
        <p:nvGraphicFramePr>
          <p:cNvPr id="4" name="表格 3">
            <a:extLst>
              <a:ext uri="{FF2B5EF4-FFF2-40B4-BE49-F238E27FC236}">
                <a16:creationId xmlns:a16="http://schemas.microsoft.com/office/drawing/2014/main" id="{9AF1ACDB-8A82-E403-CD2A-648991FB0E3E}"/>
              </a:ext>
            </a:extLst>
          </p:cNvPr>
          <p:cNvGraphicFramePr/>
          <p:nvPr>
            <p:custDataLst>
              <p:tags r:id="rId1"/>
            </p:custDataLst>
            <p:extLst>
              <p:ext uri="{D42A27DB-BD31-4B8C-83A1-F6EECF244321}">
                <p14:modId xmlns:p14="http://schemas.microsoft.com/office/powerpoint/2010/main" val="3167754301"/>
              </p:ext>
            </p:extLst>
          </p:nvPr>
        </p:nvGraphicFramePr>
        <p:xfrm>
          <a:off x="566670" y="1811385"/>
          <a:ext cx="11050074" cy="4430705"/>
        </p:xfrm>
        <a:graphic>
          <a:graphicData uri="http://schemas.openxmlformats.org/drawingml/2006/table">
            <a:tbl>
              <a:tblPr firstRow="1" bandRow="1">
                <a:tableStyleId>{5C22544A-7EE6-4342-B048-85BDC9FD1C3A}</a:tableStyleId>
              </a:tblPr>
              <a:tblGrid>
                <a:gridCol w="3843288">
                  <a:extLst>
                    <a:ext uri="{9D8B030D-6E8A-4147-A177-3AD203B41FA5}">
                      <a16:colId xmlns:a16="http://schemas.microsoft.com/office/drawing/2014/main" val="20000"/>
                    </a:ext>
                  </a:extLst>
                </a:gridCol>
                <a:gridCol w="3633225">
                  <a:extLst>
                    <a:ext uri="{9D8B030D-6E8A-4147-A177-3AD203B41FA5}">
                      <a16:colId xmlns:a16="http://schemas.microsoft.com/office/drawing/2014/main" val="20001"/>
                    </a:ext>
                  </a:extLst>
                </a:gridCol>
                <a:gridCol w="3573561">
                  <a:extLst>
                    <a:ext uri="{9D8B030D-6E8A-4147-A177-3AD203B41FA5}">
                      <a16:colId xmlns:a16="http://schemas.microsoft.com/office/drawing/2014/main" val="20002"/>
                    </a:ext>
                  </a:extLst>
                </a:gridCol>
              </a:tblGrid>
              <a:tr h="440641">
                <a:tc>
                  <a:txBody>
                    <a:bodyPr/>
                    <a:lstStyle/>
                    <a:p>
                      <a:pPr algn="ctr">
                        <a:buNone/>
                      </a:pPr>
                      <a:r>
                        <a:rPr lang="zh-CN" altLang="en-US" sz="2000" dirty="0">
                          <a:solidFill>
                            <a:schemeClr val="bg1"/>
                          </a:solidFill>
                          <a:latin typeface="微软雅黑" panose="020B0503020204020204" pitchFamily="34" charset="-122"/>
                          <a:ea typeface="微软雅黑" panose="020B0503020204020204" pitchFamily="34" charset="-122"/>
                          <a:sym typeface="+mn-ea"/>
                        </a:rPr>
                        <a:t>流程</a:t>
                      </a:r>
                    </a:p>
                  </a:txBody>
                  <a:tcPr marL="121920" marR="121920" marT="60960" marB="60960">
                    <a:solidFill>
                      <a:srgbClr val="0070C0"/>
                    </a:solidFill>
                  </a:tcPr>
                </a:tc>
                <a:tc>
                  <a:txBody>
                    <a:bodyPr/>
                    <a:lstStyle/>
                    <a:p>
                      <a:pPr algn="ctr">
                        <a:buNone/>
                      </a:pPr>
                      <a:r>
                        <a:rPr lang="zh-CN" altLang="en-US" sz="2000" dirty="0">
                          <a:latin typeface="微软雅黑" panose="020B0503020204020204" pitchFamily="34" charset="-122"/>
                          <a:ea typeface="微软雅黑" panose="020B0503020204020204" pitchFamily="34" charset="-122"/>
                        </a:rPr>
                        <a:t>申报材料</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参考模板</a:t>
                      </a:r>
                    </a:p>
                  </a:txBody>
                  <a:tcPr marL="121920" marR="121920" marT="60960" marB="60960">
                    <a:solidFill>
                      <a:srgbClr val="0070C0"/>
                    </a:solidFill>
                  </a:tcPr>
                </a:tc>
                <a:tc>
                  <a:txBody>
                    <a:bodyPr/>
                    <a:lstStyle/>
                    <a:p>
                      <a:pPr algn="ctr">
                        <a:buNone/>
                      </a:pPr>
                      <a:r>
                        <a:rPr lang="zh-CN" altLang="en-US" sz="2000" dirty="0">
                          <a:latin typeface="微软雅黑" panose="020B0503020204020204" pitchFamily="34" charset="-122"/>
                          <a:ea typeface="微软雅黑" panose="020B0503020204020204" pitchFamily="34" charset="-122"/>
                        </a:rPr>
                        <a:t>主要内容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审核要点</a:t>
                      </a:r>
                    </a:p>
                  </a:txBody>
                  <a:tcPr marL="121920" marR="121920" marT="60960" marB="60960">
                    <a:solidFill>
                      <a:srgbClr val="0070C0"/>
                    </a:solidFill>
                  </a:tcPr>
                </a:tc>
                <a:extLst>
                  <a:ext uri="{0D108BD9-81ED-4DB2-BD59-A6C34878D82A}">
                    <a16:rowId xmlns:a16="http://schemas.microsoft.com/office/drawing/2014/main" val="10000"/>
                  </a:ext>
                </a:extLst>
              </a:tr>
              <a:tr h="0">
                <a:tc>
                  <a:txBody>
                    <a:bodyPr/>
                    <a:lstStyle/>
                    <a:p>
                      <a:pPr algn="ctr">
                        <a:buNone/>
                      </a:pPr>
                      <a:endParaRPr lang="zh-CN" altLang="en-US" sz="200" dirty="0">
                        <a:solidFill>
                          <a:schemeClr val="tx1"/>
                        </a:solidFill>
                        <a:latin typeface="微软雅黑" panose="020B0503020204020204" pitchFamily="34" charset="-122"/>
                        <a:ea typeface="微软雅黑" panose="020B0503020204020204" pitchFamily="34" charset="-122"/>
                        <a:sym typeface="+mn-ea"/>
                      </a:endParaRPr>
                    </a:p>
                  </a:txBody>
                  <a:tcPr marL="121920" marR="121920" marT="60960" marB="60960">
                    <a:solidFill>
                      <a:schemeClr val="bg1"/>
                    </a:solidFill>
                  </a:tcPr>
                </a:tc>
                <a:tc>
                  <a:txBody>
                    <a:bodyPr/>
                    <a:lstStyle/>
                    <a:p>
                      <a:pPr algn="ctr">
                        <a:buNone/>
                      </a:pPr>
                      <a:endParaRPr lang="zh-CN" altLang="en-US" sz="200">
                        <a:latin typeface="微软雅黑" panose="020B0503020204020204" pitchFamily="34" charset="-122"/>
                        <a:ea typeface="微软雅黑" panose="020B0503020204020204" pitchFamily="34" charset="-122"/>
                      </a:endParaRPr>
                    </a:p>
                  </a:txBody>
                  <a:tcPr marL="121920" marR="121920" marT="60960" marB="60960">
                    <a:solidFill>
                      <a:schemeClr val="bg1"/>
                    </a:solidFill>
                  </a:tcPr>
                </a:tc>
                <a:tc>
                  <a:txBody>
                    <a:bodyPr/>
                    <a:lstStyle/>
                    <a:p>
                      <a:pPr algn="ctr">
                        <a:buNone/>
                      </a:pPr>
                      <a:endParaRPr lang="zh-CN" altLang="en-US" sz="200">
                        <a:latin typeface="微软雅黑" panose="020B0503020204020204" pitchFamily="34" charset="-122"/>
                        <a:ea typeface="微软雅黑" panose="020B0503020204020204" pitchFamily="34" charset="-122"/>
                      </a:endParaRPr>
                    </a:p>
                  </a:txBody>
                  <a:tcPr marL="121920" marR="121920" marT="60960" marB="60960">
                    <a:solidFill>
                      <a:schemeClr val="bg1"/>
                    </a:solidFill>
                  </a:tcPr>
                </a:tc>
                <a:extLst>
                  <a:ext uri="{0D108BD9-81ED-4DB2-BD59-A6C34878D82A}">
                    <a16:rowId xmlns:a16="http://schemas.microsoft.com/office/drawing/2014/main" val="10001"/>
                  </a:ext>
                </a:extLst>
              </a:tr>
              <a:tr h="1315036">
                <a:tc>
                  <a:txBody>
                    <a:bodyPr/>
                    <a:lstStyle/>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第一步：</a:t>
                      </a:r>
                      <a:endParaRPr lang="en-US" altLang="zh-CN" sz="160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应用责任部门</a:t>
                      </a:r>
                      <a:r>
                        <a:rPr lang="zh-CN" altLang="en-US"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sym typeface="+mn-ea"/>
                        </a:rPr>
                        <a:t>编制应用开发方案及全量数字资源编目</a:t>
                      </a:r>
                    </a:p>
                  </a:txBody>
                  <a:tcPr marL="121920" marR="121920" marT="60960" marB="60960" anchor="ctr">
                    <a:solidFill>
                      <a:schemeClr val="bg1">
                        <a:lumMod val="95000"/>
                      </a:schemeClr>
                    </a:solidFill>
                  </a:tcPr>
                </a:tc>
                <a:tc>
                  <a:txBody>
                    <a:bodyPr/>
                    <a:lstStyle/>
                    <a:p>
                      <a:pPr algn="l">
                        <a:buNone/>
                      </a:pPr>
                      <a:r>
                        <a:rPr lang="en-US" altLang="zh-CN" sz="1600" dirty="0">
                          <a:solidFill>
                            <a:schemeClr val="tx1"/>
                          </a:solidFill>
                          <a:latin typeface="微软雅黑" panose="020B0503020204020204" pitchFamily="34" charset="-122"/>
                          <a:ea typeface="微软雅黑" panose="020B0503020204020204" pitchFamily="34" charset="-122"/>
                        </a:rPr>
                        <a:t>1.</a:t>
                      </a:r>
                      <a:r>
                        <a:rPr lang="zh-CN" altLang="en-US" sz="1600" dirty="0">
                          <a:solidFill>
                            <a:schemeClr val="tx1"/>
                          </a:solidFill>
                          <a:latin typeface="微软雅黑" panose="020B0503020204020204" pitchFamily="34" charset="-122"/>
                          <a:ea typeface="微软雅黑" panose="020B0503020204020204" pitchFamily="34" charset="-122"/>
                          <a:sym typeface="+mn-ea"/>
                        </a:rPr>
                        <a:t>应用开发申请的正式公文函件</a:t>
                      </a: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2.</a:t>
                      </a:r>
                      <a:r>
                        <a:rPr lang="zh-CN" altLang="en-US" sz="1600" dirty="0">
                          <a:solidFill>
                            <a:schemeClr val="tx1"/>
                          </a:solidFill>
                          <a:latin typeface="微软雅黑" panose="020B0503020204020204" pitchFamily="34" charset="-122"/>
                          <a:ea typeface="微软雅黑" panose="020B0503020204020204" pitchFamily="34" charset="-122"/>
                        </a:rPr>
                        <a:t>《重庆市政务数字化应用开发方案》</a:t>
                      </a:r>
                    </a:p>
                    <a:p>
                      <a:pPr algn="l">
                        <a:buNone/>
                      </a:pPr>
                      <a:r>
                        <a:rPr lang="zh-CN" altLang="en-US" sz="1600" dirty="0">
                          <a:solidFill>
                            <a:schemeClr val="tx1"/>
                          </a:solidFill>
                          <a:latin typeface="微软雅黑" panose="020B0503020204020204" pitchFamily="34" charset="-122"/>
                          <a:ea typeface="微软雅黑" panose="020B0503020204020204" pitchFamily="34" charset="-122"/>
                        </a:rPr>
                        <a:t>3.其他需要补充说明的材料（论证资料、集中审议的会议纪要等）</a:t>
                      </a:r>
                    </a:p>
                  </a:txBody>
                  <a:tcPr marL="121920" marR="121920" marT="60960" marB="60960" anchor="ctr">
                    <a:solidFill>
                      <a:schemeClr val="bg1">
                        <a:lumMod val="95000"/>
                      </a:schemeClr>
                    </a:solidFill>
                  </a:tcPr>
                </a:tc>
                <a:tc>
                  <a:txBody>
                    <a:bodyPr/>
                    <a:lstStyle/>
                    <a:p>
                      <a:pPr algn="l">
                        <a:buNone/>
                      </a:pPr>
                      <a:r>
                        <a:rPr lang="zh-CN" altLang="en-US" sz="1600" dirty="0">
                          <a:solidFill>
                            <a:schemeClr val="tx1"/>
                          </a:solidFill>
                          <a:latin typeface="微软雅黑" panose="020B0503020204020204" pitchFamily="34" charset="-122"/>
                          <a:ea typeface="微软雅黑" panose="020B0503020204020204" pitchFamily="34" charset="-122"/>
                        </a:rPr>
                        <a:t>进一步完善</a:t>
                      </a:r>
                      <a:r>
                        <a:rPr lang="zh-CN" altLang="en-US" sz="1600" dirty="0">
                          <a:solidFill>
                            <a:schemeClr val="tx1"/>
                          </a:solidFill>
                          <a:latin typeface="微软雅黑" panose="020B0503020204020204" pitchFamily="34" charset="-122"/>
                          <a:ea typeface="微软雅黑" panose="020B0503020204020204" pitchFamily="34" charset="-122"/>
                          <a:sym typeface="+mn-ea"/>
                        </a:rPr>
                        <a:t>应用、云网、数据、组件、感知等预编目，其中数据编目包含拟生产、拟使用，已生产（若有）、已使用（若有）的数据资源编目</a:t>
                      </a:r>
                    </a:p>
                  </a:txBody>
                  <a:tcPr marL="121920" marR="121920" marT="60960" marB="60960" anchor="ctr">
                    <a:solidFill>
                      <a:schemeClr val="bg1">
                        <a:lumMod val="95000"/>
                      </a:schemeClr>
                    </a:solidFill>
                  </a:tcPr>
                </a:tc>
                <a:extLst>
                  <a:ext uri="{0D108BD9-81ED-4DB2-BD59-A6C34878D82A}">
                    <a16:rowId xmlns:a16="http://schemas.microsoft.com/office/drawing/2014/main" val="10002"/>
                  </a:ext>
                </a:extLst>
              </a:tr>
              <a:tr h="586071">
                <a:tc>
                  <a:txBody>
                    <a:bodyPr/>
                    <a:lstStyle/>
                    <a:p>
                      <a:pPr algn="l">
                        <a:buNone/>
                      </a:pPr>
                      <a:r>
                        <a:rPr lang="zh-CN" altLang="en-US" sz="1600" dirty="0">
                          <a:solidFill>
                            <a:schemeClr val="tx1"/>
                          </a:solidFill>
                          <a:latin typeface="微软雅黑" panose="020B0503020204020204" pitchFamily="34" charset="-122"/>
                          <a:ea typeface="微软雅黑" panose="020B0503020204020204" pitchFamily="34" charset="-122"/>
                        </a:rPr>
                        <a:t>第二步：</a:t>
                      </a:r>
                      <a:endParaRPr lang="en-US" altLang="zh-CN" sz="1600" dirty="0">
                        <a:solidFill>
                          <a:schemeClr val="tx1"/>
                        </a:solidFill>
                        <a:latin typeface="微软雅黑" panose="020B0503020204020204" pitchFamily="34" charset="-122"/>
                        <a:ea typeface="微软雅黑" panose="020B0503020204020204" pitchFamily="34" charset="-122"/>
                      </a:endParaRPr>
                    </a:p>
                    <a:p>
                      <a:pPr algn="l">
                        <a:buNone/>
                      </a:pPr>
                      <a:r>
                        <a:rPr lang="zh-CN" altLang="en-US"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市大数据发展局初审</a:t>
                      </a:r>
                    </a:p>
                  </a:txBody>
                  <a:tcPr marL="121920" marR="121920" marT="60960" marB="60960">
                    <a:solidFill>
                      <a:schemeClr val="bg1">
                        <a:lumMod val="95000"/>
                      </a:schemeClr>
                    </a:solidFill>
                  </a:tcPr>
                </a:tc>
                <a:tc rowSpan="3">
                  <a:txBody>
                    <a:bodyPr/>
                    <a:lstStyle/>
                    <a:p>
                      <a:pPr algn="l">
                        <a:buNone/>
                      </a:pPr>
                      <a:endParaRPr lang="zh-CN" altLang="en-US" sz="1600" dirty="0">
                        <a:solidFill>
                          <a:schemeClr val="tx1"/>
                        </a:solidFill>
                        <a:latin typeface="微软雅黑" panose="020B0503020204020204" pitchFamily="34" charset="-122"/>
                        <a:ea typeface="微软雅黑" panose="020B0503020204020204" pitchFamily="34" charset="-122"/>
                        <a:sym typeface="方正仿宋_GBK" panose="02000000000000000000" charset="-122"/>
                      </a:endParaRPr>
                    </a:p>
                    <a:p>
                      <a:pPr algn="l">
                        <a:buNone/>
                      </a:pPr>
                      <a:endParaRPr lang="zh-CN" altLang="en-US" sz="1600" dirty="0">
                        <a:solidFill>
                          <a:schemeClr val="tx1"/>
                        </a:solidFill>
                        <a:latin typeface="微软雅黑" panose="020B0503020204020204" pitchFamily="34" charset="-122"/>
                        <a:ea typeface="微软雅黑" panose="020B0503020204020204" pitchFamily="34" charset="-122"/>
                        <a:sym typeface="方正仿宋_GBK" panose="02000000000000000000" charset="-122"/>
                      </a:endParaRPr>
                    </a:p>
                    <a:p>
                      <a:pPr algn="l">
                        <a:buNone/>
                      </a:pPr>
                      <a:endParaRPr lang="zh-CN" altLang="en-US" sz="1600" dirty="0">
                        <a:solidFill>
                          <a:schemeClr val="tx1"/>
                        </a:solidFill>
                        <a:latin typeface="微软雅黑" panose="020B0503020204020204" pitchFamily="34" charset="-122"/>
                        <a:ea typeface="微软雅黑" panose="020B0503020204020204" pitchFamily="34" charset="-122"/>
                        <a:sym typeface="方正仿宋_GBK" panose="02000000000000000000" charset="-122"/>
                      </a:endParaRPr>
                    </a:p>
                    <a:p>
                      <a:pPr algn="l">
                        <a:buNone/>
                      </a:pPr>
                      <a:endParaRPr lang="zh-CN" altLang="en-US" sz="1600" dirty="0">
                        <a:solidFill>
                          <a:schemeClr val="tx1"/>
                        </a:solidFill>
                        <a:latin typeface="微软雅黑" panose="020B0503020204020204" pitchFamily="34" charset="-122"/>
                        <a:ea typeface="微软雅黑" panose="020B0503020204020204" pitchFamily="34" charset="-122"/>
                        <a:sym typeface="方正仿宋_GBK" panose="02000000000000000000" charset="-122"/>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方正仿宋_GBK" panose="02000000000000000000" charset="-122"/>
                        </a:rPr>
                        <a:t>《重庆市政务数字化应用评审要点》</a:t>
                      </a:r>
                    </a:p>
                  </a:txBody>
                  <a:tcPr marL="121920" marR="121920" marT="60960" marB="60960">
                    <a:solidFill>
                      <a:schemeClr val="bg1">
                        <a:lumMod val="95000"/>
                      </a:schemeClr>
                    </a:solidFill>
                  </a:tcPr>
                </a:tc>
                <a:tc>
                  <a:txBody>
                    <a:bodyPr/>
                    <a:lstStyle/>
                    <a:p>
                      <a:pPr algn="l">
                        <a:buNone/>
                      </a:pPr>
                      <a:r>
                        <a:rPr lang="zh-CN" altLang="en-US" sz="1600" b="1" dirty="0">
                          <a:solidFill>
                            <a:srgbClr val="C00000"/>
                          </a:solidFill>
                          <a:latin typeface="微软雅黑" panose="020B0503020204020204" pitchFamily="34" charset="-122"/>
                          <a:ea typeface="微软雅黑" panose="020B0503020204020204" pitchFamily="34" charset="-122"/>
                          <a:sym typeface="+mn-ea"/>
                        </a:rPr>
                        <a:t>重点审核：</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rPr>
                        <a:t>数字资源编目结果</a:t>
                      </a:r>
                    </a:p>
                  </a:txBody>
                  <a:tcPr marL="121920" marR="121920" marT="60960" marB="60960">
                    <a:solidFill>
                      <a:schemeClr val="bg1">
                        <a:lumMod val="95000"/>
                      </a:schemeClr>
                    </a:solidFill>
                  </a:tcPr>
                </a:tc>
                <a:extLst>
                  <a:ext uri="{0D108BD9-81ED-4DB2-BD59-A6C34878D82A}">
                    <a16:rowId xmlns:a16="http://schemas.microsoft.com/office/drawing/2014/main" val="10003"/>
                  </a:ext>
                </a:extLst>
              </a:tr>
              <a:tr h="833085">
                <a:tc>
                  <a:txBody>
                    <a:bodyPr/>
                    <a:lstStyle/>
                    <a:p>
                      <a:pPr algn="l">
                        <a:buNone/>
                      </a:pP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第三步：</a:t>
                      </a:r>
                      <a:endParaRPr lang="en-US" altLang="zh-CN" sz="160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专家</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第三方评审机构评审</a:t>
                      </a:r>
                    </a:p>
                  </a:txBody>
                  <a:tcPr marL="121920" marR="121920" marT="60960" marB="60960">
                    <a:solidFill>
                      <a:schemeClr val="bg1">
                        <a:lumMod val="95000"/>
                      </a:schemeClr>
                    </a:solidFill>
                  </a:tcPr>
                </a:tc>
                <a:tc vMerge="1">
                  <a:txBody>
                    <a:bodyPr/>
                    <a:lstStyle/>
                    <a:p>
                      <a:endParaRPr lang="zh-CN"/>
                    </a:p>
                  </a:txBody>
                  <a:tcPr>
                    <a:solidFill>
                      <a:srgbClr val="005DA2"/>
                    </a:solidFill>
                  </a:tcPr>
                </a:tc>
                <a:tc>
                  <a:txBody>
                    <a:bodyPr/>
                    <a:lstStyle/>
                    <a:p>
                      <a:pPr algn="l">
                        <a:buNone/>
                      </a:pPr>
                      <a:r>
                        <a:rPr lang="zh-CN" altLang="en-US" sz="1600" b="1" dirty="0">
                          <a:solidFill>
                            <a:srgbClr val="C00000"/>
                          </a:solidFill>
                          <a:latin typeface="微软雅黑" panose="020B0503020204020204" pitchFamily="34" charset="-122"/>
                          <a:ea typeface="微软雅黑" panose="020B0503020204020204" pitchFamily="34" charset="-122"/>
                          <a:sym typeface="+mn-ea"/>
                        </a:rPr>
                        <a:t>重点审核：</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业务功能、技术方案和资金计划</a:t>
                      </a:r>
                    </a:p>
                  </a:txBody>
                  <a:tcPr marL="121920" marR="121920" marT="60960" marB="60960">
                    <a:solidFill>
                      <a:schemeClr val="bg1">
                        <a:lumMod val="95000"/>
                      </a:schemeClr>
                    </a:solidFill>
                  </a:tcPr>
                </a:tc>
                <a:extLst>
                  <a:ext uri="{0D108BD9-81ED-4DB2-BD59-A6C34878D82A}">
                    <a16:rowId xmlns:a16="http://schemas.microsoft.com/office/drawing/2014/main" val="10004"/>
                  </a:ext>
                </a:extLst>
              </a:tr>
              <a:tr h="1059588">
                <a:tc>
                  <a:txBody>
                    <a:bodyPr/>
                    <a:lstStyle/>
                    <a:p>
                      <a:pPr algn="l">
                        <a:buNone/>
                      </a:pP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第四步：</a:t>
                      </a:r>
                      <a:endParaRPr lang="en-US" altLang="zh-CN" sz="160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市大数据发展局会同三部门联合审查</a:t>
                      </a:r>
                    </a:p>
                  </a:txBody>
                  <a:tcPr marL="121920" marR="121920" marT="60960" marB="60960">
                    <a:solidFill>
                      <a:schemeClr val="bg1">
                        <a:lumMod val="95000"/>
                      </a:schemeClr>
                    </a:solidFill>
                  </a:tcPr>
                </a:tc>
                <a:tc vMerge="1">
                  <a:txBody>
                    <a:bodyPr/>
                    <a:lstStyle/>
                    <a:p>
                      <a:endParaRPr lang="zh-CN"/>
                    </a:p>
                  </a:txBody>
                  <a:tcPr>
                    <a:solidFill>
                      <a:srgbClr val="005DA2"/>
                    </a:solidFill>
                  </a:tcPr>
                </a:tc>
                <a:tc>
                  <a:txBody>
                    <a:bodyPr/>
                    <a:lstStyle/>
                    <a:p>
                      <a:pPr algn="l">
                        <a:buNone/>
                      </a:pPr>
                      <a:endParaRPr lang="zh-CN" altLang="en-US" sz="1600" dirty="0">
                        <a:solidFill>
                          <a:schemeClr val="tx1"/>
                        </a:solidFill>
                        <a:latin typeface="微软雅黑" panose="020B0503020204020204" pitchFamily="34" charset="-122"/>
                        <a:ea typeface="微软雅黑" panose="020B0503020204020204" pitchFamily="34" charset="-122"/>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rPr>
                        <a:t>按联合评审部门工作职责开展审核</a:t>
                      </a:r>
                    </a:p>
                  </a:txBody>
                  <a:tcPr marL="121920" marR="121920" marT="60960" marB="60960">
                    <a:solidFill>
                      <a:schemeClr val="bg1">
                        <a:lumMod val="9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89895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3.7 </a:t>
            </a:r>
            <a:r>
              <a:rPr kumimoji="1" lang="zh-CN" altLang="en-US" dirty="0"/>
              <a:t>应用运维方案</a:t>
            </a:r>
            <a:r>
              <a:rPr kumimoji="1" lang="en-US" altLang="zh-CN" dirty="0"/>
              <a:t>·</a:t>
            </a:r>
            <a:r>
              <a:rPr kumimoji="1" lang="zh-CN" altLang="en-US" dirty="0"/>
              <a:t>申报及审核</a:t>
            </a:r>
          </a:p>
        </p:txBody>
      </p:sp>
      <p:graphicFrame>
        <p:nvGraphicFramePr>
          <p:cNvPr id="6" name="表格 5">
            <a:extLst>
              <a:ext uri="{FF2B5EF4-FFF2-40B4-BE49-F238E27FC236}">
                <a16:creationId xmlns:a16="http://schemas.microsoft.com/office/drawing/2014/main" id="{402200F5-9078-710E-8647-6616BCE9D63C}"/>
              </a:ext>
            </a:extLst>
          </p:cNvPr>
          <p:cNvGraphicFramePr/>
          <p:nvPr>
            <p:custDataLst>
              <p:tags r:id="rId1"/>
            </p:custDataLst>
            <p:extLst>
              <p:ext uri="{D42A27DB-BD31-4B8C-83A1-F6EECF244321}">
                <p14:modId xmlns:p14="http://schemas.microsoft.com/office/powerpoint/2010/main" val="3264120696"/>
              </p:ext>
            </p:extLst>
          </p:nvPr>
        </p:nvGraphicFramePr>
        <p:xfrm>
          <a:off x="636608" y="1702627"/>
          <a:ext cx="10903351" cy="4663440"/>
        </p:xfrm>
        <a:graphic>
          <a:graphicData uri="http://schemas.openxmlformats.org/drawingml/2006/table">
            <a:tbl>
              <a:tblPr firstRow="1" bandRow="1">
                <a:tableStyleId>{5C22544A-7EE6-4342-B048-85BDC9FD1C3A}</a:tableStyleId>
              </a:tblPr>
              <a:tblGrid>
                <a:gridCol w="3819645">
                  <a:extLst>
                    <a:ext uri="{9D8B030D-6E8A-4147-A177-3AD203B41FA5}">
                      <a16:colId xmlns:a16="http://schemas.microsoft.com/office/drawing/2014/main" val="20000"/>
                    </a:ext>
                  </a:extLst>
                </a:gridCol>
                <a:gridCol w="3345084">
                  <a:extLst>
                    <a:ext uri="{9D8B030D-6E8A-4147-A177-3AD203B41FA5}">
                      <a16:colId xmlns:a16="http://schemas.microsoft.com/office/drawing/2014/main" val="20001"/>
                    </a:ext>
                  </a:extLst>
                </a:gridCol>
                <a:gridCol w="3738622">
                  <a:extLst>
                    <a:ext uri="{9D8B030D-6E8A-4147-A177-3AD203B41FA5}">
                      <a16:colId xmlns:a16="http://schemas.microsoft.com/office/drawing/2014/main" val="20002"/>
                    </a:ext>
                  </a:extLst>
                </a:gridCol>
              </a:tblGrid>
              <a:tr h="346084">
                <a:tc>
                  <a:txBody>
                    <a:bodyPr/>
                    <a:lstStyle/>
                    <a:p>
                      <a:pPr algn="ctr">
                        <a:buNone/>
                      </a:pPr>
                      <a:r>
                        <a:rPr lang="zh-CN" altLang="en-US" sz="1800" dirty="0">
                          <a:solidFill>
                            <a:schemeClr val="bg1"/>
                          </a:solidFill>
                          <a:latin typeface="微软雅黑" panose="020B0503020204020204" pitchFamily="34" charset="-122"/>
                          <a:ea typeface="微软雅黑" panose="020B0503020204020204" pitchFamily="34" charset="-122"/>
                          <a:sym typeface="+mn-ea"/>
                        </a:rPr>
                        <a:t>流程</a:t>
                      </a:r>
                    </a:p>
                  </a:txBody>
                  <a:tcPr marL="121920" marR="121920" marT="60960" marB="60960" anchor="ctr">
                    <a:solidFill>
                      <a:srgbClr val="0070C0"/>
                    </a:solidFill>
                  </a:tcPr>
                </a:tc>
                <a:tc>
                  <a:txBody>
                    <a:bodyPr/>
                    <a:lstStyle/>
                    <a:p>
                      <a:pPr algn="ctr">
                        <a:buNone/>
                      </a:pPr>
                      <a:r>
                        <a:rPr lang="zh-CN" altLang="en-US" sz="1800" dirty="0">
                          <a:latin typeface="微软雅黑" panose="020B0503020204020204" pitchFamily="34" charset="-122"/>
                          <a:ea typeface="微软雅黑" panose="020B0503020204020204" pitchFamily="34" charset="-122"/>
                        </a:rPr>
                        <a:t>申报材料</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参考模板</a:t>
                      </a:r>
                    </a:p>
                  </a:txBody>
                  <a:tcPr marL="121920" marR="121920" marT="60960" marB="60960" anchor="ctr">
                    <a:solidFill>
                      <a:srgbClr val="0070C0"/>
                    </a:solidFill>
                  </a:tcPr>
                </a:tc>
                <a:tc>
                  <a:txBody>
                    <a:bodyPr/>
                    <a:lstStyle/>
                    <a:p>
                      <a:pPr algn="ctr">
                        <a:buNone/>
                      </a:pPr>
                      <a:r>
                        <a:rPr lang="zh-CN" altLang="en-US" sz="1800" dirty="0">
                          <a:latin typeface="微软雅黑" panose="020B0503020204020204" pitchFamily="34" charset="-122"/>
                          <a:ea typeface="微软雅黑" panose="020B0503020204020204" pitchFamily="34" charset="-122"/>
                        </a:rPr>
                        <a:t>主要内容</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审核要点</a:t>
                      </a:r>
                    </a:p>
                  </a:txBody>
                  <a:tcPr marL="121920" marR="121920" marT="60960" marB="60960" anchor="ctr">
                    <a:solidFill>
                      <a:srgbClr val="0070C0"/>
                    </a:solidFill>
                  </a:tcPr>
                </a:tc>
                <a:extLst>
                  <a:ext uri="{0D108BD9-81ED-4DB2-BD59-A6C34878D82A}">
                    <a16:rowId xmlns:a16="http://schemas.microsoft.com/office/drawing/2014/main" val="10000"/>
                  </a:ext>
                </a:extLst>
              </a:tr>
              <a:tr h="1171360">
                <a:tc>
                  <a:txBody>
                    <a:bodyPr/>
                    <a:lstStyle/>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第一步：</a:t>
                      </a:r>
                      <a:endParaRPr lang="en-US" altLang="zh-CN" sz="160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应用责任部门编制应用运维方案</a:t>
                      </a:r>
                    </a:p>
                  </a:txBody>
                  <a:tcPr marL="121920" marR="121920" marT="60960" marB="60960" anchor="ctr">
                    <a:solidFill>
                      <a:schemeClr val="bg1">
                        <a:lumMod val="95000"/>
                      </a:schemeClr>
                    </a:solidFill>
                  </a:tcPr>
                </a:tc>
                <a:tc>
                  <a:txBody>
                    <a:bodyPr/>
                    <a:lstStyle/>
                    <a:p>
                      <a:pPr algn="l">
                        <a:buNone/>
                      </a:pPr>
                      <a:r>
                        <a:rPr lang="en-US" altLang="zh-CN" sz="1600" dirty="0">
                          <a:solidFill>
                            <a:schemeClr val="tx1"/>
                          </a:solidFill>
                          <a:latin typeface="微软雅黑" panose="020B0503020204020204" pitchFamily="34" charset="-122"/>
                          <a:ea typeface="微软雅黑" panose="020B0503020204020204" pitchFamily="34" charset="-122"/>
                        </a:rPr>
                        <a:t>1.</a:t>
                      </a:r>
                      <a:r>
                        <a:rPr lang="zh-CN" altLang="en-US" sz="1600" dirty="0">
                          <a:solidFill>
                            <a:schemeClr val="tx1"/>
                          </a:solidFill>
                          <a:latin typeface="微软雅黑" panose="020B0503020204020204" pitchFamily="34" charset="-122"/>
                          <a:ea typeface="微软雅黑" panose="020B0503020204020204" pitchFamily="34" charset="-122"/>
                          <a:sym typeface="+mn-ea"/>
                        </a:rPr>
                        <a:t>应用运维申请的正式公文函件</a:t>
                      </a: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2.</a:t>
                      </a:r>
                      <a:r>
                        <a:rPr lang="zh-CN" altLang="en-US" sz="1600" dirty="0">
                          <a:solidFill>
                            <a:schemeClr val="tx1"/>
                          </a:solidFill>
                          <a:latin typeface="微软雅黑" panose="020B0503020204020204" pitchFamily="34" charset="-122"/>
                          <a:ea typeface="微软雅黑" panose="020B0503020204020204" pitchFamily="34" charset="-122"/>
                        </a:rPr>
                        <a:t>《重庆市政务数字化应用运维方案（模板）》</a:t>
                      </a: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3.其他需要补充说明的材料（论证资料、集中审议的会议纪要等）</a:t>
                      </a:r>
                    </a:p>
                  </a:txBody>
                  <a:tcPr marL="121920" marR="121920" marT="60960" marB="60960" anchor="ctr">
                    <a:solidFill>
                      <a:schemeClr val="bg1">
                        <a:lumMod val="95000"/>
                      </a:schemeClr>
                    </a:solidFill>
                  </a:tcPr>
                </a:tc>
                <a:tc>
                  <a:txBody>
                    <a:bodyPr/>
                    <a:lstStyle/>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更新数字资源编目</a:t>
                      </a:r>
                      <a:endParaRPr lang="zh-CN" altLang="en-US" sz="1600" dirty="0">
                        <a:solidFill>
                          <a:schemeClr val="tx1"/>
                        </a:solidFill>
                        <a:latin typeface="微软雅黑" panose="020B0503020204020204" pitchFamily="34" charset="-122"/>
                        <a:ea typeface="微软雅黑" panose="020B0503020204020204" pitchFamily="34" charset="-122"/>
                      </a:endParaRPr>
                    </a:p>
                  </a:txBody>
                  <a:tcPr marL="121920" marR="121920" marT="60960" marB="60960" anchor="ctr">
                    <a:solidFill>
                      <a:schemeClr val="bg1">
                        <a:lumMod val="95000"/>
                      </a:schemeClr>
                    </a:solidFill>
                  </a:tcPr>
                </a:tc>
                <a:extLst>
                  <a:ext uri="{0D108BD9-81ED-4DB2-BD59-A6C34878D82A}">
                    <a16:rowId xmlns:a16="http://schemas.microsoft.com/office/drawing/2014/main" val="10001"/>
                  </a:ext>
                </a:extLst>
              </a:tr>
              <a:tr h="745411">
                <a:tc>
                  <a:txBody>
                    <a:bodyPr/>
                    <a:lstStyle/>
                    <a:p>
                      <a:pPr algn="l">
                        <a:buNone/>
                      </a:pPr>
                      <a:r>
                        <a:rPr lang="zh-CN" altLang="en-US"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第二步：</a:t>
                      </a:r>
                      <a:endParaRPr lang="en-US" altLang="zh-CN"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a:p>
                      <a:pPr algn="l">
                        <a:buNone/>
                      </a:pPr>
                      <a:r>
                        <a:rPr lang="zh-CN" altLang="en-US"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应用牵头部门初审</a:t>
                      </a:r>
                    </a:p>
                  </a:txBody>
                  <a:tcPr marL="121920" marR="121920" marT="60960" marB="60960" anchor="ctr">
                    <a:solidFill>
                      <a:schemeClr val="bg1">
                        <a:lumMod val="95000"/>
                      </a:schemeClr>
                    </a:solidFill>
                  </a:tcPr>
                </a:tc>
                <a:tc>
                  <a:txBody>
                    <a:bodyPr/>
                    <a:lstStyle/>
                    <a:p>
                      <a:pPr algn="ctr">
                        <a:buNone/>
                      </a:pPr>
                      <a:r>
                        <a:rPr lang="en-US" altLang="zh-CN" sz="1600" dirty="0">
                          <a:solidFill>
                            <a:schemeClr val="tx1"/>
                          </a:solidFill>
                          <a:latin typeface="微软雅黑" panose="020B0503020204020204" pitchFamily="34" charset="-122"/>
                          <a:ea typeface="微软雅黑" panose="020B0503020204020204" pitchFamily="34" charset="-122"/>
                          <a:sym typeface="+mn-ea"/>
                        </a:rPr>
                        <a:t>——</a:t>
                      </a:r>
                      <a:endParaRPr lang="en-US" altLang="zh-CN" sz="1600" dirty="0">
                        <a:solidFill>
                          <a:schemeClr val="tx1"/>
                        </a:solidFill>
                        <a:latin typeface="微软雅黑" panose="020B0503020204020204" pitchFamily="34" charset="-122"/>
                        <a:ea typeface="微软雅黑" panose="020B0503020204020204" pitchFamily="34" charset="-122"/>
                      </a:endParaRPr>
                    </a:p>
                  </a:txBody>
                  <a:tcPr marL="121920" marR="121920" marT="60960" marB="60960" anchor="ctr">
                    <a:solidFill>
                      <a:schemeClr val="bg1">
                        <a:lumMod val="95000"/>
                      </a:schemeClr>
                    </a:solidFill>
                  </a:tcPr>
                </a:tc>
                <a:tc>
                  <a:txBody>
                    <a:bodyPr/>
                    <a:lstStyle/>
                    <a:p>
                      <a:pPr algn="l">
                        <a:buNone/>
                      </a:pPr>
                      <a:r>
                        <a:rPr lang="zh-CN" altLang="en-US" sz="1600" b="1" dirty="0">
                          <a:solidFill>
                            <a:srgbClr val="C00000"/>
                          </a:solidFill>
                          <a:latin typeface="微软雅黑" panose="020B0503020204020204" pitchFamily="34" charset="-122"/>
                          <a:ea typeface="微软雅黑" panose="020B0503020204020204" pitchFamily="34" charset="-122"/>
                          <a:sym typeface="+mn-ea"/>
                        </a:rPr>
                        <a:t>重点审核：</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是否符合数字重庆建设有关要求</a:t>
                      </a: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是否符合“六大应用系统”相关要求</a:t>
                      </a:r>
                    </a:p>
                  </a:txBody>
                  <a:tcPr marL="121920" marR="121920" marT="60960" marB="60960" anchor="ctr">
                    <a:solidFill>
                      <a:schemeClr val="bg1">
                        <a:lumMod val="95000"/>
                      </a:schemeClr>
                    </a:solidFill>
                  </a:tcPr>
                </a:tc>
                <a:extLst>
                  <a:ext uri="{0D108BD9-81ED-4DB2-BD59-A6C34878D82A}">
                    <a16:rowId xmlns:a16="http://schemas.microsoft.com/office/drawing/2014/main" val="10002"/>
                  </a:ext>
                </a:extLst>
              </a:tr>
              <a:tr h="745411">
                <a:tc>
                  <a:txBody>
                    <a:bodyPr/>
                    <a:lstStyle/>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第三步：</a:t>
                      </a:r>
                      <a:r>
                        <a:rPr lang="en-US" altLang="zh-CN" sz="1600" dirty="0">
                          <a:solidFill>
                            <a:schemeClr val="tx1"/>
                          </a:solidFill>
                          <a:latin typeface="微软雅黑" panose="020B0503020204020204" pitchFamily="34" charset="-122"/>
                          <a:ea typeface="微软雅黑" panose="020B0503020204020204" pitchFamily="34" charset="-122"/>
                          <a:sym typeface="+mn-ea"/>
                        </a:rPr>
                        <a:t> </a:t>
                      </a: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市大数据发展局审核</a:t>
                      </a:r>
                    </a:p>
                  </a:txBody>
                  <a:tcPr marL="121920" marR="121920" marT="60960" marB="60960" anchor="ctr">
                    <a:solidFill>
                      <a:schemeClr val="bg1">
                        <a:lumMod val="95000"/>
                      </a:schemeClr>
                    </a:solidFill>
                  </a:tcPr>
                </a:tc>
                <a:tc rowSpan="3">
                  <a:txBody>
                    <a:bodyPr/>
                    <a:lstStyle/>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方正仿宋_GBK" panose="02000000000000000000" charset="-122"/>
                        </a:rPr>
                        <a:t>《重庆市政务数字化应用评审要点》</a:t>
                      </a:r>
                    </a:p>
                  </a:txBody>
                  <a:tcPr marL="121920" marR="121920" marT="60960" marB="60960" anchor="ctr">
                    <a:solidFill>
                      <a:schemeClr val="bg1">
                        <a:lumMod val="95000"/>
                      </a:schemeClr>
                    </a:solidFill>
                  </a:tcPr>
                </a:tc>
                <a:tc>
                  <a:txBody>
                    <a:bodyPr/>
                    <a:lstStyle/>
                    <a:p>
                      <a:pPr algn="l">
                        <a:buNone/>
                      </a:pPr>
                      <a:r>
                        <a:rPr lang="zh-CN" altLang="en-US" sz="1600" b="1" dirty="0">
                          <a:solidFill>
                            <a:srgbClr val="C00000"/>
                          </a:solidFill>
                          <a:latin typeface="微软雅黑" panose="020B0503020204020204" pitchFamily="34" charset="-122"/>
                          <a:ea typeface="微软雅黑" panose="020B0503020204020204" pitchFamily="34" charset="-122"/>
                          <a:sym typeface="+mn-ea"/>
                        </a:rPr>
                        <a:t>重点审核：</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数字资源编目更新情况</a:t>
                      </a: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资金计划的规范性、合理性</a:t>
                      </a:r>
                    </a:p>
                  </a:txBody>
                  <a:tcPr marL="121920" marR="121920" marT="60960" marB="60960" anchor="ctr">
                    <a:solidFill>
                      <a:schemeClr val="bg1">
                        <a:lumMod val="95000"/>
                      </a:schemeClr>
                    </a:solidFill>
                  </a:tcPr>
                </a:tc>
                <a:extLst>
                  <a:ext uri="{0D108BD9-81ED-4DB2-BD59-A6C34878D82A}">
                    <a16:rowId xmlns:a16="http://schemas.microsoft.com/office/drawing/2014/main" val="10003"/>
                  </a:ext>
                </a:extLst>
              </a:tr>
              <a:tr h="532436">
                <a:tc>
                  <a:txBody>
                    <a:bodyPr/>
                    <a:lstStyle/>
                    <a:p>
                      <a:pPr algn="l">
                        <a:buNone/>
                      </a:pPr>
                      <a:r>
                        <a:rPr lang="zh-CN" altLang="en-US"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第四步：</a:t>
                      </a:r>
                      <a:endParaRPr lang="en-US" altLang="zh-CN"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专家</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第三方评审机构评审</a:t>
                      </a:r>
                    </a:p>
                  </a:txBody>
                  <a:tcPr marL="121920" marR="121920" marT="60960" marB="60960" anchor="ctr">
                    <a:solidFill>
                      <a:schemeClr val="bg1">
                        <a:lumMod val="95000"/>
                      </a:schemeClr>
                    </a:solidFill>
                  </a:tcPr>
                </a:tc>
                <a:tc vMerge="1">
                  <a:txBody>
                    <a:bodyPr/>
                    <a:lstStyle/>
                    <a:p>
                      <a:endParaRPr lang="zh-CN"/>
                    </a:p>
                  </a:txBody>
                  <a:tcPr/>
                </a:tc>
                <a:tc>
                  <a:txBody>
                    <a:bodyPr/>
                    <a:lstStyle/>
                    <a:p>
                      <a:pPr algn="l">
                        <a:buNone/>
                      </a:pPr>
                      <a:r>
                        <a:rPr lang="zh-CN" altLang="en-US" sz="1600" b="1" dirty="0">
                          <a:solidFill>
                            <a:srgbClr val="C00000"/>
                          </a:solidFill>
                          <a:latin typeface="微软雅黑" panose="020B0503020204020204" pitchFamily="34" charset="-122"/>
                          <a:ea typeface="微软雅黑" panose="020B0503020204020204" pitchFamily="34" charset="-122"/>
                          <a:sym typeface="+mn-ea"/>
                        </a:rPr>
                        <a:t>重点审核：</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业务功能、技术方案和资金计划</a:t>
                      </a:r>
                      <a:endParaRPr lang="zh-CN" altLang="en-US" sz="1600" dirty="0">
                        <a:solidFill>
                          <a:schemeClr val="tx1"/>
                        </a:solidFill>
                        <a:latin typeface="微软雅黑" panose="020B0503020204020204" pitchFamily="34" charset="-122"/>
                        <a:ea typeface="微软雅黑" panose="020B0503020204020204" pitchFamily="34" charset="-122"/>
                      </a:endParaRPr>
                    </a:p>
                  </a:txBody>
                  <a:tcPr marL="121920" marR="121920" marT="60960" marB="60960" anchor="ctr">
                    <a:solidFill>
                      <a:schemeClr val="bg1">
                        <a:lumMod val="95000"/>
                      </a:schemeClr>
                    </a:solidFill>
                  </a:tcPr>
                </a:tc>
                <a:extLst>
                  <a:ext uri="{0D108BD9-81ED-4DB2-BD59-A6C34878D82A}">
                    <a16:rowId xmlns:a16="http://schemas.microsoft.com/office/drawing/2014/main" val="10004"/>
                  </a:ext>
                </a:extLst>
              </a:tr>
              <a:tr h="532436">
                <a:tc>
                  <a:txBody>
                    <a:bodyPr/>
                    <a:lstStyle/>
                    <a:p>
                      <a:pPr algn="l">
                        <a:buNone/>
                      </a:pPr>
                      <a:r>
                        <a:rPr lang="zh-CN" altLang="en-US"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第五步：</a:t>
                      </a:r>
                      <a:endParaRPr lang="en-US" altLang="zh-CN"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a:p>
                      <a:pPr algn="l">
                        <a:buNone/>
                      </a:pPr>
                      <a:r>
                        <a:rPr lang="zh-CN" altLang="en-US" sz="160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市大数据发展局会同三部门联合审查</a:t>
                      </a:r>
                    </a:p>
                  </a:txBody>
                  <a:tcPr marL="121920" marR="121920" marT="60960" marB="60960" anchor="ctr">
                    <a:solidFill>
                      <a:schemeClr val="bg1">
                        <a:lumMod val="95000"/>
                      </a:schemeClr>
                    </a:solidFill>
                  </a:tcPr>
                </a:tc>
                <a:tc vMerge="1">
                  <a:txBody>
                    <a:bodyPr/>
                    <a:lstStyle/>
                    <a:p>
                      <a:endParaRPr lang="zh-CN"/>
                    </a:p>
                  </a:txBody>
                  <a:tcPr/>
                </a:tc>
                <a:tc>
                  <a:txBody>
                    <a:bodyPr/>
                    <a:lstStyle/>
                    <a:p>
                      <a:pPr algn="l">
                        <a:buNone/>
                      </a:pPr>
                      <a:r>
                        <a:rPr lang="zh-CN" altLang="en-US" sz="1600" dirty="0">
                          <a:solidFill>
                            <a:schemeClr val="tx1"/>
                          </a:solidFill>
                          <a:latin typeface="微软雅黑" panose="020B0503020204020204" pitchFamily="34" charset="-122"/>
                          <a:ea typeface="微软雅黑" panose="020B0503020204020204" pitchFamily="34" charset="-122"/>
                          <a:sym typeface="+mn-ea"/>
                        </a:rPr>
                        <a:t>按联合评审部门工作职责开展审核</a:t>
                      </a:r>
                      <a:endParaRPr lang="zh-CN" altLang="en-US" sz="1600" dirty="0">
                        <a:solidFill>
                          <a:schemeClr val="tx1"/>
                        </a:solidFill>
                        <a:latin typeface="微软雅黑" panose="020B0503020204020204" pitchFamily="34" charset="-122"/>
                        <a:ea typeface="微软雅黑" panose="020B0503020204020204" pitchFamily="34" charset="-122"/>
                      </a:endParaRPr>
                    </a:p>
                  </a:txBody>
                  <a:tcPr marL="121920" marR="121920" marT="60960" marB="60960" anchor="ctr">
                    <a:solidFill>
                      <a:schemeClr val="bg1">
                        <a:lumMod val="9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26570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3.8 </a:t>
            </a:r>
            <a:r>
              <a:rPr kumimoji="1" lang="zh-CN" altLang="en-US" dirty="0"/>
              <a:t>涉及中央资金的应用申报及审核</a:t>
            </a:r>
          </a:p>
        </p:txBody>
      </p:sp>
      <p:sp>
        <p:nvSpPr>
          <p:cNvPr id="3" name="文本框 2">
            <a:extLst>
              <a:ext uri="{FF2B5EF4-FFF2-40B4-BE49-F238E27FC236}">
                <a16:creationId xmlns:a16="http://schemas.microsoft.com/office/drawing/2014/main" id="{80C1C502-485B-157F-708B-46CC313B99D5}"/>
              </a:ext>
            </a:extLst>
          </p:cNvPr>
          <p:cNvSpPr txBox="1"/>
          <p:nvPr>
            <p:custDataLst>
              <p:tags r:id="rId1"/>
            </p:custDataLst>
          </p:nvPr>
        </p:nvSpPr>
        <p:spPr>
          <a:xfrm>
            <a:off x="1632373" y="2254897"/>
            <a:ext cx="9337040" cy="1739053"/>
          </a:xfrm>
          <a:prstGeom prst="roundRect">
            <a:avLst>
              <a:gd name="adj" fmla="val 6043"/>
            </a:avLst>
          </a:prstGeom>
          <a:solidFill>
            <a:srgbClr val="FFFFFF"/>
          </a:solidFill>
          <a:ln w="6350">
            <a:solidFill>
              <a:srgbClr val="DDF0FF">
                <a:lumMod val="50000"/>
              </a:srgbClr>
            </a:solidFill>
          </a:ln>
          <a:effectLst>
            <a:outerShdw blurRad="50800" dist="38100" dir="2700000" algn="tl" rotWithShape="0">
              <a:prstClr val="black">
                <a:alpha val="15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2639906" tIns="62653" rIns="0" bIns="62653" numCol="1" spcCol="1270" anchor="ctr" anchorCtr="0">
            <a:noAutofit/>
          </a:bodyPr>
          <a:lstStyle>
            <a:defPPr>
              <a:defRPr lang="en-US"/>
            </a:defPPr>
            <a:lvl1pPr algn="ctr" defTabSz="644525">
              <a:spcBef>
                <a:spcPct val="0"/>
              </a:spcBef>
              <a:defRPr sz="1050" b="1">
                <a:solidFill>
                  <a:srgbClr val="12448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pPr marL="0" indent="21590" algn="l">
              <a:lnSpc>
                <a:spcPct val="110000"/>
              </a:lnSpc>
              <a:buFont typeface="Wingdings" panose="05000000000000000000" charset="0"/>
              <a:buChar char="l"/>
            </a:pPr>
            <a:endParaRPr lang="zh-CN" altLang="en-US" sz="2665" dirty="0">
              <a:latin typeface="方正黑体_GBK" panose="02000000000000000000" charset="-122"/>
              <a:ea typeface="方正黑体_GBK" panose="02000000000000000000" charset="-122"/>
              <a:cs typeface="微软雅黑" panose="020B0503020204020204" pitchFamily="34" charset="-122"/>
              <a:sym typeface="Times New Roman" panose="02020603050405020304" pitchFamily="18" charset="0"/>
            </a:endParaRPr>
          </a:p>
        </p:txBody>
      </p:sp>
      <p:sp>
        <p:nvSpPr>
          <p:cNvPr id="4" name="文本框 3">
            <a:extLst>
              <a:ext uri="{FF2B5EF4-FFF2-40B4-BE49-F238E27FC236}">
                <a16:creationId xmlns:a16="http://schemas.microsoft.com/office/drawing/2014/main" id="{86611798-14FA-FB5A-84E4-AA18033671F4}"/>
              </a:ext>
            </a:extLst>
          </p:cNvPr>
          <p:cNvSpPr txBox="1"/>
          <p:nvPr>
            <p:custDataLst>
              <p:tags r:id="rId2"/>
            </p:custDataLst>
          </p:nvPr>
        </p:nvSpPr>
        <p:spPr>
          <a:xfrm>
            <a:off x="1631527" y="2240504"/>
            <a:ext cx="1790700" cy="1753447"/>
          </a:xfrm>
          <a:prstGeom prst="roundRect">
            <a:avLst>
              <a:gd name="adj" fmla="val 6043"/>
            </a:avLst>
          </a:prstGeom>
          <a:solidFill>
            <a:srgbClr val="1D6DC2"/>
          </a:solidFill>
          <a:ln w="19050">
            <a:solidFill>
              <a:srgbClr val="FFFFFF"/>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0" tIns="0" rIns="0" bIns="0" numCol="1" spcCol="1270" anchor="ctr" anchorCtr="0">
            <a:noAutofit/>
          </a:bodyPr>
          <a:lstStyle>
            <a:defPPr>
              <a:defRPr lang="en-US"/>
            </a:defPPr>
            <a:lvl1pPr algn="ctr" defTabSz="644525">
              <a:spcBef>
                <a:spcPct val="0"/>
              </a:spcBef>
              <a:defRPr sz="900" b="1">
                <a:solidFill>
                  <a:srgbClr val="00000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en-US" altLang="zh-CN" sz="37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01</a:t>
            </a:r>
          </a:p>
        </p:txBody>
      </p:sp>
      <p:sp>
        <p:nvSpPr>
          <p:cNvPr id="5" name="文本框 4">
            <a:extLst>
              <a:ext uri="{FF2B5EF4-FFF2-40B4-BE49-F238E27FC236}">
                <a16:creationId xmlns:a16="http://schemas.microsoft.com/office/drawing/2014/main" id="{2C577D19-52C8-61FC-83B3-B2C6FBE98D61}"/>
              </a:ext>
            </a:extLst>
          </p:cNvPr>
          <p:cNvSpPr txBox="1"/>
          <p:nvPr/>
        </p:nvSpPr>
        <p:spPr>
          <a:xfrm>
            <a:off x="3649980" y="2499531"/>
            <a:ext cx="7172113" cy="1626447"/>
          </a:xfrm>
          <a:prstGeom prst="rect">
            <a:avLst/>
          </a:prstGeom>
        </p:spPr>
        <p:txBody>
          <a:bodyPr wrap="square">
            <a:noAutofit/>
          </a:bodyPr>
          <a:lstStyle/>
          <a:p>
            <a:pPr algn="l">
              <a:lnSpc>
                <a:spcPct val="130000"/>
              </a:lnSpc>
            </a:pPr>
            <a:r>
              <a:rPr lang="zh-CN" altLang="en-US" sz="2000" dirty="0">
                <a:latin typeface="Arial" panose="020B0604020202020204" pitchFamily="34" charset="0"/>
                <a:ea typeface="微软雅黑" panose="020B0503020204020204" pitchFamily="34" charset="-122"/>
                <a:sym typeface="+mn-ea"/>
              </a:rPr>
              <a:t>对国家有关部委组织我市申报或者需要市级财政资金配套投入的应用，应用责任部门在</a:t>
            </a:r>
            <a:r>
              <a:rPr lang="zh-CN" altLang="en-US" sz="2000" b="1" dirty="0">
                <a:solidFill>
                  <a:srgbClr val="C00000"/>
                </a:solidFill>
                <a:latin typeface="Arial" panose="020B0604020202020204" pitchFamily="34" charset="0"/>
                <a:ea typeface="微软雅黑" panose="020B0503020204020204" pitchFamily="34" charset="-122"/>
                <a:sym typeface="+mn-ea"/>
              </a:rPr>
              <a:t>申报前</a:t>
            </a:r>
            <a:r>
              <a:rPr lang="zh-CN" altLang="en-US" sz="2000" dirty="0">
                <a:latin typeface="Arial" panose="020B0604020202020204" pitchFamily="34" charset="0"/>
                <a:ea typeface="微软雅黑" panose="020B0503020204020204" pitchFamily="34" charset="-122"/>
                <a:sym typeface="+mn-ea"/>
              </a:rPr>
              <a:t>，须将申报材料报市大数据发展局</a:t>
            </a:r>
            <a:r>
              <a:rPr lang="zh-CN" altLang="en-US" sz="2000" b="1" dirty="0">
                <a:solidFill>
                  <a:srgbClr val="C00000"/>
                </a:solidFill>
                <a:latin typeface="Arial" panose="020B0604020202020204" pitchFamily="34" charset="0"/>
                <a:ea typeface="微软雅黑" panose="020B0503020204020204" pitchFamily="34" charset="-122"/>
                <a:sym typeface="+mn-ea"/>
              </a:rPr>
              <a:t>初审</a:t>
            </a:r>
            <a:r>
              <a:rPr lang="zh-CN" altLang="en-US" sz="2000" dirty="0">
                <a:latin typeface="Arial" panose="020B0604020202020204" pitchFamily="34" charset="0"/>
                <a:ea typeface="微软雅黑" panose="020B0503020204020204" pitchFamily="34" charset="-122"/>
                <a:sym typeface="+mn-ea"/>
              </a:rPr>
              <a:t>。</a:t>
            </a:r>
            <a:endParaRPr lang="en-US" altLang="zh-CN" sz="2000" dirty="0">
              <a:latin typeface="Arial" panose="020B0604020202020204" pitchFamily="34" charset="0"/>
              <a:ea typeface="微软雅黑" panose="020B0503020204020204" pitchFamily="34" charset="-122"/>
            </a:endParaRPr>
          </a:p>
        </p:txBody>
      </p:sp>
      <p:sp>
        <p:nvSpPr>
          <p:cNvPr id="7" name="文本框 6">
            <a:extLst>
              <a:ext uri="{FF2B5EF4-FFF2-40B4-BE49-F238E27FC236}">
                <a16:creationId xmlns:a16="http://schemas.microsoft.com/office/drawing/2014/main" id="{DAF0CA5A-BFCA-004A-7719-8EB3C98C1F56}"/>
              </a:ext>
            </a:extLst>
          </p:cNvPr>
          <p:cNvSpPr txBox="1"/>
          <p:nvPr>
            <p:custDataLst>
              <p:tags r:id="rId3"/>
            </p:custDataLst>
          </p:nvPr>
        </p:nvSpPr>
        <p:spPr>
          <a:xfrm>
            <a:off x="1649307" y="4239631"/>
            <a:ext cx="9337040" cy="1739053"/>
          </a:xfrm>
          <a:prstGeom prst="roundRect">
            <a:avLst>
              <a:gd name="adj" fmla="val 6043"/>
            </a:avLst>
          </a:prstGeom>
          <a:solidFill>
            <a:srgbClr val="FFFFFF"/>
          </a:solidFill>
          <a:ln w="6350">
            <a:solidFill>
              <a:srgbClr val="DDF0FF">
                <a:lumMod val="50000"/>
              </a:srgbClr>
            </a:solidFill>
          </a:ln>
          <a:effectLst>
            <a:outerShdw blurRad="50800" dist="38100" dir="2700000" algn="tl" rotWithShape="0">
              <a:prstClr val="black">
                <a:alpha val="15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2639906" tIns="62653" rIns="0" bIns="62653" numCol="1" spcCol="1270" anchor="ctr" anchorCtr="0">
            <a:noAutofit/>
          </a:bodyPr>
          <a:lstStyle>
            <a:defPPr>
              <a:defRPr lang="en-US"/>
            </a:defPPr>
            <a:lvl1pPr algn="ctr" defTabSz="644525">
              <a:spcBef>
                <a:spcPct val="0"/>
              </a:spcBef>
              <a:defRPr sz="1050" b="1">
                <a:solidFill>
                  <a:srgbClr val="12448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pPr marL="0" indent="21590" algn="l">
              <a:lnSpc>
                <a:spcPct val="110000"/>
              </a:lnSpc>
              <a:buFont typeface="Wingdings" panose="05000000000000000000" charset="0"/>
              <a:buChar char="l"/>
            </a:pPr>
            <a:endParaRPr lang="zh-CN" altLang="en-US" sz="2665" dirty="0">
              <a:latin typeface="方正黑体_GBK" panose="02000000000000000000" charset="-122"/>
              <a:ea typeface="方正黑体_GBK" panose="02000000000000000000" charset="-122"/>
              <a:cs typeface="微软雅黑" panose="020B0503020204020204" pitchFamily="34" charset="-122"/>
              <a:sym typeface="Times New Roman" panose="02020603050405020304" pitchFamily="18" charset="0"/>
            </a:endParaRPr>
          </a:p>
        </p:txBody>
      </p:sp>
      <p:sp>
        <p:nvSpPr>
          <p:cNvPr id="8" name="文本框 7">
            <a:extLst>
              <a:ext uri="{FF2B5EF4-FFF2-40B4-BE49-F238E27FC236}">
                <a16:creationId xmlns:a16="http://schemas.microsoft.com/office/drawing/2014/main" id="{0A552EFD-61A9-3A0A-C56F-47C4555E1CF7}"/>
              </a:ext>
            </a:extLst>
          </p:cNvPr>
          <p:cNvSpPr txBox="1"/>
          <p:nvPr>
            <p:custDataLst>
              <p:tags r:id="rId4"/>
            </p:custDataLst>
          </p:nvPr>
        </p:nvSpPr>
        <p:spPr>
          <a:xfrm>
            <a:off x="1648460" y="4225237"/>
            <a:ext cx="1790700" cy="1753447"/>
          </a:xfrm>
          <a:prstGeom prst="roundRect">
            <a:avLst>
              <a:gd name="adj" fmla="val 6043"/>
            </a:avLst>
          </a:prstGeom>
          <a:solidFill>
            <a:srgbClr val="1D6DC2"/>
          </a:solidFill>
          <a:ln w="19050">
            <a:solidFill>
              <a:srgbClr val="FFFFFF"/>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0" tIns="0" rIns="0" bIns="0" numCol="1" spcCol="1270" anchor="ctr" anchorCtr="0">
            <a:noAutofit/>
          </a:bodyPr>
          <a:lstStyle>
            <a:defPPr>
              <a:defRPr lang="en-US"/>
            </a:defPPr>
            <a:lvl1pPr algn="ctr" defTabSz="644525">
              <a:spcBef>
                <a:spcPct val="0"/>
              </a:spcBef>
              <a:defRPr sz="900" b="1">
                <a:solidFill>
                  <a:srgbClr val="00000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en-US" altLang="zh-CN" sz="37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02</a:t>
            </a:r>
          </a:p>
        </p:txBody>
      </p:sp>
      <p:sp>
        <p:nvSpPr>
          <p:cNvPr id="9" name="文本框 8">
            <a:extLst>
              <a:ext uri="{FF2B5EF4-FFF2-40B4-BE49-F238E27FC236}">
                <a16:creationId xmlns:a16="http://schemas.microsoft.com/office/drawing/2014/main" id="{4063C2B3-6B6E-8843-BAA1-0C36160894CE}"/>
              </a:ext>
            </a:extLst>
          </p:cNvPr>
          <p:cNvSpPr txBox="1"/>
          <p:nvPr>
            <p:custDataLst>
              <p:tags r:id="rId5"/>
            </p:custDataLst>
          </p:nvPr>
        </p:nvSpPr>
        <p:spPr>
          <a:xfrm>
            <a:off x="3666913" y="4433465"/>
            <a:ext cx="7172113" cy="1711960"/>
          </a:xfrm>
          <a:prstGeom prst="rect">
            <a:avLst/>
          </a:prstGeom>
        </p:spPr>
        <p:txBody>
          <a:bodyPr wrap="square">
            <a:noAutofit/>
          </a:bodyPr>
          <a:lstStyle/>
          <a:p>
            <a:pPr algn="l">
              <a:lnSpc>
                <a:spcPct val="130000"/>
              </a:lnSpc>
            </a:pPr>
            <a:r>
              <a:rPr lang="zh-CN" altLang="en-US" sz="2000" dirty="0">
                <a:latin typeface="Arial" panose="020B0604020202020204" pitchFamily="34" charset="0"/>
                <a:ea typeface="微软雅黑" panose="020B0503020204020204" pitchFamily="34" charset="-122"/>
                <a:sym typeface="+mn-ea"/>
              </a:rPr>
              <a:t>国家有关部委完成审批后，在满足国家部委有关要求的前提下，其应用开发方案须</a:t>
            </a:r>
            <a:r>
              <a:rPr lang="zh-CN" altLang="en-US" sz="2000" b="1" dirty="0">
                <a:solidFill>
                  <a:srgbClr val="C00000"/>
                </a:solidFill>
                <a:latin typeface="Arial" panose="020B0604020202020204" pitchFamily="34" charset="0"/>
                <a:ea typeface="微软雅黑" panose="020B0503020204020204" pitchFamily="34" charset="-122"/>
                <a:sym typeface="+mn-ea"/>
              </a:rPr>
              <a:t>遵循数字重庆建设总体要求</a:t>
            </a:r>
            <a:r>
              <a:rPr lang="zh-CN" altLang="en-US" sz="2000" dirty="0">
                <a:latin typeface="Arial" panose="020B0604020202020204" pitchFamily="34" charset="0"/>
                <a:ea typeface="微软雅黑" panose="020B0503020204020204" pitchFamily="34" charset="-122"/>
                <a:sym typeface="+mn-ea"/>
              </a:rPr>
              <a:t>，纳入“一本账”后，按照应用申报有关规定执行。</a:t>
            </a:r>
            <a:endParaRPr lang="zh-CN" altLang="en-US" sz="2000"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33425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3.8 </a:t>
            </a:r>
            <a:r>
              <a:rPr kumimoji="1" lang="zh-CN" altLang="en-US" dirty="0"/>
              <a:t>涉及中央资金的应用申报及审核</a:t>
            </a:r>
          </a:p>
        </p:txBody>
      </p:sp>
      <p:graphicFrame>
        <p:nvGraphicFramePr>
          <p:cNvPr id="6" name="表格 5">
            <a:extLst>
              <a:ext uri="{FF2B5EF4-FFF2-40B4-BE49-F238E27FC236}">
                <a16:creationId xmlns:a16="http://schemas.microsoft.com/office/drawing/2014/main" id="{99322FBE-A9C9-2282-12C7-EDC7C87E9A28}"/>
              </a:ext>
            </a:extLst>
          </p:cNvPr>
          <p:cNvGraphicFramePr/>
          <p:nvPr>
            <p:custDataLst>
              <p:tags r:id="rId1"/>
            </p:custDataLst>
            <p:extLst>
              <p:ext uri="{D42A27DB-BD31-4B8C-83A1-F6EECF244321}">
                <p14:modId xmlns:p14="http://schemas.microsoft.com/office/powerpoint/2010/main" val="2792144924"/>
              </p:ext>
            </p:extLst>
          </p:nvPr>
        </p:nvGraphicFramePr>
        <p:xfrm>
          <a:off x="862882" y="1794077"/>
          <a:ext cx="10641288" cy="4571298"/>
        </p:xfrm>
        <a:graphic>
          <a:graphicData uri="http://schemas.openxmlformats.org/drawingml/2006/table">
            <a:tbl>
              <a:tblPr firstRow="1" bandRow="1">
                <a:tableStyleId>{5C22544A-7EE6-4342-B048-85BDC9FD1C3A}</a:tableStyleId>
              </a:tblPr>
              <a:tblGrid>
                <a:gridCol w="780723">
                  <a:extLst>
                    <a:ext uri="{9D8B030D-6E8A-4147-A177-3AD203B41FA5}">
                      <a16:colId xmlns:a16="http://schemas.microsoft.com/office/drawing/2014/main" val="20000"/>
                    </a:ext>
                  </a:extLst>
                </a:gridCol>
                <a:gridCol w="9860565">
                  <a:extLst>
                    <a:ext uri="{9D8B030D-6E8A-4147-A177-3AD203B41FA5}">
                      <a16:colId xmlns:a16="http://schemas.microsoft.com/office/drawing/2014/main" val="20002"/>
                    </a:ext>
                  </a:extLst>
                </a:gridCol>
              </a:tblGrid>
              <a:tr h="412290">
                <a:tc>
                  <a:txBody>
                    <a:bodyPr/>
                    <a:lstStyle/>
                    <a:p>
                      <a:pPr algn="ctr">
                        <a:buNone/>
                      </a:pPr>
                      <a:r>
                        <a:rPr lang="zh-CN" altLang="en-US" sz="1600" dirty="0">
                          <a:solidFill>
                            <a:schemeClr val="bg1"/>
                          </a:solidFill>
                          <a:latin typeface="Microsoft YaHei" panose="020B0503020204020204" pitchFamily="34" charset="-122"/>
                          <a:ea typeface="Microsoft YaHei" panose="020B0503020204020204" pitchFamily="34" charset="-122"/>
                        </a:rPr>
                        <a:t>序号</a:t>
                      </a:r>
                      <a:endParaRPr lang="en-US" altLang="zh-CN" sz="1600" dirty="0">
                        <a:solidFill>
                          <a:schemeClr val="bg1"/>
                        </a:solidFill>
                        <a:latin typeface="Microsoft YaHei" panose="020B0503020204020204" pitchFamily="34" charset="-122"/>
                        <a:ea typeface="Microsoft YaHei" panose="020B0503020204020204" pitchFamily="34" charset="-122"/>
                      </a:endParaRPr>
                    </a:p>
                  </a:txBody>
                  <a:tcPr marL="121920" marR="121920" marT="60960" marB="60960" anchor="ctr">
                    <a:solidFill>
                      <a:srgbClr val="0070C0"/>
                    </a:solidFill>
                  </a:tcPr>
                </a:tc>
                <a:tc>
                  <a:txBody>
                    <a:bodyPr/>
                    <a:lstStyle/>
                    <a:p>
                      <a:pPr algn="ctr">
                        <a:buNone/>
                      </a:pPr>
                      <a:r>
                        <a:rPr lang="zh-CN" altLang="en-US" sz="1600" dirty="0">
                          <a:solidFill>
                            <a:schemeClr val="bg1"/>
                          </a:solidFill>
                          <a:latin typeface="Microsoft YaHei" panose="020B0503020204020204" pitchFamily="34" charset="-122"/>
                          <a:ea typeface="Microsoft YaHei" panose="020B0503020204020204" pitchFamily="34" charset="-122"/>
                          <a:cs typeface="方正仿宋_GBK" panose="02000000000000000000" charset="-122"/>
                          <a:sym typeface="+mn-ea"/>
                        </a:rPr>
                        <a:t>内容</a:t>
                      </a:r>
                    </a:p>
                  </a:txBody>
                  <a:tcPr marL="121920" marR="121920" marT="60960" marB="60960" anchor="ctr">
                    <a:solidFill>
                      <a:srgbClr val="0070C0"/>
                    </a:solidFill>
                  </a:tcPr>
                </a:tc>
                <a:extLst>
                  <a:ext uri="{0D108BD9-81ED-4DB2-BD59-A6C34878D82A}">
                    <a16:rowId xmlns:a16="http://schemas.microsoft.com/office/drawing/2014/main" val="2791366748"/>
                  </a:ext>
                </a:extLst>
              </a:tr>
              <a:tr h="412290">
                <a:tc>
                  <a:txBody>
                    <a:bodyPr/>
                    <a:lstStyle/>
                    <a:p>
                      <a:pPr algn="ctr">
                        <a:buNone/>
                      </a:pPr>
                      <a:r>
                        <a:rPr lang="en-US" altLang="zh-CN" sz="1600" dirty="0">
                          <a:solidFill>
                            <a:srgbClr val="C00000"/>
                          </a:solidFill>
                          <a:latin typeface="Microsoft YaHei" panose="020B0503020204020204" pitchFamily="34" charset="-122"/>
                          <a:ea typeface="Microsoft YaHei" panose="020B0503020204020204" pitchFamily="34" charset="-122"/>
                        </a:rPr>
                        <a:t>01</a:t>
                      </a:r>
                    </a:p>
                  </a:txBody>
                  <a:tcPr marL="121920" marR="121920" marT="60960" marB="60960" anchor="ctr">
                    <a:solidFill>
                      <a:schemeClr val="bg1">
                        <a:lumMod val="95000"/>
                      </a:schemeClr>
                    </a:solidFill>
                  </a:tcPr>
                </a:tc>
                <a:tc>
                  <a:txBody>
                    <a:bodyPr/>
                    <a:lstStyle/>
                    <a:p>
                      <a:pPr>
                        <a:buNone/>
                      </a:pPr>
                      <a:r>
                        <a:rPr lang="zh-CN" sz="1600" dirty="0">
                          <a:solidFill>
                            <a:srgbClr val="C00000"/>
                          </a:solidFill>
                          <a:latin typeface="Microsoft YaHei" panose="020B0503020204020204" pitchFamily="34" charset="-122"/>
                          <a:ea typeface="Microsoft YaHei" panose="020B0503020204020204" pitchFamily="34" charset="-122"/>
                          <a:cs typeface="方正仿宋_GBK" panose="02000000000000000000" charset="-122"/>
                          <a:sym typeface="+mn-ea"/>
                        </a:rPr>
                        <a:t>未纳入数字重庆建设应用“一本账”的</a:t>
                      </a:r>
                      <a:endParaRPr lang="zh-CN" altLang="en-US" sz="1600" dirty="0">
                        <a:solidFill>
                          <a:srgbClr val="C00000"/>
                        </a:solidFill>
                        <a:latin typeface="Microsoft YaHei" panose="020B0503020204020204" pitchFamily="34" charset="-122"/>
                        <a:ea typeface="Microsoft YaHei" panose="020B0503020204020204" pitchFamily="34" charset="-122"/>
                        <a:cs typeface="方正仿宋_GBK" panose="02000000000000000000" charset="-122"/>
                        <a:sym typeface="+mn-ea"/>
                      </a:endParaRPr>
                    </a:p>
                  </a:txBody>
                  <a:tcPr marL="121920" marR="121920" marT="60960" marB="60960" anchor="ctr">
                    <a:solidFill>
                      <a:schemeClr val="bg1">
                        <a:lumMod val="95000"/>
                      </a:schemeClr>
                    </a:solidFill>
                  </a:tcPr>
                </a:tc>
                <a:extLst>
                  <a:ext uri="{0D108BD9-81ED-4DB2-BD59-A6C34878D82A}">
                    <a16:rowId xmlns:a16="http://schemas.microsoft.com/office/drawing/2014/main" val="10000"/>
                  </a:ext>
                </a:extLst>
              </a:tr>
              <a:tr h="627462">
                <a:tc>
                  <a:txBody>
                    <a:bodyPr/>
                    <a:lstStyle/>
                    <a:p>
                      <a:pPr algn="ctr">
                        <a:buNone/>
                      </a:pPr>
                      <a:r>
                        <a:rPr lang="en-US" altLang="zh-CN" sz="1600" dirty="0">
                          <a:solidFill>
                            <a:schemeClr val="tx1"/>
                          </a:solidFill>
                          <a:latin typeface="Microsoft YaHei" panose="020B0503020204020204" pitchFamily="34" charset="-122"/>
                          <a:ea typeface="Microsoft YaHei" panose="020B0503020204020204" pitchFamily="34" charset="-122"/>
                        </a:rPr>
                        <a:t>02</a:t>
                      </a:r>
                    </a:p>
                  </a:txBody>
                  <a:tcPr marL="121920" marR="121920" marT="60960" marB="60960" anchor="ctr">
                    <a:solidFill>
                      <a:schemeClr val="bg1">
                        <a:lumMod val="95000"/>
                      </a:schemeClr>
                    </a:solidFill>
                  </a:tcPr>
                </a:tc>
                <a:tc>
                  <a:txBody>
                    <a:bodyPr/>
                    <a:lstStyle/>
                    <a:p>
                      <a:pPr marL="0" algn="l" defTabSz="914400" rtl="0" eaLnBrk="1" latinLnBrk="0" hangingPunct="1">
                        <a:buNone/>
                      </a:pPr>
                      <a:r>
                        <a:rPr lang="zh-CN" altLang="en-US" sz="1600" kern="1200" dirty="0">
                          <a:solidFill>
                            <a:schemeClr val="tx1"/>
                          </a:solidFill>
                          <a:latin typeface="Microsoft YaHei" panose="020B0503020204020204" pitchFamily="34" charset="-122"/>
                          <a:ea typeface="Microsoft YaHei" panose="020B0503020204020204" pitchFamily="34" charset="-122"/>
                          <a:cs typeface="+mn-cs"/>
                        </a:rPr>
                        <a:t>新建或扩建机房、私（专）有云平台、数据中心的，新增计算、存储、网络等硬件设备的，已有私（专）有云平台、数据中心未明确撤并计划的</a:t>
                      </a:r>
                    </a:p>
                  </a:txBody>
                  <a:tcPr marL="121920" marR="121920" marT="60960" marB="60960" anchor="ctr">
                    <a:solidFill>
                      <a:schemeClr val="bg1">
                        <a:lumMod val="95000"/>
                      </a:schemeClr>
                    </a:solidFill>
                  </a:tcPr>
                </a:tc>
                <a:extLst>
                  <a:ext uri="{0D108BD9-81ED-4DB2-BD59-A6C34878D82A}">
                    <a16:rowId xmlns:a16="http://schemas.microsoft.com/office/drawing/2014/main" val="10002"/>
                  </a:ext>
                </a:extLst>
              </a:tr>
              <a:tr h="627462">
                <a:tc>
                  <a:txBody>
                    <a:bodyPr/>
                    <a:lstStyle/>
                    <a:p>
                      <a:pPr algn="ctr">
                        <a:buNone/>
                      </a:pPr>
                      <a:r>
                        <a:rPr lang="en-US" altLang="zh-CN" sz="1600" dirty="0">
                          <a:solidFill>
                            <a:schemeClr val="tx1"/>
                          </a:solidFill>
                          <a:latin typeface="Microsoft YaHei" panose="020B0503020204020204" pitchFamily="34" charset="-122"/>
                          <a:ea typeface="Microsoft YaHei" panose="020B0503020204020204" pitchFamily="34" charset="-122"/>
                        </a:rPr>
                        <a:t>03</a:t>
                      </a:r>
                    </a:p>
                  </a:txBody>
                  <a:tcPr marL="121920" marR="121920" marT="60960" marB="60960" anchor="ctr">
                    <a:solidFill>
                      <a:schemeClr val="bg1">
                        <a:lumMod val="95000"/>
                      </a:schemeClr>
                    </a:solidFill>
                  </a:tcPr>
                </a:tc>
                <a:tc>
                  <a:txBody>
                    <a:bodyPr/>
                    <a:lstStyle/>
                    <a:p>
                      <a:pPr>
                        <a:buNone/>
                      </a:pPr>
                      <a:r>
                        <a:rPr lang="zh-CN"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rPr>
                        <a:t>应用场景、业务流程和数据模型梳理不清晰的，横向协同、纵向贯通关系和应用开发模式不明确的，存量应用关联关系和统筹计划不明确的，整体或者部分功能与现有应用存在重叠的</a:t>
                      </a:r>
                      <a:endParaRPr lang="zh-CN" altLang="en-US"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endParaRPr>
                    </a:p>
                  </a:txBody>
                  <a:tcPr marL="121920" marR="121920" marT="60960" marB="60960" anchor="ctr">
                    <a:solidFill>
                      <a:schemeClr val="bg1">
                        <a:lumMod val="95000"/>
                      </a:schemeClr>
                    </a:solidFill>
                  </a:tcPr>
                </a:tc>
                <a:extLst>
                  <a:ext uri="{0D108BD9-81ED-4DB2-BD59-A6C34878D82A}">
                    <a16:rowId xmlns:a16="http://schemas.microsoft.com/office/drawing/2014/main" val="10004"/>
                  </a:ext>
                </a:extLst>
              </a:tr>
              <a:tr h="412290">
                <a:tc>
                  <a:txBody>
                    <a:bodyPr/>
                    <a:lstStyle/>
                    <a:p>
                      <a:pPr algn="ctr">
                        <a:buNone/>
                      </a:pPr>
                      <a:r>
                        <a:rPr lang="en-US" altLang="zh-CN" sz="1600" dirty="0">
                          <a:solidFill>
                            <a:schemeClr val="tx1"/>
                          </a:solidFill>
                          <a:latin typeface="Microsoft YaHei" panose="020B0503020204020204" pitchFamily="34" charset="-122"/>
                          <a:ea typeface="Microsoft YaHei" panose="020B0503020204020204" pitchFamily="34" charset="-122"/>
                        </a:rPr>
                        <a:t>04</a:t>
                      </a:r>
                    </a:p>
                  </a:txBody>
                  <a:tcPr marL="121920" marR="121920" marT="60960" marB="60960" anchor="ctr">
                    <a:solidFill>
                      <a:schemeClr val="bg1">
                        <a:lumMod val="95000"/>
                      </a:schemeClr>
                    </a:solidFill>
                  </a:tcPr>
                </a:tc>
                <a:tc>
                  <a:txBody>
                    <a:bodyPr/>
                    <a:lstStyle/>
                    <a:p>
                      <a:pPr>
                        <a:buNone/>
                      </a:pPr>
                      <a:r>
                        <a:rPr lang="zh-CN"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rPr>
                        <a:t>未接入“渝快办”或者“渝快政”的，未依托基层智治平台向乡镇（街道）、村（社区）和网格员延伸的</a:t>
                      </a:r>
                      <a:endParaRPr lang="zh-CN" altLang="en-US"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endParaRPr>
                    </a:p>
                  </a:txBody>
                  <a:tcPr marL="121920" marR="121920" marT="60960" marB="60960" anchor="ctr">
                    <a:solidFill>
                      <a:schemeClr val="bg1">
                        <a:lumMod val="95000"/>
                      </a:schemeClr>
                    </a:solidFill>
                  </a:tcPr>
                </a:tc>
                <a:extLst>
                  <a:ext uri="{0D108BD9-81ED-4DB2-BD59-A6C34878D82A}">
                    <a16:rowId xmlns:a16="http://schemas.microsoft.com/office/drawing/2014/main" val="10006"/>
                  </a:ext>
                </a:extLst>
              </a:tr>
              <a:tr h="627462">
                <a:tc>
                  <a:txBody>
                    <a:bodyPr/>
                    <a:lstStyle/>
                    <a:p>
                      <a:pPr algn="ctr">
                        <a:buNone/>
                      </a:pPr>
                      <a:r>
                        <a:rPr lang="en-US" altLang="zh-CN" sz="1600" dirty="0">
                          <a:solidFill>
                            <a:schemeClr val="tx1"/>
                          </a:solidFill>
                          <a:latin typeface="Microsoft YaHei" panose="020B0503020204020204" pitchFamily="34" charset="-122"/>
                          <a:ea typeface="Microsoft YaHei" panose="020B0503020204020204" pitchFamily="34" charset="-122"/>
                        </a:rPr>
                        <a:t>05</a:t>
                      </a:r>
                    </a:p>
                  </a:txBody>
                  <a:tcPr marL="121920" marR="121920" marT="60960" marB="60960" anchor="ctr">
                    <a:solidFill>
                      <a:schemeClr val="bg1">
                        <a:lumMod val="95000"/>
                      </a:schemeClr>
                    </a:solidFill>
                  </a:tcPr>
                </a:tc>
                <a:tc>
                  <a:txBody>
                    <a:bodyPr/>
                    <a:lstStyle/>
                    <a:p>
                      <a:pPr>
                        <a:buNone/>
                      </a:pPr>
                      <a:r>
                        <a:rPr lang="zh-CN"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rPr>
                        <a:t>互联网出口的线路租赁项目，未整合到电子政务外网等全市统一基础网络或者未明确撤并计划的专网租赁项目，不能纳入电子政务外网等全市统一基础网络实行统一监管的终端安全防护项目</a:t>
                      </a:r>
                      <a:endParaRPr lang="zh-CN" altLang="en-US"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endParaRPr>
                    </a:p>
                  </a:txBody>
                  <a:tcPr marL="121920" marR="121920" marT="60960" marB="60960" anchor="ctr">
                    <a:solidFill>
                      <a:schemeClr val="bg1">
                        <a:lumMod val="95000"/>
                      </a:schemeClr>
                    </a:solidFill>
                  </a:tcPr>
                </a:tc>
                <a:extLst>
                  <a:ext uri="{0D108BD9-81ED-4DB2-BD59-A6C34878D82A}">
                    <a16:rowId xmlns:a16="http://schemas.microsoft.com/office/drawing/2014/main" val="10008"/>
                  </a:ext>
                </a:extLst>
              </a:tr>
              <a:tr h="627462">
                <a:tc>
                  <a:txBody>
                    <a:bodyPr/>
                    <a:lstStyle/>
                    <a:p>
                      <a:pPr algn="ctr">
                        <a:buNone/>
                      </a:pPr>
                      <a:r>
                        <a:rPr lang="en-US" altLang="zh-CN" sz="1600" dirty="0">
                          <a:solidFill>
                            <a:schemeClr val="tx1"/>
                          </a:solidFill>
                          <a:latin typeface="Microsoft YaHei" panose="020B0503020204020204" pitchFamily="34" charset="-122"/>
                          <a:ea typeface="Microsoft YaHei" panose="020B0503020204020204" pitchFamily="34" charset="-122"/>
                        </a:rPr>
                        <a:t>06</a:t>
                      </a:r>
                    </a:p>
                  </a:txBody>
                  <a:tcPr marL="121920" marR="121920" marT="60960" marB="60960" anchor="ctr">
                    <a:solidFill>
                      <a:schemeClr val="bg1">
                        <a:lumMod val="95000"/>
                      </a:schemeClr>
                    </a:solidFill>
                  </a:tcPr>
                </a:tc>
                <a:tc>
                  <a:txBody>
                    <a:bodyPr/>
                    <a:lstStyle/>
                    <a:p>
                      <a:pPr>
                        <a:buNone/>
                      </a:pPr>
                      <a:r>
                        <a:rPr lang="zh-CN"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rPr>
                        <a:t>未依托一体化智能化公共数据平台开展应用开发、运维的、不依法依规开展数据采集、汇聚、共享、开放、处理、分析的</a:t>
                      </a:r>
                      <a:endParaRPr lang="zh-CN" altLang="en-US"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endParaRPr>
                    </a:p>
                  </a:txBody>
                  <a:tcPr marL="121920" marR="121920" marT="60960" marB="60960" anchor="ctr">
                    <a:solidFill>
                      <a:schemeClr val="bg1">
                        <a:lumMod val="95000"/>
                      </a:schemeClr>
                    </a:solidFill>
                  </a:tcPr>
                </a:tc>
                <a:extLst>
                  <a:ext uri="{0D108BD9-81ED-4DB2-BD59-A6C34878D82A}">
                    <a16:rowId xmlns:a16="http://schemas.microsoft.com/office/drawing/2014/main" val="10010"/>
                  </a:ext>
                </a:extLst>
              </a:tr>
              <a:tr h="412290">
                <a:tc>
                  <a:txBody>
                    <a:bodyPr/>
                    <a:lstStyle/>
                    <a:p>
                      <a:pPr algn="ctr">
                        <a:buNone/>
                      </a:pPr>
                      <a:r>
                        <a:rPr lang="en-US" altLang="zh-CN" sz="1600" dirty="0">
                          <a:solidFill>
                            <a:schemeClr val="tx1"/>
                          </a:solidFill>
                          <a:latin typeface="Microsoft YaHei" panose="020B0503020204020204" pitchFamily="34" charset="-122"/>
                          <a:ea typeface="Microsoft YaHei" panose="020B0503020204020204" pitchFamily="34" charset="-122"/>
                        </a:rPr>
                        <a:t>07</a:t>
                      </a:r>
                    </a:p>
                  </a:txBody>
                  <a:tcPr marL="121920" marR="121920" marT="60960" marB="60960" anchor="ctr">
                    <a:solidFill>
                      <a:schemeClr val="bg1">
                        <a:lumMod val="95000"/>
                      </a:schemeClr>
                    </a:solidFill>
                  </a:tcPr>
                </a:tc>
                <a:tc>
                  <a:txBody>
                    <a:bodyPr/>
                    <a:lstStyle/>
                    <a:p>
                      <a:pPr>
                        <a:buNone/>
                      </a:pPr>
                      <a:r>
                        <a:rPr lang="zh-CN"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rPr>
                        <a:t>不满足网络安全、数据安全、密码应用、自主可控等相关法律法规和标准规范的</a:t>
                      </a:r>
                      <a:endParaRPr lang="zh-CN" altLang="en-US"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endParaRPr>
                    </a:p>
                  </a:txBody>
                  <a:tcPr marL="121920" marR="121920" marT="60960" marB="60960" anchor="ctr">
                    <a:solidFill>
                      <a:schemeClr val="bg1">
                        <a:lumMod val="95000"/>
                      </a:schemeClr>
                    </a:solidFill>
                  </a:tcPr>
                </a:tc>
                <a:extLst>
                  <a:ext uri="{0D108BD9-81ED-4DB2-BD59-A6C34878D82A}">
                    <a16:rowId xmlns:a16="http://schemas.microsoft.com/office/drawing/2014/main" val="10012"/>
                  </a:ext>
                </a:extLst>
              </a:tr>
              <a:tr h="412290">
                <a:tc>
                  <a:txBody>
                    <a:bodyPr/>
                    <a:lstStyle/>
                    <a:p>
                      <a:pPr algn="ctr">
                        <a:buNone/>
                      </a:pPr>
                      <a:r>
                        <a:rPr lang="en-US" altLang="zh-CN" sz="1600" dirty="0">
                          <a:solidFill>
                            <a:schemeClr val="tx1"/>
                          </a:solidFill>
                          <a:latin typeface="Microsoft YaHei" panose="020B0503020204020204" pitchFamily="34" charset="-122"/>
                          <a:ea typeface="Microsoft YaHei" panose="020B0503020204020204" pitchFamily="34" charset="-122"/>
                        </a:rPr>
                        <a:t>08</a:t>
                      </a:r>
                    </a:p>
                  </a:txBody>
                  <a:tcPr marL="121920" marR="121920" marT="60960" marB="60960" anchor="ctr">
                    <a:solidFill>
                      <a:schemeClr val="bg1">
                        <a:lumMod val="95000"/>
                      </a:schemeClr>
                    </a:solidFill>
                  </a:tcPr>
                </a:tc>
                <a:tc>
                  <a:txBody>
                    <a:bodyPr/>
                    <a:lstStyle/>
                    <a:p>
                      <a:pPr>
                        <a:buNone/>
                      </a:pPr>
                      <a:r>
                        <a:rPr lang="zh-CN"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rPr>
                        <a:t>开发方案编制不完整、报审程序不规范等不适宜通过评审的，以及其他违反法律法规、标准规范的</a:t>
                      </a:r>
                      <a:endParaRPr lang="zh-CN" altLang="en-US" sz="1600" dirty="0">
                        <a:solidFill>
                          <a:schemeClr val="tx1"/>
                        </a:solidFill>
                        <a:latin typeface="Microsoft YaHei" panose="020B0503020204020204" pitchFamily="34" charset="-122"/>
                        <a:ea typeface="Microsoft YaHei" panose="020B0503020204020204" pitchFamily="34" charset="-122"/>
                        <a:cs typeface="方正仿宋_GBK" panose="02000000000000000000" charset="-122"/>
                        <a:sym typeface="+mn-ea"/>
                      </a:endParaRPr>
                    </a:p>
                  </a:txBody>
                  <a:tcPr marL="121920" marR="121920" marT="60960" marB="60960" anchor="ctr">
                    <a:solidFill>
                      <a:schemeClr val="bg1">
                        <a:lumMod val="95000"/>
                      </a:scheme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3931128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B76072B5-635A-ACF4-C299-62AC28915855}"/>
              </a:ext>
            </a:extLst>
          </p:cNvPr>
          <p:cNvSpPr txBox="1">
            <a:spLocks/>
          </p:cNvSpPr>
          <p:nvPr/>
        </p:nvSpPr>
        <p:spPr>
          <a:xfrm>
            <a:off x="990600" y="2731336"/>
            <a:ext cx="10515600" cy="1325563"/>
          </a:xfrm>
          <a:prstGeom prst="rect">
            <a:avLst/>
          </a:prstGeom>
        </p:spPr>
        <p:txBody>
          <a:bodyPr anchor="ctr"/>
          <a:lstStyle>
            <a:lvl1pPr algn="ctr" defTabSz="914400" rtl="0" eaLnBrk="1" latinLnBrk="0" hangingPunct="1">
              <a:lnSpc>
                <a:spcPct val="90000"/>
              </a:lnSpc>
              <a:spcBef>
                <a:spcPct val="0"/>
              </a:spcBef>
              <a:buNone/>
              <a:defRPr lang="zh-CN" altLang="en-US" sz="4800" b="1" kern="1200" dirty="0">
                <a:solidFill>
                  <a:srgbClr val="0070C0"/>
                </a:solidFill>
                <a:latin typeface="微软雅黑" panose="020B0503020204020204" pitchFamily="34" charset="-122"/>
                <a:ea typeface="微软雅黑" panose="020B0503020204020204" pitchFamily="34" charset="-122"/>
                <a:cs typeface="+mn-cs"/>
              </a:defRPr>
            </a:lvl1pPr>
          </a:lstStyle>
          <a:p>
            <a:r>
              <a:rPr kumimoji="1" lang="en-US" altLang="zh-CN" dirty="0"/>
              <a:t>04 </a:t>
            </a:r>
            <a:r>
              <a:rPr kumimoji="1" lang="zh-CN" altLang="en-US" dirty="0"/>
              <a:t>预算管理</a:t>
            </a:r>
          </a:p>
        </p:txBody>
      </p:sp>
    </p:spTree>
    <p:extLst>
      <p:ext uri="{BB962C8B-B14F-4D97-AF65-F5344CB8AC3E}">
        <p14:creationId xmlns:p14="http://schemas.microsoft.com/office/powerpoint/2010/main" val="333499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4.1 </a:t>
            </a:r>
            <a:r>
              <a:rPr kumimoji="1" lang="zh-CN" altLang="en-US" dirty="0"/>
              <a:t>预算申报流程</a:t>
            </a:r>
          </a:p>
        </p:txBody>
      </p:sp>
      <p:sp>
        <p:nvSpPr>
          <p:cNvPr id="4" name="文本框 3">
            <a:extLst>
              <a:ext uri="{FF2B5EF4-FFF2-40B4-BE49-F238E27FC236}">
                <a16:creationId xmlns:a16="http://schemas.microsoft.com/office/drawing/2014/main" id="{706331FF-AC0B-93FC-137B-E170E429D50B}"/>
              </a:ext>
            </a:extLst>
          </p:cNvPr>
          <p:cNvSpPr txBox="1"/>
          <p:nvPr>
            <p:custDataLst>
              <p:tags r:id="rId1"/>
            </p:custDataLst>
          </p:nvPr>
        </p:nvSpPr>
        <p:spPr>
          <a:xfrm>
            <a:off x="7367311" y="1761171"/>
            <a:ext cx="1905260" cy="461665"/>
          </a:xfrm>
          <a:prstGeom prst="rect">
            <a:avLst/>
          </a:prstGeom>
          <a:noFill/>
          <a:ln>
            <a:noFill/>
          </a:ln>
        </p:spPr>
        <p:txBody>
          <a:bodyPr wrap="square">
            <a:spAutoFit/>
          </a:bodyPr>
          <a:lstStyle/>
          <a:p>
            <a:pPr algn="ctr"/>
            <a:r>
              <a:rPr lang="zh-CN" altLang="en-US" sz="2400"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责任单位</a:t>
            </a:r>
          </a:p>
        </p:txBody>
      </p:sp>
      <p:sp>
        <p:nvSpPr>
          <p:cNvPr id="5" name="文本框 4">
            <a:extLst>
              <a:ext uri="{FF2B5EF4-FFF2-40B4-BE49-F238E27FC236}">
                <a16:creationId xmlns:a16="http://schemas.microsoft.com/office/drawing/2014/main" id="{7D491BAB-D8E3-D99E-69FD-AAB0722F6B20}"/>
              </a:ext>
            </a:extLst>
          </p:cNvPr>
          <p:cNvSpPr txBox="1"/>
          <p:nvPr>
            <p:custDataLst>
              <p:tags r:id="rId2"/>
            </p:custDataLst>
          </p:nvPr>
        </p:nvSpPr>
        <p:spPr>
          <a:xfrm>
            <a:off x="2590151" y="1761171"/>
            <a:ext cx="1905260" cy="461665"/>
          </a:xfrm>
          <a:prstGeom prst="rect">
            <a:avLst/>
          </a:prstGeom>
          <a:noFill/>
          <a:ln>
            <a:noFill/>
          </a:ln>
        </p:spPr>
        <p:txBody>
          <a:bodyPr wrap="square">
            <a:spAutoFit/>
          </a:bodyPr>
          <a:lstStyle/>
          <a:p>
            <a:pPr algn="ctr"/>
            <a:r>
              <a:rPr lang="zh-CN" altLang="en-US" sz="2400"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流程</a:t>
            </a:r>
          </a:p>
        </p:txBody>
      </p:sp>
      <p:grpSp>
        <p:nvGrpSpPr>
          <p:cNvPr id="6" name="组合 5">
            <a:extLst>
              <a:ext uri="{FF2B5EF4-FFF2-40B4-BE49-F238E27FC236}">
                <a16:creationId xmlns:a16="http://schemas.microsoft.com/office/drawing/2014/main" id="{3B9F365B-DEA0-8DBC-43B2-A6449B12D1EB}"/>
              </a:ext>
            </a:extLst>
          </p:cNvPr>
          <p:cNvGrpSpPr/>
          <p:nvPr/>
        </p:nvGrpSpPr>
        <p:grpSpPr>
          <a:xfrm>
            <a:off x="1716402" y="2262738"/>
            <a:ext cx="3964216" cy="653138"/>
            <a:chOff x="690464" y="7589204"/>
            <a:chExt cx="2889786" cy="365440"/>
          </a:xfrm>
          <a:solidFill>
            <a:srgbClr val="0070C0"/>
          </a:solidFill>
        </p:grpSpPr>
        <p:sp>
          <p:nvSpPr>
            <p:cNvPr id="7" name="矩形 6">
              <a:extLst>
                <a:ext uri="{FF2B5EF4-FFF2-40B4-BE49-F238E27FC236}">
                  <a16:creationId xmlns:a16="http://schemas.microsoft.com/office/drawing/2014/main" id="{903CAB21-8CE8-3C02-0703-9FC38989A158}"/>
                </a:ext>
              </a:extLst>
            </p:cNvPr>
            <p:cNvSpPr/>
            <p:nvPr>
              <p:custDataLst>
                <p:tags r:id="rId20"/>
              </p:custDataLst>
            </p:nvPr>
          </p:nvSpPr>
          <p:spPr>
            <a:xfrm>
              <a:off x="690464" y="7589204"/>
              <a:ext cx="2889786" cy="3654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8" name="文本框 7">
              <a:extLst>
                <a:ext uri="{FF2B5EF4-FFF2-40B4-BE49-F238E27FC236}">
                  <a16:creationId xmlns:a16="http://schemas.microsoft.com/office/drawing/2014/main" id="{D02D3199-3097-1024-F80F-F113DE2AEDB3}"/>
                </a:ext>
              </a:extLst>
            </p:cNvPr>
            <p:cNvSpPr txBox="1"/>
            <p:nvPr>
              <p:custDataLst>
                <p:tags r:id="rId21"/>
              </p:custDataLst>
            </p:nvPr>
          </p:nvSpPr>
          <p:spPr>
            <a:xfrm>
              <a:off x="691774" y="7658576"/>
              <a:ext cx="2265463" cy="189426"/>
            </a:xfrm>
            <a:prstGeom prst="rect">
              <a:avLst/>
            </a:prstGeom>
            <a:grpFill/>
            <a:ln>
              <a:noFill/>
            </a:ln>
          </p:spPr>
          <p:txBody>
            <a:bodyPr wrap="square">
              <a:spAutoFit/>
            </a:bodyPr>
            <a:lstStyle/>
            <a:p>
              <a:r>
                <a:rPr lang="en-US" altLang="zh-CN"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编制专项资金预算</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grpSp>
        <p:nvGrpSpPr>
          <p:cNvPr id="9" name="组合 8">
            <a:extLst>
              <a:ext uri="{FF2B5EF4-FFF2-40B4-BE49-F238E27FC236}">
                <a16:creationId xmlns:a16="http://schemas.microsoft.com/office/drawing/2014/main" id="{20AE2256-B472-81B2-2E51-B0D2AA1E4A32}"/>
              </a:ext>
            </a:extLst>
          </p:cNvPr>
          <p:cNvGrpSpPr/>
          <p:nvPr/>
        </p:nvGrpSpPr>
        <p:grpSpPr>
          <a:xfrm>
            <a:off x="1717671" y="3318108"/>
            <a:ext cx="3963640" cy="653138"/>
            <a:chOff x="690464" y="8024653"/>
            <a:chExt cx="3384442" cy="365308"/>
          </a:xfrm>
          <a:solidFill>
            <a:srgbClr val="0070C0"/>
          </a:solidFill>
        </p:grpSpPr>
        <p:sp>
          <p:nvSpPr>
            <p:cNvPr id="10" name="矩形 9">
              <a:extLst>
                <a:ext uri="{FF2B5EF4-FFF2-40B4-BE49-F238E27FC236}">
                  <a16:creationId xmlns:a16="http://schemas.microsoft.com/office/drawing/2014/main" id="{84FF8418-86E5-7556-CAAA-9F8952E26B31}"/>
                </a:ext>
              </a:extLst>
            </p:cNvPr>
            <p:cNvSpPr/>
            <p:nvPr>
              <p:custDataLst>
                <p:tags r:id="rId18"/>
              </p:custDataLst>
            </p:nvPr>
          </p:nvSpPr>
          <p:spPr>
            <a:xfrm>
              <a:off x="690464" y="8024653"/>
              <a:ext cx="3384442" cy="3653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11" name="文本框 10">
              <a:extLst>
                <a:ext uri="{FF2B5EF4-FFF2-40B4-BE49-F238E27FC236}">
                  <a16:creationId xmlns:a16="http://schemas.microsoft.com/office/drawing/2014/main" id="{5D6E4FD2-6E6B-849D-A9C6-E8B7DF6A7056}"/>
                </a:ext>
              </a:extLst>
            </p:cNvPr>
            <p:cNvSpPr txBox="1"/>
            <p:nvPr>
              <p:custDataLst>
                <p:tags r:id="rId19"/>
              </p:custDataLst>
            </p:nvPr>
          </p:nvSpPr>
          <p:spPr>
            <a:xfrm>
              <a:off x="690901" y="8102929"/>
              <a:ext cx="1906150" cy="189357"/>
            </a:xfrm>
            <a:prstGeom prst="rect">
              <a:avLst/>
            </a:prstGeom>
            <a:grpFill/>
            <a:ln>
              <a:noFill/>
            </a:ln>
          </p:spPr>
          <p:txBody>
            <a:bodyPr wrap="square">
              <a:spAutoFit/>
            </a:bodyPr>
            <a:lstStyle/>
            <a:p>
              <a:r>
                <a:rPr lang="en-US" altLang="zh-CN"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专项资金预算初审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grpSp>
        <p:nvGrpSpPr>
          <p:cNvPr id="12" name="组合 11">
            <a:extLst>
              <a:ext uri="{FF2B5EF4-FFF2-40B4-BE49-F238E27FC236}">
                <a16:creationId xmlns:a16="http://schemas.microsoft.com/office/drawing/2014/main" id="{7341B6A6-DF06-94A8-7080-0E736C5F1F9A}"/>
              </a:ext>
            </a:extLst>
          </p:cNvPr>
          <p:cNvGrpSpPr/>
          <p:nvPr/>
        </p:nvGrpSpPr>
        <p:grpSpPr>
          <a:xfrm>
            <a:off x="1716401" y="4370937"/>
            <a:ext cx="3964791" cy="857642"/>
            <a:chOff x="690464" y="8523845"/>
            <a:chExt cx="3384442" cy="480918"/>
          </a:xfrm>
          <a:solidFill>
            <a:srgbClr val="0070C0"/>
          </a:solidFill>
        </p:grpSpPr>
        <p:sp>
          <p:nvSpPr>
            <p:cNvPr id="13" name="矩形 12">
              <a:extLst>
                <a:ext uri="{FF2B5EF4-FFF2-40B4-BE49-F238E27FC236}">
                  <a16:creationId xmlns:a16="http://schemas.microsoft.com/office/drawing/2014/main" id="{33C5A3CC-C5EA-2DE1-9E7B-01C20CAC5BF8}"/>
                </a:ext>
              </a:extLst>
            </p:cNvPr>
            <p:cNvSpPr/>
            <p:nvPr>
              <p:custDataLst>
                <p:tags r:id="rId16"/>
              </p:custDataLst>
            </p:nvPr>
          </p:nvSpPr>
          <p:spPr>
            <a:xfrm>
              <a:off x="690464" y="8523845"/>
              <a:ext cx="3384442" cy="4809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ndParaRPr>
            </a:p>
          </p:txBody>
        </p:sp>
        <p:sp>
          <p:nvSpPr>
            <p:cNvPr id="14" name="文本框 13">
              <a:extLst>
                <a:ext uri="{FF2B5EF4-FFF2-40B4-BE49-F238E27FC236}">
                  <a16:creationId xmlns:a16="http://schemas.microsoft.com/office/drawing/2014/main" id="{9A44E406-E4BB-4452-0DCA-6AB006E348D6}"/>
                </a:ext>
              </a:extLst>
            </p:cNvPr>
            <p:cNvSpPr txBox="1"/>
            <p:nvPr>
              <p:custDataLst>
                <p:tags r:id="rId17"/>
              </p:custDataLst>
            </p:nvPr>
          </p:nvSpPr>
          <p:spPr>
            <a:xfrm>
              <a:off x="697986" y="8593283"/>
              <a:ext cx="3223260" cy="310651"/>
            </a:xfrm>
            <a:prstGeom prst="rect">
              <a:avLst/>
            </a:prstGeom>
            <a:grpFill/>
            <a:ln>
              <a:noFill/>
            </a:ln>
          </p:spPr>
          <p:txBody>
            <a:bodyPr wrap="square">
              <a:spAutoFit/>
            </a:bodyPr>
            <a:lstStyle/>
            <a:p>
              <a:pPr indent="0" fontAlgn="auto">
                <a:lnSpc>
                  <a:spcPts val="1800"/>
                </a:lnSpc>
              </a:pPr>
              <a:r>
                <a:rPr lang="en-US" altLang="zh-CN"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专项资金预算报市政府审议并提请</a:t>
              </a:r>
            </a:p>
            <a:p>
              <a:pPr indent="0" fontAlgn="auto">
                <a:lnSpc>
                  <a:spcPts val="1800"/>
                </a:lnSpc>
              </a:pPr>
              <a:r>
                <a:rPr lang="zh-CN" altLang="en-US"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市人民代表大会批准</a:t>
              </a:r>
            </a:p>
          </p:txBody>
        </p:sp>
      </p:grpSp>
      <p:grpSp>
        <p:nvGrpSpPr>
          <p:cNvPr id="15" name="组合 14">
            <a:extLst>
              <a:ext uri="{FF2B5EF4-FFF2-40B4-BE49-F238E27FC236}">
                <a16:creationId xmlns:a16="http://schemas.microsoft.com/office/drawing/2014/main" id="{91285E31-A9D1-658B-358F-3005F21832CE}"/>
              </a:ext>
            </a:extLst>
          </p:cNvPr>
          <p:cNvGrpSpPr/>
          <p:nvPr/>
        </p:nvGrpSpPr>
        <p:grpSpPr>
          <a:xfrm>
            <a:off x="1717672" y="5699358"/>
            <a:ext cx="3963064" cy="653138"/>
            <a:chOff x="690464" y="9296498"/>
            <a:chExt cx="3384442" cy="365308"/>
          </a:xfrm>
          <a:solidFill>
            <a:srgbClr val="0070C0"/>
          </a:solidFill>
        </p:grpSpPr>
        <p:sp>
          <p:nvSpPr>
            <p:cNvPr id="16" name="矩形 15">
              <a:extLst>
                <a:ext uri="{FF2B5EF4-FFF2-40B4-BE49-F238E27FC236}">
                  <a16:creationId xmlns:a16="http://schemas.microsoft.com/office/drawing/2014/main" id="{2F60E7D9-75E3-1586-ADF8-1F3E8EA9307A}"/>
                </a:ext>
              </a:extLst>
            </p:cNvPr>
            <p:cNvSpPr/>
            <p:nvPr>
              <p:custDataLst>
                <p:tags r:id="rId14"/>
              </p:custDataLst>
            </p:nvPr>
          </p:nvSpPr>
          <p:spPr>
            <a:xfrm>
              <a:off x="690464" y="9296498"/>
              <a:ext cx="3384442" cy="3653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17" name="文本框 16">
              <a:extLst>
                <a:ext uri="{FF2B5EF4-FFF2-40B4-BE49-F238E27FC236}">
                  <a16:creationId xmlns:a16="http://schemas.microsoft.com/office/drawing/2014/main" id="{EFB01860-5EE6-A285-5886-7E6086F17788}"/>
                </a:ext>
              </a:extLst>
            </p:cNvPr>
            <p:cNvSpPr txBox="1"/>
            <p:nvPr>
              <p:custDataLst>
                <p:tags r:id="rId15"/>
              </p:custDataLst>
            </p:nvPr>
          </p:nvSpPr>
          <p:spPr>
            <a:xfrm>
              <a:off x="705704" y="9373516"/>
              <a:ext cx="3209290" cy="189357"/>
            </a:xfrm>
            <a:prstGeom prst="rect">
              <a:avLst/>
            </a:prstGeom>
            <a:grpFill/>
            <a:ln>
              <a:noFill/>
            </a:ln>
          </p:spPr>
          <p:txBody>
            <a:bodyPr wrap="square">
              <a:spAutoFit/>
            </a:bodyPr>
            <a:lstStyle/>
            <a:p>
              <a:r>
                <a:rPr lang="en-US" altLang="zh-CN"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批复及下达专项资金预算</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sp>
        <p:nvSpPr>
          <p:cNvPr id="28" name="箭头: 下 189">
            <a:extLst>
              <a:ext uri="{FF2B5EF4-FFF2-40B4-BE49-F238E27FC236}">
                <a16:creationId xmlns:a16="http://schemas.microsoft.com/office/drawing/2014/main" id="{78EF3273-5365-1E1B-773F-50582DB1E257}"/>
              </a:ext>
            </a:extLst>
          </p:cNvPr>
          <p:cNvSpPr/>
          <p:nvPr>
            <p:custDataLst>
              <p:tags r:id="rId3"/>
            </p:custDataLst>
          </p:nvPr>
        </p:nvSpPr>
        <p:spPr>
          <a:xfrm>
            <a:off x="3362533" y="2965259"/>
            <a:ext cx="360609" cy="336193"/>
          </a:xfrm>
          <a:prstGeom prst="downArrow">
            <a:avLst/>
          </a:prstGeom>
          <a:solidFill>
            <a:srgbClr val="1F59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9" name="箭头: 下 190">
            <a:extLst>
              <a:ext uri="{FF2B5EF4-FFF2-40B4-BE49-F238E27FC236}">
                <a16:creationId xmlns:a16="http://schemas.microsoft.com/office/drawing/2014/main" id="{DA51CA82-9E3B-AF2B-F697-E98F5E56FAC8}"/>
              </a:ext>
            </a:extLst>
          </p:cNvPr>
          <p:cNvSpPr/>
          <p:nvPr>
            <p:custDataLst>
              <p:tags r:id="rId4"/>
            </p:custDataLst>
          </p:nvPr>
        </p:nvSpPr>
        <p:spPr>
          <a:xfrm>
            <a:off x="3362533" y="4004119"/>
            <a:ext cx="360609" cy="332831"/>
          </a:xfrm>
          <a:prstGeom prst="downArrow">
            <a:avLst/>
          </a:prstGeom>
          <a:solidFill>
            <a:srgbClr val="1F59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30" name="箭头: 下 191">
            <a:extLst>
              <a:ext uri="{FF2B5EF4-FFF2-40B4-BE49-F238E27FC236}">
                <a16:creationId xmlns:a16="http://schemas.microsoft.com/office/drawing/2014/main" id="{1E49091C-06F4-7626-2691-BB29CAABC5D6}"/>
              </a:ext>
            </a:extLst>
          </p:cNvPr>
          <p:cNvSpPr/>
          <p:nvPr>
            <p:custDataLst>
              <p:tags r:id="rId5"/>
            </p:custDataLst>
          </p:nvPr>
        </p:nvSpPr>
        <p:spPr>
          <a:xfrm>
            <a:off x="3379466" y="5236019"/>
            <a:ext cx="360609" cy="392673"/>
          </a:xfrm>
          <a:prstGeom prst="downArrow">
            <a:avLst/>
          </a:prstGeom>
          <a:solidFill>
            <a:srgbClr val="1F59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3" name="组合 2">
            <a:extLst>
              <a:ext uri="{FF2B5EF4-FFF2-40B4-BE49-F238E27FC236}">
                <a16:creationId xmlns:a16="http://schemas.microsoft.com/office/drawing/2014/main" id="{603174A9-2D4A-801C-2726-3ADEC0A0B26C}"/>
              </a:ext>
            </a:extLst>
          </p:cNvPr>
          <p:cNvGrpSpPr/>
          <p:nvPr/>
        </p:nvGrpSpPr>
        <p:grpSpPr>
          <a:xfrm>
            <a:off x="6564628" y="2251519"/>
            <a:ext cx="4081598" cy="4136863"/>
            <a:chOff x="6564628" y="2251519"/>
            <a:chExt cx="4081598" cy="4136863"/>
          </a:xfrm>
        </p:grpSpPr>
        <p:grpSp>
          <p:nvGrpSpPr>
            <p:cNvPr id="18" name="组合 17">
              <a:extLst>
                <a:ext uri="{FF2B5EF4-FFF2-40B4-BE49-F238E27FC236}">
                  <a16:creationId xmlns:a16="http://schemas.microsoft.com/office/drawing/2014/main" id="{E2FCBCE9-2068-C37B-FF53-5F472B9FF5B7}"/>
                </a:ext>
              </a:extLst>
            </p:cNvPr>
            <p:cNvGrpSpPr/>
            <p:nvPr/>
          </p:nvGrpSpPr>
          <p:grpSpPr>
            <a:xfrm>
              <a:off x="6564628" y="2251519"/>
              <a:ext cx="4074123" cy="660450"/>
              <a:chOff x="4473874" y="6904626"/>
              <a:chExt cx="5382208" cy="343607"/>
            </a:xfrm>
            <a:solidFill>
              <a:srgbClr val="0070C0"/>
            </a:solidFill>
          </p:grpSpPr>
          <p:sp>
            <p:nvSpPr>
              <p:cNvPr id="19" name="矩形 18">
                <a:extLst>
                  <a:ext uri="{FF2B5EF4-FFF2-40B4-BE49-F238E27FC236}">
                    <a16:creationId xmlns:a16="http://schemas.microsoft.com/office/drawing/2014/main" id="{8996CCB4-0EB2-9F93-C42C-1917AADD1DDC}"/>
                  </a:ext>
                </a:extLst>
              </p:cNvPr>
              <p:cNvSpPr/>
              <p:nvPr>
                <p:custDataLst>
                  <p:tags r:id="rId12"/>
                </p:custDataLst>
              </p:nvPr>
            </p:nvSpPr>
            <p:spPr>
              <a:xfrm>
                <a:off x="4473874" y="6904626"/>
                <a:ext cx="5382208" cy="3436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20" name="文本框 19">
                <a:extLst>
                  <a:ext uri="{FF2B5EF4-FFF2-40B4-BE49-F238E27FC236}">
                    <a16:creationId xmlns:a16="http://schemas.microsoft.com/office/drawing/2014/main" id="{EC6F984A-40A9-0242-E6FF-68956FB29114}"/>
                  </a:ext>
                </a:extLst>
              </p:cNvPr>
              <p:cNvSpPr txBox="1"/>
              <p:nvPr>
                <p:custDataLst>
                  <p:tags r:id="rId13"/>
                </p:custDataLst>
              </p:nvPr>
            </p:nvSpPr>
            <p:spPr>
              <a:xfrm>
                <a:off x="4630887" y="6976185"/>
                <a:ext cx="4803699" cy="176137"/>
              </a:xfrm>
              <a:prstGeom prst="rect">
                <a:avLst/>
              </a:prstGeom>
              <a:grpFill/>
              <a:ln>
                <a:noFill/>
              </a:ln>
            </p:spPr>
            <p:txBody>
              <a:bodyPr wrap="square">
                <a:spAutoFit/>
              </a:bodyPr>
              <a:lstStyle/>
              <a:p>
                <a:r>
                  <a:rPr lang="zh-CN" altLang="en-US"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市大数据发展局、市级应用责任部门</a:t>
                </a:r>
              </a:p>
            </p:txBody>
          </p:sp>
        </p:grpSp>
        <p:grpSp>
          <p:nvGrpSpPr>
            <p:cNvPr id="21" name="组合 20">
              <a:extLst>
                <a:ext uri="{FF2B5EF4-FFF2-40B4-BE49-F238E27FC236}">
                  <a16:creationId xmlns:a16="http://schemas.microsoft.com/office/drawing/2014/main" id="{2CD9CE5C-C8EE-786A-46F6-525AED3B8FCD}"/>
                </a:ext>
              </a:extLst>
            </p:cNvPr>
            <p:cNvGrpSpPr/>
            <p:nvPr/>
          </p:nvGrpSpPr>
          <p:grpSpPr>
            <a:xfrm>
              <a:off x="6570555" y="3330172"/>
              <a:ext cx="4074123" cy="660450"/>
              <a:chOff x="4473874" y="7314208"/>
              <a:chExt cx="5382208" cy="343607"/>
            </a:xfrm>
            <a:solidFill>
              <a:srgbClr val="0070C0"/>
            </a:solidFill>
          </p:grpSpPr>
          <p:sp>
            <p:nvSpPr>
              <p:cNvPr id="22" name="矩形 21">
                <a:extLst>
                  <a:ext uri="{FF2B5EF4-FFF2-40B4-BE49-F238E27FC236}">
                    <a16:creationId xmlns:a16="http://schemas.microsoft.com/office/drawing/2014/main" id="{87AA4AB4-141A-B569-AEE1-507CE61F2B94}"/>
                  </a:ext>
                </a:extLst>
              </p:cNvPr>
              <p:cNvSpPr/>
              <p:nvPr>
                <p:custDataLst>
                  <p:tags r:id="rId10"/>
                </p:custDataLst>
              </p:nvPr>
            </p:nvSpPr>
            <p:spPr>
              <a:xfrm>
                <a:off x="4473874" y="7314208"/>
                <a:ext cx="5382208" cy="3436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23" name="文本框 22">
                <a:extLst>
                  <a:ext uri="{FF2B5EF4-FFF2-40B4-BE49-F238E27FC236}">
                    <a16:creationId xmlns:a16="http://schemas.microsoft.com/office/drawing/2014/main" id="{1CF4130A-6D2E-F674-2CCF-F7BF50CF10DE}"/>
                  </a:ext>
                </a:extLst>
              </p:cNvPr>
              <p:cNvSpPr txBox="1"/>
              <p:nvPr>
                <p:custDataLst>
                  <p:tags r:id="rId11"/>
                </p:custDataLst>
              </p:nvPr>
            </p:nvSpPr>
            <p:spPr>
              <a:xfrm>
                <a:off x="4623598" y="7395132"/>
                <a:ext cx="1576842" cy="176137"/>
              </a:xfrm>
              <a:prstGeom prst="rect">
                <a:avLst/>
              </a:prstGeom>
              <a:grpFill/>
              <a:ln>
                <a:noFill/>
              </a:ln>
            </p:spPr>
            <p:txBody>
              <a:bodyPr wrap="square">
                <a:spAutoFit/>
              </a:bodyPr>
              <a:lstStyle/>
              <a:p>
                <a:r>
                  <a:rPr lang="zh-CN" altLang="en-US"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市财政局</a:t>
                </a:r>
              </a:p>
            </p:txBody>
          </p:sp>
        </p:grpSp>
        <p:sp>
          <p:nvSpPr>
            <p:cNvPr id="24" name="矩形 23">
              <a:extLst>
                <a:ext uri="{FF2B5EF4-FFF2-40B4-BE49-F238E27FC236}">
                  <a16:creationId xmlns:a16="http://schemas.microsoft.com/office/drawing/2014/main" id="{D708F44C-EE96-6E9B-792A-8593AAD9A869}"/>
                </a:ext>
              </a:extLst>
            </p:cNvPr>
            <p:cNvSpPr/>
            <p:nvPr>
              <p:custDataLst>
                <p:tags r:id="rId6"/>
              </p:custDataLst>
            </p:nvPr>
          </p:nvSpPr>
          <p:spPr>
            <a:xfrm>
              <a:off x="6564628" y="4358026"/>
              <a:ext cx="4074123" cy="89255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ndParaRPr>
            </a:p>
          </p:txBody>
        </p:sp>
        <p:grpSp>
          <p:nvGrpSpPr>
            <p:cNvPr id="25" name="组合 24">
              <a:extLst>
                <a:ext uri="{FF2B5EF4-FFF2-40B4-BE49-F238E27FC236}">
                  <a16:creationId xmlns:a16="http://schemas.microsoft.com/office/drawing/2014/main" id="{10D9916A-9DA9-3E92-F71E-18FC2DA24965}"/>
                </a:ext>
              </a:extLst>
            </p:cNvPr>
            <p:cNvGrpSpPr/>
            <p:nvPr/>
          </p:nvGrpSpPr>
          <p:grpSpPr>
            <a:xfrm>
              <a:off x="6570705" y="5727932"/>
              <a:ext cx="4075521" cy="660450"/>
              <a:chOff x="4473874" y="8133371"/>
              <a:chExt cx="5382208" cy="343607"/>
            </a:xfrm>
            <a:solidFill>
              <a:srgbClr val="0070C0"/>
            </a:solidFill>
          </p:grpSpPr>
          <p:sp>
            <p:nvSpPr>
              <p:cNvPr id="26" name="矩形 25">
                <a:extLst>
                  <a:ext uri="{FF2B5EF4-FFF2-40B4-BE49-F238E27FC236}">
                    <a16:creationId xmlns:a16="http://schemas.microsoft.com/office/drawing/2014/main" id="{DAD8FD35-8A7F-ED07-0987-7277A9109398}"/>
                  </a:ext>
                </a:extLst>
              </p:cNvPr>
              <p:cNvSpPr/>
              <p:nvPr>
                <p:custDataLst>
                  <p:tags r:id="rId8"/>
                </p:custDataLst>
              </p:nvPr>
            </p:nvSpPr>
            <p:spPr>
              <a:xfrm>
                <a:off x="4473874" y="8133371"/>
                <a:ext cx="5382208" cy="3436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endParaRPr>
              </a:p>
            </p:txBody>
          </p:sp>
          <p:sp>
            <p:nvSpPr>
              <p:cNvPr id="27" name="文本框 26">
                <a:extLst>
                  <a:ext uri="{FF2B5EF4-FFF2-40B4-BE49-F238E27FC236}">
                    <a16:creationId xmlns:a16="http://schemas.microsoft.com/office/drawing/2014/main" id="{2293773A-9320-9A31-D071-6A7ADB9AE4D8}"/>
                  </a:ext>
                </a:extLst>
              </p:cNvPr>
              <p:cNvSpPr txBox="1"/>
              <p:nvPr>
                <p:custDataLst>
                  <p:tags r:id="rId9"/>
                </p:custDataLst>
              </p:nvPr>
            </p:nvSpPr>
            <p:spPr>
              <a:xfrm>
                <a:off x="4622808" y="8200338"/>
                <a:ext cx="1576841" cy="176137"/>
              </a:xfrm>
              <a:prstGeom prst="rect">
                <a:avLst/>
              </a:prstGeom>
              <a:grpFill/>
              <a:ln>
                <a:noFill/>
              </a:ln>
            </p:spPr>
            <p:txBody>
              <a:bodyPr wrap="square">
                <a:spAutoFit/>
              </a:bodyPr>
              <a:lstStyle/>
              <a:p>
                <a:r>
                  <a:rPr lang="zh-CN" altLang="en-US"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市财政局</a:t>
                </a:r>
              </a:p>
            </p:txBody>
          </p:sp>
        </p:grpSp>
        <p:sp>
          <p:nvSpPr>
            <p:cNvPr id="31" name="文本框 30">
              <a:extLst>
                <a:ext uri="{FF2B5EF4-FFF2-40B4-BE49-F238E27FC236}">
                  <a16:creationId xmlns:a16="http://schemas.microsoft.com/office/drawing/2014/main" id="{1A92A088-5446-C57B-B79D-5D422CD2DC10}"/>
                </a:ext>
              </a:extLst>
            </p:cNvPr>
            <p:cNvSpPr txBox="1"/>
            <p:nvPr>
              <p:custDataLst>
                <p:tags r:id="rId7"/>
              </p:custDataLst>
            </p:nvPr>
          </p:nvSpPr>
          <p:spPr>
            <a:xfrm>
              <a:off x="6695436" y="4590247"/>
              <a:ext cx="2171715" cy="421593"/>
            </a:xfrm>
            <a:prstGeom prst="rect">
              <a:avLst/>
            </a:prstGeom>
            <a:noFill/>
            <a:ln>
              <a:noFill/>
            </a:ln>
          </p:spPr>
          <p:txBody>
            <a:bodyPr wrap="square">
              <a:noAutofit/>
            </a:bodyPr>
            <a:lstStyle/>
            <a:p>
              <a:r>
                <a:rPr lang="zh-CN" altLang="en-US"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市财政局</a:t>
              </a:r>
            </a:p>
          </p:txBody>
        </p:sp>
      </p:grpSp>
      <p:sp>
        <p:nvSpPr>
          <p:cNvPr id="32" name="矩形 31">
            <a:extLst>
              <a:ext uri="{FF2B5EF4-FFF2-40B4-BE49-F238E27FC236}">
                <a16:creationId xmlns:a16="http://schemas.microsoft.com/office/drawing/2014/main" id="{24B4CB89-D934-F751-351B-842137883254}"/>
              </a:ext>
            </a:extLst>
          </p:cNvPr>
          <p:cNvSpPr/>
          <p:nvPr/>
        </p:nvSpPr>
        <p:spPr>
          <a:xfrm>
            <a:off x="1056637" y="2251307"/>
            <a:ext cx="511567" cy="410118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市财政局</a:t>
            </a:r>
          </a:p>
          <a:p>
            <a:pPr algn="ctr"/>
            <a:r>
              <a:rPr lang="zh-CN" altLang="en-US" sz="1600" b="1" dirty="0">
                <a:latin typeface="微软雅黑" panose="020B0503020204020204" pitchFamily="34" charset="-122"/>
                <a:ea typeface="微软雅黑" panose="020B0503020204020204" pitchFamily="34" charset="-122"/>
              </a:rPr>
              <a:t>、</a:t>
            </a:r>
          </a:p>
          <a:p>
            <a:pPr algn="ctr"/>
            <a:r>
              <a:rPr lang="zh-CN" altLang="en-US" sz="1600" b="1" dirty="0">
                <a:latin typeface="微软雅黑" panose="020B0503020204020204" pitchFamily="34" charset="-122"/>
                <a:ea typeface="微软雅黑" panose="020B0503020204020204" pitchFamily="34" charset="-122"/>
              </a:rPr>
              <a:t>市大数据发展局统筹</a:t>
            </a:r>
          </a:p>
        </p:txBody>
      </p:sp>
    </p:spTree>
    <p:extLst>
      <p:ext uri="{BB962C8B-B14F-4D97-AF65-F5344CB8AC3E}">
        <p14:creationId xmlns:p14="http://schemas.microsoft.com/office/powerpoint/2010/main" val="597628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顶角 88">
            <a:extLst>
              <a:ext uri="{FF2B5EF4-FFF2-40B4-BE49-F238E27FC236}">
                <a16:creationId xmlns:a16="http://schemas.microsoft.com/office/drawing/2014/main" id="{55910723-F282-E23B-CE8F-5818EF2BFD8F}"/>
              </a:ext>
            </a:extLst>
          </p:cNvPr>
          <p:cNvSpPr/>
          <p:nvPr/>
        </p:nvSpPr>
        <p:spPr>
          <a:xfrm flipV="1">
            <a:off x="6424882" y="1980096"/>
            <a:ext cx="4876284" cy="2432638"/>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2" name="矩形: 圆顶角 88">
            <a:extLst>
              <a:ext uri="{FF2B5EF4-FFF2-40B4-BE49-F238E27FC236}">
                <a16:creationId xmlns:a16="http://schemas.microsoft.com/office/drawing/2014/main" id="{2CD6B18C-A4CA-F1EB-DD55-33DB851D50D6}"/>
              </a:ext>
            </a:extLst>
          </p:cNvPr>
          <p:cNvSpPr/>
          <p:nvPr/>
        </p:nvSpPr>
        <p:spPr>
          <a:xfrm flipV="1">
            <a:off x="983596" y="1980096"/>
            <a:ext cx="5078934" cy="2432638"/>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4.2 </a:t>
            </a:r>
            <a:r>
              <a:rPr kumimoji="1" lang="zh-CN" altLang="en-US" dirty="0"/>
              <a:t>预算编制管理</a:t>
            </a:r>
          </a:p>
        </p:txBody>
      </p:sp>
      <p:grpSp>
        <p:nvGrpSpPr>
          <p:cNvPr id="11" name="组合 10">
            <a:extLst>
              <a:ext uri="{FF2B5EF4-FFF2-40B4-BE49-F238E27FC236}">
                <a16:creationId xmlns:a16="http://schemas.microsoft.com/office/drawing/2014/main" id="{F9308388-72BD-EC58-E862-F1761A61C0E0}"/>
              </a:ext>
            </a:extLst>
          </p:cNvPr>
          <p:cNvGrpSpPr/>
          <p:nvPr/>
        </p:nvGrpSpPr>
        <p:grpSpPr>
          <a:xfrm>
            <a:off x="794864" y="1752278"/>
            <a:ext cx="10506302" cy="4412338"/>
            <a:chOff x="668390" y="1567076"/>
            <a:chExt cx="11523610" cy="4745232"/>
          </a:xfrm>
        </p:grpSpPr>
        <p:sp>
          <p:nvSpPr>
            <p:cNvPr id="3" name="圆角矩形 57">
              <a:extLst>
                <a:ext uri="{FF2B5EF4-FFF2-40B4-BE49-F238E27FC236}">
                  <a16:creationId xmlns:a16="http://schemas.microsoft.com/office/drawing/2014/main" id="{0BD2578D-F49A-4001-34BE-7CCA1956F1C9}"/>
                </a:ext>
              </a:extLst>
            </p:cNvPr>
            <p:cNvSpPr/>
            <p:nvPr>
              <p:custDataLst>
                <p:tags r:id="rId1"/>
              </p:custDataLst>
            </p:nvPr>
          </p:nvSpPr>
          <p:spPr>
            <a:xfrm>
              <a:off x="875397" y="4699377"/>
              <a:ext cx="11316603" cy="1612931"/>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a:p>
          </p:txBody>
        </p:sp>
        <p:sp>
          <p:nvSpPr>
            <p:cNvPr id="6" name="文本框 5">
              <a:extLst>
                <a:ext uri="{FF2B5EF4-FFF2-40B4-BE49-F238E27FC236}">
                  <a16:creationId xmlns:a16="http://schemas.microsoft.com/office/drawing/2014/main" id="{9FB3CF43-DFC7-4A3D-23CD-5B4FB3CD78AB}"/>
                </a:ext>
              </a:extLst>
            </p:cNvPr>
            <p:cNvSpPr txBox="1"/>
            <p:nvPr/>
          </p:nvSpPr>
          <p:spPr>
            <a:xfrm>
              <a:off x="1095110" y="2210772"/>
              <a:ext cx="5238000" cy="2123693"/>
            </a:xfrm>
            <a:prstGeom prst="rect">
              <a:avLst/>
            </a:prstGeom>
            <a:ln>
              <a:noFill/>
            </a:ln>
          </p:spPr>
          <p:txBody>
            <a:bodyPr wrap="square">
              <a:spAutoFit/>
            </a:bodyPr>
            <a:lstStyle/>
            <a:p>
              <a:pPr>
                <a:lnSpc>
                  <a:spcPts val="3000"/>
                </a:lnSpc>
              </a:pPr>
              <a:r>
                <a:rPr lang="zh-CN" altLang="en-US" dirty="0">
                  <a:latin typeface="微软雅黑" panose="020B0503020204020204" pitchFamily="34" charset="-122"/>
                  <a:ea typeface="微软雅黑" panose="020B0503020204020204" pitchFamily="34" charset="-122"/>
                </a:rPr>
                <a:t>①根据应用需求，每年</a:t>
              </a:r>
              <a:r>
                <a:rPr lang="en-US" altLang="zh-CN" dirty="0">
                  <a:latin typeface="微软雅黑" panose="020B0503020204020204" pitchFamily="34" charset="-122"/>
                  <a:ea typeface="微软雅黑" panose="020B0503020204020204" pitchFamily="34" charset="-122"/>
                </a:rPr>
                <a:t>9</a:t>
              </a:r>
              <a:r>
                <a:rPr lang="zh-CN" altLang="en-US" dirty="0">
                  <a:latin typeface="微软雅黑" panose="020B0503020204020204" pitchFamily="34" charset="-122"/>
                  <a:ea typeface="微软雅黑" panose="020B0503020204020204" pitchFamily="34" charset="-122"/>
                </a:rPr>
                <a:t>月底前编制次年年初预算</a:t>
              </a:r>
            </a:p>
            <a:p>
              <a:pPr>
                <a:lnSpc>
                  <a:spcPts val="3000"/>
                </a:lnSpc>
              </a:pPr>
              <a:r>
                <a:rPr lang="zh-CN" altLang="en-US" dirty="0">
                  <a:latin typeface="微软雅黑" panose="020B0503020204020204" pitchFamily="34" charset="-122"/>
                  <a:ea typeface="微软雅黑" panose="020B0503020204020204" pitchFamily="34" charset="-122"/>
                </a:rPr>
                <a:t>②根据联合评审批复的应用项目名称、实施内容、实施周期、绩效目标等情况登记入库</a:t>
              </a:r>
            </a:p>
            <a:p>
              <a:pPr>
                <a:lnSpc>
                  <a:spcPts val="3000"/>
                </a:lnSpc>
              </a:pPr>
              <a:r>
                <a:rPr lang="zh-CN" altLang="en-US" dirty="0">
                  <a:latin typeface="微软雅黑" panose="020B0503020204020204" pitchFamily="34" charset="-122"/>
                  <a:ea typeface="微软雅黑" panose="020B0503020204020204" pitchFamily="34" charset="-122"/>
                </a:rPr>
                <a:t>③预算额度不得超过联合评审批复额度</a:t>
              </a:r>
            </a:p>
          </p:txBody>
        </p:sp>
        <p:sp>
          <p:nvSpPr>
            <p:cNvPr id="7" name="矩形: 圆角 6">
              <a:extLst>
                <a:ext uri="{FF2B5EF4-FFF2-40B4-BE49-F238E27FC236}">
                  <a16:creationId xmlns:a16="http://schemas.microsoft.com/office/drawing/2014/main" id="{206655C9-2D99-A96A-5664-68ACC0A433D8}"/>
                </a:ext>
              </a:extLst>
            </p:cNvPr>
            <p:cNvSpPr/>
            <p:nvPr/>
          </p:nvSpPr>
          <p:spPr>
            <a:xfrm>
              <a:off x="2097562" y="1604922"/>
              <a:ext cx="3296604" cy="501887"/>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en-US"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年初预算编制</a:t>
              </a:r>
            </a:p>
          </p:txBody>
        </p:sp>
        <p:sp>
          <p:nvSpPr>
            <p:cNvPr id="8" name="文本框 7">
              <a:extLst>
                <a:ext uri="{FF2B5EF4-FFF2-40B4-BE49-F238E27FC236}">
                  <a16:creationId xmlns:a16="http://schemas.microsoft.com/office/drawing/2014/main" id="{370028C7-3B07-872B-C4CB-F896ACF247A3}"/>
                </a:ext>
              </a:extLst>
            </p:cNvPr>
            <p:cNvSpPr txBox="1"/>
            <p:nvPr/>
          </p:nvSpPr>
          <p:spPr>
            <a:xfrm>
              <a:off x="6843554" y="2206877"/>
              <a:ext cx="4650170" cy="1978381"/>
            </a:xfrm>
            <a:prstGeom prst="rect">
              <a:avLst/>
            </a:prstGeom>
            <a:noFill/>
            <a:ln w="9525">
              <a:noFill/>
            </a:ln>
          </p:spPr>
          <p:txBody>
            <a:bodyPr wrap="square">
              <a:noAutofit/>
            </a:bodyPr>
            <a:lstStyle/>
            <a:p>
              <a:pPr indent="406400">
                <a:lnSpc>
                  <a:spcPts val="3000"/>
                </a:lnSpc>
              </a:pPr>
              <a:r>
                <a:rPr lang="zh-CN" altLang="en-US"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①党中央、国务院，国家部委，市</a:t>
              </a:r>
              <a:r>
                <a:rPr lang="en-US" altLang="zh-CN"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   </a:t>
              </a:r>
            </a:p>
            <a:p>
              <a:pPr indent="406400">
                <a:lnSpc>
                  <a:spcPts val="3000"/>
                </a:lnSpc>
              </a:pPr>
              <a:r>
                <a:rPr lang="zh-CN" altLang="en-US"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委、市政府要求</a:t>
              </a:r>
            </a:p>
            <a:p>
              <a:pPr indent="406400">
                <a:lnSpc>
                  <a:spcPts val="3000"/>
                </a:lnSpc>
              </a:pPr>
              <a:r>
                <a:rPr lang="zh-CN" altLang="en-US"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②开发项目或运维项目</a:t>
              </a:r>
            </a:p>
            <a:p>
              <a:pPr indent="406400">
                <a:lnSpc>
                  <a:spcPts val="3000"/>
                </a:lnSpc>
              </a:pPr>
              <a:r>
                <a:rPr lang="zh-CN" altLang="en-US"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③联合评审后批复</a:t>
              </a:r>
            </a:p>
            <a:p>
              <a:pPr indent="406400">
                <a:lnSpc>
                  <a:spcPts val="3000"/>
                </a:lnSpc>
              </a:pPr>
              <a:r>
                <a:rPr lang="zh-CN" altLang="en-US"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④当年</a:t>
              </a:r>
              <a:r>
                <a:rPr lang="en-US" altLang="zh-CN"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6</a:t>
              </a:r>
              <a:r>
                <a:rPr lang="zh-CN" altLang="en-US"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月</a:t>
              </a:r>
              <a:r>
                <a:rPr lang="en-US" altLang="zh-CN"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30</a:t>
              </a:r>
              <a:r>
                <a:rPr lang="zh-CN" altLang="en-US" b="0" dirty="0">
                  <a:solidFill>
                    <a:srgbClr val="000000"/>
                  </a:solidFill>
                  <a:latin typeface="微软雅黑" panose="020B0503020204020204" pitchFamily="34" charset="-122"/>
                  <a:ea typeface="微软雅黑" panose="020B0503020204020204" pitchFamily="34" charset="-122"/>
                  <a:cs typeface="方正仿宋_GBK" panose="02000000000000000000" charset="-122"/>
                </a:rPr>
                <a:t>日前下达资金</a:t>
              </a:r>
            </a:p>
          </p:txBody>
        </p:sp>
        <p:sp>
          <p:nvSpPr>
            <p:cNvPr id="9" name="矩形: 圆角 7">
              <a:extLst>
                <a:ext uri="{FF2B5EF4-FFF2-40B4-BE49-F238E27FC236}">
                  <a16:creationId xmlns:a16="http://schemas.microsoft.com/office/drawing/2014/main" id="{F2F5735F-E591-4F12-5D65-8AFFCBF99120}"/>
                </a:ext>
              </a:extLst>
            </p:cNvPr>
            <p:cNvSpPr/>
            <p:nvPr>
              <p:custDataLst>
                <p:tags r:id="rId2"/>
              </p:custDataLst>
            </p:nvPr>
          </p:nvSpPr>
          <p:spPr>
            <a:xfrm>
              <a:off x="8066139" y="1567076"/>
              <a:ext cx="3163789" cy="501887"/>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en-US"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年中预算追加</a:t>
              </a:r>
            </a:p>
          </p:txBody>
        </p:sp>
        <p:sp>
          <p:nvSpPr>
            <p:cNvPr id="10" name="文本框 9">
              <a:extLst>
                <a:ext uri="{FF2B5EF4-FFF2-40B4-BE49-F238E27FC236}">
                  <a16:creationId xmlns:a16="http://schemas.microsoft.com/office/drawing/2014/main" id="{E81194F0-BDE0-CE13-37A4-1FBA3DF36AE6}"/>
                </a:ext>
              </a:extLst>
            </p:cNvPr>
            <p:cNvSpPr txBox="1"/>
            <p:nvPr/>
          </p:nvSpPr>
          <p:spPr>
            <a:xfrm>
              <a:off x="668390" y="4793178"/>
              <a:ext cx="10931015" cy="1154206"/>
            </a:xfrm>
            <a:prstGeom prst="rect">
              <a:avLst/>
            </a:prstGeom>
            <a:noFill/>
            <a:ln w="9525">
              <a:noFill/>
            </a:ln>
          </p:spPr>
          <p:txBody>
            <a:bodyPr wrap="square">
              <a:noAutofit/>
            </a:bodyPr>
            <a:lstStyle/>
            <a:p>
              <a:pPr indent="406400" algn="ctr">
                <a:lnSpc>
                  <a:spcPts val="3400"/>
                </a:lnSpc>
              </a:pPr>
              <a:r>
                <a:rPr lang="zh-CN" altLang="en-US" sz="1600" b="1" dirty="0">
                  <a:solidFill>
                    <a:schemeClr val="bg1"/>
                  </a:solidFill>
                  <a:latin typeface="微软雅黑" panose="020B0503020204020204" pitchFamily="34" charset="-122"/>
                  <a:ea typeface="微软雅黑" panose="020B0503020204020204" pitchFamily="34" charset="-122"/>
                  <a:cs typeface="方正仿宋_GBK" panose="02000000000000000000" charset="-122"/>
                </a:rPr>
                <a:t>①严格按批复内容实施</a:t>
              </a:r>
            </a:p>
            <a:p>
              <a:pPr indent="406400" algn="ctr">
                <a:lnSpc>
                  <a:spcPts val="3400"/>
                </a:lnSpc>
              </a:pPr>
              <a:r>
                <a:rPr lang="zh-CN" altLang="en-US" sz="1600" b="1" dirty="0">
                  <a:solidFill>
                    <a:schemeClr val="bg1"/>
                  </a:solidFill>
                  <a:latin typeface="微软雅黑" panose="020B0503020204020204" pitchFamily="34" charset="-122"/>
                  <a:ea typeface="微软雅黑" panose="020B0503020204020204" pitchFamily="34" charset="-122"/>
                  <a:cs typeface="方正仿宋_GBK" panose="02000000000000000000" charset="-122"/>
                </a:rPr>
                <a:t>②不得随意变更资金使用方向和内容</a:t>
              </a:r>
            </a:p>
            <a:p>
              <a:pPr indent="406400" algn="ctr">
                <a:lnSpc>
                  <a:spcPts val="3400"/>
                </a:lnSpc>
              </a:pPr>
              <a:r>
                <a:rPr lang="zh-CN" altLang="en-US" sz="1600" b="1" dirty="0">
                  <a:solidFill>
                    <a:schemeClr val="bg1"/>
                  </a:solidFill>
                  <a:latin typeface="微软雅黑" panose="020B0503020204020204" pitchFamily="34" charset="-122"/>
                  <a:ea typeface="微软雅黑" panose="020B0503020204020204" pitchFamily="34" charset="-122"/>
                  <a:cs typeface="方正仿宋_GBK" panose="02000000000000000000" charset="-122"/>
                </a:rPr>
                <a:t>③确需变更的履行规范的预算调整调剂程序</a:t>
              </a:r>
            </a:p>
          </p:txBody>
        </p:sp>
      </p:grpSp>
    </p:spTree>
    <p:extLst>
      <p:ext uri="{BB962C8B-B14F-4D97-AF65-F5344CB8AC3E}">
        <p14:creationId xmlns:p14="http://schemas.microsoft.com/office/powerpoint/2010/main" val="10593004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4.3 2023</a:t>
            </a:r>
            <a:r>
              <a:rPr kumimoji="1" lang="zh-CN" altLang="en-US" dirty="0"/>
              <a:t>年追加预算流程（存量应用）</a:t>
            </a:r>
          </a:p>
        </p:txBody>
      </p:sp>
      <p:grpSp>
        <p:nvGrpSpPr>
          <p:cNvPr id="14" name="组合 13">
            <a:extLst>
              <a:ext uri="{FF2B5EF4-FFF2-40B4-BE49-F238E27FC236}">
                <a16:creationId xmlns:a16="http://schemas.microsoft.com/office/drawing/2014/main" id="{D1C3A94E-5A85-229C-822C-99F2647FF3AB}"/>
              </a:ext>
            </a:extLst>
          </p:cNvPr>
          <p:cNvGrpSpPr/>
          <p:nvPr/>
        </p:nvGrpSpPr>
        <p:grpSpPr>
          <a:xfrm>
            <a:off x="794241" y="1908576"/>
            <a:ext cx="10515601" cy="4394311"/>
            <a:chOff x="794241" y="1908576"/>
            <a:chExt cx="11532235" cy="4394311"/>
          </a:xfrm>
          <a:noFill/>
        </p:grpSpPr>
        <p:sp>
          <p:nvSpPr>
            <p:cNvPr id="3" name="下箭头 7">
              <a:extLst>
                <a:ext uri="{FF2B5EF4-FFF2-40B4-BE49-F238E27FC236}">
                  <a16:creationId xmlns:a16="http://schemas.microsoft.com/office/drawing/2014/main" id="{71B2FF57-5947-BD88-7547-2D3CFDEECD83}"/>
                </a:ext>
              </a:extLst>
            </p:cNvPr>
            <p:cNvSpPr/>
            <p:nvPr/>
          </p:nvSpPr>
          <p:spPr>
            <a:xfrm>
              <a:off x="2644414" y="3022176"/>
              <a:ext cx="576580" cy="296211"/>
            </a:xfrm>
            <a:prstGeom prst="downArrow">
              <a:avLst/>
            </a:prstGeom>
            <a:grp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tx1"/>
                </a:solidFill>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709ACD80-0563-6510-3F1F-B81CCF4DAB84}"/>
                </a:ext>
              </a:extLst>
            </p:cNvPr>
            <p:cNvSpPr/>
            <p:nvPr/>
          </p:nvSpPr>
          <p:spPr>
            <a:xfrm>
              <a:off x="1315570" y="1908576"/>
              <a:ext cx="3741420" cy="1046154"/>
            </a:xfrm>
            <a:prstGeom prst="roundRect">
              <a:avLst>
                <a:gd name="adj" fmla="val 3364"/>
              </a:avLst>
            </a:prstGeom>
            <a:grp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pitchFamily="34" charset="-122"/>
                  <a:ea typeface="微软雅黑" panose="020B0503020204020204" pitchFamily="34" charset="-122"/>
                </a:rPr>
                <a:t>第一步：纳入“一本账”</a:t>
              </a:r>
            </a:p>
          </p:txBody>
        </p:sp>
        <p:sp>
          <p:nvSpPr>
            <p:cNvPr id="5" name="矩形: 圆角 4">
              <a:extLst>
                <a:ext uri="{FF2B5EF4-FFF2-40B4-BE49-F238E27FC236}">
                  <a16:creationId xmlns:a16="http://schemas.microsoft.com/office/drawing/2014/main" id="{6C8DD87D-CB37-2C1F-0142-178EC12A7564}"/>
                </a:ext>
              </a:extLst>
            </p:cNvPr>
            <p:cNvSpPr/>
            <p:nvPr/>
          </p:nvSpPr>
          <p:spPr>
            <a:xfrm>
              <a:off x="5189069" y="1908576"/>
              <a:ext cx="6561245" cy="1046154"/>
            </a:xfrm>
            <a:prstGeom prst="roundRect">
              <a:avLst>
                <a:gd name="adj" fmla="val 3364"/>
              </a:avLst>
            </a:prstGeom>
            <a:grp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应用责任部门将需要整合迭代的存量应用须梳理“三张清单”，并在</a:t>
              </a:r>
              <a:r>
                <a:rPr lang="en-US" altLang="zh-CN" sz="1600" b="1" dirty="0">
                  <a:solidFill>
                    <a:srgbClr val="C00000"/>
                  </a:solidFill>
                  <a:latin typeface="微软雅黑" panose="020B0503020204020204" pitchFamily="34" charset="-122"/>
                  <a:ea typeface="微软雅黑" panose="020B0503020204020204" pitchFamily="34" charset="-122"/>
                </a:rPr>
                <a:t>2023</a:t>
              </a:r>
              <a:r>
                <a:rPr lang="zh-CN" altLang="en-US" sz="1600" b="1" dirty="0">
                  <a:solidFill>
                    <a:srgbClr val="C00000"/>
                  </a:solidFill>
                  <a:latin typeface="微软雅黑" panose="020B0503020204020204" pitchFamily="34" charset="-122"/>
                  <a:ea typeface="微软雅黑" panose="020B0503020204020204" pitchFamily="34" charset="-122"/>
                </a:rPr>
                <a:t>年</a:t>
              </a:r>
              <a:r>
                <a:rPr lang="en-US" altLang="zh-CN" sz="1600" b="1" dirty="0">
                  <a:solidFill>
                    <a:srgbClr val="C00000"/>
                  </a:solidFill>
                  <a:latin typeface="微软雅黑" panose="020B0503020204020204" pitchFamily="34" charset="-122"/>
                  <a:ea typeface="微软雅黑" panose="020B0503020204020204" pitchFamily="34" charset="-122"/>
                </a:rPr>
                <a:t>9</a:t>
              </a:r>
              <a:r>
                <a:rPr lang="zh-CN" altLang="en-US" sz="1600" b="1" dirty="0">
                  <a:solidFill>
                    <a:srgbClr val="C00000"/>
                  </a:solidFill>
                  <a:latin typeface="微软雅黑" panose="020B0503020204020204" pitchFamily="34" charset="-122"/>
                  <a:ea typeface="微软雅黑" panose="020B0503020204020204" pitchFamily="34" charset="-122"/>
                </a:rPr>
                <a:t>月底前</a:t>
              </a:r>
              <a:r>
                <a:rPr lang="zh-CN" altLang="en-US" sz="1600" dirty="0">
                  <a:solidFill>
                    <a:schemeClr val="tx1"/>
                  </a:solidFill>
                  <a:latin typeface="微软雅黑" panose="020B0503020204020204" pitchFamily="34" charset="-122"/>
                  <a:ea typeface="微软雅黑" panose="020B0503020204020204" pitchFamily="34" charset="-122"/>
                </a:rPr>
                <a:t>完成审查，纳入“一本账”。</a:t>
              </a:r>
            </a:p>
          </p:txBody>
        </p:sp>
        <p:sp>
          <p:nvSpPr>
            <p:cNvPr id="6" name="下箭头 7">
              <a:extLst>
                <a:ext uri="{FF2B5EF4-FFF2-40B4-BE49-F238E27FC236}">
                  <a16:creationId xmlns:a16="http://schemas.microsoft.com/office/drawing/2014/main" id="{F3F91ED2-EE60-2EAB-89AB-1AFEDE678C9B}"/>
                </a:ext>
              </a:extLst>
            </p:cNvPr>
            <p:cNvSpPr/>
            <p:nvPr/>
          </p:nvSpPr>
          <p:spPr>
            <a:xfrm>
              <a:off x="2644414" y="4558876"/>
              <a:ext cx="576580" cy="296211"/>
            </a:xfrm>
            <a:prstGeom prst="downArrow">
              <a:avLst/>
            </a:prstGeom>
            <a:grp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tx1"/>
                </a:solidFill>
                <a:latin typeface="微软雅黑" panose="020B0503020204020204" pitchFamily="34" charset="-122"/>
                <a:ea typeface="微软雅黑" panose="020B0503020204020204" pitchFamily="34" charset="-122"/>
              </a:endParaRPr>
            </a:p>
          </p:txBody>
        </p:sp>
        <p:sp>
          <p:nvSpPr>
            <p:cNvPr id="7" name="矩形: 圆角 6">
              <a:extLst>
                <a:ext uri="{FF2B5EF4-FFF2-40B4-BE49-F238E27FC236}">
                  <a16:creationId xmlns:a16="http://schemas.microsoft.com/office/drawing/2014/main" id="{A46A30D6-79D2-EBEF-76E7-93FC194E32C1}"/>
                </a:ext>
              </a:extLst>
            </p:cNvPr>
            <p:cNvSpPr/>
            <p:nvPr/>
          </p:nvSpPr>
          <p:spPr>
            <a:xfrm>
              <a:off x="1315570" y="3445276"/>
              <a:ext cx="3741420" cy="1046154"/>
            </a:xfrm>
            <a:prstGeom prst="roundRect">
              <a:avLst>
                <a:gd name="adj" fmla="val 3364"/>
              </a:avLst>
            </a:prstGeom>
            <a:grp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rtl="0" eaLnBrk="1" fontAlgn="t" latinLnBrk="0" hangingPunct="1">
                <a:spcBef>
                  <a:spcPts val="0"/>
                </a:spcBef>
                <a:spcAft>
                  <a:spcPts val="0"/>
                </a:spcAft>
                <a:buClrTx/>
                <a:buSzTx/>
                <a:buFontTx/>
              </a:pPr>
              <a:r>
                <a:rPr lang="zh-CN" altLang="en-US" b="1" dirty="0">
                  <a:solidFill>
                    <a:srgbClr val="C00000"/>
                  </a:solidFill>
                  <a:effectLst/>
                  <a:latin typeface="微软雅黑" panose="020B0503020204020204" pitchFamily="34" charset="-122"/>
                  <a:ea typeface="微软雅黑" panose="020B0503020204020204" pitchFamily="34" charset="-122"/>
                </a:rPr>
                <a:t>第二步：编制应用开发方案</a:t>
              </a:r>
            </a:p>
          </p:txBody>
        </p:sp>
        <p:sp>
          <p:nvSpPr>
            <p:cNvPr id="8" name="矩形: 圆角 7">
              <a:extLst>
                <a:ext uri="{FF2B5EF4-FFF2-40B4-BE49-F238E27FC236}">
                  <a16:creationId xmlns:a16="http://schemas.microsoft.com/office/drawing/2014/main" id="{92485D1E-E4B3-F455-9CB7-57B2AB51C1E6}"/>
                </a:ext>
              </a:extLst>
            </p:cNvPr>
            <p:cNvSpPr/>
            <p:nvPr/>
          </p:nvSpPr>
          <p:spPr>
            <a:xfrm>
              <a:off x="5189069" y="3445276"/>
              <a:ext cx="6561245" cy="1046154"/>
            </a:xfrm>
            <a:prstGeom prst="roundRect">
              <a:avLst>
                <a:gd name="adj" fmla="val 3364"/>
              </a:avLst>
            </a:prstGeom>
            <a:grp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应用责任部门须按照“以保留的核心业务子应用为基础支撑，推动其他业务子应用在此基础上进行整合迭代和融合贯通”原则，编制开发方案。</a:t>
              </a:r>
            </a:p>
          </p:txBody>
        </p:sp>
        <p:sp>
          <p:nvSpPr>
            <p:cNvPr id="9" name="下箭头 7">
              <a:extLst>
                <a:ext uri="{FF2B5EF4-FFF2-40B4-BE49-F238E27FC236}">
                  <a16:creationId xmlns:a16="http://schemas.microsoft.com/office/drawing/2014/main" id="{49805AF0-74D0-3D40-2A53-99508A99584C}"/>
                </a:ext>
              </a:extLst>
            </p:cNvPr>
            <p:cNvSpPr/>
            <p:nvPr/>
          </p:nvSpPr>
          <p:spPr>
            <a:xfrm>
              <a:off x="2720614" y="6006676"/>
              <a:ext cx="576580" cy="296211"/>
            </a:xfrm>
            <a:prstGeom prst="downArrow">
              <a:avLst/>
            </a:prstGeom>
            <a:grp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tx1"/>
                </a:solidFill>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73000957-5B7C-7823-029B-E70922A47591}"/>
                </a:ext>
              </a:extLst>
            </p:cNvPr>
            <p:cNvSpPr/>
            <p:nvPr/>
          </p:nvSpPr>
          <p:spPr>
            <a:xfrm>
              <a:off x="1321291" y="4893187"/>
              <a:ext cx="3811905" cy="1045845"/>
            </a:xfrm>
            <a:prstGeom prst="roundRect">
              <a:avLst>
                <a:gd name="adj" fmla="val 3364"/>
              </a:avLst>
            </a:prstGeom>
            <a:grp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rtl="0" eaLnBrk="1" fontAlgn="t" latinLnBrk="0" hangingPunct="1">
                <a:spcBef>
                  <a:spcPts val="0"/>
                </a:spcBef>
                <a:spcAft>
                  <a:spcPts val="0"/>
                </a:spcAft>
              </a:pPr>
              <a:r>
                <a:rPr lang="zh-CN" altLang="en-US" b="1" i="0" u="none" strike="noStrike" dirty="0">
                  <a:solidFill>
                    <a:srgbClr val="C00000"/>
                  </a:solidFill>
                  <a:effectLst/>
                  <a:latin typeface="微软雅黑" panose="020B0503020204020204" pitchFamily="34" charset="-122"/>
                  <a:ea typeface="微软雅黑" panose="020B0503020204020204" pitchFamily="34" charset="-122"/>
                </a:rPr>
                <a:t>第三步：应用开发方案审核</a:t>
              </a:r>
            </a:p>
          </p:txBody>
        </p:sp>
        <p:sp>
          <p:nvSpPr>
            <p:cNvPr id="11" name="矩形: 圆角 10">
              <a:extLst>
                <a:ext uri="{FF2B5EF4-FFF2-40B4-BE49-F238E27FC236}">
                  <a16:creationId xmlns:a16="http://schemas.microsoft.com/office/drawing/2014/main" id="{9698926A-AEB1-2987-930D-038FBBB14DF2}"/>
                </a:ext>
              </a:extLst>
            </p:cNvPr>
            <p:cNvSpPr/>
            <p:nvPr/>
          </p:nvSpPr>
          <p:spPr>
            <a:xfrm>
              <a:off x="5265269" y="4893076"/>
              <a:ext cx="6561245" cy="1046154"/>
            </a:xfrm>
            <a:prstGeom prst="roundRect">
              <a:avLst>
                <a:gd name="adj" fmla="val 3364"/>
              </a:avLst>
            </a:prstGeom>
            <a:grp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zh-CN" altLang="zh-CN" sz="1600" dirty="0">
                  <a:solidFill>
                    <a:schemeClr val="tx1"/>
                  </a:solidFill>
                  <a:latin typeface="微软雅黑" panose="020B0503020204020204" pitchFamily="34" charset="-122"/>
                  <a:ea typeface="微软雅黑" panose="020B0503020204020204" pitchFamily="34" charset="-122"/>
                  <a:cs typeface="方正仿宋_GBK" panose="02000000000000000000" charset="-122"/>
                  <a:sym typeface="+mn-ea"/>
                </a:rPr>
                <a:t>按照“通过一个、追加一个”的原则，市大数据发展局会同三部门联合评审后下达批复文件，可在</a:t>
              </a:r>
              <a:r>
                <a:rPr lang="en-US" altLang="zh-CN" sz="16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11</a:t>
              </a:r>
              <a:r>
                <a:rPr lang="zh-CN" altLang="en-US" sz="16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月底前</a:t>
              </a:r>
              <a:r>
                <a:rPr lang="zh-CN" altLang="zh-CN" sz="1600" dirty="0">
                  <a:solidFill>
                    <a:schemeClr val="tx1"/>
                  </a:solidFill>
                  <a:latin typeface="微软雅黑" panose="020B0503020204020204" pitchFamily="34" charset="-122"/>
                  <a:ea typeface="微软雅黑" panose="020B0503020204020204" pitchFamily="34" charset="-122"/>
                  <a:cs typeface="方正仿宋_GBK" panose="02000000000000000000" charset="-122"/>
                  <a:sym typeface="+mn-ea"/>
                </a:rPr>
                <a:t>按程序追加资金。</a:t>
              </a:r>
            </a:p>
          </p:txBody>
        </p:sp>
        <p:sp>
          <p:nvSpPr>
            <p:cNvPr id="12" name="矩形 11">
              <a:extLst>
                <a:ext uri="{FF2B5EF4-FFF2-40B4-BE49-F238E27FC236}">
                  <a16:creationId xmlns:a16="http://schemas.microsoft.com/office/drawing/2014/main" id="{82A083BB-B2C7-3081-F6E8-649379C6FA5D}"/>
                </a:ext>
              </a:extLst>
            </p:cNvPr>
            <p:cNvSpPr/>
            <p:nvPr/>
          </p:nvSpPr>
          <p:spPr>
            <a:xfrm>
              <a:off x="794241" y="1908687"/>
              <a:ext cx="443865" cy="4021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市大数据发展局</a:t>
              </a:r>
            </a:p>
            <a:p>
              <a:pPr algn="ctr"/>
              <a:r>
                <a:rPr lang="zh-CN" altLang="en-US" sz="1600" b="1" dirty="0">
                  <a:latin typeface="微软雅黑" panose="020B0503020204020204" pitchFamily="34" charset="-122"/>
                  <a:ea typeface="微软雅黑" panose="020B0503020204020204" pitchFamily="34" charset="-122"/>
                </a:rPr>
                <a:t>、</a:t>
              </a:r>
            </a:p>
            <a:p>
              <a:pPr algn="ctr"/>
              <a:r>
                <a:rPr lang="zh-CN" altLang="en-US" sz="1600" b="1" dirty="0">
                  <a:latin typeface="微软雅黑" panose="020B0503020204020204" pitchFamily="34" charset="-122"/>
                  <a:ea typeface="微软雅黑" panose="020B0503020204020204" pitchFamily="34" charset="-122"/>
                </a:rPr>
                <a:t>市财政局统筹</a:t>
              </a:r>
            </a:p>
          </p:txBody>
        </p:sp>
        <p:sp>
          <p:nvSpPr>
            <p:cNvPr id="13" name="矩形 12">
              <a:extLst>
                <a:ext uri="{FF2B5EF4-FFF2-40B4-BE49-F238E27FC236}">
                  <a16:creationId xmlns:a16="http://schemas.microsoft.com/office/drawing/2014/main" id="{35AC4662-DCF4-60A9-3D37-96E979772A13}"/>
                </a:ext>
              </a:extLst>
            </p:cNvPr>
            <p:cNvSpPr/>
            <p:nvPr/>
          </p:nvSpPr>
          <p:spPr>
            <a:xfrm>
              <a:off x="11882611" y="1908576"/>
              <a:ext cx="443865" cy="40304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sym typeface="+mn-ea"/>
                </a:rPr>
                <a:t>应用全周期管理系统线上申报</a:t>
              </a:r>
            </a:p>
          </p:txBody>
        </p:sp>
      </p:grpSp>
    </p:spTree>
    <p:extLst>
      <p:ext uri="{BB962C8B-B14F-4D97-AF65-F5344CB8AC3E}">
        <p14:creationId xmlns:p14="http://schemas.microsoft.com/office/powerpoint/2010/main" val="2306874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顶角 88">
            <a:extLst>
              <a:ext uri="{FF2B5EF4-FFF2-40B4-BE49-F238E27FC236}">
                <a16:creationId xmlns:a16="http://schemas.microsoft.com/office/drawing/2014/main" id="{12FA0D30-10D8-3CD0-E208-8F744FA25A53}"/>
              </a:ext>
            </a:extLst>
          </p:cNvPr>
          <p:cNvSpPr/>
          <p:nvPr/>
        </p:nvSpPr>
        <p:spPr>
          <a:xfrm flipV="1">
            <a:off x="819235" y="1970377"/>
            <a:ext cx="10561132" cy="4308074"/>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4.4 </a:t>
            </a:r>
            <a:r>
              <a:rPr kumimoji="1" lang="zh-CN" altLang="en-US" dirty="0"/>
              <a:t>特别说明</a:t>
            </a:r>
          </a:p>
        </p:txBody>
      </p:sp>
      <p:grpSp>
        <p:nvGrpSpPr>
          <p:cNvPr id="20" name="组合 19">
            <a:extLst>
              <a:ext uri="{FF2B5EF4-FFF2-40B4-BE49-F238E27FC236}">
                <a16:creationId xmlns:a16="http://schemas.microsoft.com/office/drawing/2014/main" id="{044135EF-7D1C-B311-5070-3CD7AF95F712}"/>
              </a:ext>
            </a:extLst>
          </p:cNvPr>
          <p:cNvGrpSpPr/>
          <p:nvPr/>
        </p:nvGrpSpPr>
        <p:grpSpPr>
          <a:xfrm>
            <a:off x="811633" y="2304606"/>
            <a:ext cx="10987077" cy="3587755"/>
            <a:chOff x="622300" y="2291502"/>
            <a:chExt cx="11252412" cy="3713248"/>
          </a:xfrm>
        </p:grpSpPr>
        <p:sp>
          <p:nvSpPr>
            <p:cNvPr id="4" name="文本框 3">
              <a:extLst>
                <a:ext uri="{FF2B5EF4-FFF2-40B4-BE49-F238E27FC236}">
                  <a16:creationId xmlns:a16="http://schemas.microsoft.com/office/drawing/2014/main" id="{C537BFE2-4C44-BF42-F0BF-56D9101856CF}"/>
                </a:ext>
              </a:extLst>
            </p:cNvPr>
            <p:cNvSpPr txBox="1"/>
            <p:nvPr/>
          </p:nvSpPr>
          <p:spPr>
            <a:xfrm>
              <a:off x="3094567" y="5622500"/>
              <a:ext cx="3844713" cy="382250"/>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sym typeface="+mn-ea"/>
                </a:rPr>
                <a:t>云、网等</a:t>
              </a:r>
              <a:r>
                <a:rPr lang="zh-CN" altLang="en-US" b="1" dirty="0">
                  <a:latin typeface="微软雅黑" panose="020B0503020204020204" pitchFamily="34" charset="-122"/>
                  <a:ea typeface="微软雅黑" panose="020B0503020204020204" pitchFamily="34" charset="-122"/>
                </a:rPr>
                <a:t>数字资源有关费用</a:t>
              </a:r>
            </a:p>
          </p:txBody>
        </p:sp>
        <p:sp>
          <p:nvSpPr>
            <p:cNvPr id="5" name="任意多边形 23">
              <a:extLst>
                <a:ext uri="{FF2B5EF4-FFF2-40B4-BE49-F238E27FC236}">
                  <a16:creationId xmlns:a16="http://schemas.microsoft.com/office/drawing/2014/main" id="{4FCD77A5-7D6A-2521-A2FC-4080F5BA6E58}"/>
                </a:ext>
              </a:extLst>
            </p:cNvPr>
            <p:cNvSpPr/>
            <p:nvPr>
              <p:custDataLst>
                <p:tags r:id="rId1"/>
              </p:custDataLst>
            </p:nvPr>
          </p:nvSpPr>
          <p:spPr>
            <a:xfrm>
              <a:off x="3907579" y="4785994"/>
              <a:ext cx="2392045" cy="644313"/>
            </a:xfrm>
            <a:custGeom>
              <a:avLst/>
              <a:gdLst/>
              <a:ahLst/>
              <a:cxnLst>
                <a:cxn ang="3">
                  <a:pos x="hc" y="t"/>
                </a:cxn>
                <a:cxn ang="cd2">
                  <a:pos x="l" y="vc"/>
                </a:cxn>
                <a:cxn ang="cd4">
                  <a:pos x="hc" y="b"/>
                </a:cxn>
                <a:cxn ang="0">
                  <a:pos x="r" y="vc"/>
                </a:cxn>
              </a:cxnLst>
              <a:rect l="l" t="t" r="r" b="b"/>
              <a:pathLst>
                <a:path w="3768" h="1015">
                  <a:moveTo>
                    <a:pt x="0" y="0"/>
                  </a:moveTo>
                  <a:lnTo>
                    <a:pt x="3765" y="0"/>
                  </a:lnTo>
                  <a:lnTo>
                    <a:pt x="3765" y="594"/>
                  </a:lnTo>
                  <a:lnTo>
                    <a:pt x="3766" y="602"/>
                  </a:lnTo>
                  <a:lnTo>
                    <a:pt x="3767" y="613"/>
                  </a:lnTo>
                  <a:cubicBezTo>
                    <a:pt x="3799" y="838"/>
                    <a:pt x="2831" y="1021"/>
                    <a:pt x="1884" y="1015"/>
                  </a:cubicBezTo>
                  <a:cubicBezTo>
                    <a:pt x="844" y="1023"/>
                    <a:pt x="-1" y="820"/>
                    <a:pt x="1" y="624"/>
                  </a:cubicBezTo>
                  <a:lnTo>
                    <a:pt x="0" y="624"/>
                  </a:lnTo>
                  <a:lnTo>
                    <a:pt x="0" y="0"/>
                  </a:lnTo>
                  <a:close/>
                </a:path>
              </a:pathLst>
            </a:custGeom>
            <a:solidFill>
              <a:srgbClr val="3498DB"/>
            </a:solidFill>
            <a:ln w="12700" cap="flat" cmpd="sng" algn="ctr">
              <a:noFill/>
              <a:prstDash val="solid"/>
              <a:miter lim="800000"/>
            </a:ln>
            <a:effectLst/>
          </p:spPr>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id="{BDFC67E1-7379-E2B6-12DE-CA4AB324596E}"/>
                </a:ext>
              </a:extLst>
            </p:cNvPr>
            <p:cNvSpPr/>
            <p:nvPr>
              <p:custDataLst>
                <p:tags r:id="rId2"/>
              </p:custDataLst>
            </p:nvPr>
          </p:nvSpPr>
          <p:spPr>
            <a:xfrm>
              <a:off x="3908848" y="4497068"/>
              <a:ext cx="2390775" cy="511175"/>
            </a:xfrm>
            <a:prstGeom prst="ellipse">
              <a:avLst/>
            </a:prstGeom>
            <a:solidFill>
              <a:srgbClr val="3498DB"/>
            </a:solidFill>
            <a:ln w="12700" cap="flat" cmpd="sng" algn="ctr">
              <a:noFill/>
              <a:prstDash val="solid"/>
              <a:miter lim="800000"/>
            </a:ln>
            <a:effectLst/>
          </p:spPr>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934CC6AA-F440-8D86-7217-836E92D54A6B}"/>
                </a:ext>
              </a:extLst>
            </p:cNvPr>
            <p:cNvSpPr txBox="1"/>
            <p:nvPr/>
          </p:nvSpPr>
          <p:spPr>
            <a:xfrm>
              <a:off x="622300" y="4681219"/>
              <a:ext cx="2608580" cy="668938"/>
            </a:xfrm>
            <a:prstGeom prst="rect">
              <a:avLst/>
            </a:prstGeom>
          </p:spPr>
          <p:txBody>
            <a:bodyPr wrap="square">
              <a:spAutoFit/>
            </a:bodyPr>
            <a:lstStyle/>
            <a:p>
              <a:pPr algn="ctr"/>
              <a:r>
                <a:rPr lang="zh-CN" altLang="en-US" b="1" dirty="0">
                  <a:latin typeface="微软雅黑" panose="020B0503020204020204" pitchFamily="34" charset="-122"/>
                  <a:ea typeface="微软雅黑" panose="020B0503020204020204" pitchFamily="34" charset="-122"/>
                  <a:sym typeface="+mn-ea"/>
                </a:rPr>
                <a:t>市大数据发展局</a:t>
              </a:r>
              <a:endParaRPr lang="zh-CN" altLang="en-US" b="1" dirty="0">
                <a:latin typeface="微软雅黑" panose="020B0503020204020204" pitchFamily="34" charset="-122"/>
                <a:ea typeface="微软雅黑" panose="020B0503020204020204" pitchFamily="34" charset="-122"/>
              </a:endParaRPr>
            </a:p>
            <a:p>
              <a:pPr algn="ctr"/>
              <a:r>
                <a:rPr lang="zh-CN" altLang="en-US" b="1" dirty="0">
                  <a:latin typeface="微软雅黑" panose="020B0503020204020204" pitchFamily="34" charset="-122"/>
                  <a:ea typeface="微软雅黑" panose="020B0503020204020204" pitchFamily="34" charset="-122"/>
                  <a:sym typeface="+mn-ea"/>
                </a:rPr>
                <a:t>统采统付</a:t>
              </a:r>
            </a:p>
          </p:txBody>
        </p:sp>
        <p:sp>
          <p:nvSpPr>
            <p:cNvPr id="8" name="文本框 7">
              <a:extLst>
                <a:ext uri="{FF2B5EF4-FFF2-40B4-BE49-F238E27FC236}">
                  <a16:creationId xmlns:a16="http://schemas.microsoft.com/office/drawing/2014/main" id="{10B0D6FC-DD94-F4A0-9604-BB89E5E44F81}"/>
                </a:ext>
              </a:extLst>
            </p:cNvPr>
            <p:cNvSpPr txBox="1"/>
            <p:nvPr>
              <p:custDataLst>
                <p:tags r:id="rId3"/>
              </p:custDataLst>
            </p:nvPr>
          </p:nvSpPr>
          <p:spPr>
            <a:xfrm>
              <a:off x="3230880" y="4726304"/>
              <a:ext cx="3644053" cy="460375"/>
            </a:xfrm>
            <a:prstGeom prst="rect">
              <a:avLst/>
            </a:prstGeom>
          </p:spPr>
          <p:txBody>
            <a:bodyPr wrap="square">
              <a:spAutoFit/>
            </a:bodyPr>
            <a:lstStyle/>
            <a:p>
              <a:pPr algn="ctr"/>
              <a:r>
                <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市级使用</a:t>
              </a:r>
            </a:p>
          </p:txBody>
        </p:sp>
        <p:sp>
          <p:nvSpPr>
            <p:cNvPr id="9" name="左箭头 5">
              <a:extLst>
                <a:ext uri="{FF2B5EF4-FFF2-40B4-BE49-F238E27FC236}">
                  <a16:creationId xmlns:a16="http://schemas.microsoft.com/office/drawing/2014/main" id="{FBA60F95-9CB7-9777-7F4D-E3A843523BD7}"/>
                </a:ext>
              </a:extLst>
            </p:cNvPr>
            <p:cNvSpPr/>
            <p:nvPr/>
          </p:nvSpPr>
          <p:spPr>
            <a:xfrm>
              <a:off x="3002280" y="4785994"/>
              <a:ext cx="863600" cy="288713"/>
            </a:xfrm>
            <a:prstGeom prst="leftArrow">
              <a:avLst/>
            </a:prstGeom>
            <a:solidFill>
              <a:srgbClr val="3498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0E583394-53B1-8F1C-8A65-ABB3647112EC}"/>
                </a:ext>
              </a:extLst>
            </p:cNvPr>
            <p:cNvSpPr txBox="1"/>
            <p:nvPr>
              <p:custDataLst>
                <p:tags r:id="rId4"/>
              </p:custDataLst>
            </p:nvPr>
          </p:nvSpPr>
          <p:spPr>
            <a:xfrm>
              <a:off x="5702300" y="4005368"/>
              <a:ext cx="3844713" cy="382251"/>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sym typeface="+mn-ea"/>
                </a:rPr>
                <a:t>云、网等</a:t>
              </a:r>
              <a:r>
                <a:rPr lang="zh-CN" altLang="en-US" b="1" dirty="0">
                  <a:latin typeface="微软雅黑" panose="020B0503020204020204" pitchFamily="34" charset="-122"/>
                  <a:ea typeface="微软雅黑" panose="020B0503020204020204" pitchFamily="34" charset="-122"/>
                </a:rPr>
                <a:t>数字资源有关费用</a:t>
              </a:r>
            </a:p>
          </p:txBody>
        </p:sp>
        <p:sp>
          <p:nvSpPr>
            <p:cNvPr id="11" name="任意多边形 6">
              <a:extLst>
                <a:ext uri="{FF2B5EF4-FFF2-40B4-BE49-F238E27FC236}">
                  <a16:creationId xmlns:a16="http://schemas.microsoft.com/office/drawing/2014/main" id="{32C58799-BFFC-FED8-DCE0-3A15253D35E5}"/>
                </a:ext>
              </a:extLst>
            </p:cNvPr>
            <p:cNvSpPr/>
            <p:nvPr>
              <p:custDataLst>
                <p:tags r:id="rId5"/>
              </p:custDataLst>
            </p:nvPr>
          </p:nvSpPr>
          <p:spPr>
            <a:xfrm>
              <a:off x="6875357" y="3210982"/>
              <a:ext cx="2392045" cy="644525"/>
            </a:xfrm>
            <a:custGeom>
              <a:avLst/>
              <a:gdLst/>
              <a:ahLst/>
              <a:cxnLst>
                <a:cxn ang="3">
                  <a:pos x="hc" y="t"/>
                </a:cxn>
                <a:cxn ang="cd2">
                  <a:pos x="l" y="vc"/>
                </a:cxn>
                <a:cxn ang="cd4">
                  <a:pos x="hc" y="b"/>
                </a:cxn>
                <a:cxn ang="0">
                  <a:pos x="r" y="vc"/>
                </a:cxn>
              </a:cxnLst>
              <a:rect l="l" t="t" r="r" b="b"/>
              <a:pathLst>
                <a:path w="3768" h="1015">
                  <a:moveTo>
                    <a:pt x="0" y="0"/>
                  </a:moveTo>
                  <a:lnTo>
                    <a:pt x="3765" y="0"/>
                  </a:lnTo>
                  <a:lnTo>
                    <a:pt x="3765" y="594"/>
                  </a:lnTo>
                  <a:lnTo>
                    <a:pt x="3766" y="602"/>
                  </a:lnTo>
                  <a:lnTo>
                    <a:pt x="3767" y="613"/>
                  </a:lnTo>
                  <a:cubicBezTo>
                    <a:pt x="3799" y="838"/>
                    <a:pt x="2831" y="1021"/>
                    <a:pt x="1884" y="1015"/>
                  </a:cubicBezTo>
                  <a:cubicBezTo>
                    <a:pt x="844" y="1023"/>
                    <a:pt x="-1" y="820"/>
                    <a:pt x="1" y="624"/>
                  </a:cubicBezTo>
                  <a:lnTo>
                    <a:pt x="0" y="624"/>
                  </a:lnTo>
                  <a:lnTo>
                    <a:pt x="0" y="0"/>
                  </a:lnTo>
                  <a:close/>
                </a:path>
              </a:pathLst>
            </a:custGeom>
            <a:gradFill>
              <a:gsLst>
                <a:gs pos="0">
                  <a:srgbClr val="007BD3"/>
                </a:gs>
                <a:gs pos="100000">
                  <a:srgbClr val="034373"/>
                </a:gs>
              </a:gsLst>
              <a:lin scaled="0"/>
            </a:gradFill>
            <a:ln w="12700" cap="flat" cmpd="sng" algn="ctr">
              <a:noFill/>
              <a:prstDash val="solid"/>
              <a:miter lim="800000"/>
            </a:ln>
            <a:effectLst/>
          </p:spPr>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12" name="椭圆 11">
              <a:extLst>
                <a:ext uri="{FF2B5EF4-FFF2-40B4-BE49-F238E27FC236}">
                  <a16:creationId xmlns:a16="http://schemas.microsoft.com/office/drawing/2014/main" id="{E2D06C55-3181-8301-357F-F54CF88D71DB}"/>
                </a:ext>
              </a:extLst>
            </p:cNvPr>
            <p:cNvSpPr/>
            <p:nvPr>
              <p:custDataLst>
                <p:tags r:id="rId6"/>
              </p:custDataLst>
            </p:nvPr>
          </p:nvSpPr>
          <p:spPr>
            <a:xfrm>
              <a:off x="6875357" y="2949362"/>
              <a:ext cx="2390775" cy="511175"/>
            </a:xfrm>
            <a:prstGeom prst="ellipse">
              <a:avLst/>
            </a:prstGeom>
            <a:solidFill>
              <a:srgbClr val="035FA4"/>
            </a:solidFill>
            <a:ln w="12700" cap="flat" cmpd="sng" algn="ctr">
              <a:noFill/>
              <a:prstDash val="solid"/>
              <a:miter lim="800000"/>
            </a:ln>
            <a:effectLst/>
          </p:spPr>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3" name="任意多边形 9">
              <a:extLst>
                <a:ext uri="{FF2B5EF4-FFF2-40B4-BE49-F238E27FC236}">
                  <a16:creationId xmlns:a16="http://schemas.microsoft.com/office/drawing/2014/main" id="{2537145F-E3BC-CC2B-F293-B20B29889851}"/>
                </a:ext>
              </a:extLst>
            </p:cNvPr>
            <p:cNvSpPr/>
            <p:nvPr>
              <p:custDataLst>
                <p:tags r:id="rId7"/>
              </p:custDataLst>
            </p:nvPr>
          </p:nvSpPr>
          <p:spPr>
            <a:xfrm>
              <a:off x="6126692" y="2566458"/>
              <a:ext cx="2392045" cy="644525"/>
            </a:xfrm>
            <a:custGeom>
              <a:avLst/>
              <a:gdLst/>
              <a:ahLst/>
              <a:cxnLst>
                <a:cxn ang="3">
                  <a:pos x="hc" y="t"/>
                </a:cxn>
                <a:cxn ang="cd2">
                  <a:pos x="l" y="vc"/>
                </a:cxn>
                <a:cxn ang="cd4">
                  <a:pos x="hc" y="b"/>
                </a:cxn>
                <a:cxn ang="0">
                  <a:pos x="r" y="vc"/>
                </a:cxn>
              </a:cxnLst>
              <a:rect l="l" t="t" r="r" b="b"/>
              <a:pathLst>
                <a:path w="3768" h="1015">
                  <a:moveTo>
                    <a:pt x="0" y="0"/>
                  </a:moveTo>
                  <a:lnTo>
                    <a:pt x="3765" y="0"/>
                  </a:lnTo>
                  <a:lnTo>
                    <a:pt x="3765" y="594"/>
                  </a:lnTo>
                  <a:lnTo>
                    <a:pt x="3766" y="602"/>
                  </a:lnTo>
                  <a:lnTo>
                    <a:pt x="3767" y="613"/>
                  </a:lnTo>
                  <a:cubicBezTo>
                    <a:pt x="3799" y="838"/>
                    <a:pt x="2831" y="1021"/>
                    <a:pt x="1884" y="1015"/>
                  </a:cubicBezTo>
                  <a:cubicBezTo>
                    <a:pt x="844" y="1023"/>
                    <a:pt x="-1" y="820"/>
                    <a:pt x="1" y="624"/>
                  </a:cubicBezTo>
                  <a:lnTo>
                    <a:pt x="0" y="624"/>
                  </a:lnTo>
                  <a:lnTo>
                    <a:pt x="0" y="0"/>
                  </a:lnTo>
                  <a:close/>
                </a:path>
              </a:pathLst>
            </a:custGeom>
            <a:solidFill>
              <a:srgbClr val="3498DB"/>
            </a:solidFill>
            <a:ln w="12700" cap="flat" cmpd="sng" algn="ctr">
              <a:noFill/>
              <a:prstDash val="solid"/>
              <a:miter lim="800000"/>
            </a:ln>
            <a:effectLst/>
          </p:spPr>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14" name="椭圆 13">
              <a:extLst>
                <a:ext uri="{FF2B5EF4-FFF2-40B4-BE49-F238E27FC236}">
                  <a16:creationId xmlns:a16="http://schemas.microsoft.com/office/drawing/2014/main" id="{83A4F9AE-3D7D-60EE-439D-0764AC9D488C}"/>
                </a:ext>
              </a:extLst>
            </p:cNvPr>
            <p:cNvSpPr/>
            <p:nvPr>
              <p:custDataLst>
                <p:tags r:id="rId8"/>
              </p:custDataLst>
            </p:nvPr>
          </p:nvSpPr>
          <p:spPr>
            <a:xfrm>
              <a:off x="6127961" y="2291502"/>
              <a:ext cx="2390775" cy="511175"/>
            </a:xfrm>
            <a:prstGeom prst="ellipse">
              <a:avLst/>
            </a:prstGeom>
            <a:solidFill>
              <a:srgbClr val="3498DB"/>
            </a:solidFill>
            <a:ln w="12700" cap="flat" cmpd="sng" algn="ctr">
              <a:noFill/>
              <a:prstDash val="solid"/>
              <a:miter lim="800000"/>
            </a:ln>
            <a:effectLst/>
          </p:spPr>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1998DF24-46C1-DDC6-830D-3F6D38D6C6C4}"/>
                </a:ext>
              </a:extLst>
            </p:cNvPr>
            <p:cNvSpPr txBox="1"/>
            <p:nvPr>
              <p:custDataLst>
                <p:tags r:id="rId9"/>
              </p:custDataLst>
            </p:nvPr>
          </p:nvSpPr>
          <p:spPr>
            <a:xfrm>
              <a:off x="1599591" y="2609898"/>
              <a:ext cx="4067387" cy="382250"/>
            </a:xfrm>
            <a:prstGeom prst="rect">
              <a:avLst/>
            </a:prstGeom>
          </p:spPr>
          <p:txBody>
            <a:bodyPr wrap="square">
              <a:spAutoFit/>
            </a:bodyPr>
            <a:lstStyle/>
            <a:p>
              <a:pPr algn="ctr"/>
              <a:r>
                <a:rPr lang="zh-CN" altLang="en-US" b="1" dirty="0">
                  <a:latin typeface="微软雅黑" panose="020B0503020204020204" pitchFamily="34" charset="-122"/>
                  <a:ea typeface="微软雅黑" panose="020B0503020204020204" pitchFamily="34" charset="-122"/>
                  <a:sym typeface="+mn-ea"/>
                </a:rPr>
                <a:t>市大数据发展局统采</a:t>
              </a:r>
              <a:endParaRPr lang="en-US" altLang="zh-CN" b="1"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5CB261BF-FD40-D017-1AB8-7BB6C0C0B343}"/>
                </a:ext>
              </a:extLst>
            </p:cNvPr>
            <p:cNvSpPr txBox="1"/>
            <p:nvPr>
              <p:custDataLst>
                <p:tags r:id="rId10"/>
              </p:custDataLst>
            </p:nvPr>
          </p:nvSpPr>
          <p:spPr>
            <a:xfrm>
              <a:off x="9266132" y="3593141"/>
              <a:ext cx="2608580" cy="382251"/>
            </a:xfrm>
            <a:prstGeom prst="rect">
              <a:avLst/>
            </a:prstGeom>
          </p:spPr>
          <p:txBody>
            <a:bodyPr wrap="square">
              <a:spAutoFit/>
            </a:bodyPr>
            <a:lstStyle/>
            <a:p>
              <a:pPr algn="ctr"/>
              <a:r>
                <a:rPr lang="zh-CN" altLang="en-US" b="1" dirty="0">
                  <a:latin typeface="微软雅黑" panose="020B0503020204020204" pitchFamily="34" charset="-122"/>
                  <a:ea typeface="微软雅黑" panose="020B0503020204020204" pitchFamily="34" charset="-122"/>
                  <a:sym typeface="+mn-ea"/>
                </a:rPr>
                <a:t>区县分付</a:t>
              </a:r>
              <a:endParaRPr lang="en-US" altLang="zh-CN" b="1"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7A8D59C8-F859-E115-73EA-A5E266B70E54}"/>
                </a:ext>
              </a:extLst>
            </p:cNvPr>
            <p:cNvSpPr txBox="1"/>
            <p:nvPr>
              <p:custDataLst>
                <p:tags r:id="rId11"/>
              </p:custDataLst>
            </p:nvPr>
          </p:nvSpPr>
          <p:spPr>
            <a:xfrm>
              <a:off x="6127935" y="2804068"/>
              <a:ext cx="3110653" cy="645160"/>
            </a:xfrm>
            <a:prstGeom prst="rect">
              <a:avLst/>
            </a:prstGeom>
          </p:spPr>
          <p:txBody>
            <a:bodyPr wrap="square">
              <a:spAutoFit/>
            </a:bodyPr>
            <a:lstStyle/>
            <a:p>
              <a:pPr algn="ct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市级和区县</a:t>
              </a:r>
            </a:p>
            <a:p>
              <a:pPr algn="ct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共同使用</a:t>
              </a:r>
            </a:p>
          </p:txBody>
        </p:sp>
        <p:sp>
          <p:nvSpPr>
            <p:cNvPr id="18" name="左箭头 22">
              <a:extLst>
                <a:ext uri="{FF2B5EF4-FFF2-40B4-BE49-F238E27FC236}">
                  <a16:creationId xmlns:a16="http://schemas.microsoft.com/office/drawing/2014/main" id="{B2D799BB-1138-59B1-8454-3878425C023D}"/>
                </a:ext>
              </a:extLst>
            </p:cNvPr>
            <p:cNvSpPr/>
            <p:nvPr>
              <p:custDataLst>
                <p:tags r:id="rId12"/>
              </p:custDataLst>
            </p:nvPr>
          </p:nvSpPr>
          <p:spPr>
            <a:xfrm>
              <a:off x="5122333" y="2677794"/>
              <a:ext cx="863600" cy="288713"/>
            </a:xfrm>
            <a:prstGeom prst="leftArrow">
              <a:avLst/>
            </a:prstGeom>
            <a:solidFill>
              <a:srgbClr val="3498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9" name="右箭头 25">
              <a:extLst>
                <a:ext uri="{FF2B5EF4-FFF2-40B4-BE49-F238E27FC236}">
                  <a16:creationId xmlns:a16="http://schemas.microsoft.com/office/drawing/2014/main" id="{8BC095A1-198C-EB08-A3F6-597C60B71AB4}"/>
                </a:ext>
              </a:extLst>
            </p:cNvPr>
            <p:cNvSpPr/>
            <p:nvPr>
              <p:custDataLst>
                <p:tags r:id="rId13"/>
              </p:custDataLst>
            </p:nvPr>
          </p:nvSpPr>
          <p:spPr>
            <a:xfrm>
              <a:off x="9450493" y="3211194"/>
              <a:ext cx="797560" cy="383540"/>
            </a:xfrm>
            <a:prstGeom prst="rightArrow">
              <a:avLst/>
            </a:prstGeom>
            <a:solidFill>
              <a:srgbClr val="035D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74586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A40E6-380F-9951-0691-FD8DDE588F08}"/>
              </a:ext>
            </a:extLst>
          </p:cNvPr>
          <p:cNvSpPr>
            <a:spLocks noGrp="1"/>
          </p:cNvSpPr>
          <p:nvPr>
            <p:ph type="title"/>
          </p:nvPr>
        </p:nvSpPr>
        <p:spPr/>
        <p:txBody>
          <a:bodyPr/>
          <a:lstStyle/>
          <a:p>
            <a:r>
              <a:rPr kumimoji="1" lang="en-US" altLang="zh-CN" dirty="0"/>
              <a:t>05 </a:t>
            </a:r>
            <a:r>
              <a:rPr kumimoji="1" lang="zh-CN" altLang="en-US" dirty="0"/>
              <a:t>组织实施及验收</a:t>
            </a:r>
          </a:p>
        </p:txBody>
      </p:sp>
    </p:spTree>
    <p:extLst>
      <p:ext uri="{BB962C8B-B14F-4D97-AF65-F5344CB8AC3E}">
        <p14:creationId xmlns:p14="http://schemas.microsoft.com/office/powerpoint/2010/main" val="3515416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5.1  </a:t>
            </a:r>
            <a:r>
              <a:rPr kumimoji="1" lang="zh-CN" altLang="en-US" dirty="0"/>
              <a:t>组织实施</a:t>
            </a:r>
          </a:p>
        </p:txBody>
      </p:sp>
      <p:sp>
        <p:nvSpPr>
          <p:cNvPr id="3" name="文本框 2">
            <a:extLst>
              <a:ext uri="{FF2B5EF4-FFF2-40B4-BE49-F238E27FC236}">
                <a16:creationId xmlns:a16="http://schemas.microsoft.com/office/drawing/2014/main" id="{7A1E96F6-60F9-5BE7-2EEA-96B777EF49A8}"/>
              </a:ext>
            </a:extLst>
          </p:cNvPr>
          <p:cNvSpPr txBox="1"/>
          <p:nvPr>
            <p:custDataLst>
              <p:tags r:id="rId1"/>
            </p:custDataLst>
          </p:nvPr>
        </p:nvSpPr>
        <p:spPr>
          <a:xfrm>
            <a:off x="1949873" y="2168995"/>
            <a:ext cx="9327727" cy="1753447"/>
          </a:xfrm>
          <a:prstGeom prst="roundRect">
            <a:avLst>
              <a:gd name="adj" fmla="val 6043"/>
            </a:avLst>
          </a:prstGeom>
          <a:solidFill>
            <a:srgbClr val="FFFFFF"/>
          </a:solidFill>
          <a:ln w="6350">
            <a:solidFill>
              <a:srgbClr val="DDF0FF">
                <a:lumMod val="50000"/>
              </a:srgbClr>
            </a:solidFill>
          </a:ln>
          <a:effectLst>
            <a:outerShdw blurRad="50800" dist="38100" dir="2700000" algn="tl" rotWithShape="0">
              <a:prstClr val="black">
                <a:alpha val="15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2639906" tIns="62653" rIns="0" bIns="62653" numCol="1" spcCol="1270" anchor="ctr" anchorCtr="0">
            <a:noAutofit/>
          </a:bodyPr>
          <a:lstStyle>
            <a:defPPr>
              <a:defRPr lang="en-US"/>
            </a:defPPr>
            <a:lvl1pPr algn="ctr" defTabSz="644525">
              <a:spcBef>
                <a:spcPct val="0"/>
              </a:spcBef>
              <a:defRPr sz="1050" b="1">
                <a:solidFill>
                  <a:srgbClr val="12448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pPr marL="0" indent="21590" algn="l">
              <a:lnSpc>
                <a:spcPct val="110000"/>
              </a:lnSpc>
              <a:buFont typeface="Wingdings" panose="05000000000000000000" charset="0"/>
              <a:buChar char="l"/>
            </a:pPr>
            <a:endPar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endParaRPr>
          </a:p>
        </p:txBody>
      </p:sp>
      <p:sp>
        <p:nvSpPr>
          <p:cNvPr id="4" name="文本框 3">
            <a:extLst>
              <a:ext uri="{FF2B5EF4-FFF2-40B4-BE49-F238E27FC236}">
                <a16:creationId xmlns:a16="http://schemas.microsoft.com/office/drawing/2014/main" id="{F89D7656-BF23-520A-0FD7-3176A1DEA456}"/>
              </a:ext>
            </a:extLst>
          </p:cNvPr>
          <p:cNvSpPr txBox="1"/>
          <p:nvPr>
            <p:custDataLst>
              <p:tags r:id="rId2"/>
            </p:custDataLst>
          </p:nvPr>
        </p:nvSpPr>
        <p:spPr>
          <a:xfrm>
            <a:off x="1045633" y="2154603"/>
            <a:ext cx="2691553" cy="1768100"/>
          </a:xfrm>
          <a:prstGeom prst="roundRect">
            <a:avLst>
              <a:gd name="adj" fmla="val 6043"/>
            </a:avLst>
          </a:prstGeom>
          <a:solidFill>
            <a:srgbClr val="1D6DC2"/>
          </a:solidFill>
          <a:ln w="19050">
            <a:solidFill>
              <a:srgbClr val="FFFFFF"/>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0" tIns="0" rIns="0" bIns="0" numCol="1" spcCol="1270" anchor="ctr" anchorCtr="0">
            <a:noAutofit/>
          </a:bodyPr>
          <a:lstStyle>
            <a:defPPr>
              <a:defRPr lang="en-US"/>
            </a:defPPr>
            <a:lvl1pPr algn="ctr" defTabSz="644525">
              <a:spcBef>
                <a:spcPct val="0"/>
              </a:spcBef>
              <a:defRPr sz="900" b="1">
                <a:solidFill>
                  <a:srgbClr val="00000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zh-CN" altLang="en-US"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应用开发</a:t>
            </a:r>
          </a:p>
        </p:txBody>
      </p:sp>
      <p:sp>
        <p:nvSpPr>
          <p:cNvPr id="5" name="文本框 4">
            <a:extLst>
              <a:ext uri="{FF2B5EF4-FFF2-40B4-BE49-F238E27FC236}">
                <a16:creationId xmlns:a16="http://schemas.microsoft.com/office/drawing/2014/main" id="{4E1D4883-6D1F-8F14-AE22-52D4D6378044}"/>
              </a:ext>
            </a:extLst>
          </p:cNvPr>
          <p:cNvSpPr txBox="1"/>
          <p:nvPr>
            <p:custDataLst>
              <p:tags r:id="rId3"/>
            </p:custDataLst>
          </p:nvPr>
        </p:nvSpPr>
        <p:spPr>
          <a:xfrm>
            <a:off x="4063153" y="2239269"/>
            <a:ext cx="6845300" cy="1753447"/>
          </a:xfrm>
          <a:prstGeom prst="rect">
            <a:avLst/>
          </a:prstGeom>
        </p:spPr>
        <p:txBody>
          <a:bodyPr wrap="square">
            <a:noAutofit/>
          </a:bodyPr>
          <a:lstStyle/>
          <a:p>
            <a:pPr algn="l">
              <a:lnSpc>
                <a:spcPts val="3000"/>
              </a:lnSpc>
            </a:pPr>
            <a:r>
              <a:rPr lang="zh-CN" sz="2000" dirty="0">
                <a:latin typeface="微软雅黑" panose="020B0503020204020204" pitchFamily="34" charset="-122"/>
                <a:ea typeface="微软雅黑" panose="020B0503020204020204" pitchFamily="34" charset="-122"/>
                <a:cs typeface="方正仿宋_GBK" panose="02000000000000000000" charset="-122"/>
                <a:sym typeface="+mn-ea"/>
              </a:rPr>
              <a:t>①</a:t>
            </a:r>
            <a:r>
              <a:rPr lang="en-US" altLang="zh-CN" sz="2000" dirty="0">
                <a:latin typeface="微软雅黑" panose="020B0503020204020204" pitchFamily="34" charset="-122"/>
                <a:ea typeface="微软雅黑" panose="020B0503020204020204" pitchFamily="34" charset="-122"/>
                <a:cs typeface="方正仿宋_GBK" panose="02000000000000000000" charset="-122"/>
                <a:sym typeface="+mn-ea"/>
              </a:rPr>
              <a:t> </a:t>
            </a:r>
            <a:r>
              <a:rPr lang="zh-CN" sz="2000" dirty="0">
                <a:latin typeface="微软雅黑" panose="020B0503020204020204" pitchFamily="34" charset="-122"/>
                <a:ea typeface="微软雅黑" panose="020B0503020204020204" pitchFamily="34" charset="-122"/>
                <a:cs typeface="方正仿宋_GBK" panose="02000000000000000000" charset="-122"/>
                <a:sym typeface="+mn-ea"/>
              </a:rPr>
              <a:t>建立健全应用管理制度、加强应用全周期统筹协调、</a:t>
            </a:r>
          </a:p>
          <a:p>
            <a:pPr algn="l">
              <a:lnSpc>
                <a:spcPts val="3000"/>
              </a:lnSpc>
            </a:pPr>
            <a:r>
              <a:rPr lang="en-US" altLang="zh-CN" sz="2000" dirty="0">
                <a:latin typeface="微软雅黑" panose="020B0503020204020204" pitchFamily="34" charset="-122"/>
                <a:ea typeface="微软雅黑" panose="020B0503020204020204" pitchFamily="34" charset="-122"/>
                <a:cs typeface="方正仿宋_GBK" panose="02000000000000000000" charset="-122"/>
                <a:sym typeface="+mn-ea"/>
              </a:rPr>
              <a:t>    </a:t>
            </a:r>
            <a:r>
              <a:rPr lang="zh-CN" sz="2000" dirty="0">
                <a:latin typeface="微软雅黑" panose="020B0503020204020204" pitchFamily="34" charset="-122"/>
                <a:ea typeface="微软雅黑" panose="020B0503020204020204" pitchFamily="34" charset="-122"/>
                <a:cs typeface="方正仿宋_GBK" panose="02000000000000000000" charset="-122"/>
                <a:sym typeface="+mn-ea"/>
              </a:rPr>
              <a:t>严格执行政府采购等制度要求</a:t>
            </a:r>
            <a:endParaRPr lang="zh-CN" sz="2000" dirty="0">
              <a:latin typeface="微软雅黑" panose="020B0503020204020204" pitchFamily="34" charset="-122"/>
              <a:ea typeface="微软雅黑" panose="020B0503020204020204" pitchFamily="34" charset="-122"/>
              <a:cs typeface="方正仿宋_GBK" panose="02000000000000000000" charset="-122"/>
            </a:endParaRPr>
          </a:p>
          <a:p>
            <a:pPr algn="l">
              <a:lnSpc>
                <a:spcPts val="3000"/>
              </a:lnSpc>
            </a:pPr>
            <a:r>
              <a:rPr lang="zh-CN" altLang="en-US" sz="2000" dirty="0">
                <a:latin typeface="微软雅黑" panose="020B0503020204020204" pitchFamily="34" charset="-122"/>
                <a:ea typeface="微软雅黑" panose="020B0503020204020204" pitchFamily="34" charset="-122"/>
                <a:sym typeface="+mn-ea"/>
              </a:rPr>
              <a:t>②最快系统部署、最小投入代价、最佳实战效果、最大</a:t>
            </a:r>
            <a:r>
              <a:rPr lang="en-US" altLang="zh-CN" sz="2000" dirty="0">
                <a:latin typeface="微软雅黑" panose="020B0503020204020204" pitchFamily="34" charset="-122"/>
                <a:ea typeface="微软雅黑" panose="020B0503020204020204" pitchFamily="34" charset="-122"/>
                <a:sym typeface="+mn-ea"/>
              </a:rPr>
              <a:t>   </a:t>
            </a:r>
          </a:p>
          <a:p>
            <a:pPr algn="l">
              <a:lnSpc>
                <a:spcPts val="3000"/>
              </a:lnSpc>
            </a:pP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数据共享</a:t>
            </a:r>
            <a:endParaRPr lang="zh-CN" altLang="en-US" sz="2000" dirty="0">
              <a:latin typeface="微软雅黑" panose="020B0503020204020204" pitchFamily="34" charset="-122"/>
              <a:ea typeface="微软雅黑" panose="020B0503020204020204" pitchFamily="34" charset="-122"/>
              <a:cs typeface="方正仿宋_GBK" panose="02000000000000000000" charset="-122"/>
              <a:sym typeface="+mn-ea"/>
            </a:endParaRPr>
          </a:p>
        </p:txBody>
      </p:sp>
      <p:sp>
        <p:nvSpPr>
          <p:cNvPr id="6" name="文本框 5">
            <a:extLst>
              <a:ext uri="{FF2B5EF4-FFF2-40B4-BE49-F238E27FC236}">
                <a16:creationId xmlns:a16="http://schemas.microsoft.com/office/drawing/2014/main" id="{B3E53018-C40F-78E5-9469-7B63BD16A7DE}"/>
              </a:ext>
            </a:extLst>
          </p:cNvPr>
          <p:cNvSpPr txBox="1"/>
          <p:nvPr>
            <p:custDataLst>
              <p:tags r:id="rId4"/>
            </p:custDataLst>
          </p:nvPr>
        </p:nvSpPr>
        <p:spPr>
          <a:xfrm>
            <a:off x="1966807" y="4277329"/>
            <a:ext cx="9337040" cy="1365673"/>
          </a:xfrm>
          <a:prstGeom prst="roundRect">
            <a:avLst>
              <a:gd name="adj" fmla="val 6043"/>
            </a:avLst>
          </a:prstGeom>
          <a:solidFill>
            <a:srgbClr val="FFFFFF"/>
          </a:solidFill>
          <a:ln w="6350">
            <a:solidFill>
              <a:srgbClr val="DDF0FF">
                <a:lumMod val="50000"/>
              </a:srgbClr>
            </a:solidFill>
          </a:ln>
          <a:effectLst>
            <a:outerShdw blurRad="50800" dist="38100" dir="2700000" algn="tl" rotWithShape="0">
              <a:prstClr val="black">
                <a:alpha val="15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2639906" tIns="62653" rIns="0" bIns="62653" numCol="1" spcCol="1270" anchor="ctr" anchorCtr="0">
            <a:noAutofit/>
          </a:bodyPr>
          <a:lstStyle>
            <a:defPPr>
              <a:defRPr lang="en-US"/>
            </a:defPPr>
            <a:lvl1pPr algn="ctr" defTabSz="644525">
              <a:spcBef>
                <a:spcPct val="0"/>
              </a:spcBef>
              <a:defRPr sz="1050" b="1">
                <a:solidFill>
                  <a:srgbClr val="12448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pPr marL="0" indent="21590" algn="l">
              <a:lnSpc>
                <a:spcPct val="110000"/>
              </a:lnSpc>
              <a:buFont typeface="Wingdings" panose="05000000000000000000" charset="0"/>
              <a:buChar char="l"/>
            </a:pPr>
            <a:endPar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endParaRPr>
          </a:p>
        </p:txBody>
      </p:sp>
      <p:sp>
        <p:nvSpPr>
          <p:cNvPr id="7" name="文本框 6">
            <a:extLst>
              <a:ext uri="{FF2B5EF4-FFF2-40B4-BE49-F238E27FC236}">
                <a16:creationId xmlns:a16="http://schemas.microsoft.com/office/drawing/2014/main" id="{60342CC1-3303-6A58-FA4D-AAA4C4C80377}"/>
              </a:ext>
            </a:extLst>
          </p:cNvPr>
          <p:cNvSpPr txBox="1"/>
          <p:nvPr>
            <p:custDataLst>
              <p:tags r:id="rId5"/>
            </p:custDataLst>
          </p:nvPr>
        </p:nvSpPr>
        <p:spPr>
          <a:xfrm>
            <a:off x="1046480" y="4262935"/>
            <a:ext cx="2710180" cy="1376977"/>
          </a:xfrm>
          <a:prstGeom prst="roundRect">
            <a:avLst>
              <a:gd name="adj" fmla="val 6043"/>
            </a:avLst>
          </a:prstGeom>
          <a:solidFill>
            <a:srgbClr val="1D6DC2"/>
          </a:solidFill>
          <a:ln w="19050">
            <a:solidFill>
              <a:srgbClr val="FFFFFF"/>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rgbClr val="FFFFFF"/>
          </a:fontRef>
        </p:style>
        <p:txBody>
          <a:bodyPr spcFirstLastPara="0" vert="horz" wrap="square" lIns="0" tIns="0" rIns="0" bIns="0" numCol="1" spcCol="1270" anchor="ctr" anchorCtr="0">
            <a:noAutofit/>
          </a:bodyPr>
          <a:lstStyle>
            <a:defPPr>
              <a:defRPr lang="en-US"/>
            </a:defPPr>
            <a:lvl1pPr algn="ctr" defTabSz="644525">
              <a:spcBef>
                <a:spcPct val="0"/>
              </a:spcBef>
              <a:defRPr sz="900" b="1">
                <a:solidFill>
                  <a:srgbClr val="000000"/>
                </a:solidFill>
                <a:latin typeface="Times New Roman" panose="02020603050405020304" pitchFamily="18"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zh-CN" altLang="en-US"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应用运维</a:t>
            </a:r>
          </a:p>
        </p:txBody>
      </p:sp>
      <p:sp>
        <p:nvSpPr>
          <p:cNvPr id="8" name="文本框 7">
            <a:extLst>
              <a:ext uri="{FF2B5EF4-FFF2-40B4-BE49-F238E27FC236}">
                <a16:creationId xmlns:a16="http://schemas.microsoft.com/office/drawing/2014/main" id="{4EF756A6-1827-8E0C-5396-0DA48253A4F5}"/>
              </a:ext>
            </a:extLst>
          </p:cNvPr>
          <p:cNvSpPr txBox="1"/>
          <p:nvPr>
            <p:custDataLst>
              <p:tags r:id="rId6"/>
            </p:custDataLst>
          </p:nvPr>
        </p:nvSpPr>
        <p:spPr>
          <a:xfrm>
            <a:off x="4063153" y="4193085"/>
            <a:ext cx="6845300" cy="1711960"/>
          </a:xfrm>
          <a:prstGeom prst="rect">
            <a:avLst/>
          </a:prstGeom>
        </p:spPr>
        <p:txBody>
          <a:bodyPr wrap="square">
            <a:noAutofit/>
          </a:bodyPr>
          <a:lstStyle/>
          <a:p>
            <a:pPr algn="l">
              <a:lnSpc>
                <a:spcPts val="3000"/>
              </a:lnSpc>
            </a:pPr>
            <a:endParaRPr lang="zh-CN" sz="2000" dirty="0">
              <a:latin typeface="微软雅黑" panose="020B0503020204020204" pitchFamily="34" charset="-122"/>
              <a:ea typeface="微软雅黑" panose="020B0503020204020204" pitchFamily="34" charset="-122"/>
              <a:cs typeface="方正仿宋_GBK" panose="02000000000000000000" charset="-122"/>
              <a:sym typeface="+mn-ea"/>
            </a:endParaRPr>
          </a:p>
          <a:p>
            <a:pPr algn="l">
              <a:lnSpc>
                <a:spcPts val="3000"/>
              </a:lnSpc>
              <a:buClrTx/>
              <a:buSzTx/>
              <a:buFontTx/>
            </a:pPr>
            <a:r>
              <a:rPr lang="zh-CN" altLang="en-US" sz="2000" dirty="0">
                <a:latin typeface="微软雅黑" panose="020B0503020204020204" pitchFamily="34" charset="-122"/>
                <a:ea typeface="微软雅黑" panose="020B0503020204020204" pitchFamily="34" charset="-122"/>
                <a:sym typeface="+mn-ea"/>
              </a:rPr>
              <a:t>①运维内容、经费原则上不超过批复确定内容</a:t>
            </a:r>
          </a:p>
          <a:p>
            <a:pPr algn="l">
              <a:lnSpc>
                <a:spcPts val="3000"/>
              </a:lnSpc>
              <a:buClrTx/>
              <a:buSzTx/>
              <a:buFontTx/>
            </a:pPr>
            <a:r>
              <a:rPr lang="zh-CN" altLang="en-US" sz="2000" dirty="0">
                <a:latin typeface="微软雅黑" panose="020B0503020204020204" pitchFamily="34" charset="-122"/>
                <a:ea typeface="微软雅黑" panose="020B0503020204020204" pitchFamily="34" charset="-122"/>
                <a:sym typeface="+mn-ea"/>
              </a:rPr>
              <a:t>②临时新增运维，按程序追加</a:t>
            </a:r>
          </a:p>
        </p:txBody>
      </p:sp>
    </p:spTree>
    <p:extLst>
      <p:ext uri="{BB962C8B-B14F-4D97-AF65-F5344CB8AC3E}">
        <p14:creationId xmlns:p14="http://schemas.microsoft.com/office/powerpoint/2010/main" val="4052200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5.2  </a:t>
            </a:r>
            <a:r>
              <a:rPr kumimoji="1" lang="zh-CN" altLang="en-US" dirty="0"/>
              <a:t>组织实施</a:t>
            </a:r>
          </a:p>
        </p:txBody>
      </p:sp>
      <p:graphicFrame>
        <p:nvGraphicFramePr>
          <p:cNvPr id="4" name="表格 3">
            <a:extLst>
              <a:ext uri="{FF2B5EF4-FFF2-40B4-BE49-F238E27FC236}">
                <a16:creationId xmlns:a16="http://schemas.microsoft.com/office/drawing/2014/main" id="{FA5B9F25-568B-2DB2-E8D0-0B9F3F33AF13}"/>
              </a:ext>
            </a:extLst>
          </p:cNvPr>
          <p:cNvGraphicFramePr/>
          <p:nvPr>
            <p:custDataLst>
              <p:tags r:id="rId1"/>
            </p:custDataLst>
            <p:extLst>
              <p:ext uri="{D42A27DB-BD31-4B8C-83A1-F6EECF244321}">
                <p14:modId xmlns:p14="http://schemas.microsoft.com/office/powerpoint/2010/main" val="2510825324"/>
              </p:ext>
            </p:extLst>
          </p:nvPr>
        </p:nvGraphicFramePr>
        <p:xfrm>
          <a:off x="656897" y="1668571"/>
          <a:ext cx="10878206" cy="4565598"/>
        </p:xfrm>
        <a:graphic>
          <a:graphicData uri="http://schemas.openxmlformats.org/drawingml/2006/table">
            <a:tbl>
              <a:tblPr firstRow="1">
                <a:tableStyleId>{5C22544A-7EE6-4342-B048-85BDC9FD1C3A}</a:tableStyleId>
              </a:tblPr>
              <a:tblGrid>
                <a:gridCol w="712484">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4726619">
                  <a:extLst>
                    <a:ext uri="{9D8B030D-6E8A-4147-A177-3AD203B41FA5}">
                      <a16:colId xmlns:a16="http://schemas.microsoft.com/office/drawing/2014/main" val="20002"/>
                    </a:ext>
                  </a:extLst>
                </a:gridCol>
                <a:gridCol w="3870960">
                  <a:extLst>
                    <a:ext uri="{9D8B030D-6E8A-4147-A177-3AD203B41FA5}">
                      <a16:colId xmlns:a16="http://schemas.microsoft.com/office/drawing/2014/main" val="20003"/>
                    </a:ext>
                  </a:extLst>
                </a:gridCol>
                <a:gridCol w="882343">
                  <a:extLst>
                    <a:ext uri="{9D8B030D-6E8A-4147-A177-3AD203B41FA5}">
                      <a16:colId xmlns:a16="http://schemas.microsoft.com/office/drawing/2014/main" val="20004"/>
                    </a:ext>
                  </a:extLst>
                </a:gridCol>
              </a:tblGrid>
              <a:tr h="450285">
                <a:tc>
                  <a:txBody>
                    <a:bodyPr/>
                    <a:lstStyle/>
                    <a:p>
                      <a:pPr algn="ctr">
                        <a:buNone/>
                      </a:pPr>
                      <a:r>
                        <a:rPr lang="zh-CN" altLang="en-US" sz="1400" b="1" dirty="0">
                          <a:solidFill>
                            <a:schemeClr val="bg1"/>
                          </a:solidFill>
                          <a:latin typeface="微软雅黑" panose="020B0503020204020204" pitchFamily="34" charset="-122"/>
                          <a:ea typeface="微软雅黑" panose="020B0503020204020204" pitchFamily="34" charset="-122"/>
                          <a:sym typeface="+mn-ea"/>
                        </a:rPr>
                        <a:t>类别</a:t>
                      </a:r>
                    </a:p>
                  </a:txBody>
                  <a:tcPr marL="121920" marR="121920" marT="60960" marB="60960" anchor="ctr">
                    <a:solidFill>
                      <a:srgbClr val="0070C0"/>
                    </a:solidFill>
                  </a:tcPr>
                </a:tc>
                <a:tc>
                  <a:txBody>
                    <a:bodyPr/>
                    <a:lstStyle/>
                    <a:p>
                      <a:pPr algn="ctr">
                        <a:buNone/>
                      </a:pPr>
                      <a:r>
                        <a:rPr lang="zh-CN" altLang="en-US" sz="1400" b="1" dirty="0">
                          <a:solidFill>
                            <a:schemeClr val="bg1"/>
                          </a:solidFill>
                          <a:latin typeface="微软雅黑" panose="020B0503020204020204" pitchFamily="34" charset="-122"/>
                          <a:ea typeface="微软雅黑" panose="020B0503020204020204" pitchFamily="34" charset="-122"/>
                          <a:sym typeface="+mn-ea"/>
                        </a:rPr>
                        <a:t>阶段</a:t>
                      </a:r>
                    </a:p>
                  </a:txBody>
                  <a:tcPr marL="121920" marR="121920" marT="60960" marB="60960" anchor="ctr">
                    <a:solidFill>
                      <a:srgbClr val="0070C0"/>
                    </a:solidFill>
                  </a:tcPr>
                </a:tc>
                <a:tc>
                  <a:txBody>
                    <a:bodyPr/>
                    <a:lstStyle/>
                    <a:p>
                      <a:pPr algn="ctr">
                        <a:buNone/>
                      </a:pPr>
                      <a:r>
                        <a:rPr lang="zh-CN" altLang="en-US" sz="1400" b="1" dirty="0">
                          <a:solidFill>
                            <a:schemeClr val="bg1"/>
                          </a:solidFill>
                          <a:latin typeface="微软雅黑" panose="020B0503020204020204" pitchFamily="34" charset="-122"/>
                          <a:ea typeface="微软雅黑" panose="020B0503020204020204" pitchFamily="34" charset="-122"/>
                          <a:sym typeface="+mn-ea"/>
                        </a:rPr>
                        <a:t>有关要求</a:t>
                      </a:r>
                    </a:p>
                  </a:txBody>
                  <a:tcPr marL="121920" marR="121920" marT="60960" marB="60960" anchor="ctr">
                    <a:solidFill>
                      <a:srgbClr val="0070C0"/>
                    </a:solidFill>
                  </a:tcPr>
                </a:tc>
                <a:tc>
                  <a:txBody>
                    <a:bodyPr/>
                    <a:lstStyle/>
                    <a:p>
                      <a:pPr algn="ctr">
                        <a:buNone/>
                      </a:pPr>
                      <a:r>
                        <a:rPr lang="zh-CN" altLang="en-US" sz="1400" b="1" dirty="0">
                          <a:solidFill>
                            <a:schemeClr val="bg1"/>
                          </a:solidFill>
                          <a:latin typeface="微软雅黑" panose="020B0503020204020204" pitchFamily="34" charset="-122"/>
                          <a:ea typeface="微软雅黑" panose="020B0503020204020204" pitchFamily="34" charset="-122"/>
                        </a:rPr>
                        <a:t>提交资料</a:t>
                      </a:r>
                    </a:p>
                  </a:txBody>
                  <a:tcPr marL="121920" marR="121920" marT="60960" marB="60960" anchor="ctr">
                    <a:solidFill>
                      <a:srgbClr val="0070C0"/>
                    </a:solidFill>
                  </a:tcPr>
                </a:tc>
                <a:tc>
                  <a:txBody>
                    <a:bodyPr/>
                    <a:lstStyle/>
                    <a:p>
                      <a:pPr algn="ctr">
                        <a:buNone/>
                      </a:pPr>
                      <a:r>
                        <a:rPr lang="zh-CN" altLang="en-US" sz="1400" b="1" dirty="0">
                          <a:solidFill>
                            <a:schemeClr val="bg1"/>
                          </a:solidFill>
                          <a:latin typeface="微软雅黑" panose="020B0503020204020204" pitchFamily="34" charset="-122"/>
                          <a:ea typeface="微软雅黑" panose="020B0503020204020204" pitchFamily="34" charset="-122"/>
                        </a:rPr>
                        <a:t>提交</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buNone/>
                      </a:pPr>
                      <a:r>
                        <a:rPr lang="zh-CN" altLang="en-US" sz="1400" b="1" dirty="0">
                          <a:solidFill>
                            <a:schemeClr val="bg1"/>
                          </a:solidFill>
                          <a:latin typeface="微软雅黑" panose="020B0503020204020204" pitchFamily="34" charset="-122"/>
                          <a:ea typeface="微软雅黑" panose="020B0503020204020204" pitchFamily="34" charset="-122"/>
                        </a:rPr>
                        <a:t>渠道</a:t>
                      </a:r>
                    </a:p>
                  </a:txBody>
                  <a:tcPr marL="121920" marR="121920" marT="60960" marB="60960" anchor="ctr">
                    <a:solidFill>
                      <a:srgbClr val="0070C0"/>
                    </a:solidFill>
                  </a:tcPr>
                </a:tc>
                <a:extLst>
                  <a:ext uri="{0D108BD9-81ED-4DB2-BD59-A6C34878D82A}">
                    <a16:rowId xmlns:a16="http://schemas.microsoft.com/office/drawing/2014/main" val="10000"/>
                  </a:ext>
                </a:extLst>
              </a:tr>
              <a:tr h="800506">
                <a:tc rowSpan="4">
                  <a:txBody>
                    <a:bodyPr/>
                    <a:lstStyle/>
                    <a:p>
                      <a:pPr algn="l">
                        <a:buNone/>
                      </a:pPr>
                      <a:endPar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algn="l">
                        <a:buNone/>
                      </a:pPr>
                      <a:endPar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algn="l">
                        <a:buNone/>
                      </a:pPr>
                      <a:endPar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algn="l">
                        <a:buNone/>
                      </a:pPr>
                      <a:endPar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algn="l">
                        <a:buNone/>
                      </a:pPr>
                      <a:endPar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algn="l">
                        <a:buNone/>
                      </a:pPr>
                      <a:endPar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algn="l">
                        <a:buNone/>
                      </a:pPr>
                      <a:endPar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algn="l">
                        <a:buNone/>
                      </a:pPr>
                      <a:r>
                        <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应用开发</a:t>
                      </a:r>
                    </a:p>
                  </a:txBody>
                  <a:tcPr marL="121920" marR="121920" marT="60960" marB="60960">
                    <a:solidFill>
                      <a:schemeClr val="bg1">
                        <a:lumMod val="95000"/>
                      </a:schemeClr>
                    </a:solidFill>
                  </a:tcPr>
                </a:tc>
                <a:tc>
                  <a:txBody>
                    <a:bodyPr/>
                    <a:lstStyle/>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mn-ea"/>
                        </a:rPr>
                        <a:t>开发前期</a:t>
                      </a:r>
                    </a:p>
                  </a:txBody>
                  <a:tcPr marL="121920" marR="121920" marT="60960" marB="60960">
                    <a:solidFill>
                      <a:schemeClr val="bg1">
                        <a:lumMod val="95000"/>
                      </a:schemeClr>
                    </a:solidFill>
                  </a:tcPr>
                </a:tc>
                <a:tc>
                  <a:txBody>
                    <a:bodyPr/>
                    <a:lstStyle/>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mn-ea"/>
                        </a:rPr>
                        <a:t>提交应用开发前期资料，待确认通过后，进入应用开发实施阶段</a:t>
                      </a:r>
                    </a:p>
                  </a:txBody>
                  <a:tcPr marL="121920" marR="121920" marT="60960" marB="60960">
                    <a:solidFill>
                      <a:schemeClr val="bg1">
                        <a:lumMod val="95000"/>
                      </a:schemeClr>
                    </a:solidFill>
                  </a:tcPr>
                </a:tc>
                <a:tc>
                  <a:txBody>
                    <a:bodyPr/>
                    <a:lstStyle/>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mn-ea"/>
                        </a:rPr>
                        <a:t>资金预算批复文件、采购文件、采购合同、实施计划、技术方案、需求规格说明书等具有法律效应的材料（均上传盖章扫描件）</a:t>
                      </a:r>
                    </a:p>
                  </a:txBody>
                  <a:tcPr marL="121920" marR="121920" marT="60960" marB="60960">
                    <a:solidFill>
                      <a:schemeClr val="bg1">
                        <a:lumMod val="95000"/>
                      </a:schemeClr>
                    </a:solidFill>
                  </a:tcPr>
                </a:tc>
                <a:tc rowSpan="5">
                  <a:txBody>
                    <a:bodyPr/>
                    <a:lstStyle/>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mn-ea"/>
                        </a:rPr>
                        <a:t>通过</a:t>
                      </a:r>
                      <a:r>
                        <a:rPr lang="en-US" altLang="zh-CN" sz="1400" b="0" dirty="0">
                          <a:solidFill>
                            <a:schemeClr val="tx1"/>
                          </a:solidFill>
                          <a:latin typeface="微软雅黑" panose="020B0503020204020204" pitchFamily="34" charset="-122"/>
                          <a:ea typeface="微软雅黑" panose="020B0503020204020204" pitchFamily="34" charset="-122"/>
                          <a:sym typeface="+mn-ea"/>
                        </a:rPr>
                        <a:t>“</a:t>
                      </a:r>
                      <a:r>
                        <a:rPr lang="zh-CN" altLang="en-US" sz="1400" b="0" dirty="0">
                          <a:solidFill>
                            <a:schemeClr val="tx1"/>
                          </a:solidFill>
                          <a:latin typeface="微软雅黑" panose="020B0503020204020204" pitchFamily="34" charset="-122"/>
                          <a:ea typeface="微软雅黑" panose="020B0503020204020204" pitchFamily="34" charset="-122"/>
                          <a:sym typeface="+mn-ea"/>
                        </a:rPr>
                        <a:t>应用管理系统</a:t>
                      </a:r>
                      <a:r>
                        <a:rPr lang="en-US" altLang="zh-CN" sz="1400" b="0" dirty="0">
                          <a:solidFill>
                            <a:schemeClr val="tx1"/>
                          </a:solidFill>
                          <a:latin typeface="微软雅黑" panose="020B0503020204020204" pitchFamily="34" charset="-122"/>
                          <a:ea typeface="微软雅黑" panose="020B0503020204020204" pitchFamily="34" charset="-122"/>
                          <a:sym typeface="+mn-ea"/>
                        </a:rPr>
                        <a:t>”</a:t>
                      </a:r>
                      <a:r>
                        <a:rPr lang="zh-CN" altLang="en-US" sz="1400" b="0" dirty="0">
                          <a:solidFill>
                            <a:schemeClr val="tx1"/>
                          </a:solidFill>
                          <a:latin typeface="微软雅黑" panose="020B0503020204020204" pitchFamily="34" charset="-122"/>
                          <a:ea typeface="微软雅黑" panose="020B0503020204020204" pitchFamily="34" charset="-122"/>
                          <a:sym typeface="+mn-ea"/>
                        </a:rPr>
                        <a:t>提交</a:t>
                      </a:r>
                      <a:endParaRPr lang="en-US" altLang="zh-CN" sz="1400" b="0" dirty="0">
                        <a:solidFill>
                          <a:schemeClr val="tx1"/>
                        </a:solidFill>
                        <a:latin typeface="微软雅黑" panose="020B0503020204020204" pitchFamily="34" charset="-122"/>
                        <a:ea typeface="微软雅黑" panose="020B0503020204020204" pitchFamily="34" charset="-122"/>
                        <a:sym typeface="+mn-ea"/>
                      </a:endParaRPr>
                    </a:p>
                  </a:txBody>
                  <a:tcPr marL="121920" marR="121920" marT="60960" marB="60960">
                    <a:solidFill>
                      <a:schemeClr val="bg1">
                        <a:lumMod val="95000"/>
                      </a:schemeClr>
                    </a:solidFill>
                  </a:tcPr>
                </a:tc>
                <a:extLst>
                  <a:ext uri="{0D108BD9-81ED-4DB2-BD59-A6C34878D82A}">
                    <a16:rowId xmlns:a16="http://schemas.microsoft.com/office/drawing/2014/main" val="10001"/>
                  </a:ext>
                </a:extLst>
              </a:tr>
              <a:tr h="800506">
                <a:tc vMerge="1">
                  <a:txBody>
                    <a:bodyPr/>
                    <a:lstStyle/>
                    <a:p>
                      <a:endParaRPr lang="zh-CN"/>
                    </a:p>
                  </a:txBody>
                  <a:tcPr>
                    <a:lnL w="12700">
                      <a:solidFill>
                        <a:schemeClr val="accent3"/>
                      </a:solidFill>
                      <a:prstDash val="solid"/>
                    </a:lnL>
                    <a:lnR w="12700">
                      <a:solidFill>
                        <a:schemeClr val="accent3"/>
                      </a:solidFill>
                      <a:prstDash val="solid"/>
                    </a:lnR>
                    <a:solidFill>
                      <a:srgbClr val="005DA2"/>
                    </a:solidFill>
                  </a:tcPr>
                </a:tc>
                <a:tc>
                  <a:txBody>
                    <a:bodyPr/>
                    <a:lstStyle/>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mn-ea"/>
                        </a:rPr>
                        <a:t>开发中期</a:t>
                      </a:r>
                      <a:endParaRPr lang="zh-CN" altLang="en-US" sz="1400" b="0" spc="150" dirty="0">
                        <a:solidFill>
                          <a:schemeClr val="tx1"/>
                        </a:solidFill>
                        <a:latin typeface="微软雅黑" panose="020B0503020204020204" pitchFamily="34" charset="-122"/>
                        <a:ea typeface="微软雅黑" panose="020B0503020204020204" pitchFamily="34" charset="-122"/>
                        <a:sym typeface="+mn-ea"/>
                      </a:endParaRPr>
                    </a:p>
                  </a:txBody>
                  <a:tcPr marL="121920" marR="121920" marT="60960" marB="60960">
                    <a:solidFill>
                      <a:schemeClr val="bg1">
                        <a:lumMod val="95000"/>
                      </a:schemeClr>
                    </a:solidFill>
                  </a:tcPr>
                </a:tc>
                <a:tc>
                  <a:txBody>
                    <a:bodyPr/>
                    <a:lstStyle/>
                    <a:p>
                      <a:pPr algn="l">
                        <a:buNone/>
                      </a:pPr>
                      <a:endParaRPr lang="en-US" altLang="zh-CN" sz="1400" b="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a:p>
                      <a:pPr algn="l">
                        <a:buNone/>
                      </a:pPr>
                      <a:r>
                        <a:rPr lang="en-US" altLang="zh-CN" sz="1400" b="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sz="1400" b="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利用“一体化平台”开展数字资源供需对接</a:t>
                      </a:r>
                    </a:p>
                    <a:p>
                      <a:pPr algn="l">
                        <a:buNone/>
                      </a:pPr>
                      <a:r>
                        <a:rPr lang="en-US" altLang="zh-CN" sz="1400" b="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sz="1400" b="0" spc="15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遵循“三级治理中心”相关要求，完成应用部署</a:t>
                      </a:r>
                    </a:p>
                  </a:txBody>
                  <a:tcPr marL="121920" marR="121920" marT="60960" marB="60960">
                    <a:solidFill>
                      <a:schemeClr val="bg1">
                        <a:lumMod val="95000"/>
                      </a:schemeClr>
                    </a:solidFill>
                  </a:tcPr>
                </a:tc>
                <a:tc>
                  <a:txBody>
                    <a:bodyPr/>
                    <a:lstStyle/>
                    <a:p>
                      <a:pPr algn="l">
                        <a:buNone/>
                      </a:pPr>
                      <a:endParaRPr lang="en-US" altLang="zh-CN" sz="1400" b="0" dirty="0">
                        <a:solidFill>
                          <a:schemeClr val="tx1"/>
                        </a:solidFill>
                        <a:latin typeface="微软雅黑" panose="020B0503020204020204" pitchFamily="34" charset="-122"/>
                        <a:ea typeface="微软雅黑" panose="020B0503020204020204" pitchFamily="34" charset="-122"/>
                      </a:endParaRPr>
                    </a:p>
                    <a:p>
                      <a:pPr algn="l">
                        <a:buNone/>
                      </a:pPr>
                      <a:r>
                        <a:rPr lang="en-US" altLang="zh-CN" sz="1400" b="0" dirty="0" err="1">
                          <a:solidFill>
                            <a:schemeClr val="tx1"/>
                          </a:solidFill>
                          <a:latin typeface="微软雅黑" panose="020B0503020204020204" pitchFamily="34" charset="-122"/>
                          <a:ea typeface="微软雅黑" panose="020B0503020204020204" pitchFamily="34" charset="-122"/>
                        </a:rPr>
                        <a:t>开发过程中形成的文档、源</a:t>
                      </a:r>
                      <a:r>
                        <a:rPr lang="zh-CN" altLang="en-US" sz="1400" b="0" dirty="0">
                          <a:solidFill>
                            <a:schemeClr val="tx1"/>
                          </a:solidFill>
                          <a:latin typeface="微软雅黑" panose="020B0503020204020204" pitchFamily="34" charset="-122"/>
                          <a:ea typeface="微软雅黑" panose="020B0503020204020204" pitchFamily="34" charset="-122"/>
                        </a:rPr>
                        <a:t>代</a:t>
                      </a:r>
                      <a:r>
                        <a:rPr lang="en-US" altLang="zh-CN" sz="1400" b="0" dirty="0">
                          <a:solidFill>
                            <a:schemeClr val="tx1"/>
                          </a:solidFill>
                          <a:latin typeface="微软雅黑" panose="020B0503020204020204" pitchFamily="34" charset="-122"/>
                          <a:ea typeface="微软雅黑" panose="020B0503020204020204" pitchFamily="34" charset="-122"/>
                        </a:rPr>
                        <a:t>码</a:t>
                      </a:r>
                    </a:p>
                    <a:p>
                      <a:pPr algn="l">
                        <a:buNone/>
                      </a:pPr>
                      <a:r>
                        <a:rPr lang="en-US" altLang="zh-CN" sz="1400" b="0" dirty="0" err="1">
                          <a:solidFill>
                            <a:schemeClr val="tx1"/>
                          </a:solidFill>
                          <a:latin typeface="微软雅黑" panose="020B0503020204020204" pitchFamily="34" charset="-122"/>
                          <a:ea typeface="微软雅黑" panose="020B0503020204020204" pitchFamily="34" charset="-122"/>
                        </a:rPr>
                        <a:t>及软件包等资料</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marL="121920" marR="121920" marT="60960" marB="60960">
                    <a:solidFill>
                      <a:schemeClr val="bg1">
                        <a:lumMod val="95000"/>
                      </a:schemeClr>
                    </a:solidFill>
                  </a:tcPr>
                </a:tc>
                <a:tc vMerge="1">
                  <a:txBody>
                    <a:bodyPr/>
                    <a:lstStyle/>
                    <a:p>
                      <a:endParaRPr lang="zh-CN"/>
                    </a:p>
                  </a:txBody>
                  <a:tcPr>
                    <a:lnL w="12700">
                      <a:solidFill>
                        <a:schemeClr val="accent3"/>
                      </a:solidFill>
                      <a:prstDash val="solid"/>
                    </a:lnL>
                    <a:lnR w="12700">
                      <a:solidFill>
                        <a:schemeClr val="accent3"/>
                      </a:solidFill>
                      <a:prstDash val="solid"/>
                    </a:lnR>
                    <a:solidFill>
                      <a:srgbClr val="005DA2"/>
                    </a:solidFill>
                  </a:tcPr>
                </a:tc>
                <a:extLst>
                  <a:ext uri="{0D108BD9-81ED-4DB2-BD59-A6C34878D82A}">
                    <a16:rowId xmlns:a16="http://schemas.microsoft.com/office/drawing/2014/main" val="10002"/>
                  </a:ext>
                </a:extLst>
              </a:tr>
              <a:tr h="800506">
                <a:tc vMerge="1">
                  <a:txBody>
                    <a:bodyPr/>
                    <a:lstStyle/>
                    <a:p>
                      <a:endParaRPr lang="zh-CN"/>
                    </a:p>
                  </a:txBody>
                  <a:tcPr>
                    <a:lnL w="12700">
                      <a:solidFill>
                        <a:schemeClr val="accent3"/>
                      </a:solidFill>
                      <a:prstDash val="solid"/>
                    </a:lnL>
                    <a:lnR w="12700">
                      <a:solidFill>
                        <a:schemeClr val="accent3"/>
                      </a:solidFill>
                      <a:prstDash val="solid"/>
                    </a:lnR>
                    <a:solidFill>
                      <a:srgbClr val="005DA2"/>
                    </a:solidFill>
                  </a:tcPr>
                </a:tc>
                <a:tc>
                  <a:txBody>
                    <a:bodyPr/>
                    <a:lstStyle/>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mn-ea"/>
                        </a:rPr>
                        <a:t>开发后期</a:t>
                      </a:r>
                    </a:p>
                  </a:txBody>
                  <a:tcPr marL="121920" marR="121920" marT="60960" marB="60960">
                    <a:solidFill>
                      <a:schemeClr val="bg1">
                        <a:lumMod val="95000"/>
                      </a:schemeClr>
                    </a:solidFill>
                  </a:tcPr>
                </a:tc>
                <a:tc>
                  <a:txBody>
                    <a:bodyPr/>
                    <a:lstStyle/>
                    <a:p>
                      <a:pPr algn="l">
                        <a:buNone/>
                      </a:pPr>
                      <a:endParaRPr lang="en-US" altLang="zh-CN" sz="1400" b="0" dirty="0">
                        <a:solidFill>
                          <a:schemeClr val="tx1"/>
                        </a:solidFill>
                        <a:latin typeface="微软雅黑" panose="020B0503020204020204" pitchFamily="34" charset="-122"/>
                        <a:ea typeface="微软雅黑" panose="020B0503020204020204" pitchFamily="34" charset="-122"/>
                        <a:sym typeface="+mn-ea"/>
                      </a:endParaRPr>
                    </a:p>
                    <a:p>
                      <a:pPr algn="l">
                        <a:buNone/>
                      </a:pPr>
                      <a:r>
                        <a:rPr lang="en-US" altLang="zh-CN" sz="1400" b="0" dirty="0">
                          <a:solidFill>
                            <a:schemeClr val="tx1"/>
                          </a:solidFill>
                          <a:latin typeface="微软雅黑" panose="020B0503020204020204" pitchFamily="34" charset="-122"/>
                          <a:ea typeface="微软雅黑" panose="020B0503020204020204" pitchFamily="34" charset="-122"/>
                          <a:sym typeface="+mn-ea"/>
                        </a:rPr>
                        <a:t>1.</a:t>
                      </a:r>
                      <a:r>
                        <a:rPr lang="zh-CN" altLang="en-US" sz="1400" b="0" dirty="0">
                          <a:solidFill>
                            <a:schemeClr val="tx1"/>
                          </a:solidFill>
                          <a:latin typeface="微软雅黑" panose="020B0503020204020204" pitchFamily="34" charset="-122"/>
                          <a:ea typeface="微软雅黑" panose="020B0503020204020204" pitchFamily="34" charset="-122"/>
                          <a:sym typeface="+mn-ea"/>
                        </a:rPr>
                        <a:t>全口径编目</a:t>
                      </a:r>
                    </a:p>
                    <a:p>
                      <a:pPr algn="l">
                        <a:buNone/>
                      </a:pPr>
                      <a:r>
                        <a:rPr lang="en-US" altLang="zh-CN" sz="1400" b="0" dirty="0">
                          <a:solidFill>
                            <a:schemeClr val="tx1"/>
                          </a:solidFill>
                          <a:latin typeface="微软雅黑" panose="020B0503020204020204" pitchFamily="34" charset="-122"/>
                          <a:ea typeface="微软雅黑" panose="020B0503020204020204" pitchFamily="34" charset="-122"/>
                          <a:sym typeface="+mn-ea"/>
                        </a:rPr>
                        <a:t>2.</a:t>
                      </a:r>
                      <a:r>
                        <a:rPr lang="zh-CN" altLang="en-US" sz="1400" b="0" dirty="0">
                          <a:solidFill>
                            <a:schemeClr val="tx1"/>
                          </a:solidFill>
                          <a:latin typeface="微软雅黑" panose="020B0503020204020204" pitchFamily="34" charset="-122"/>
                          <a:ea typeface="微软雅黑" panose="020B0503020204020204" pitchFamily="34" charset="-122"/>
                          <a:sym typeface="+mn-ea"/>
                        </a:rPr>
                        <a:t>提交发布申请，完成两端发布</a:t>
                      </a:r>
                      <a:r>
                        <a:rPr lang="en-US" altLang="zh-CN" sz="1400" b="0" dirty="0">
                          <a:solidFill>
                            <a:schemeClr val="tx1"/>
                          </a:solidFill>
                          <a:latin typeface="微软雅黑" panose="020B0503020204020204" pitchFamily="34" charset="-122"/>
                          <a:ea typeface="微软雅黑" panose="020B0503020204020204" pitchFamily="34" charset="-122"/>
                          <a:sym typeface="+mn-ea"/>
                        </a:rPr>
                        <a:t>                                     </a:t>
                      </a: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txBody>
                  <a:tcPr marL="121920" marR="121920" marT="60960" marB="60960">
                    <a:solidFill>
                      <a:schemeClr val="bg1">
                        <a:lumMod val="95000"/>
                      </a:schemeClr>
                    </a:solidFill>
                  </a:tcPr>
                </a:tc>
                <a:tc>
                  <a:txBody>
                    <a:bodyPr/>
                    <a:lstStyle/>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方正仿宋_GBK" panose="02000000000000000000" charset="-122"/>
                      </a:endParaRPr>
                    </a:p>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方正仿宋_GBK" panose="02000000000000000000" charset="-122"/>
                        </a:rPr>
                        <a:t>测试、联调过程中测试用例、测试计划、测试报告、联调记录等材料</a:t>
                      </a:r>
                    </a:p>
                  </a:txBody>
                  <a:tcPr marL="121920" marR="121920" marT="60960" marB="60960">
                    <a:solidFill>
                      <a:schemeClr val="bg1">
                        <a:lumMod val="95000"/>
                      </a:schemeClr>
                    </a:solidFill>
                  </a:tcPr>
                </a:tc>
                <a:tc vMerge="1">
                  <a:txBody>
                    <a:bodyPr/>
                    <a:lstStyle/>
                    <a:p>
                      <a:endParaRPr lang="zh-CN"/>
                    </a:p>
                  </a:txBody>
                  <a:tcPr>
                    <a:lnL w="12700">
                      <a:solidFill>
                        <a:schemeClr val="accent3"/>
                      </a:solidFill>
                      <a:prstDash val="solid"/>
                    </a:lnL>
                    <a:lnR w="12700">
                      <a:solidFill>
                        <a:schemeClr val="accent3"/>
                      </a:solidFill>
                      <a:prstDash val="solid"/>
                    </a:lnR>
                    <a:solidFill>
                      <a:srgbClr val="005DA2"/>
                    </a:solidFill>
                  </a:tcPr>
                </a:tc>
                <a:extLst>
                  <a:ext uri="{0D108BD9-81ED-4DB2-BD59-A6C34878D82A}">
                    <a16:rowId xmlns:a16="http://schemas.microsoft.com/office/drawing/2014/main" val="10003"/>
                  </a:ext>
                </a:extLst>
              </a:tr>
              <a:tr h="625396">
                <a:tc vMerge="1">
                  <a:txBody>
                    <a:bodyPr/>
                    <a:lstStyle/>
                    <a:p>
                      <a:endParaRPr lang="zh-CN"/>
                    </a:p>
                  </a:txBody>
                  <a:tcPr>
                    <a:lnL w="12700">
                      <a:solidFill>
                        <a:schemeClr val="accent3"/>
                      </a:solidFill>
                      <a:prstDash val="solid"/>
                    </a:lnL>
                    <a:lnR w="12700">
                      <a:solidFill>
                        <a:schemeClr val="accent3"/>
                      </a:solidFill>
                      <a:prstDash val="solid"/>
                    </a:lnR>
                    <a:lnB w="12700">
                      <a:solidFill>
                        <a:schemeClr val="accent3"/>
                      </a:solidFill>
                      <a:prstDash val="solid"/>
                    </a:lnB>
                    <a:solidFill>
                      <a:srgbClr val="005DA2"/>
                    </a:solidFill>
                  </a:tcPr>
                </a:tc>
                <a:tc>
                  <a:txBody>
                    <a:bodyPr/>
                    <a:lstStyle/>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mn-ea"/>
                        </a:rPr>
                        <a:t>试运行</a:t>
                      </a:r>
                    </a:p>
                  </a:txBody>
                  <a:tcPr marL="121920" marR="121920" marT="60960" marB="60960">
                    <a:solidFill>
                      <a:schemeClr val="bg1">
                        <a:lumMod val="95000"/>
                      </a:schemeClr>
                    </a:solidFill>
                  </a:tcPr>
                </a:tc>
                <a:tc>
                  <a:txBody>
                    <a:bodyPr/>
                    <a:lstStyle/>
                    <a:p>
                      <a:pPr algn="l">
                        <a:buNone/>
                      </a:pPr>
                      <a:r>
                        <a:rPr lang="en-US" altLang="zh-CN" sz="1400" b="0" dirty="0">
                          <a:solidFill>
                            <a:schemeClr val="tx1"/>
                          </a:solidFill>
                          <a:latin typeface="微软雅黑" panose="020B0503020204020204" pitchFamily="34" charset="-122"/>
                          <a:ea typeface="微软雅黑" panose="020B0503020204020204" pitchFamily="34" charset="-122"/>
                          <a:sym typeface="+mn-ea"/>
                        </a:rPr>
                        <a:t>1.</a:t>
                      </a:r>
                      <a:r>
                        <a:rPr lang="zh-CN" altLang="en-US" sz="1400" b="0" dirty="0">
                          <a:solidFill>
                            <a:schemeClr val="tx1"/>
                          </a:solidFill>
                          <a:latin typeface="微软雅黑" panose="020B0503020204020204" pitchFamily="34" charset="-122"/>
                          <a:ea typeface="微软雅黑" panose="020B0503020204020204" pitchFamily="34" charset="-122"/>
                          <a:sym typeface="+mn-ea"/>
                        </a:rPr>
                        <a:t>试运行原则上不低于90天</a:t>
                      </a:r>
                    </a:p>
                    <a:p>
                      <a:pPr algn="l">
                        <a:buNone/>
                      </a:pPr>
                      <a:r>
                        <a:rPr lang="en-US" altLang="zh-CN" sz="1400" b="0" dirty="0">
                          <a:solidFill>
                            <a:schemeClr val="tx1"/>
                          </a:solidFill>
                          <a:latin typeface="微软雅黑" panose="020B0503020204020204" pitchFamily="34" charset="-122"/>
                          <a:ea typeface="微软雅黑" panose="020B0503020204020204" pitchFamily="34" charset="-122"/>
                          <a:sym typeface="+mn-ea"/>
                        </a:rPr>
                        <a:t>2.</a:t>
                      </a:r>
                      <a:r>
                        <a:rPr lang="zh-CN" altLang="en-US" sz="1400" b="0" dirty="0">
                          <a:solidFill>
                            <a:schemeClr val="tx1"/>
                          </a:solidFill>
                          <a:latin typeface="微软雅黑" panose="020B0503020204020204" pitchFamily="34" charset="-122"/>
                          <a:ea typeface="微软雅黑" panose="020B0503020204020204" pitchFamily="34" charset="-122"/>
                          <a:sym typeface="+mn-ea"/>
                        </a:rPr>
                        <a:t>试运行后一个月内形成试运行报告</a:t>
                      </a:r>
                    </a:p>
                    <a:p>
                      <a:pPr algn="l">
                        <a:buNone/>
                      </a:pPr>
                      <a:r>
                        <a:rPr lang="en-US" altLang="zh-CN" sz="1400" b="0" dirty="0">
                          <a:solidFill>
                            <a:schemeClr val="tx1"/>
                          </a:solidFill>
                          <a:latin typeface="微软雅黑" panose="020B0503020204020204" pitchFamily="34" charset="-122"/>
                          <a:ea typeface="微软雅黑" panose="020B0503020204020204" pitchFamily="34" charset="-122"/>
                          <a:sym typeface="+mn-ea"/>
                        </a:rPr>
                        <a:t>3.</a:t>
                      </a:r>
                      <a:r>
                        <a:rPr lang="zh-CN" altLang="en-US" sz="1400" b="0" dirty="0">
                          <a:solidFill>
                            <a:schemeClr val="tx1"/>
                          </a:solidFill>
                          <a:latin typeface="微软雅黑" panose="020B0503020204020204" pitchFamily="34" charset="-122"/>
                          <a:ea typeface="微软雅黑" panose="020B0503020204020204" pitchFamily="34" charset="-122"/>
                          <a:sym typeface="+mn-ea"/>
                        </a:rPr>
                        <a:t>若出现重大故障，及时修复，并形成故障情况报告</a:t>
                      </a:r>
                    </a:p>
                  </a:txBody>
                  <a:tcPr marL="121920" marR="121920" marT="60960" marB="60960">
                    <a:solidFill>
                      <a:schemeClr val="bg1">
                        <a:lumMod val="95000"/>
                      </a:schemeClr>
                    </a:solidFill>
                  </a:tcPr>
                </a:tc>
                <a:tc>
                  <a:txBody>
                    <a:bodyPr/>
                    <a:lstStyle/>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方正仿宋_GBK" panose="02000000000000000000" charset="-122"/>
                      </a:endParaRPr>
                    </a:p>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方正仿宋_GBK" panose="02000000000000000000" charset="-122"/>
                        </a:rPr>
                        <a:t>提交应用试运行报告及相关资料</a:t>
                      </a:r>
                    </a:p>
                  </a:txBody>
                  <a:tcPr marL="121920" marR="121920" marT="60960" marB="60960">
                    <a:solidFill>
                      <a:schemeClr val="bg1">
                        <a:lumMod val="95000"/>
                      </a:schemeClr>
                    </a:solidFill>
                  </a:tcPr>
                </a:tc>
                <a:tc vMerge="1">
                  <a:txBody>
                    <a:bodyPr/>
                    <a:lstStyle/>
                    <a:p>
                      <a:endParaRPr lang="zh-CN"/>
                    </a:p>
                  </a:txBody>
                  <a:tcPr>
                    <a:lnL w="12700">
                      <a:solidFill>
                        <a:schemeClr val="accent3"/>
                      </a:solidFill>
                      <a:prstDash val="solid"/>
                    </a:lnL>
                    <a:lnR w="12700">
                      <a:solidFill>
                        <a:schemeClr val="accent3"/>
                      </a:solidFill>
                      <a:prstDash val="solid"/>
                    </a:lnR>
                    <a:solidFill>
                      <a:srgbClr val="005DA2"/>
                    </a:solidFill>
                  </a:tcPr>
                </a:tc>
                <a:extLst>
                  <a:ext uri="{0D108BD9-81ED-4DB2-BD59-A6C34878D82A}">
                    <a16:rowId xmlns:a16="http://schemas.microsoft.com/office/drawing/2014/main" val="10004"/>
                  </a:ext>
                </a:extLst>
              </a:tr>
              <a:tr h="800506">
                <a:tc>
                  <a:txBody>
                    <a:bodyPr/>
                    <a:lstStyle/>
                    <a:p>
                      <a:pPr algn="l">
                        <a:buNone/>
                      </a:pPr>
                      <a:r>
                        <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应用运维</a:t>
                      </a:r>
                    </a:p>
                  </a:txBody>
                  <a:tcPr marL="121920" marR="121920" marT="60960" marB="60960">
                    <a:solidFill>
                      <a:schemeClr val="bg1">
                        <a:lumMod val="95000"/>
                      </a:schemeClr>
                    </a:solidFill>
                  </a:tcPr>
                </a:tc>
                <a:tc>
                  <a:txBody>
                    <a:bodyPr/>
                    <a:lstStyle/>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txBody>
                  <a:tcPr marL="121920" marR="121920" marT="60960" marB="60960">
                    <a:solidFill>
                      <a:schemeClr val="bg1">
                        <a:lumMod val="95000"/>
                      </a:schemeClr>
                    </a:solidFill>
                  </a:tcPr>
                </a:tc>
                <a:tc>
                  <a:txBody>
                    <a:bodyPr/>
                    <a:lstStyle/>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endParaRPr lang="zh-CN" altLang="en-US" sz="1400" b="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400" b="0" dirty="0">
                          <a:solidFill>
                            <a:schemeClr val="tx1"/>
                          </a:solidFill>
                          <a:latin typeface="微软雅黑" panose="020B0503020204020204" pitchFamily="34" charset="-122"/>
                          <a:ea typeface="微软雅黑" panose="020B0503020204020204" pitchFamily="34" charset="-122"/>
                          <a:sym typeface="+mn-ea"/>
                        </a:rPr>
                        <a:t>保障运维应用安全平稳运行</a:t>
                      </a:r>
                    </a:p>
                  </a:txBody>
                  <a:tcPr marL="121920" marR="121920" marT="60960" marB="60960">
                    <a:solidFill>
                      <a:schemeClr val="bg1">
                        <a:lumMod val="95000"/>
                      </a:schemeClr>
                    </a:solid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sym typeface="+mn-ea"/>
                      </a:endParaRPr>
                    </a:p>
                    <a:p>
                      <a:pPr algn="l">
                        <a:buNone/>
                      </a:pPr>
                      <a:r>
                        <a:rPr lang="zh-CN" altLang="en-US" sz="1200" b="0" dirty="0">
                          <a:solidFill>
                            <a:schemeClr val="tx1"/>
                          </a:solidFill>
                          <a:latin typeface="微软雅黑" panose="020B0503020204020204" pitchFamily="34" charset="-122"/>
                          <a:ea typeface="微软雅黑" panose="020B0503020204020204" pitchFamily="34" charset="-122"/>
                          <a:sym typeface="+mn-ea"/>
                        </a:rPr>
                        <a:t>采购文件、采购合同、实施计划、技术方案、需求规格说明书、其他需要补充说明等具有法律效应的材料（均上传盖章扫描件）</a:t>
                      </a:r>
                    </a:p>
                  </a:txBody>
                  <a:tcPr marL="121920" marR="121920" marT="60960" marB="60960">
                    <a:solidFill>
                      <a:schemeClr val="bg1">
                        <a:lumMod val="95000"/>
                      </a:schemeClr>
                    </a:solidFill>
                  </a:tcPr>
                </a:tc>
                <a:tc vMerge="1">
                  <a:txBody>
                    <a:bodyPr/>
                    <a:lstStyle/>
                    <a:p>
                      <a:endParaRPr lang="zh-CN"/>
                    </a:p>
                  </a:txBody>
                  <a:tcPr>
                    <a:lnL w="12700">
                      <a:solidFill>
                        <a:schemeClr val="accent3"/>
                      </a:solidFill>
                      <a:prstDash val="solid"/>
                    </a:lnL>
                    <a:lnR w="12700">
                      <a:solidFill>
                        <a:schemeClr val="accent3"/>
                      </a:solidFill>
                      <a:prstDash val="solid"/>
                    </a:lnR>
                    <a:lnB w="12700">
                      <a:solidFill>
                        <a:schemeClr val="accent3"/>
                      </a:solidFill>
                      <a:prstDash val="solid"/>
                    </a:lnB>
                    <a:solidFill>
                      <a:srgbClr val="005DA2"/>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369071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顶角 88">
            <a:extLst>
              <a:ext uri="{FF2B5EF4-FFF2-40B4-BE49-F238E27FC236}">
                <a16:creationId xmlns:a16="http://schemas.microsoft.com/office/drawing/2014/main" id="{13EA7F1D-40AB-2113-4D96-1BF346339236}"/>
              </a:ext>
            </a:extLst>
          </p:cNvPr>
          <p:cNvSpPr/>
          <p:nvPr/>
        </p:nvSpPr>
        <p:spPr>
          <a:xfrm flipV="1">
            <a:off x="774444" y="3447857"/>
            <a:ext cx="5078934" cy="2432638"/>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16" name="矩形: 圆顶角 88">
            <a:extLst>
              <a:ext uri="{FF2B5EF4-FFF2-40B4-BE49-F238E27FC236}">
                <a16:creationId xmlns:a16="http://schemas.microsoft.com/office/drawing/2014/main" id="{5AC15B00-3105-E120-AA4E-E15C445D3463}"/>
              </a:ext>
            </a:extLst>
          </p:cNvPr>
          <p:cNvSpPr/>
          <p:nvPr/>
        </p:nvSpPr>
        <p:spPr>
          <a:xfrm flipV="1">
            <a:off x="6399158" y="3447857"/>
            <a:ext cx="5078934" cy="2432638"/>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5.3  </a:t>
            </a:r>
            <a:r>
              <a:rPr kumimoji="1" lang="zh-CN" altLang="en-US" dirty="0"/>
              <a:t>应用变更</a:t>
            </a:r>
          </a:p>
        </p:txBody>
      </p:sp>
      <p:cxnSp>
        <p:nvCxnSpPr>
          <p:cNvPr id="5" name="直接连接符 4">
            <a:extLst>
              <a:ext uri="{FF2B5EF4-FFF2-40B4-BE49-F238E27FC236}">
                <a16:creationId xmlns:a16="http://schemas.microsoft.com/office/drawing/2014/main" id="{C602590B-76FF-C79D-34D1-7B2FB200A6AE}"/>
              </a:ext>
            </a:extLst>
          </p:cNvPr>
          <p:cNvCxnSpPr/>
          <p:nvPr>
            <p:custDataLst>
              <p:tags r:id="rId1"/>
            </p:custDataLst>
          </p:nvPr>
        </p:nvCxnSpPr>
        <p:spPr>
          <a:xfrm>
            <a:off x="2783887" y="4056530"/>
            <a:ext cx="1535236" cy="0"/>
          </a:xfrm>
          <a:prstGeom prst="line">
            <a:avLst/>
          </a:prstGeom>
          <a:noFill/>
          <a:ln w="28575" cap="flat" cmpd="sng" algn="ctr">
            <a:solidFill>
              <a:srgbClr val="6096E6"/>
            </a:solidFill>
            <a:prstDash val="solid"/>
            <a:miter lim="800000"/>
          </a:ln>
          <a:effectLst/>
        </p:spPr>
      </p:cxnSp>
      <p:sp>
        <p:nvSpPr>
          <p:cNvPr id="6" name="文本框 5">
            <a:extLst>
              <a:ext uri="{FF2B5EF4-FFF2-40B4-BE49-F238E27FC236}">
                <a16:creationId xmlns:a16="http://schemas.microsoft.com/office/drawing/2014/main" id="{44890F1B-BD7C-211B-D21B-0049E8B4B1B7}"/>
              </a:ext>
            </a:extLst>
          </p:cNvPr>
          <p:cNvSpPr txBox="1"/>
          <p:nvPr>
            <p:custDataLst>
              <p:tags r:id="rId2"/>
            </p:custDataLst>
          </p:nvPr>
        </p:nvSpPr>
        <p:spPr>
          <a:xfrm>
            <a:off x="1218738" y="4139505"/>
            <a:ext cx="4634640" cy="2154967"/>
          </a:xfrm>
          <a:prstGeom prst="rect">
            <a:avLst/>
          </a:prstGeom>
          <a:noFill/>
        </p:spPr>
        <p:txBody>
          <a:bodyPr wrap="square" rtlCol="0">
            <a:noAutofit/>
          </a:bodyPr>
          <a:lstStyle/>
          <a:p>
            <a:pPr algn="l" fontAlgn="auto">
              <a:lnSpc>
                <a:spcPct val="130000"/>
              </a:lnSpc>
            </a:pPr>
            <a:r>
              <a:rPr lang="zh-CN" sz="2400" dirty="0">
                <a:latin typeface="微软雅黑" panose="020B0503020204020204" pitchFamily="34" charset="-122"/>
                <a:ea typeface="微软雅黑" panose="020B0503020204020204" pitchFamily="34" charset="-122"/>
                <a:cs typeface="方正仿宋_GBK" panose="02000000000000000000" charset="-122"/>
                <a:sym typeface="+mn-ea"/>
              </a:rPr>
              <a:t>应用开发或运维内容调整，导致资金预算总额增加的，按应用开发或运维申报流程重新申报</a:t>
            </a:r>
            <a:endParaRPr lang="zh-CN" altLang="en-US" sz="2400" spc="150" dirty="0">
              <a:uFillTx/>
              <a:latin typeface="微软雅黑" panose="020B0503020204020204" pitchFamily="34" charset="-122"/>
              <a:ea typeface="微软雅黑" panose="020B0503020204020204" pitchFamily="34" charset="-122"/>
              <a:cs typeface="方正仿宋_GBK" panose="02000000000000000000" charset="-122"/>
              <a:sym typeface="+mn-ea"/>
            </a:endParaRPr>
          </a:p>
        </p:txBody>
      </p:sp>
      <p:sp>
        <p:nvSpPr>
          <p:cNvPr id="7" name="文本框 6">
            <a:extLst>
              <a:ext uri="{FF2B5EF4-FFF2-40B4-BE49-F238E27FC236}">
                <a16:creationId xmlns:a16="http://schemas.microsoft.com/office/drawing/2014/main" id="{8D1AB9DC-EAC6-DAED-961E-066F2438E394}"/>
              </a:ext>
            </a:extLst>
          </p:cNvPr>
          <p:cNvSpPr txBox="1"/>
          <p:nvPr>
            <p:custDataLst>
              <p:tags r:id="rId3"/>
            </p:custDataLst>
          </p:nvPr>
        </p:nvSpPr>
        <p:spPr>
          <a:xfrm>
            <a:off x="7067116" y="4297416"/>
            <a:ext cx="3867573" cy="1091353"/>
          </a:xfrm>
          <a:prstGeom prst="rect">
            <a:avLst/>
          </a:prstGeom>
          <a:noFill/>
        </p:spPr>
        <p:txBody>
          <a:bodyPr wrap="square" rtlCol="0">
            <a:noAutofit/>
          </a:bodyPr>
          <a:lstStyle/>
          <a:p>
            <a:pPr>
              <a:lnSpc>
                <a:spcPct val="130000"/>
              </a:lnSpc>
            </a:pPr>
            <a:r>
              <a:rPr lang="zh-CN" altLang="en-US" sz="2400" dirty="0">
                <a:solidFill>
                  <a:srgbClr val="000000"/>
                </a:solidFill>
                <a:latin typeface="微软雅黑" panose="020B0503020204020204" pitchFamily="34" charset="-122"/>
                <a:ea typeface="微软雅黑" panose="020B0503020204020204" pitchFamily="34" charset="-122"/>
                <a:sym typeface="+mn-ea"/>
              </a:rPr>
              <a:t>应用开发或运维内容不变，资金预算总额有结余的，按照相关管理规定执行</a:t>
            </a:r>
          </a:p>
        </p:txBody>
      </p:sp>
      <p:sp>
        <p:nvSpPr>
          <p:cNvPr id="8" name="椭圆 7">
            <a:extLst>
              <a:ext uri="{FF2B5EF4-FFF2-40B4-BE49-F238E27FC236}">
                <a16:creationId xmlns:a16="http://schemas.microsoft.com/office/drawing/2014/main" id="{1A3B60E8-B5FC-4A0D-11F9-72D7693E53FD}"/>
              </a:ext>
            </a:extLst>
          </p:cNvPr>
          <p:cNvSpPr/>
          <p:nvPr/>
        </p:nvSpPr>
        <p:spPr>
          <a:xfrm>
            <a:off x="2821987" y="1902561"/>
            <a:ext cx="1359636" cy="1359636"/>
          </a:xfrm>
          <a:prstGeom prst="ellipse">
            <a:avLst/>
          </a:prstGeom>
          <a:solidFill>
            <a:srgbClr val="ECF3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4BF5DEFC-4C5F-CF49-6130-B08FCE3643BF}"/>
              </a:ext>
            </a:extLst>
          </p:cNvPr>
          <p:cNvSpPr txBox="1"/>
          <p:nvPr>
            <p:custDataLst>
              <p:tags r:id="rId4"/>
            </p:custDataLst>
          </p:nvPr>
        </p:nvSpPr>
        <p:spPr>
          <a:xfrm>
            <a:off x="2287433" y="3424502"/>
            <a:ext cx="2428741" cy="523220"/>
          </a:xfrm>
          <a:prstGeom prst="rect">
            <a:avLst/>
          </a:prstGeom>
          <a:noFill/>
        </p:spPr>
        <p:txBody>
          <a:bodyPr wrap="square" rtlCol="0">
            <a:spAutoFit/>
          </a:bodyPr>
          <a:lstStyle/>
          <a:p>
            <a:pPr algn="ctr"/>
            <a:r>
              <a:rPr lang="zh-CN" sz="28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内容调整</a:t>
            </a:r>
            <a:endParaRPr lang="zh-CN" altLang="en-US" sz="2800" b="1" spc="300" dirty="0">
              <a:solidFill>
                <a:srgbClr val="C00000"/>
              </a:solidFill>
              <a:uFillTx/>
              <a:latin typeface="微软雅黑" panose="020B0503020204020204" pitchFamily="34" charset="-122"/>
              <a:ea typeface="微软雅黑" panose="020B0503020204020204" pitchFamily="34" charset="-122"/>
              <a:cs typeface="方正仿宋_GBK" panose="02000000000000000000" charset="-122"/>
              <a:sym typeface="+mn-ea"/>
            </a:endParaRPr>
          </a:p>
        </p:txBody>
      </p:sp>
      <p:pic>
        <p:nvPicPr>
          <p:cNvPr id="10" name="图片 61" descr="343435383036303b343532343134373bbef6cbe3b9dcc0ed">
            <a:extLst>
              <a:ext uri="{FF2B5EF4-FFF2-40B4-BE49-F238E27FC236}">
                <a16:creationId xmlns:a16="http://schemas.microsoft.com/office/drawing/2014/main" id="{92B9559D-DA0E-1442-7DA3-3134060D9323}"/>
              </a:ext>
            </a:extLst>
          </p:cNvPr>
          <p:cNvPicPr>
            <a:picLocks noChangeAspect="1"/>
          </p:cNvPicPr>
          <p:nvPr>
            <p:custDataLst>
              <p:tags r:id="rId5"/>
            </p:custDataLst>
          </p:nvPr>
        </p:nvPicPr>
        <p:blipFill>
          <a:blip r:embed="rId10">
            <a:extLst>
              <a:ext uri="{96DAC541-7B7A-43D3-8B79-37D633B846F1}">
                <asvg:svgBlip xmlns:asvg="http://schemas.microsoft.com/office/drawing/2016/SVG/main" r:embed="rId11"/>
              </a:ext>
            </a:extLst>
          </a:blip>
          <a:stretch>
            <a:fillRect/>
          </a:stretch>
        </p:blipFill>
        <p:spPr>
          <a:xfrm>
            <a:off x="3166951" y="2201181"/>
            <a:ext cx="669707" cy="669707"/>
          </a:xfrm>
          <a:prstGeom prst="rect">
            <a:avLst/>
          </a:prstGeom>
        </p:spPr>
      </p:pic>
      <p:cxnSp>
        <p:nvCxnSpPr>
          <p:cNvPr id="11" name="直接连接符 10">
            <a:extLst>
              <a:ext uri="{FF2B5EF4-FFF2-40B4-BE49-F238E27FC236}">
                <a16:creationId xmlns:a16="http://schemas.microsoft.com/office/drawing/2014/main" id="{217DC2AE-DA44-894B-D736-99EEC7C053BE}"/>
              </a:ext>
            </a:extLst>
          </p:cNvPr>
          <p:cNvCxnSpPr/>
          <p:nvPr>
            <p:custDataLst>
              <p:tags r:id="rId6"/>
            </p:custDataLst>
          </p:nvPr>
        </p:nvCxnSpPr>
        <p:spPr>
          <a:xfrm>
            <a:off x="8100310" y="4081930"/>
            <a:ext cx="1535236" cy="0"/>
          </a:xfrm>
          <a:prstGeom prst="line">
            <a:avLst/>
          </a:prstGeom>
          <a:noFill/>
          <a:ln w="28575" cap="flat" cmpd="sng" algn="ctr">
            <a:solidFill>
              <a:srgbClr val="6096E6"/>
            </a:solidFill>
            <a:prstDash val="solid"/>
            <a:miter lim="800000"/>
          </a:ln>
          <a:effectLst/>
        </p:spPr>
      </p:cxnSp>
      <p:sp>
        <p:nvSpPr>
          <p:cNvPr id="12" name="椭圆 11">
            <a:extLst>
              <a:ext uri="{FF2B5EF4-FFF2-40B4-BE49-F238E27FC236}">
                <a16:creationId xmlns:a16="http://schemas.microsoft.com/office/drawing/2014/main" id="{9338A7E6-6FFD-C22D-8B19-FD757079AC02}"/>
              </a:ext>
            </a:extLst>
          </p:cNvPr>
          <p:cNvSpPr/>
          <p:nvPr/>
        </p:nvSpPr>
        <p:spPr>
          <a:xfrm>
            <a:off x="8138410" y="1927961"/>
            <a:ext cx="1359636" cy="1359636"/>
          </a:xfrm>
          <a:prstGeom prst="ellipse">
            <a:avLst/>
          </a:prstGeom>
          <a:solidFill>
            <a:srgbClr val="1F59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60" descr="343435383036303b343532343136343bcfeec4bfb7b6cea7">
            <a:extLst>
              <a:ext uri="{FF2B5EF4-FFF2-40B4-BE49-F238E27FC236}">
                <a16:creationId xmlns:a16="http://schemas.microsoft.com/office/drawing/2014/main" id="{2AEAB16F-2E50-631E-2A23-B0D0D4E99BF1}"/>
              </a:ext>
            </a:extLst>
          </p:cNvPr>
          <p:cNvPicPr>
            <a:picLocks noChangeAspect="1"/>
          </p:cNvPicPr>
          <p:nvPr>
            <p:custDataLst>
              <p:tags r:id="rId7"/>
            </p:custDataLst>
          </p:nvPr>
        </p:nvPicPr>
        <p:blipFill>
          <a:blip r:embed="rId12">
            <a:extLst>
              <a:ext uri="{96DAC541-7B7A-43D3-8B79-37D633B846F1}">
                <asvg:svgBlip xmlns:asvg="http://schemas.microsoft.com/office/drawing/2016/SVG/main" r:embed="rId13"/>
              </a:ext>
            </a:extLst>
          </a:blip>
          <a:stretch>
            <a:fillRect/>
          </a:stretch>
        </p:blipFill>
        <p:spPr>
          <a:xfrm>
            <a:off x="8518240" y="2200276"/>
            <a:ext cx="699376" cy="699376"/>
          </a:xfrm>
          <a:prstGeom prst="rect">
            <a:avLst/>
          </a:prstGeom>
        </p:spPr>
      </p:pic>
      <p:sp>
        <p:nvSpPr>
          <p:cNvPr id="14" name="文本框 13">
            <a:extLst>
              <a:ext uri="{FF2B5EF4-FFF2-40B4-BE49-F238E27FC236}">
                <a16:creationId xmlns:a16="http://schemas.microsoft.com/office/drawing/2014/main" id="{2B494461-45DB-E22F-5C24-3D2BF7B4D684}"/>
              </a:ext>
            </a:extLst>
          </p:cNvPr>
          <p:cNvSpPr txBox="1"/>
          <p:nvPr>
            <p:custDataLst>
              <p:tags r:id="rId8"/>
            </p:custDataLst>
          </p:nvPr>
        </p:nvSpPr>
        <p:spPr>
          <a:xfrm>
            <a:off x="7786533" y="3449902"/>
            <a:ext cx="2428741" cy="523220"/>
          </a:xfrm>
          <a:prstGeom prst="rect">
            <a:avLst/>
          </a:prstGeom>
          <a:noFill/>
        </p:spPr>
        <p:txBody>
          <a:bodyPr wrap="square" rtlCol="0">
            <a:spAutoFit/>
          </a:bodyPr>
          <a:lstStyle/>
          <a:p>
            <a:pPr algn="ctr"/>
            <a:r>
              <a:rPr lang="zh-CN" altLang="en-US" sz="28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内容不变</a:t>
            </a:r>
          </a:p>
        </p:txBody>
      </p:sp>
    </p:spTree>
    <p:extLst>
      <p:ext uri="{BB962C8B-B14F-4D97-AF65-F5344CB8AC3E}">
        <p14:creationId xmlns:p14="http://schemas.microsoft.com/office/powerpoint/2010/main" val="26592359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5.4  </a:t>
            </a:r>
            <a:r>
              <a:rPr kumimoji="1" lang="zh-CN" altLang="en-US" dirty="0"/>
              <a:t>应用开发验收</a:t>
            </a:r>
          </a:p>
        </p:txBody>
      </p:sp>
      <p:sp>
        <p:nvSpPr>
          <p:cNvPr id="4" name="文本框 3">
            <a:extLst>
              <a:ext uri="{FF2B5EF4-FFF2-40B4-BE49-F238E27FC236}">
                <a16:creationId xmlns:a16="http://schemas.microsoft.com/office/drawing/2014/main" id="{D2B4427A-9456-C1C4-05F4-DF2BB2646C7D}"/>
              </a:ext>
            </a:extLst>
          </p:cNvPr>
          <p:cNvSpPr txBox="1"/>
          <p:nvPr>
            <p:custDataLst>
              <p:tags r:id="rId1"/>
            </p:custDataLst>
          </p:nvPr>
        </p:nvSpPr>
        <p:spPr>
          <a:xfrm>
            <a:off x="587745" y="1758815"/>
            <a:ext cx="11060102" cy="338554"/>
          </a:xfrm>
          <a:prstGeom prst="rect">
            <a:avLst/>
          </a:prstGeom>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70C0"/>
                </a:solidFill>
                <a:uLnTx/>
                <a:uFillTx/>
                <a:latin typeface="微软雅黑" panose="020B0503020204020204" pitchFamily="34" charset="-122"/>
                <a:ea typeface="微软雅黑" panose="020B0503020204020204" pitchFamily="34" charset="-122"/>
              </a:rPr>
              <a:t>     </a:t>
            </a:r>
            <a:r>
              <a:rPr lang="zh-CN" altLang="en-US" sz="1600" b="1" noProof="0" dirty="0">
                <a:ln>
                  <a:noFill/>
                </a:ln>
                <a:solidFill>
                  <a:srgbClr val="0070C0"/>
                </a:solidFill>
                <a:uLnTx/>
                <a:uFillTx/>
                <a:latin typeface="微软雅黑" panose="020B0503020204020204" pitchFamily="34" charset="-122"/>
                <a:ea typeface="微软雅黑" panose="020B0503020204020204" pitchFamily="34" charset="-122"/>
                <a:sym typeface="+mn-ea"/>
              </a:rPr>
              <a:t>市级应用责任部门商应用牵头部门，在</a:t>
            </a:r>
            <a:r>
              <a:rPr kumimoji="0" lang="zh-CN" altLang="en-US" sz="1600" b="1" i="0" u="none" strike="noStrike" kern="1200" cap="none" spc="0" normalizeH="0" baseline="0" noProof="0" dirty="0">
                <a:ln>
                  <a:noFill/>
                </a:ln>
                <a:solidFill>
                  <a:srgbClr val="0070C0"/>
                </a:solidFill>
                <a:uLnTx/>
                <a:uFillTx/>
                <a:latin typeface="微软雅黑" panose="020B0503020204020204" pitchFamily="34" charset="-122"/>
                <a:ea typeface="微软雅黑" panose="020B0503020204020204" pitchFamily="34" charset="-122"/>
              </a:rPr>
              <a:t>应用开发完成后半年内</a:t>
            </a:r>
            <a:r>
              <a:rPr lang="zh-CN" altLang="en-US" sz="1600" b="1" noProof="0" dirty="0">
                <a:ln>
                  <a:noFill/>
                </a:ln>
                <a:solidFill>
                  <a:srgbClr val="0070C0"/>
                </a:solidFill>
                <a:uLnTx/>
                <a:uFillTx/>
                <a:latin typeface="微软雅黑" panose="020B0503020204020204" pitchFamily="34" charset="-122"/>
                <a:ea typeface="微软雅黑" panose="020B0503020204020204" pitchFamily="34" charset="-122"/>
                <a:sym typeface="+mn-ea"/>
              </a:rPr>
              <a:t>进行验收，</a:t>
            </a:r>
            <a:r>
              <a:rPr kumimoji="0" lang="zh-CN" altLang="en-US" sz="1600" b="1" i="0" u="none" strike="noStrike" kern="1200" cap="none" spc="0" normalizeH="0" baseline="0" noProof="0" dirty="0">
                <a:ln>
                  <a:noFill/>
                </a:ln>
                <a:solidFill>
                  <a:srgbClr val="0070C0"/>
                </a:solidFill>
                <a:uLnTx/>
                <a:uFillTx/>
                <a:latin typeface="微软雅黑" panose="020B0503020204020204" pitchFamily="34" charset="-122"/>
                <a:ea typeface="微软雅黑" panose="020B0503020204020204" pitchFamily="34" charset="-122"/>
              </a:rPr>
              <a:t>应满足下列条件：</a:t>
            </a:r>
          </a:p>
        </p:txBody>
      </p:sp>
      <p:graphicFrame>
        <p:nvGraphicFramePr>
          <p:cNvPr id="5" name="表格 4">
            <a:extLst>
              <a:ext uri="{FF2B5EF4-FFF2-40B4-BE49-F238E27FC236}">
                <a16:creationId xmlns:a16="http://schemas.microsoft.com/office/drawing/2014/main" id="{DB2ED7D4-5D5D-718B-D8CA-E065A184D5C3}"/>
              </a:ext>
            </a:extLst>
          </p:cNvPr>
          <p:cNvGraphicFramePr/>
          <p:nvPr>
            <p:custDataLst>
              <p:tags r:id="rId2"/>
            </p:custDataLst>
            <p:extLst>
              <p:ext uri="{D42A27DB-BD31-4B8C-83A1-F6EECF244321}">
                <p14:modId xmlns:p14="http://schemas.microsoft.com/office/powerpoint/2010/main" val="3614649829"/>
              </p:ext>
            </p:extLst>
          </p:nvPr>
        </p:nvGraphicFramePr>
        <p:xfrm>
          <a:off x="722365" y="2187614"/>
          <a:ext cx="10790862" cy="4178460"/>
        </p:xfrm>
        <a:graphic>
          <a:graphicData uri="http://schemas.openxmlformats.org/drawingml/2006/table">
            <a:tbl>
              <a:tblPr>
                <a:tableStyleId>{5C22544A-7EE6-4342-B048-85BDC9FD1C3A}</a:tableStyleId>
              </a:tblPr>
              <a:tblGrid>
                <a:gridCol w="805493">
                  <a:extLst>
                    <a:ext uri="{9D8B030D-6E8A-4147-A177-3AD203B41FA5}">
                      <a16:colId xmlns:a16="http://schemas.microsoft.com/office/drawing/2014/main" val="20000"/>
                    </a:ext>
                  </a:extLst>
                </a:gridCol>
                <a:gridCol w="9985369">
                  <a:extLst>
                    <a:ext uri="{9D8B030D-6E8A-4147-A177-3AD203B41FA5}">
                      <a16:colId xmlns:a16="http://schemas.microsoft.com/office/drawing/2014/main" val="20002"/>
                    </a:ext>
                  </a:extLst>
                </a:gridCol>
              </a:tblGrid>
              <a:tr h="338640">
                <a:tc>
                  <a:txBody>
                    <a:bodyPr/>
                    <a:lstStyle/>
                    <a:p>
                      <a:pPr algn="ctr">
                        <a:buNone/>
                      </a:pPr>
                      <a:r>
                        <a:rPr lang="zh-CN" altLang="en-US" sz="1400" b="1" dirty="0">
                          <a:solidFill>
                            <a:schemeClr val="bg1"/>
                          </a:solidFill>
                          <a:latin typeface="微软雅黑" panose="020B0503020204020204" pitchFamily="34" charset="-122"/>
                          <a:ea typeface="微软雅黑" panose="020B0503020204020204" pitchFamily="34" charset="-122"/>
                        </a:rPr>
                        <a:t>序号</a:t>
                      </a:r>
                      <a:endParaRPr lang="en-US" altLang="zh-CN" sz="1400" b="1" dirty="0">
                        <a:solidFill>
                          <a:schemeClr val="bg1"/>
                        </a:solidFill>
                        <a:latin typeface="微软雅黑" panose="020B0503020204020204" pitchFamily="34" charset="-122"/>
                        <a:ea typeface="微软雅黑" panose="020B0503020204020204" pitchFamily="34" charset="-122"/>
                      </a:endParaRPr>
                    </a:p>
                  </a:txBody>
                  <a:tcPr marL="121920" marR="121920" marT="60960" marB="60960" anchor="ctr">
                    <a:solidFill>
                      <a:srgbClr val="0070C0"/>
                    </a:solidFill>
                  </a:tcPr>
                </a:tc>
                <a:tc>
                  <a:txBody>
                    <a:bodyPr/>
                    <a:lstStyle/>
                    <a:p>
                      <a:pPr algn="ctr">
                        <a:buNone/>
                      </a:pPr>
                      <a:r>
                        <a:rPr lang="zh-CN" altLang="en-US" sz="1400" b="1"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内容</a:t>
                      </a:r>
                    </a:p>
                  </a:txBody>
                  <a:tcPr marL="121920" marR="121920" marT="60960" marB="60960" anchor="ctr">
                    <a:solidFill>
                      <a:srgbClr val="0070C0"/>
                    </a:solidFill>
                  </a:tcPr>
                </a:tc>
                <a:extLst>
                  <a:ext uri="{0D108BD9-81ED-4DB2-BD59-A6C34878D82A}">
                    <a16:rowId xmlns:a16="http://schemas.microsoft.com/office/drawing/2014/main" val="3840354693"/>
                  </a:ext>
                </a:extLst>
              </a:tr>
              <a:tr h="338640">
                <a:tc>
                  <a:txBody>
                    <a:bodyPr/>
                    <a:lstStyle/>
                    <a:p>
                      <a:pPr>
                        <a:buNone/>
                      </a:pPr>
                      <a:r>
                        <a:rPr lang="en-US" altLang="zh-CN" sz="1400" b="0" dirty="0">
                          <a:solidFill>
                            <a:schemeClr val="tx1"/>
                          </a:solidFill>
                          <a:latin typeface="微软雅黑" panose="020B0503020204020204" pitchFamily="34" charset="-122"/>
                          <a:ea typeface="微软雅黑" panose="020B0503020204020204" pitchFamily="34" charset="-122"/>
                        </a:rPr>
                        <a:t>01</a:t>
                      </a:r>
                    </a:p>
                  </a:txBody>
                  <a:tcPr marL="121920" marR="121920" marT="60960" marB="60960">
                    <a:solidFill>
                      <a:schemeClr val="bg1">
                        <a:lumMod val="95000"/>
                      </a:schemeClr>
                    </a:solidFill>
                  </a:tcPr>
                </a:tc>
                <a:tc>
                  <a:txBody>
                    <a:bodyPr/>
                    <a:lstStyle/>
                    <a:p>
                      <a:pPr>
                        <a:buNone/>
                      </a:pPr>
                      <a:r>
                        <a:rPr lang="zh-CN" altLang="en-US" sz="14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履行监理职责的单位同意应用开展验收工作。</a:t>
                      </a:r>
                    </a:p>
                  </a:txBody>
                  <a:tcPr marL="121920" marR="121920" marT="60960" marB="60960">
                    <a:solidFill>
                      <a:schemeClr val="bg1">
                        <a:lumMod val="95000"/>
                      </a:schemeClr>
                    </a:solidFill>
                  </a:tcPr>
                </a:tc>
                <a:extLst>
                  <a:ext uri="{0D108BD9-81ED-4DB2-BD59-A6C34878D82A}">
                    <a16:rowId xmlns:a16="http://schemas.microsoft.com/office/drawing/2014/main" val="10000"/>
                  </a:ext>
                </a:extLst>
              </a:tr>
              <a:tr h="338640">
                <a:tc>
                  <a:txBody>
                    <a:bodyPr/>
                    <a:lstStyle/>
                    <a:p>
                      <a:pPr>
                        <a:buNone/>
                      </a:pPr>
                      <a:r>
                        <a:rPr lang="en-US" altLang="zh-CN" sz="1400">
                          <a:solidFill>
                            <a:schemeClr val="tx1"/>
                          </a:solidFill>
                          <a:latin typeface="微软雅黑" panose="020B0503020204020204" pitchFamily="34" charset="-122"/>
                          <a:ea typeface="微软雅黑" panose="020B0503020204020204" pitchFamily="34" charset="-122"/>
                        </a:rPr>
                        <a:t>02</a:t>
                      </a:r>
                    </a:p>
                  </a:txBody>
                  <a:tcPr marL="121920" marR="121920" marT="60960" marB="60960">
                    <a:solidFill>
                      <a:schemeClr val="bg1">
                        <a:lumMod val="95000"/>
                      </a:schemeClr>
                    </a:solidFill>
                  </a:tcPr>
                </a:tc>
                <a:tc>
                  <a:txBody>
                    <a:bodyPr/>
                    <a:lstStyle/>
                    <a:p>
                      <a:pPr>
                        <a:buNone/>
                      </a:pPr>
                      <a:r>
                        <a:rPr lang="zh-CN" altLang="en-US" sz="1400" dirty="0">
                          <a:solidFill>
                            <a:schemeClr val="tx1"/>
                          </a:solidFill>
                          <a:latin typeface="微软雅黑" panose="020B0503020204020204" pitchFamily="34" charset="-122"/>
                          <a:ea typeface="微软雅黑" panose="020B0503020204020204" pitchFamily="34" charset="-122"/>
                        </a:rPr>
                        <a:t>应用开发方案明确的开发内容已全部完成，绩效目标已全部实现。</a:t>
                      </a:r>
                    </a:p>
                  </a:txBody>
                  <a:tcPr marL="121920" marR="121920" marT="60960" marB="60960">
                    <a:solidFill>
                      <a:schemeClr val="bg1">
                        <a:lumMod val="95000"/>
                      </a:schemeClr>
                    </a:solidFill>
                  </a:tcPr>
                </a:tc>
                <a:extLst>
                  <a:ext uri="{0D108BD9-81ED-4DB2-BD59-A6C34878D82A}">
                    <a16:rowId xmlns:a16="http://schemas.microsoft.com/office/drawing/2014/main" val="10001"/>
                  </a:ext>
                </a:extLst>
              </a:tr>
              <a:tr h="349851">
                <a:tc>
                  <a:txBody>
                    <a:bodyPr/>
                    <a:lstStyle/>
                    <a:p>
                      <a:pPr>
                        <a:buNone/>
                      </a:pPr>
                      <a:r>
                        <a:rPr lang="en-US" altLang="zh-CN" sz="1400" dirty="0">
                          <a:solidFill>
                            <a:schemeClr val="tx1"/>
                          </a:solidFill>
                          <a:latin typeface="微软雅黑" panose="020B0503020204020204" pitchFamily="34" charset="-122"/>
                          <a:ea typeface="微软雅黑" panose="020B0503020204020204" pitchFamily="34" charset="-122"/>
                        </a:rPr>
                        <a:t>03</a:t>
                      </a:r>
                    </a:p>
                  </a:txBody>
                  <a:tcPr marL="121920" marR="121920" marT="60960" marB="60960">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应用基于“一体化平台”及“三级治理中心”进行开发和部署，架构、代码、接口、性能、安全等满足统一技术规范。</a:t>
                      </a:r>
                    </a:p>
                  </a:txBody>
                  <a:tcPr marL="121920" marR="121920" marT="60960" marB="60960">
                    <a:solidFill>
                      <a:schemeClr val="bg1">
                        <a:lumMod val="95000"/>
                      </a:schemeClr>
                    </a:solidFill>
                  </a:tcPr>
                </a:tc>
                <a:extLst>
                  <a:ext uri="{0D108BD9-81ED-4DB2-BD59-A6C34878D82A}">
                    <a16:rowId xmlns:a16="http://schemas.microsoft.com/office/drawing/2014/main" val="10002"/>
                  </a:ext>
                </a:extLst>
              </a:tr>
              <a:tr h="554139">
                <a:tc>
                  <a:txBody>
                    <a:bodyPr/>
                    <a:lstStyle/>
                    <a:p>
                      <a:pPr>
                        <a:buNone/>
                      </a:pPr>
                      <a:r>
                        <a:rPr lang="en-US" altLang="zh-CN" sz="1400">
                          <a:solidFill>
                            <a:schemeClr val="tx1"/>
                          </a:solidFill>
                          <a:latin typeface="微软雅黑" panose="020B0503020204020204" pitchFamily="34" charset="-122"/>
                          <a:ea typeface="微软雅黑" panose="020B0503020204020204" pitchFamily="34" charset="-122"/>
                        </a:rPr>
                        <a:t>04</a:t>
                      </a:r>
                    </a:p>
                  </a:txBody>
                  <a:tcPr marL="121920" marR="121920" marT="60960" marB="60960">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应用已接入IRS系统进行全周期管理并开展实时监测，应用编目信息准确、完整、真实且已落实动态维护要求。应用基于IRS系统，实现数字资源供需对接。</a:t>
                      </a:r>
                    </a:p>
                  </a:txBody>
                  <a:tcPr marL="121920" marR="121920" marT="60960" marB="60960">
                    <a:solidFill>
                      <a:schemeClr val="bg1">
                        <a:lumMod val="95000"/>
                      </a:schemeClr>
                    </a:solidFill>
                  </a:tcPr>
                </a:tc>
                <a:extLst>
                  <a:ext uri="{0D108BD9-81ED-4DB2-BD59-A6C34878D82A}">
                    <a16:rowId xmlns:a16="http://schemas.microsoft.com/office/drawing/2014/main" val="10003"/>
                  </a:ext>
                </a:extLst>
              </a:tr>
              <a:tr h="349851">
                <a:tc>
                  <a:txBody>
                    <a:bodyPr/>
                    <a:lstStyle/>
                    <a:p>
                      <a:pPr>
                        <a:buNone/>
                      </a:pPr>
                      <a:r>
                        <a:rPr lang="en-US" altLang="zh-CN" sz="1400">
                          <a:solidFill>
                            <a:schemeClr val="tx1"/>
                          </a:solidFill>
                          <a:latin typeface="微软雅黑" panose="020B0503020204020204" pitchFamily="34" charset="-122"/>
                          <a:ea typeface="微软雅黑" panose="020B0503020204020204" pitchFamily="34" charset="-122"/>
                        </a:rPr>
                        <a:t>05</a:t>
                      </a:r>
                    </a:p>
                  </a:txBody>
                  <a:tcPr marL="121920" marR="121920" marT="60960" marB="60960">
                    <a:solidFill>
                      <a:schemeClr val="bg1">
                        <a:lumMod val="95000"/>
                      </a:schemeClr>
                    </a:solidFill>
                  </a:tcPr>
                </a:tc>
                <a:tc>
                  <a:txBody>
                    <a:bodyPr/>
                    <a:lstStyle/>
                    <a:p>
                      <a:pPr>
                        <a:buNone/>
                      </a:pPr>
                      <a:r>
                        <a:rPr lang="zh-CN" altLang="en-US" sz="1400" dirty="0">
                          <a:solidFill>
                            <a:schemeClr val="tx1"/>
                          </a:solidFill>
                          <a:latin typeface="微软雅黑" panose="020B0503020204020204" pitchFamily="34" charset="-122"/>
                          <a:ea typeface="微软雅黑" panose="020B0503020204020204" pitchFamily="34" charset="-122"/>
                        </a:rPr>
                        <a:t>应用功能、性能等技术指标满足需求，通过测评机构对应用的功能性、兼容性、易用性、可靠性、安全性等方面测试。</a:t>
                      </a:r>
                    </a:p>
                  </a:txBody>
                  <a:tcPr marL="121920" marR="121920" marT="60960" marB="60960">
                    <a:solidFill>
                      <a:schemeClr val="bg1">
                        <a:lumMod val="95000"/>
                      </a:schemeClr>
                    </a:solidFill>
                  </a:tcPr>
                </a:tc>
                <a:extLst>
                  <a:ext uri="{0D108BD9-81ED-4DB2-BD59-A6C34878D82A}">
                    <a16:rowId xmlns:a16="http://schemas.microsoft.com/office/drawing/2014/main" val="10004"/>
                  </a:ext>
                </a:extLst>
              </a:tr>
              <a:tr h="554139">
                <a:tc>
                  <a:txBody>
                    <a:bodyPr/>
                    <a:lstStyle/>
                    <a:p>
                      <a:pPr>
                        <a:buNone/>
                      </a:pPr>
                      <a:r>
                        <a:rPr lang="en-US" altLang="zh-CN" sz="1400">
                          <a:solidFill>
                            <a:schemeClr val="tx1"/>
                          </a:solidFill>
                          <a:latin typeface="微软雅黑" panose="020B0503020204020204" pitchFamily="34" charset="-122"/>
                          <a:ea typeface="微软雅黑" panose="020B0503020204020204" pitchFamily="34" charset="-122"/>
                        </a:rPr>
                        <a:t>06</a:t>
                      </a:r>
                    </a:p>
                  </a:txBody>
                  <a:tcPr marL="121920" marR="121920" marT="60960" marB="60960">
                    <a:solidFill>
                      <a:schemeClr val="bg1">
                        <a:lumMod val="95000"/>
                      </a:schemeClr>
                    </a:solidFill>
                  </a:tcPr>
                </a:tc>
                <a:tc>
                  <a:txBody>
                    <a:bodyPr/>
                    <a:lstStyle/>
                    <a:p>
                      <a:pPr>
                        <a:buNone/>
                      </a:pPr>
                      <a:r>
                        <a:rPr lang="zh-CN" altLang="en-US" sz="14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按照统一编目规范，通过IRS系统形成完整的应用编目信息。应用编目信息包含但不限于基础信息、评审信息、数字资源信息、效能目标信息、安全防护信息等。</a:t>
                      </a:r>
                    </a:p>
                  </a:txBody>
                  <a:tcPr marL="121920" marR="121920" marT="60960" marB="60960">
                    <a:solidFill>
                      <a:schemeClr val="bg1">
                        <a:lumMod val="95000"/>
                      </a:schemeClr>
                    </a:solidFill>
                  </a:tcPr>
                </a:tc>
                <a:extLst>
                  <a:ext uri="{0D108BD9-81ED-4DB2-BD59-A6C34878D82A}">
                    <a16:rowId xmlns:a16="http://schemas.microsoft.com/office/drawing/2014/main" val="10005"/>
                  </a:ext>
                </a:extLst>
              </a:tr>
              <a:tr h="338640">
                <a:tc>
                  <a:txBody>
                    <a:bodyPr/>
                    <a:lstStyle/>
                    <a:p>
                      <a:pPr>
                        <a:buNone/>
                      </a:pPr>
                      <a:r>
                        <a:rPr lang="en-US" altLang="zh-CN" sz="1400">
                          <a:solidFill>
                            <a:schemeClr val="tx1"/>
                          </a:solidFill>
                          <a:latin typeface="微软雅黑" panose="020B0503020204020204" pitchFamily="34" charset="-122"/>
                          <a:ea typeface="微软雅黑" panose="020B0503020204020204" pitchFamily="34" charset="-122"/>
                        </a:rPr>
                        <a:t>07</a:t>
                      </a:r>
                    </a:p>
                  </a:txBody>
                  <a:tcPr marL="121920" marR="121920" marT="60960" marB="60960">
                    <a:solidFill>
                      <a:schemeClr val="bg1">
                        <a:lumMod val="95000"/>
                      </a:schemeClr>
                    </a:solidFill>
                  </a:tcPr>
                </a:tc>
                <a:tc>
                  <a:txBody>
                    <a:bodyPr/>
                    <a:lstStyle/>
                    <a:p>
                      <a:pPr>
                        <a:buNone/>
                      </a:pPr>
                      <a:r>
                        <a:rPr lang="zh-CN" altLang="en-US" sz="14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完成使用培训，使用人员能够独立操作使用。</a:t>
                      </a:r>
                    </a:p>
                  </a:txBody>
                  <a:tcPr marL="121920" marR="121920" marT="60960" marB="60960">
                    <a:solidFill>
                      <a:schemeClr val="bg1">
                        <a:lumMod val="95000"/>
                      </a:schemeClr>
                    </a:solidFill>
                  </a:tcPr>
                </a:tc>
                <a:extLst>
                  <a:ext uri="{0D108BD9-81ED-4DB2-BD59-A6C34878D82A}">
                    <a16:rowId xmlns:a16="http://schemas.microsoft.com/office/drawing/2014/main" val="10006"/>
                  </a:ext>
                </a:extLst>
              </a:tr>
              <a:tr h="338640">
                <a:tc>
                  <a:txBody>
                    <a:bodyPr/>
                    <a:lstStyle/>
                    <a:p>
                      <a:pPr>
                        <a:buNone/>
                      </a:pPr>
                      <a:r>
                        <a:rPr lang="en-US" altLang="zh-CN" sz="1400">
                          <a:solidFill>
                            <a:schemeClr val="tx1"/>
                          </a:solidFill>
                          <a:latin typeface="微软雅黑" panose="020B0503020204020204" pitchFamily="34" charset="-122"/>
                          <a:ea typeface="微软雅黑" panose="020B0503020204020204" pitchFamily="34" charset="-122"/>
                        </a:rPr>
                        <a:t>08</a:t>
                      </a:r>
                    </a:p>
                  </a:txBody>
                  <a:tcPr marL="121920" marR="121920" marT="60960" marB="60960">
                    <a:solidFill>
                      <a:schemeClr val="bg1">
                        <a:lumMod val="95000"/>
                      </a:schemeClr>
                    </a:solidFill>
                  </a:tcPr>
                </a:tc>
                <a:tc>
                  <a:txBody>
                    <a:bodyPr/>
                    <a:lstStyle/>
                    <a:p>
                      <a:pPr>
                        <a:buNone/>
                      </a:pPr>
                      <a:r>
                        <a:rPr lang="zh-CN" altLang="en-US" sz="14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已掌握可独立开展应用运维或升级迭代所需的技术资料。</a:t>
                      </a:r>
                    </a:p>
                  </a:txBody>
                  <a:tcPr marL="121920" marR="121920" marT="60960" marB="60960">
                    <a:solidFill>
                      <a:schemeClr val="bg1">
                        <a:lumMod val="95000"/>
                      </a:schemeClr>
                    </a:solidFill>
                  </a:tcPr>
                </a:tc>
                <a:extLst>
                  <a:ext uri="{0D108BD9-81ED-4DB2-BD59-A6C34878D82A}">
                    <a16:rowId xmlns:a16="http://schemas.microsoft.com/office/drawing/2014/main" val="10007"/>
                  </a:ext>
                </a:extLst>
              </a:tr>
              <a:tr h="338640">
                <a:tc>
                  <a:txBody>
                    <a:bodyPr/>
                    <a:lstStyle/>
                    <a:p>
                      <a:pPr>
                        <a:buNone/>
                      </a:pPr>
                      <a:r>
                        <a:rPr lang="en-US" altLang="zh-CN" sz="1400">
                          <a:solidFill>
                            <a:schemeClr val="tx1"/>
                          </a:solidFill>
                          <a:latin typeface="微软雅黑" panose="020B0503020204020204" pitchFamily="34" charset="-122"/>
                          <a:ea typeface="微软雅黑" panose="020B0503020204020204" pitchFamily="34" charset="-122"/>
                        </a:rPr>
                        <a:t>09</a:t>
                      </a:r>
                    </a:p>
                  </a:txBody>
                  <a:tcPr marL="121920" marR="121920" marT="60960" marB="60960">
                    <a:solidFill>
                      <a:schemeClr val="bg1">
                        <a:lumMod val="95000"/>
                      </a:schemeClr>
                    </a:solidFill>
                  </a:tcPr>
                </a:tc>
                <a:tc>
                  <a:txBody>
                    <a:bodyPr/>
                    <a:lstStyle/>
                    <a:p>
                      <a:pPr>
                        <a:buNone/>
                      </a:pPr>
                      <a:r>
                        <a:rPr lang="zh-CN" altLang="en-US" sz="14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文件资料齐全，符合档案管理有关规范。</a:t>
                      </a:r>
                    </a:p>
                  </a:txBody>
                  <a:tcPr marL="121920" marR="121920" marT="60960" marB="60960">
                    <a:solidFill>
                      <a:schemeClr val="bg1">
                        <a:lumMod val="95000"/>
                      </a:schemeClr>
                    </a:solidFill>
                  </a:tcPr>
                </a:tc>
                <a:extLst>
                  <a:ext uri="{0D108BD9-81ED-4DB2-BD59-A6C34878D82A}">
                    <a16:rowId xmlns:a16="http://schemas.microsoft.com/office/drawing/2014/main" val="10008"/>
                  </a:ext>
                </a:extLst>
              </a:tr>
              <a:tr h="338640">
                <a:tc>
                  <a:txBody>
                    <a:bodyPr/>
                    <a:lstStyle/>
                    <a:p>
                      <a:pPr>
                        <a:buNone/>
                      </a:pPr>
                      <a:r>
                        <a:rPr lang="en-US" altLang="zh-CN" sz="1400" dirty="0">
                          <a:solidFill>
                            <a:schemeClr val="tx1"/>
                          </a:solidFill>
                          <a:latin typeface="微软雅黑" panose="020B0503020204020204" pitchFamily="34" charset="-122"/>
                          <a:ea typeface="微软雅黑" panose="020B0503020204020204" pitchFamily="34" charset="-122"/>
                        </a:rPr>
                        <a:t>10</a:t>
                      </a:r>
                    </a:p>
                  </a:txBody>
                  <a:tcPr marL="121920" marR="121920" marT="60960" marB="60960">
                    <a:solidFill>
                      <a:schemeClr val="bg1">
                        <a:lumMod val="95000"/>
                      </a:schemeClr>
                    </a:solidFill>
                  </a:tcPr>
                </a:tc>
                <a:tc>
                  <a:txBody>
                    <a:bodyPr/>
                    <a:lstStyle/>
                    <a:p>
                      <a:pPr>
                        <a:buNone/>
                      </a:pPr>
                      <a:r>
                        <a:rPr lang="zh-CN" altLang="en-US" sz="1400" dirty="0">
                          <a:solidFill>
                            <a:schemeClr val="tx1"/>
                          </a:solidFill>
                          <a:latin typeface="微软雅黑" panose="020B0503020204020204" pitchFamily="34" charset="-122"/>
                          <a:ea typeface="微软雅黑" panose="020B0503020204020204" pitchFamily="34" charset="-122"/>
                        </a:rPr>
                        <a:t>国家、市有关法律法规、标准规定和采购合同约定的其他要求。</a:t>
                      </a:r>
                    </a:p>
                  </a:txBody>
                  <a:tcPr marL="121920" marR="121920" marT="60960" marB="60960">
                    <a:solidFill>
                      <a:schemeClr val="bg1">
                        <a:lumMod val="95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612236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顶角 88">
            <a:extLst>
              <a:ext uri="{FF2B5EF4-FFF2-40B4-BE49-F238E27FC236}">
                <a16:creationId xmlns:a16="http://schemas.microsoft.com/office/drawing/2014/main" id="{B1CB6990-1004-FDD8-39A2-43F9675961D1}"/>
              </a:ext>
            </a:extLst>
          </p:cNvPr>
          <p:cNvSpPr/>
          <p:nvPr/>
        </p:nvSpPr>
        <p:spPr>
          <a:xfrm flipV="1">
            <a:off x="1278926" y="5077801"/>
            <a:ext cx="9740952" cy="1247775"/>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5.5  </a:t>
            </a:r>
            <a:r>
              <a:rPr kumimoji="1" lang="zh-CN" altLang="en-US" dirty="0"/>
              <a:t>应用开发验收</a:t>
            </a:r>
          </a:p>
        </p:txBody>
      </p:sp>
      <p:sp>
        <p:nvSpPr>
          <p:cNvPr id="4" name="文本框 3">
            <a:extLst>
              <a:ext uri="{FF2B5EF4-FFF2-40B4-BE49-F238E27FC236}">
                <a16:creationId xmlns:a16="http://schemas.microsoft.com/office/drawing/2014/main" id="{2B8C7433-26A7-A54F-F6E4-568308813C9A}"/>
              </a:ext>
            </a:extLst>
          </p:cNvPr>
          <p:cNvSpPr txBox="1"/>
          <p:nvPr>
            <p:custDataLst>
              <p:tags r:id="rId1"/>
            </p:custDataLst>
          </p:nvPr>
        </p:nvSpPr>
        <p:spPr>
          <a:xfrm>
            <a:off x="844973" y="1685588"/>
            <a:ext cx="10174905" cy="1006502"/>
          </a:xfrm>
          <a:prstGeom prst="rect">
            <a:avLst/>
          </a:prstGeom>
          <a:noFill/>
          <a:ln>
            <a:noFill/>
          </a:ln>
        </p:spPr>
        <p:txBody>
          <a:bodyPr wrap="square" rtlCol="0" anchor="t">
            <a:noAutofit/>
          </a:bodyPr>
          <a:lstStyle/>
          <a:p>
            <a:pPr indent="406400">
              <a:lnSpc>
                <a:spcPts val="3000"/>
              </a:lnSpc>
            </a:pPr>
            <a:r>
              <a:rPr lang="en-US" altLang="zh-CN" sz="1600" dirty="0">
                <a:solidFill>
                  <a:srgbClr val="000000"/>
                </a:solidFill>
                <a:latin typeface="微软雅黑" panose="020B0503020204020204" pitchFamily="34" charset="-122"/>
                <a:ea typeface="微软雅黑" panose="020B0503020204020204" pitchFamily="34" charset="-122"/>
                <a:cs typeface="方正仿宋_GBK" panose="02000000000000000000" charset="-122"/>
                <a:sym typeface="+mn-ea"/>
              </a:rPr>
              <a:t> </a:t>
            </a:r>
            <a:r>
              <a:rPr lang="zh-CN" sz="1600" dirty="0">
                <a:solidFill>
                  <a:srgbClr val="000000"/>
                </a:solidFill>
                <a:latin typeface="微软雅黑" panose="020B0503020204020204" pitchFamily="34" charset="-122"/>
                <a:ea typeface="微软雅黑" panose="020B0503020204020204" pitchFamily="34" charset="-122"/>
                <a:cs typeface="方正仿宋_GBK" panose="02000000000000000000" charset="-122"/>
                <a:sym typeface="+mn-ea"/>
              </a:rPr>
              <a:t>应用开发验收完成后，应用责任部门原则上应在</a:t>
            </a:r>
            <a:r>
              <a:rPr lang="zh-CN" sz="1600"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30个工作日内</a:t>
            </a:r>
            <a:r>
              <a:rPr lang="zh-CN" sz="1600" dirty="0">
                <a:solidFill>
                  <a:srgbClr val="000000"/>
                </a:solidFill>
                <a:latin typeface="微软雅黑" panose="020B0503020204020204" pitchFamily="34" charset="-122"/>
                <a:ea typeface="微软雅黑" panose="020B0503020204020204" pitchFamily="34" charset="-122"/>
                <a:cs typeface="方正仿宋_GBK" panose="02000000000000000000" charset="-122"/>
                <a:sym typeface="+mn-ea"/>
              </a:rPr>
              <a:t>通过“应用管理系统”上传验收备案资料，包括但不限于</a:t>
            </a:r>
            <a:r>
              <a:rPr lang="zh-CN" altLang="en-US" sz="1600" dirty="0">
                <a:solidFill>
                  <a:srgbClr val="000000"/>
                </a:solidFill>
                <a:latin typeface="微软雅黑" panose="020B0503020204020204" pitchFamily="34" charset="-122"/>
                <a:ea typeface="微软雅黑" panose="020B0503020204020204" pitchFamily="34" charset="-122"/>
                <a:cs typeface="方正仿宋_GBK" panose="02000000000000000000" charset="-122"/>
                <a:sym typeface="+mn-ea"/>
              </a:rPr>
              <a:t>：</a:t>
            </a:r>
            <a:endParaRPr lang="zh-CN" altLang="en-US" sz="1100" dirty="0">
              <a:solidFill>
                <a:srgbClr val="000000"/>
              </a:solidFill>
              <a:latin typeface="微软雅黑" panose="020B0503020204020204" pitchFamily="34" charset="-122"/>
              <a:ea typeface="微软雅黑" panose="020B0503020204020204" pitchFamily="34" charset="-122"/>
              <a:cs typeface="方正仿宋_GBK" panose="02000000000000000000" charset="-122"/>
              <a:sym typeface="+mn-ea"/>
            </a:endParaRPr>
          </a:p>
        </p:txBody>
      </p:sp>
      <p:sp>
        <p:nvSpPr>
          <p:cNvPr id="5" name="文本框 4">
            <a:extLst>
              <a:ext uri="{FF2B5EF4-FFF2-40B4-BE49-F238E27FC236}">
                <a16:creationId xmlns:a16="http://schemas.microsoft.com/office/drawing/2014/main" id="{D324F7E1-E102-841C-AED6-9A6F93FB2C3B}"/>
              </a:ext>
            </a:extLst>
          </p:cNvPr>
          <p:cNvSpPr txBox="1"/>
          <p:nvPr>
            <p:custDataLst>
              <p:tags r:id="rId2"/>
            </p:custDataLst>
          </p:nvPr>
        </p:nvSpPr>
        <p:spPr>
          <a:xfrm>
            <a:off x="2449920" y="5079686"/>
            <a:ext cx="7815881" cy="1540991"/>
          </a:xfrm>
          <a:prstGeom prst="rect">
            <a:avLst/>
          </a:prstGeom>
          <a:ln>
            <a:noFill/>
          </a:ln>
        </p:spPr>
        <p:txBody>
          <a:bodyPr wrap="square">
            <a:noAutofit/>
          </a:bodyPr>
          <a:lstStyle/>
          <a:p>
            <a:pPr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zh-CN" sz="1600" dirty="0">
                <a:solidFill>
                  <a:schemeClr val="tx1"/>
                </a:solidFill>
                <a:latin typeface="微软雅黑" panose="020B0503020204020204" pitchFamily="34" charset="-122"/>
                <a:ea typeface="微软雅黑" panose="020B0503020204020204" pitchFamily="34" charset="-122"/>
                <a:cs typeface="+mj-lt"/>
                <a:sym typeface="+mn-ea"/>
              </a:rPr>
              <a:t>①不能按期组织验收的</a:t>
            </a:r>
            <a:r>
              <a:rPr lang="en-US" altLang="zh-CN" sz="1600" dirty="0">
                <a:solidFill>
                  <a:schemeClr val="tx1"/>
                </a:solidFill>
                <a:latin typeface="微软雅黑" panose="020B0503020204020204" pitchFamily="34" charset="-122"/>
                <a:ea typeface="微软雅黑" panose="020B0503020204020204" pitchFamily="34" charset="-122"/>
                <a:cs typeface="+mj-lt"/>
                <a:sym typeface="+mn-ea"/>
              </a:rPr>
              <a:t>,</a:t>
            </a:r>
            <a:r>
              <a:rPr lang="zh-CN" sz="1600" dirty="0">
                <a:solidFill>
                  <a:schemeClr val="tx1"/>
                </a:solidFill>
                <a:latin typeface="微软雅黑" panose="020B0503020204020204" pitchFamily="34" charset="-122"/>
                <a:ea typeface="微软雅黑" panose="020B0503020204020204" pitchFamily="34" charset="-122"/>
                <a:cs typeface="+mj-lt"/>
                <a:sym typeface="+mn-ea"/>
              </a:rPr>
              <a:t>向市大数据发展局提出延期验收申请</a:t>
            </a:r>
          </a:p>
          <a:p>
            <a:pPr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zh-CN" sz="1600" dirty="0">
                <a:solidFill>
                  <a:schemeClr val="tx1"/>
                </a:solidFill>
                <a:latin typeface="微软雅黑" panose="020B0503020204020204" pitchFamily="34" charset="-122"/>
                <a:ea typeface="微软雅黑" panose="020B0503020204020204" pitchFamily="34" charset="-122"/>
                <a:cs typeface="+mj-lt"/>
                <a:sym typeface="+mn-ea"/>
              </a:rPr>
              <a:t>②未通过竣工验收的应用，不予安排应用运维经费</a:t>
            </a:r>
          </a:p>
          <a:p>
            <a:pPr marR="0" lvl="0" indent="0" algn="l" defTabSz="914400" rtl="0" eaLnBrk="1" fontAlgn="auto" latinLnBrk="0" hangingPunct="1">
              <a:lnSpc>
                <a:spcPct val="150000"/>
              </a:lnSpc>
              <a:spcBef>
                <a:spcPts val="0"/>
              </a:spcBef>
              <a:spcAft>
                <a:spcPts val="0"/>
              </a:spcAft>
              <a:buClrTx/>
              <a:buSzTx/>
              <a:buFont typeface="Wingdings" panose="05000000000000000000" charset="0"/>
              <a:buNone/>
              <a:defRPr/>
            </a:pPr>
            <a:r>
              <a:rPr lang="zh-CN" sz="1600" dirty="0">
                <a:solidFill>
                  <a:schemeClr val="tx1"/>
                </a:solidFill>
                <a:latin typeface="微软雅黑" panose="020B0503020204020204" pitchFamily="34" charset="-122"/>
                <a:ea typeface="微软雅黑" panose="020B0503020204020204" pitchFamily="34" charset="-122"/>
                <a:cs typeface="+mj-lt"/>
                <a:sym typeface="+mn-ea"/>
              </a:rPr>
              <a:t>③市大数据发展局会同联合评审单位组织验收抽查</a:t>
            </a:r>
            <a:endParaRPr lang="zh-CN" altLang="en-US" sz="1600" dirty="0">
              <a:solidFill>
                <a:schemeClr val="tx1"/>
              </a:solidFill>
              <a:latin typeface="微软雅黑" panose="020B0503020204020204" pitchFamily="34" charset="-122"/>
              <a:ea typeface="微软雅黑" panose="020B0503020204020204" pitchFamily="34" charset="-122"/>
              <a:cs typeface="+mj-lt"/>
              <a:sym typeface="+mn-ea"/>
            </a:endParaRPr>
          </a:p>
        </p:txBody>
      </p:sp>
      <p:sp>
        <p:nvSpPr>
          <p:cNvPr id="6" name="椭圆 5">
            <a:extLst>
              <a:ext uri="{FF2B5EF4-FFF2-40B4-BE49-F238E27FC236}">
                <a16:creationId xmlns:a16="http://schemas.microsoft.com/office/drawing/2014/main" id="{8A25FA51-48A4-4A13-502B-95C35BD2CE68}"/>
              </a:ext>
            </a:extLst>
          </p:cNvPr>
          <p:cNvSpPr/>
          <p:nvPr>
            <p:custDataLst>
              <p:tags r:id="rId3"/>
            </p:custDataLst>
          </p:nvPr>
        </p:nvSpPr>
        <p:spPr>
          <a:xfrm>
            <a:off x="1310513" y="3742176"/>
            <a:ext cx="1247775" cy="1247775"/>
          </a:xfrm>
          <a:prstGeom prst="ellipse">
            <a:avLst/>
          </a:prstGeom>
          <a:solidFill>
            <a:srgbClr val="1F74AD"/>
          </a:solidFill>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0" cap="none" spc="30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验收报告</a:t>
            </a:r>
          </a:p>
        </p:txBody>
      </p:sp>
      <p:sp>
        <p:nvSpPr>
          <p:cNvPr id="7" name="任意多边形 26">
            <a:extLst>
              <a:ext uri="{FF2B5EF4-FFF2-40B4-BE49-F238E27FC236}">
                <a16:creationId xmlns:a16="http://schemas.microsoft.com/office/drawing/2014/main" id="{B2B31171-1581-E9E6-0F96-B602EB112216}"/>
              </a:ext>
            </a:extLst>
          </p:cNvPr>
          <p:cNvSpPr/>
          <p:nvPr>
            <p:custDataLst>
              <p:tags r:id="rId4"/>
            </p:custDataLst>
          </p:nvPr>
        </p:nvSpPr>
        <p:spPr>
          <a:xfrm>
            <a:off x="1593129" y="2589658"/>
            <a:ext cx="682544" cy="823904"/>
          </a:xfrm>
          <a:custGeom>
            <a:avLst/>
            <a:gdLst>
              <a:gd name="connsiteX0" fmla="*/ 341272 w 682544"/>
              <a:gd name="connsiteY0" fmla="*/ 0 h 823904"/>
              <a:gd name="connsiteX1" fmla="*/ 582588 w 682544"/>
              <a:gd name="connsiteY1" fmla="*/ 99956 h 823904"/>
              <a:gd name="connsiteX2" fmla="*/ 582588 w 682544"/>
              <a:gd name="connsiteY2" fmla="*/ 582588 h 823904"/>
              <a:gd name="connsiteX3" fmla="*/ 341272 w 682544"/>
              <a:gd name="connsiteY3" fmla="*/ 823904 h 823904"/>
              <a:gd name="connsiteX4" fmla="*/ 99956 w 682544"/>
              <a:gd name="connsiteY4" fmla="*/ 582588 h 823904"/>
              <a:gd name="connsiteX5" fmla="*/ 99956 w 682544"/>
              <a:gd name="connsiteY5" fmla="*/ 99956 h 823904"/>
              <a:gd name="connsiteX6" fmla="*/ 341272 w 682544"/>
              <a:gd name="connsiteY6" fmla="*/ 0 h 82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2544" h="823904">
                <a:moveTo>
                  <a:pt x="341272" y="0"/>
                </a:moveTo>
                <a:cubicBezTo>
                  <a:pt x="428611" y="0"/>
                  <a:pt x="515950" y="33319"/>
                  <a:pt x="582588" y="99956"/>
                </a:cubicBezTo>
                <a:cubicBezTo>
                  <a:pt x="715863" y="233231"/>
                  <a:pt x="715863" y="449313"/>
                  <a:pt x="582588" y="582588"/>
                </a:cubicBezTo>
                <a:lnTo>
                  <a:pt x="341272" y="823904"/>
                </a:lnTo>
                <a:lnTo>
                  <a:pt x="99956" y="582588"/>
                </a:lnTo>
                <a:cubicBezTo>
                  <a:pt x="-33318" y="449313"/>
                  <a:pt x="-33318" y="233231"/>
                  <a:pt x="99956" y="99956"/>
                </a:cubicBezTo>
                <a:cubicBezTo>
                  <a:pt x="166594" y="33319"/>
                  <a:pt x="253933" y="0"/>
                  <a:pt x="341272" y="0"/>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rPr>
              <a:t>01</a:t>
            </a: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任意多边形 27">
            <a:extLst>
              <a:ext uri="{FF2B5EF4-FFF2-40B4-BE49-F238E27FC236}">
                <a16:creationId xmlns:a16="http://schemas.microsoft.com/office/drawing/2014/main" id="{37254F60-ACFB-D51F-64AC-E6957374D88C}"/>
              </a:ext>
            </a:extLst>
          </p:cNvPr>
          <p:cNvSpPr/>
          <p:nvPr>
            <p:custDataLst>
              <p:tags r:id="rId5"/>
            </p:custDataLst>
          </p:nvPr>
        </p:nvSpPr>
        <p:spPr>
          <a:xfrm>
            <a:off x="1261167" y="3414370"/>
            <a:ext cx="1346469" cy="1625331"/>
          </a:xfrm>
          <a:custGeom>
            <a:avLst/>
            <a:gdLst>
              <a:gd name="connsiteX0" fmla="*/ 673235 w 1346469"/>
              <a:gd name="connsiteY0" fmla="*/ 0 h 1625331"/>
              <a:gd name="connsiteX1" fmla="*/ 1149283 w 1346469"/>
              <a:gd name="connsiteY1" fmla="*/ 476049 h 1625331"/>
              <a:gd name="connsiteX2" fmla="*/ 1149283 w 1346469"/>
              <a:gd name="connsiteY2" fmla="*/ 1428146 h 1625331"/>
              <a:gd name="connsiteX3" fmla="*/ 197187 w 1346469"/>
              <a:gd name="connsiteY3" fmla="*/ 1428146 h 1625331"/>
              <a:gd name="connsiteX4" fmla="*/ 197187 w 1346469"/>
              <a:gd name="connsiteY4" fmla="*/ 476049 h 1625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469" h="1625331">
                <a:moveTo>
                  <a:pt x="673235" y="0"/>
                </a:moveTo>
                <a:lnTo>
                  <a:pt x="1149283" y="476049"/>
                </a:lnTo>
                <a:cubicBezTo>
                  <a:pt x="1412198" y="738963"/>
                  <a:pt x="1412198" y="1165231"/>
                  <a:pt x="1149283" y="1428146"/>
                </a:cubicBezTo>
                <a:cubicBezTo>
                  <a:pt x="886369" y="1691060"/>
                  <a:pt x="460101" y="1691060"/>
                  <a:pt x="197187" y="1428146"/>
                </a:cubicBezTo>
                <a:cubicBezTo>
                  <a:pt x="-65728" y="1165231"/>
                  <a:pt x="-65728" y="738963"/>
                  <a:pt x="197187" y="476049"/>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椭圆 8">
            <a:extLst>
              <a:ext uri="{FF2B5EF4-FFF2-40B4-BE49-F238E27FC236}">
                <a16:creationId xmlns:a16="http://schemas.microsoft.com/office/drawing/2014/main" id="{387CE30B-FCFC-5BBC-D07A-7CBF5CCA80E4}"/>
              </a:ext>
            </a:extLst>
          </p:cNvPr>
          <p:cNvSpPr/>
          <p:nvPr>
            <p:custDataLst>
              <p:tags r:id="rId6"/>
            </p:custDataLst>
          </p:nvPr>
        </p:nvSpPr>
        <p:spPr>
          <a:xfrm>
            <a:off x="2991819" y="3742176"/>
            <a:ext cx="1247775" cy="1247775"/>
          </a:xfrm>
          <a:prstGeom prst="ellipse">
            <a:avLst/>
          </a:prstGeom>
          <a:solidFill>
            <a:srgbClr val="3498DB"/>
          </a:solidFill>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0" cap="none" spc="30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开发文档</a:t>
            </a:r>
          </a:p>
        </p:txBody>
      </p:sp>
      <p:sp>
        <p:nvSpPr>
          <p:cNvPr id="10" name="任意多边形 30">
            <a:extLst>
              <a:ext uri="{FF2B5EF4-FFF2-40B4-BE49-F238E27FC236}">
                <a16:creationId xmlns:a16="http://schemas.microsoft.com/office/drawing/2014/main" id="{60BF409F-C200-CFC4-E83A-99A233B9A47D}"/>
              </a:ext>
            </a:extLst>
          </p:cNvPr>
          <p:cNvSpPr/>
          <p:nvPr>
            <p:custDataLst>
              <p:tags r:id="rId7"/>
            </p:custDataLst>
          </p:nvPr>
        </p:nvSpPr>
        <p:spPr>
          <a:xfrm>
            <a:off x="3274433" y="2589658"/>
            <a:ext cx="682544" cy="823904"/>
          </a:xfrm>
          <a:custGeom>
            <a:avLst/>
            <a:gdLst>
              <a:gd name="connsiteX0" fmla="*/ 341272 w 682544"/>
              <a:gd name="connsiteY0" fmla="*/ 0 h 823904"/>
              <a:gd name="connsiteX1" fmla="*/ 582588 w 682544"/>
              <a:gd name="connsiteY1" fmla="*/ 99956 h 823904"/>
              <a:gd name="connsiteX2" fmla="*/ 582588 w 682544"/>
              <a:gd name="connsiteY2" fmla="*/ 582588 h 823904"/>
              <a:gd name="connsiteX3" fmla="*/ 341272 w 682544"/>
              <a:gd name="connsiteY3" fmla="*/ 823904 h 823904"/>
              <a:gd name="connsiteX4" fmla="*/ 99956 w 682544"/>
              <a:gd name="connsiteY4" fmla="*/ 582588 h 823904"/>
              <a:gd name="connsiteX5" fmla="*/ 99956 w 682544"/>
              <a:gd name="connsiteY5" fmla="*/ 99956 h 823904"/>
              <a:gd name="connsiteX6" fmla="*/ 341272 w 682544"/>
              <a:gd name="connsiteY6" fmla="*/ 0 h 82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2544" h="823904">
                <a:moveTo>
                  <a:pt x="341272" y="0"/>
                </a:moveTo>
                <a:cubicBezTo>
                  <a:pt x="428611" y="0"/>
                  <a:pt x="515950" y="33319"/>
                  <a:pt x="582588" y="99956"/>
                </a:cubicBezTo>
                <a:cubicBezTo>
                  <a:pt x="715863" y="233231"/>
                  <a:pt x="715863" y="449313"/>
                  <a:pt x="582588" y="582588"/>
                </a:cubicBezTo>
                <a:lnTo>
                  <a:pt x="341272" y="823904"/>
                </a:lnTo>
                <a:lnTo>
                  <a:pt x="99956" y="582588"/>
                </a:lnTo>
                <a:cubicBezTo>
                  <a:pt x="-33318" y="449313"/>
                  <a:pt x="-33318" y="233231"/>
                  <a:pt x="99956" y="99956"/>
                </a:cubicBezTo>
                <a:cubicBezTo>
                  <a:pt x="166594" y="33319"/>
                  <a:pt x="253933" y="0"/>
                  <a:pt x="341272" y="0"/>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rPr>
              <a:t>02</a:t>
            </a: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任意多边形 31">
            <a:extLst>
              <a:ext uri="{FF2B5EF4-FFF2-40B4-BE49-F238E27FC236}">
                <a16:creationId xmlns:a16="http://schemas.microsoft.com/office/drawing/2014/main" id="{0FAF0015-F7CB-0BF7-94E8-6312E1F44A24}"/>
              </a:ext>
            </a:extLst>
          </p:cNvPr>
          <p:cNvSpPr/>
          <p:nvPr>
            <p:custDataLst>
              <p:tags r:id="rId8"/>
            </p:custDataLst>
          </p:nvPr>
        </p:nvSpPr>
        <p:spPr>
          <a:xfrm>
            <a:off x="2942472" y="3414370"/>
            <a:ext cx="1346469" cy="1625331"/>
          </a:xfrm>
          <a:custGeom>
            <a:avLst/>
            <a:gdLst>
              <a:gd name="connsiteX0" fmla="*/ 673235 w 1346469"/>
              <a:gd name="connsiteY0" fmla="*/ 0 h 1625331"/>
              <a:gd name="connsiteX1" fmla="*/ 1149283 w 1346469"/>
              <a:gd name="connsiteY1" fmla="*/ 476049 h 1625331"/>
              <a:gd name="connsiteX2" fmla="*/ 1149283 w 1346469"/>
              <a:gd name="connsiteY2" fmla="*/ 1428146 h 1625331"/>
              <a:gd name="connsiteX3" fmla="*/ 197187 w 1346469"/>
              <a:gd name="connsiteY3" fmla="*/ 1428146 h 1625331"/>
              <a:gd name="connsiteX4" fmla="*/ 197187 w 1346469"/>
              <a:gd name="connsiteY4" fmla="*/ 476049 h 1625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469" h="1625331">
                <a:moveTo>
                  <a:pt x="673235" y="0"/>
                </a:moveTo>
                <a:lnTo>
                  <a:pt x="1149283" y="476049"/>
                </a:lnTo>
                <a:cubicBezTo>
                  <a:pt x="1412198" y="738963"/>
                  <a:pt x="1412198" y="1165231"/>
                  <a:pt x="1149283" y="1428146"/>
                </a:cubicBezTo>
                <a:cubicBezTo>
                  <a:pt x="886369" y="1691060"/>
                  <a:pt x="460101" y="1691060"/>
                  <a:pt x="197187" y="1428146"/>
                </a:cubicBezTo>
                <a:cubicBezTo>
                  <a:pt x="-65728" y="1165231"/>
                  <a:pt x="-65728" y="738963"/>
                  <a:pt x="197187" y="476049"/>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椭圆 11">
            <a:extLst>
              <a:ext uri="{FF2B5EF4-FFF2-40B4-BE49-F238E27FC236}">
                <a16:creationId xmlns:a16="http://schemas.microsoft.com/office/drawing/2014/main" id="{95B7458D-1A0D-DD82-63F4-BE0EEEC600EB}"/>
              </a:ext>
            </a:extLst>
          </p:cNvPr>
          <p:cNvSpPr/>
          <p:nvPr>
            <p:custDataLst>
              <p:tags r:id="rId9"/>
            </p:custDataLst>
          </p:nvPr>
        </p:nvSpPr>
        <p:spPr>
          <a:xfrm>
            <a:off x="4675412" y="3742176"/>
            <a:ext cx="1247775" cy="1247775"/>
          </a:xfrm>
          <a:prstGeom prst="ellipse">
            <a:avLst/>
          </a:prstGeom>
          <a:solidFill>
            <a:srgbClr val="4091C3"/>
          </a:solidFill>
        </p:spPr>
        <p:txBody>
          <a:bodyPr rot="0" spcFirstLastPara="0" vert="horz" wrap="square" lIns="91440" tIns="45720" rIns="91440" bIns="45720" numCol="1" spcCol="0" rtlCol="0" fromWordArt="0" anchor="ctr" anchorCtr="0" forceAA="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0" cap="none" spc="30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应用架构图</a:t>
            </a:r>
          </a:p>
        </p:txBody>
      </p:sp>
      <p:sp>
        <p:nvSpPr>
          <p:cNvPr id="13" name="任意多边形 33">
            <a:extLst>
              <a:ext uri="{FF2B5EF4-FFF2-40B4-BE49-F238E27FC236}">
                <a16:creationId xmlns:a16="http://schemas.microsoft.com/office/drawing/2014/main" id="{A9CC7CB3-5D85-B09B-2320-750F8B717FDD}"/>
              </a:ext>
            </a:extLst>
          </p:cNvPr>
          <p:cNvSpPr/>
          <p:nvPr>
            <p:custDataLst>
              <p:tags r:id="rId10"/>
            </p:custDataLst>
          </p:nvPr>
        </p:nvSpPr>
        <p:spPr>
          <a:xfrm>
            <a:off x="4958027" y="2589658"/>
            <a:ext cx="682544" cy="823904"/>
          </a:xfrm>
          <a:custGeom>
            <a:avLst/>
            <a:gdLst>
              <a:gd name="connsiteX0" fmla="*/ 341272 w 682544"/>
              <a:gd name="connsiteY0" fmla="*/ 0 h 823904"/>
              <a:gd name="connsiteX1" fmla="*/ 582588 w 682544"/>
              <a:gd name="connsiteY1" fmla="*/ 99956 h 823904"/>
              <a:gd name="connsiteX2" fmla="*/ 582588 w 682544"/>
              <a:gd name="connsiteY2" fmla="*/ 582588 h 823904"/>
              <a:gd name="connsiteX3" fmla="*/ 341272 w 682544"/>
              <a:gd name="connsiteY3" fmla="*/ 823904 h 823904"/>
              <a:gd name="connsiteX4" fmla="*/ 99956 w 682544"/>
              <a:gd name="connsiteY4" fmla="*/ 582588 h 823904"/>
              <a:gd name="connsiteX5" fmla="*/ 99956 w 682544"/>
              <a:gd name="connsiteY5" fmla="*/ 99956 h 823904"/>
              <a:gd name="connsiteX6" fmla="*/ 341272 w 682544"/>
              <a:gd name="connsiteY6" fmla="*/ 0 h 82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2544" h="823904">
                <a:moveTo>
                  <a:pt x="341272" y="0"/>
                </a:moveTo>
                <a:cubicBezTo>
                  <a:pt x="428611" y="0"/>
                  <a:pt x="515950" y="33319"/>
                  <a:pt x="582588" y="99956"/>
                </a:cubicBezTo>
                <a:cubicBezTo>
                  <a:pt x="715863" y="233231"/>
                  <a:pt x="715863" y="449313"/>
                  <a:pt x="582588" y="582588"/>
                </a:cubicBezTo>
                <a:lnTo>
                  <a:pt x="341272" y="823904"/>
                </a:lnTo>
                <a:lnTo>
                  <a:pt x="99956" y="582588"/>
                </a:lnTo>
                <a:cubicBezTo>
                  <a:pt x="-33318" y="449313"/>
                  <a:pt x="-33318" y="233231"/>
                  <a:pt x="99956" y="99956"/>
                </a:cubicBezTo>
                <a:cubicBezTo>
                  <a:pt x="166594" y="33319"/>
                  <a:pt x="253933" y="0"/>
                  <a:pt x="341272" y="0"/>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rPr>
              <a:t>03</a:t>
            </a: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任意多边形 34">
            <a:extLst>
              <a:ext uri="{FF2B5EF4-FFF2-40B4-BE49-F238E27FC236}">
                <a16:creationId xmlns:a16="http://schemas.microsoft.com/office/drawing/2014/main" id="{95A94987-DF29-8E35-19C2-49E11570E1EB}"/>
              </a:ext>
            </a:extLst>
          </p:cNvPr>
          <p:cNvSpPr/>
          <p:nvPr>
            <p:custDataLst>
              <p:tags r:id="rId11"/>
            </p:custDataLst>
          </p:nvPr>
        </p:nvSpPr>
        <p:spPr>
          <a:xfrm>
            <a:off x="4626065" y="3414370"/>
            <a:ext cx="1346469" cy="1625331"/>
          </a:xfrm>
          <a:custGeom>
            <a:avLst/>
            <a:gdLst>
              <a:gd name="connsiteX0" fmla="*/ 673235 w 1346469"/>
              <a:gd name="connsiteY0" fmla="*/ 0 h 1625331"/>
              <a:gd name="connsiteX1" fmla="*/ 1149283 w 1346469"/>
              <a:gd name="connsiteY1" fmla="*/ 476049 h 1625331"/>
              <a:gd name="connsiteX2" fmla="*/ 1149283 w 1346469"/>
              <a:gd name="connsiteY2" fmla="*/ 1428146 h 1625331"/>
              <a:gd name="connsiteX3" fmla="*/ 197187 w 1346469"/>
              <a:gd name="connsiteY3" fmla="*/ 1428146 h 1625331"/>
              <a:gd name="connsiteX4" fmla="*/ 197187 w 1346469"/>
              <a:gd name="connsiteY4" fmla="*/ 476049 h 1625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469" h="1625331">
                <a:moveTo>
                  <a:pt x="673235" y="0"/>
                </a:moveTo>
                <a:lnTo>
                  <a:pt x="1149283" y="476049"/>
                </a:lnTo>
                <a:cubicBezTo>
                  <a:pt x="1412198" y="738963"/>
                  <a:pt x="1412198" y="1165231"/>
                  <a:pt x="1149283" y="1428146"/>
                </a:cubicBezTo>
                <a:cubicBezTo>
                  <a:pt x="886369" y="1691060"/>
                  <a:pt x="460101" y="1691060"/>
                  <a:pt x="197187" y="1428146"/>
                </a:cubicBezTo>
                <a:cubicBezTo>
                  <a:pt x="-65728" y="1165231"/>
                  <a:pt x="-65728" y="738963"/>
                  <a:pt x="197187" y="476049"/>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椭圆 14">
            <a:extLst>
              <a:ext uri="{FF2B5EF4-FFF2-40B4-BE49-F238E27FC236}">
                <a16:creationId xmlns:a16="http://schemas.microsoft.com/office/drawing/2014/main" id="{17AABAEB-71BE-D01E-814E-3203E79568ED}"/>
              </a:ext>
            </a:extLst>
          </p:cNvPr>
          <p:cNvSpPr/>
          <p:nvPr>
            <p:custDataLst>
              <p:tags r:id="rId12"/>
            </p:custDataLst>
          </p:nvPr>
        </p:nvSpPr>
        <p:spPr>
          <a:xfrm>
            <a:off x="6357861" y="3742176"/>
            <a:ext cx="1247775" cy="1247775"/>
          </a:xfrm>
          <a:prstGeom prst="ellipse">
            <a:avLst/>
          </a:prstGeom>
          <a:solidFill>
            <a:srgbClr val="005DA2"/>
          </a:solidFill>
        </p:spPr>
        <p:txBody>
          <a:bodyPr rot="0" spcFirstLastPara="0" vert="horz" wrap="square" lIns="91440" tIns="45720" rIns="91440" bIns="45720" numCol="1" spcCol="0" rtlCol="0" fromWordArt="0" anchor="ctr" anchorCtr="0" forceAA="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0" cap="none" spc="30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数据流程图</a:t>
            </a:r>
          </a:p>
        </p:txBody>
      </p:sp>
      <p:sp>
        <p:nvSpPr>
          <p:cNvPr id="16" name="任意多边形 36">
            <a:extLst>
              <a:ext uri="{FF2B5EF4-FFF2-40B4-BE49-F238E27FC236}">
                <a16:creationId xmlns:a16="http://schemas.microsoft.com/office/drawing/2014/main" id="{0E08C559-F417-7093-938B-B797D1DC35E3}"/>
              </a:ext>
            </a:extLst>
          </p:cNvPr>
          <p:cNvSpPr/>
          <p:nvPr>
            <p:custDataLst>
              <p:tags r:id="rId13"/>
            </p:custDataLst>
          </p:nvPr>
        </p:nvSpPr>
        <p:spPr>
          <a:xfrm>
            <a:off x="6640476" y="2589658"/>
            <a:ext cx="682544" cy="823904"/>
          </a:xfrm>
          <a:custGeom>
            <a:avLst/>
            <a:gdLst>
              <a:gd name="connsiteX0" fmla="*/ 341272 w 682544"/>
              <a:gd name="connsiteY0" fmla="*/ 0 h 823904"/>
              <a:gd name="connsiteX1" fmla="*/ 582588 w 682544"/>
              <a:gd name="connsiteY1" fmla="*/ 99956 h 823904"/>
              <a:gd name="connsiteX2" fmla="*/ 582588 w 682544"/>
              <a:gd name="connsiteY2" fmla="*/ 582588 h 823904"/>
              <a:gd name="connsiteX3" fmla="*/ 341272 w 682544"/>
              <a:gd name="connsiteY3" fmla="*/ 823904 h 823904"/>
              <a:gd name="connsiteX4" fmla="*/ 99956 w 682544"/>
              <a:gd name="connsiteY4" fmla="*/ 582588 h 823904"/>
              <a:gd name="connsiteX5" fmla="*/ 99956 w 682544"/>
              <a:gd name="connsiteY5" fmla="*/ 99956 h 823904"/>
              <a:gd name="connsiteX6" fmla="*/ 341272 w 682544"/>
              <a:gd name="connsiteY6" fmla="*/ 0 h 82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2544" h="823904">
                <a:moveTo>
                  <a:pt x="341272" y="0"/>
                </a:moveTo>
                <a:cubicBezTo>
                  <a:pt x="428611" y="0"/>
                  <a:pt x="515950" y="33319"/>
                  <a:pt x="582588" y="99956"/>
                </a:cubicBezTo>
                <a:cubicBezTo>
                  <a:pt x="715863" y="233231"/>
                  <a:pt x="715863" y="449313"/>
                  <a:pt x="582588" y="582588"/>
                </a:cubicBezTo>
                <a:lnTo>
                  <a:pt x="341272" y="823904"/>
                </a:lnTo>
                <a:lnTo>
                  <a:pt x="99956" y="582588"/>
                </a:lnTo>
                <a:cubicBezTo>
                  <a:pt x="-33318" y="449313"/>
                  <a:pt x="-33318" y="233231"/>
                  <a:pt x="99956" y="99956"/>
                </a:cubicBezTo>
                <a:cubicBezTo>
                  <a:pt x="166594" y="33319"/>
                  <a:pt x="253933" y="0"/>
                  <a:pt x="341272" y="0"/>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rPr>
              <a:t>04</a:t>
            </a: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7" name="任意多边形 37">
            <a:extLst>
              <a:ext uri="{FF2B5EF4-FFF2-40B4-BE49-F238E27FC236}">
                <a16:creationId xmlns:a16="http://schemas.microsoft.com/office/drawing/2014/main" id="{1C1874F3-7751-335A-12C0-4025B9EAADDB}"/>
              </a:ext>
            </a:extLst>
          </p:cNvPr>
          <p:cNvSpPr/>
          <p:nvPr>
            <p:custDataLst>
              <p:tags r:id="rId14"/>
            </p:custDataLst>
          </p:nvPr>
        </p:nvSpPr>
        <p:spPr>
          <a:xfrm>
            <a:off x="6308513" y="3414370"/>
            <a:ext cx="1346469" cy="1625331"/>
          </a:xfrm>
          <a:custGeom>
            <a:avLst/>
            <a:gdLst>
              <a:gd name="connsiteX0" fmla="*/ 673235 w 1346469"/>
              <a:gd name="connsiteY0" fmla="*/ 0 h 1625331"/>
              <a:gd name="connsiteX1" fmla="*/ 1149283 w 1346469"/>
              <a:gd name="connsiteY1" fmla="*/ 476049 h 1625331"/>
              <a:gd name="connsiteX2" fmla="*/ 1149283 w 1346469"/>
              <a:gd name="connsiteY2" fmla="*/ 1428146 h 1625331"/>
              <a:gd name="connsiteX3" fmla="*/ 197187 w 1346469"/>
              <a:gd name="connsiteY3" fmla="*/ 1428146 h 1625331"/>
              <a:gd name="connsiteX4" fmla="*/ 197187 w 1346469"/>
              <a:gd name="connsiteY4" fmla="*/ 476049 h 1625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469" h="1625331">
                <a:moveTo>
                  <a:pt x="673235" y="0"/>
                </a:moveTo>
                <a:lnTo>
                  <a:pt x="1149283" y="476049"/>
                </a:lnTo>
                <a:cubicBezTo>
                  <a:pt x="1412198" y="738963"/>
                  <a:pt x="1412198" y="1165231"/>
                  <a:pt x="1149283" y="1428146"/>
                </a:cubicBezTo>
                <a:cubicBezTo>
                  <a:pt x="886369" y="1691060"/>
                  <a:pt x="460101" y="1691060"/>
                  <a:pt x="197187" y="1428146"/>
                </a:cubicBezTo>
                <a:cubicBezTo>
                  <a:pt x="-65728" y="1165231"/>
                  <a:pt x="-65728" y="738963"/>
                  <a:pt x="197187" y="476049"/>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8" name="椭圆 17">
            <a:extLst>
              <a:ext uri="{FF2B5EF4-FFF2-40B4-BE49-F238E27FC236}">
                <a16:creationId xmlns:a16="http://schemas.microsoft.com/office/drawing/2014/main" id="{933CFCC2-1736-6B55-C9D8-AC84C55A5AC2}"/>
              </a:ext>
            </a:extLst>
          </p:cNvPr>
          <p:cNvSpPr/>
          <p:nvPr>
            <p:custDataLst>
              <p:tags r:id="rId15"/>
            </p:custDataLst>
          </p:nvPr>
        </p:nvSpPr>
        <p:spPr>
          <a:xfrm>
            <a:off x="8040308" y="3742176"/>
            <a:ext cx="1247775" cy="1247775"/>
          </a:xfrm>
          <a:prstGeom prst="ellipse">
            <a:avLst/>
          </a:prstGeom>
          <a:solidFill>
            <a:srgbClr val="BCC4D7"/>
          </a:solidFill>
        </p:spPr>
        <p:txBody>
          <a:bodyPr rot="0" spcFirstLastPara="0" vert="horz" wrap="square" lIns="91440" tIns="45720" rIns="91440" bIns="45720" numCol="1" spcCol="0" rtlCol="0" fromWordArt="0" anchor="ctr" anchorCtr="0" forceAA="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0" spc="30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mn-ea"/>
              </a:rPr>
              <a:t>软件源代码</a:t>
            </a:r>
          </a:p>
        </p:txBody>
      </p:sp>
      <p:sp>
        <p:nvSpPr>
          <p:cNvPr id="19" name="任意多边形 39">
            <a:extLst>
              <a:ext uri="{FF2B5EF4-FFF2-40B4-BE49-F238E27FC236}">
                <a16:creationId xmlns:a16="http://schemas.microsoft.com/office/drawing/2014/main" id="{3EBFE557-3D75-648F-2681-EAB076E17E29}"/>
              </a:ext>
            </a:extLst>
          </p:cNvPr>
          <p:cNvSpPr/>
          <p:nvPr>
            <p:custDataLst>
              <p:tags r:id="rId16"/>
            </p:custDataLst>
          </p:nvPr>
        </p:nvSpPr>
        <p:spPr>
          <a:xfrm>
            <a:off x="8322923" y="2589658"/>
            <a:ext cx="682544" cy="823904"/>
          </a:xfrm>
          <a:custGeom>
            <a:avLst/>
            <a:gdLst>
              <a:gd name="connsiteX0" fmla="*/ 341272 w 682544"/>
              <a:gd name="connsiteY0" fmla="*/ 0 h 823904"/>
              <a:gd name="connsiteX1" fmla="*/ 582588 w 682544"/>
              <a:gd name="connsiteY1" fmla="*/ 99956 h 823904"/>
              <a:gd name="connsiteX2" fmla="*/ 582588 w 682544"/>
              <a:gd name="connsiteY2" fmla="*/ 582588 h 823904"/>
              <a:gd name="connsiteX3" fmla="*/ 341272 w 682544"/>
              <a:gd name="connsiteY3" fmla="*/ 823904 h 823904"/>
              <a:gd name="connsiteX4" fmla="*/ 99956 w 682544"/>
              <a:gd name="connsiteY4" fmla="*/ 582588 h 823904"/>
              <a:gd name="connsiteX5" fmla="*/ 99956 w 682544"/>
              <a:gd name="connsiteY5" fmla="*/ 99956 h 823904"/>
              <a:gd name="connsiteX6" fmla="*/ 341272 w 682544"/>
              <a:gd name="connsiteY6" fmla="*/ 0 h 82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2544" h="823904">
                <a:moveTo>
                  <a:pt x="341272" y="0"/>
                </a:moveTo>
                <a:cubicBezTo>
                  <a:pt x="428611" y="0"/>
                  <a:pt x="515950" y="33319"/>
                  <a:pt x="582588" y="99956"/>
                </a:cubicBezTo>
                <a:cubicBezTo>
                  <a:pt x="715863" y="233231"/>
                  <a:pt x="715863" y="449313"/>
                  <a:pt x="582588" y="582588"/>
                </a:cubicBezTo>
                <a:lnTo>
                  <a:pt x="341272" y="823904"/>
                </a:lnTo>
                <a:lnTo>
                  <a:pt x="99956" y="582588"/>
                </a:lnTo>
                <a:cubicBezTo>
                  <a:pt x="-33318" y="449313"/>
                  <a:pt x="-33318" y="233231"/>
                  <a:pt x="99956" y="99956"/>
                </a:cubicBezTo>
                <a:cubicBezTo>
                  <a:pt x="166594" y="33319"/>
                  <a:pt x="253933" y="0"/>
                  <a:pt x="341272" y="0"/>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rPr>
              <a:t>05</a:t>
            </a: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0" name="任意多边形 40">
            <a:extLst>
              <a:ext uri="{FF2B5EF4-FFF2-40B4-BE49-F238E27FC236}">
                <a16:creationId xmlns:a16="http://schemas.microsoft.com/office/drawing/2014/main" id="{61F81C92-2AD3-745F-8C9D-6D38EADF9230}"/>
              </a:ext>
            </a:extLst>
          </p:cNvPr>
          <p:cNvSpPr/>
          <p:nvPr>
            <p:custDataLst>
              <p:tags r:id="rId17"/>
            </p:custDataLst>
          </p:nvPr>
        </p:nvSpPr>
        <p:spPr>
          <a:xfrm>
            <a:off x="7990961" y="3414370"/>
            <a:ext cx="1346469" cy="1625331"/>
          </a:xfrm>
          <a:custGeom>
            <a:avLst/>
            <a:gdLst>
              <a:gd name="connsiteX0" fmla="*/ 673235 w 1346469"/>
              <a:gd name="connsiteY0" fmla="*/ 0 h 1625331"/>
              <a:gd name="connsiteX1" fmla="*/ 1149283 w 1346469"/>
              <a:gd name="connsiteY1" fmla="*/ 476049 h 1625331"/>
              <a:gd name="connsiteX2" fmla="*/ 1149283 w 1346469"/>
              <a:gd name="connsiteY2" fmla="*/ 1428146 h 1625331"/>
              <a:gd name="connsiteX3" fmla="*/ 197187 w 1346469"/>
              <a:gd name="connsiteY3" fmla="*/ 1428146 h 1625331"/>
              <a:gd name="connsiteX4" fmla="*/ 197187 w 1346469"/>
              <a:gd name="connsiteY4" fmla="*/ 476049 h 1625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469" h="1625331">
                <a:moveTo>
                  <a:pt x="673235" y="0"/>
                </a:moveTo>
                <a:lnTo>
                  <a:pt x="1149283" y="476049"/>
                </a:lnTo>
                <a:cubicBezTo>
                  <a:pt x="1412198" y="738963"/>
                  <a:pt x="1412198" y="1165231"/>
                  <a:pt x="1149283" y="1428146"/>
                </a:cubicBezTo>
                <a:cubicBezTo>
                  <a:pt x="886369" y="1691060"/>
                  <a:pt x="460101" y="1691060"/>
                  <a:pt x="197187" y="1428146"/>
                </a:cubicBezTo>
                <a:cubicBezTo>
                  <a:pt x="-65728" y="1165231"/>
                  <a:pt x="-65728" y="738963"/>
                  <a:pt x="197187" y="476049"/>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椭圆 20">
            <a:extLst>
              <a:ext uri="{FF2B5EF4-FFF2-40B4-BE49-F238E27FC236}">
                <a16:creationId xmlns:a16="http://schemas.microsoft.com/office/drawing/2014/main" id="{FB7FA241-DEC0-6255-A617-A243B98EAB32}"/>
              </a:ext>
            </a:extLst>
          </p:cNvPr>
          <p:cNvSpPr/>
          <p:nvPr>
            <p:custDataLst>
              <p:tags r:id="rId18"/>
            </p:custDataLst>
          </p:nvPr>
        </p:nvSpPr>
        <p:spPr>
          <a:xfrm>
            <a:off x="9722757" y="3742176"/>
            <a:ext cx="1247775" cy="1247775"/>
          </a:xfrm>
          <a:prstGeom prst="ellipse">
            <a:avLst/>
          </a:prstGeom>
          <a:solidFill>
            <a:srgbClr val="0F6FC6"/>
          </a:solidFill>
          <a:ln>
            <a:solidFill>
              <a:srgbClr val="1D6DC2"/>
            </a:solidFill>
          </a:ln>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en-US" altLang="zh-CN" sz="2000"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2000" b="1" i="0" u="none" strike="noStrike" kern="0" cap="none" spc="30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22" name="任意多边形 43">
            <a:extLst>
              <a:ext uri="{FF2B5EF4-FFF2-40B4-BE49-F238E27FC236}">
                <a16:creationId xmlns:a16="http://schemas.microsoft.com/office/drawing/2014/main" id="{DC3B5BF9-5458-E9F1-A21F-C7F03093922F}"/>
              </a:ext>
            </a:extLst>
          </p:cNvPr>
          <p:cNvSpPr/>
          <p:nvPr>
            <p:custDataLst>
              <p:tags r:id="rId19"/>
            </p:custDataLst>
          </p:nvPr>
        </p:nvSpPr>
        <p:spPr>
          <a:xfrm>
            <a:off x="10005372" y="2589658"/>
            <a:ext cx="682544" cy="823904"/>
          </a:xfrm>
          <a:custGeom>
            <a:avLst/>
            <a:gdLst>
              <a:gd name="connsiteX0" fmla="*/ 341272 w 682544"/>
              <a:gd name="connsiteY0" fmla="*/ 0 h 823904"/>
              <a:gd name="connsiteX1" fmla="*/ 582588 w 682544"/>
              <a:gd name="connsiteY1" fmla="*/ 99956 h 823904"/>
              <a:gd name="connsiteX2" fmla="*/ 582588 w 682544"/>
              <a:gd name="connsiteY2" fmla="*/ 582588 h 823904"/>
              <a:gd name="connsiteX3" fmla="*/ 341272 w 682544"/>
              <a:gd name="connsiteY3" fmla="*/ 823904 h 823904"/>
              <a:gd name="connsiteX4" fmla="*/ 99956 w 682544"/>
              <a:gd name="connsiteY4" fmla="*/ 582588 h 823904"/>
              <a:gd name="connsiteX5" fmla="*/ 99956 w 682544"/>
              <a:gd name="connsiteY5" fmla="*/ 99956 h 823904"/>
              <a:gd name="connsiteX6" fmla="*/ 341272 w 682544"/>
              <a:gd name="connsiteY6" fmla="*/ 0 h 82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2544" h="823904">
                <a:moveTo>
                  <a:pt x="341272" y="0"/>
                </a:moveTo>
                <a:cubicBezTo>
                  <a:pt x="428611" y="0"/>
                  <a:pt x="515950" y="33319"/>
                  <a:pt x="582588" y="99956"/>
                </a:cubicBezTo>
                <a:cubicBezTo>
                  <a:pt x="715863" y="233231"/>
                  <a:pt x="715863" y="449313"/>
                  <a:pt x="582588" y="582588"/>
                </a:cubicBezTo>
                <a:lnTo>
                  <a:pt x="341272" y="823904"/>
                </a:lnTo>
                <a:lnTo>
                  <a:pt x="99956" y="582588"/>
                </a:lnTo>
                <a:cubicBezTo>
                  <a:pt x="-33318" y="449313"/>
                  <a:pt x="-33318" y="233231"/>
                  <a:pt x="99956" y="99956"/>
                </a:cubicBezTo>
                <a:cubicBezTo>
                  <a:pt x="166594" y="33319"/>
                  <a:pt x="253933" y="0"/>
                  <a:pt x="341272" y="0"/>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rPr>
              <a:t>06</a:t>
            </a: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任意多边形 44">
            <a:extLst>
              <a:ext uri="{FF2B5EF4-FFF2-40B4-BE49-F238E27FC236}">
                <a16:creationId xmlns:a16="http://schemas.microsoft.com/office/drawing/2014/main" id="{A69119AA-7634-9D75-4421-9C1E3CDD9CBE}"/>
              </a:ext>
            </a:extLst>
          </p:cNvPr>
          <p:cNvSpPr/>
          <p:nvPr>
            <p:custDataLst>
              <p:tags r:id="rId20"/>
            </p:custDataLst>
          </p:nvPr>
        </p:nvSpPr>
        <p:spPr>
          <a:xfrm>
            <a:off x="9673409" y="3414370"/>
            <a:ext cx="1346469" cy="1625331"/>
          </a:xfrm>
          <a:custGeom>
            <a:avLst/>
            <a:gdLst>
              <a:gd name="connsiteX0" fmla="*/ 673235 w 1346469"/>
              <a:gd name="connsiteY0" fmla="*/ 0 h 1625331"/>
              <a:gd name="connsiteX1" fmla="*/ 1149283 w 1346469"/>
              <a:gd name="connsiteY1" fmla="*/ 476049 h 1625331"/>
              <a:gd name="connsiteX2" fmla="*/ 1149283 w 1346469"/>
              <a:gd name="connsiteY2" fmla="*/ 1428146 h 1625331"/>
              <a:gd name="connsiteX3" fmla="*/ 197187 w 1346469"/>
              <a:gd name="connsiteY3" fmla="*/ 1428146 h 1625331"/>
              <a:gd name="connsiteX4" fmla="*/ 197187 w 1346469"/>
              <a:gd name="connsiteY4" fmla="*/ 476049 h 1625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469" h="1625331">
                <a:moveTo>
                  <a:pt x="673235" y="0"/>
                </a:moveTo>
                <a:lnTo>
                  <a:pt x="1149283" y="476049"/>
                </a:lnTo>
                <a:cubicBezTo>
                  <a:pt x="1412198" y="738963"/>
                  <a:pt x="1412198" y="1165231"/>
                  <a:pt x="1149283" y="1428146"/>
                </a:cubicBezTo>
                <a:cubicBezTo>
                  <a:pt x="886369" y="1691060"/>
                  <a:pt x="460101" y="1691060"/>
                  <a:pt x="197187" y="1428146"/>
                </a:cubicBezTo>
                <a:cubicBezTo>
                  <a:pt x="-65728" y="1165231"/>
                  <a:pt x="-65728" y="738963"/>
                  <a:pt x="197187" y="476049"/>
                </a:cubicBezTo>
                <a:close/>
              </a:path>
            </a:pathLst>
          </a:custGeom>
          <a:noFill/>
          <a:ln w="12700">
            <a:solidFill>
              <a:sysClr val="window" lastClr="FFFFFF">
                <a:lumMod val="85000"/>
              </a:sysClr>
            </a:solidFill>
          </a:ln>
        </p:spPr>
        <p:txBody>
          <a:bodyPr rot="0" spcFirstLastPara="0" vert="horz" wrap="square" lIns="91440" tIns="45720" rIns="91440" bIns="18000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5852211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A40E6-380F-9951-0691-FD8DDE588F08}"/>
              </a:ext>
            </a:extLst>
          </p:cNvPr>
          <p:cNvSpPr>
            <a:spLocks noGrp="1"/>
          </p:cNvSpPr>
          <p:nvPr>
            <p:ph type="title"/>
          </p:nvPr>
        </p:nvSpPr>
        <p:spPr/>
        <p:txBody>
          <a:bodyPr/>
          <a:lstStyle/>
          <a:p>
            <a:r>
              <a:rPr kumimoji="1" lang="en-US" altLang="zh-CN" dirty="0"/>
              <a:t>06</a:t>
            </a:r>
            <a:r>
              <a:rPr kumimoji="1" lang="zh-CN" altLang="en-US" dirty="0"/>
              <a:t>应用绩效评价</a:t>
            </a:r>
          </a:p>
        </p:txBody>
      </p:sp>
    </p:spTree>
    <p:extLst>
      <p:ext uri="{BB962C8B-B14F-4D97-AF65-F5344CB8AC3E}">
        <p14:creationId xmlns:p14="http://schemas.microsoft.com/office/powerpoint/2010/main" val="35113663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6.1 </a:t>
            </a:r>
            <a:r>
              <a:rPr kumimoji="1" lang="zh-CN" altLang="en-US" dirty="0"/>
              <a:t>应用评价及运用</a:t>
            </a:r>
          </a:p>
        </p:txBody>
      </p:sp>
      <p:sp>
        <p:nvSpPr>
          <p:cNvPr id="7" name="平行四边形 6">
            <a:extLst>
              <a:ext uri="{FF2B5EF4-FFF2-40B4-BE49-F238E27FC236}">
                <a16:creationId xmlns:a16="http://schemas.microsoft.com/office/drawing/2014/main" id="{462B4074-D5F1-E737-E60C-58013C8319CC}"/>
              </a:ext>
            </a:extLst>
          </p:cNvPr>
          <p:cNvSpPr/>
          <p:nvPr/>
        </p:nvSpPr>
        <p:spPr>
          <a:xfrm>
            <a:off x="1123950" y="2286000"/>
            <a:ext cx="9944100" cy="1168400"/>
          </a:xfrm>
          <a:prstGeom prst="parallelogram">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平行四边形 7">
            <a:extLst>
              <a:ext uri="{FF2B5EF4-FFF2-40B4-BE49-F238E27FC236}">
                <a16:creationId xmlns:a16="http://schemas.microsoft.com/office/drawing/2014/main" id="{AA67CEB2-C936-662C-EEAC-1A52B65E01C4}"/>
              </a:ext>
            </a:extLst>
          </p:cNvPr>
          <p:cNvSpPr/>
          <p:nvPr/>
        </p:nvSpPr>
        <p:spPr>
          <a:xfrm>
            <a:off x="990600" y="2180230"/>
            <a:ext cx="9944100" cy="1168400"/>
          </a:xfrm>
          <a:prstGeom prst="parallelogram">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a:extLst>
              <a:ext uri="{FF2B5EF4-FFF2-40B4-BE49-F238E27FC236}">
                <a16:creationId xmlns:a16="http://schemas.microsoft.com/office/drawing/2014/main" id="{F6F5D8D1-2414-3001-A7EE-4FB3F0D04300}"/>
              </a:ext>
            </a:extLst>
          </p:cNvPr>
          <p:cNvSpPr/>
          <p:nvPr/>
        </p:nvSpPr>
        <p:spPr>
          <a:xfrm>
            <a:off x="1123950" y="4072795"/>
            <a:ext cx="9944100" cy="1168400"/>
          </a:xfrm>
          <a:prstGeom prst="parallelogram">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770867DF-15C6-0E98-7F99-08AD42AF67A1}"/>
              </a:ext>
            </a:extLst>
          </p:cNvPr>
          <p:cNvSpPr/>
          <p:nvPr/>
        </p:nvSpPr>
        <p:spPr>
          <a:xfrm>
            <a:off x="990600" y="3967025"/>
            <a:ext cx="9944100" cy="1168400"/>
          </a:xfrm>
          <a:prstGeom prst="parallelogram">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535882CF-AF38-1459-4C66-67ED4344AD99}"/>
              </a:ext>
            </a:extLst>
          </p:cNvPr>
          <p:cNvSpPr txBox="1"/>
          <p:nvPr>
            <p:custDataLst>
              <p:tags r:id="rId1"/>
            </p:custDataLst>
          </p:nvPr>
        </p:nvSpPr>
        <p:spPr>
          <a:xfrm>
            <a:off x="1382690" y="2522281"/>
            <a:ext cx="9120032" cy="509693"/>
          </a:xfrm>
          <a:prstGeom prst="rect">
            <a:avLst/>
          </a:prstGeom>
          <a:ln>
            <a:noFill/>
          </a:ln>
        </p:spPr>
        <p:txBody>
          <a:bodyPr wrap="square">
            <a:noAutofit/>
          </a:bodyPr>
          <a:lstStyle/>
          <a:p>
            <a:pPr algn="l"/>
            <a:r>
              <a:rPr lang="zh-CN" altLang="en-US" sz="2135" b="1" dirty="0">
                <a:solidFill>
                  <a:schemeClr val="bg1"/>
                </a:solidFill>
                <a:latin typeface="Arial" panose="020B0604020202020204" pitchFamily="34" charset="0"/>
                <a:ea typeface="微软雅黑" panose="020B0503020204020204" pitchFamily="34" charset="-122"/>
                <a:sym typeface="+mn-ea"/>
              </a:rPr>
              <a:t>应用评价包括应用责任部门自评价和应用联合评审单位检查评价</a:t>
            </a:r>
          </a:p>
        </p:txBody>
      </p:sp>
      <p:sp>
        <p:nvSpPr>
          <p:cNvPr id="12" name="文本框 11">
            <a:extLst>
              <a:ext uri="{FF2B5EF4-FFF2-40B4-BE49-F238E27FC236}">
                <a16:creationId xmlns:a16="http://schemas.microsoft.com/office/drawing/2014/main" id="{4560887A-5130-DE8D-85E7-417382E6C4C0}"/>
              </a:ext>
            </a:extLst>
          </p:cNvPr>
          <p:cNvSpPr txBox="1"/>
          <p:nvPr>
            <p:custDataLst>
              <p:tags r:id="rId2"/>
            </p:custDataLst>
          </p:nvPr>
        </p:nvSpPr>
        <p:spPr>
          <a:xfrm>
            <a:off x="1382689" y="4177911"/>
            <a:ext cx="10400453" cy="845502"/>
          </a:xfrm>
          <a:prstGeom prst="rect">
            <a:avLst/>
          </a:prstGeom>
          <a:ln>
            <a:noFill/>
          </a:ln>
        </p:spPr>
        <p:txBody>
          <a:bodyPr wrap="square">
            <a:noAutofit/>
          </a:bodyPr>
          <a:lstStyle/>
          <a:p>
            <a:pPr algn="l"/>
            <a:r>
              <a:rPr lang="zh-CN" altLang="en-US" sz="2135" b="1" dirty="0">
                <a:solidFill>
                  <a:schemeClr val="bg1"/>
                </a:solidFill>
                <a:latin typeface="Arial" panose="020B0604020202020204" pitchFamily="34" charset="0"/>
                <a:ea typeface="微软雅黑" panose="020B0503020204020204" pitchFamily="34" charset="-122"/>
                <a:sym typeface="+mn-ea"/>
              </a:rPr>
              <a:t>应用评价运用：①市大数据发展局会同市委改革办开展“优秀应用”评选</a:t>
            </a:r>
            <a:endParaRPr lang="en-US" altLang="zh-CN" sz="2135" b="1" dirty="0">
              <a:solidFill>
                <a:schemeClr val="bg1"/>
              </a:solidFill>
              <a:latin typeface="Arial" panose="020B0604020202020204" pitchFamily="34" charset="0"/>
              <a:ea typeface="微软雅黑" panose="020B0503020204020204" pitchFamily="34" charset="-122"/>
              <a:sym typeface="+mn-ea"/>
            </a:endParaRPr>
          </a:p>
          <a:p>
            <a:pPr algn="l"/>
            <a:r>
              <a:rPr lang="zh-CN" altLang="en-US" sz="2135" b="1" dirty="0">
                <a:solidFill>
                  <a:schemeClr val="bg1"/>
                </a:solidFill>
                <a:latin typeface="Arial" panose="020B0604020202020204" pitchFamily="34" charset="0"/>
                <a:ea typeface="微软雅黑" panose="020B0503020204020204" pitchFamily="34" charset="-122"/>
                <a:sym typeface="+mn-ea"/>
              </a:rPr>
              <a:t>②综合形成部门年度应用评价结果，并纳入年度工作绩效考核</a:t>
            </a:r>
          </a:p>
        </p:txBody>
      </p:sp>
    </p:spTree>
    <p:extLst>
      <p:ext uri="{BB962C8B-B14F-4D97-AF65-F5344CB8AC3E}">
        <p14:creationId xmlns:p14="http://schemas.microsoft.com/office/powerpoint/2010/main" val="22469023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6.2 </a:t>
            </a:r>
            <a:r>
              <a:rPr kumimoji="1" lang="zh-CN" altLang="en-US" dirty="0"/>
              <a:t>专项资金绩效评价</a:t>
            </a:r>
          </a:p>
        </p:txBody>
      </p:sp>
      <p:sp>
        <p:nvSpPr>
          <p:cNvPr id="3" name="平行四边形 2">
            <a:extLst>
              <a:ext uri="{FF2B5EF4-FFF2-40B4-BE49-F238E27FC236}">
                <a16:creationId xmlns:a16="http://schemas.microsoft.com/office/drawing/2014/main" id="{8A86576C-0E59-ABD2-1DED-EDC374C0C02C}"/>
              </a:ext>
            </a:extLst>
          </p:cNvPr>
          <p:cNvSpPr/>
          <p:nvPr/>
        </p:nvSpPr>
        <p:spPr>
          <a:xfrm>
            <a:off x="1257300" y="2389238"/>
            <a:ext cx="9944100" cy="1168400"/>
          </a:xfrm>
          <a:prstGeom prst="parallelogram">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4" name="文本框 3">
            <a:extLst>
              <a:ext uri="{FF2B5EF4-FFF2-40B4-BE49-F238E27FC236}">
                <a16:creationId xmlns:a16="http://schemas.microsoft.com/office/drawing/2014/main" id="{337057C1-2D22-291F-A310-17903003768E}"/>
              </a:ext>
            </a:extLst>
          </p:cNvPr>
          <p:cNvSpPr txBox="1"/>
          <p:nvPr>
            <p:custDataLst>
              <p:tags r:id="rId1"/>
            </p:custDataLst>
          </p:nvPr>
        </p:nvSpPr>
        <p:spPr>
          <a:xfrm>
            <a:off x="1728047" y="2740214"/>
            <a:ext cx="10400453" cy="509693"/>
          </a:xfrm>
          <a:prstGeom prst="rect">
            <a:avLst/>
          </a:prstGeom>
          <a:ln>
            <a:noFill/>
          </a:ln>
        </p:spPr>
        <p:txBody>
          <a:bodyPr wrap="square">
            <a:noAutofit/>
          </a:bodyPr>
          <a:lstStyle/>
          <a:p>
            <a:pPr algn="l"/>
            <a:r>
              <a:rPr lang="zh-CN" altLang="en-US" sz="2135" b="1" dirty="0">
                <a:solidFill>
                  <a:schemeClr val="bg1"/>
                </a:solidFill>
                <a:latin typeface="Arial" panose="020B0604020202020204" pitchFamily="34" charset="0"/>
                <a:ea typeface="微软雅黑" panose="020B0503020204020204" pitchFamily="34" charset="-122"/>
                <a:sym typeface="+mn-ea"/>
              </a:rPr>
              <a:t>专项资金绩效评价包括应用责任部门自评价和应用联合评审单位抽查评价</a:t>
            </a:r>
          </a:p>
        </p:txBody>
      </p:sp>
      <p:sp>
        <p:nvSpPr>
          <p:cNvPr id="5" name="平行四边形 4">
            <a:extLst>
              <a:ext uri="{FF2B5EF4-FFF2-40B4-BE49-F238E27FC236}">
                <a16:creationId xmlns:a16="http://schemas.microsoft.com/office/drawing/2014/main" id="{E1980915-72B7-EA0D-49FD-61C67C7D11D4}"/>
              </a:ext>
            </a:extLst>
          </p:cNvPr>
          <p:cNvSpPr/>
          <p:nvPr/>
        </p:nvSpPr>
        <p:spPr>
          <a:xfrm>
            <a:off x="1123950" y="2283468"/>
            <a:ext cx="9944100" cy="1168400"/>
          </a:xfrm>
          <a:prstGeom prst="parallelogram">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FD8C2FD3-5173-C40B-C496-550AA9582348}"/>
              </a:ext>
            </a:extLst>
          </p:cNvPr>
          <p:cNvSpPr/>
          <p:nvPr/>
        </p:nvSpPr>
        <p:spPr>
          <a:xfrm>
            <a:off x="1257300" y="4176033"/>
            <a:ext cx="9944100" cy="1168400"/>
          </a:xfrm>
          <a:prstGeom prst="parallelogram">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11E29C5-BFA4-33AE-D897-DECE78899885}"/>
              </a:ext>
            </a:extLst>
          </p:cNvPr>
          <p:cNvSpPr txBox="1"/>
          <p:nvPr>
            <p:custDataLst>
              <p:tags r:id="rId2"/>
            </p:custDataLst>
          </p:nvPr>
        </p:nvSpPr>
        <p:spPr>
          <a:xfrm>
            <a:off x="3480647" y="4507437"/>
            <a:ext cx="5824339" cy="509693"/>
          </a:xfrm>
          <a:prstGeom prst="rect">
            <a:avLst/>
          </a:prstGeom>
          <a:ln>
            <a:noFill/>
          </a:ln>
        </p:spPr>
        <p:txBody>
          <a:bodyPr wrap="square">
            <a:noAutofit/>
          </a:bodyPr>
          <a:lstStyle/>
          <a:p>
            <a:pPr algn="l"/>
            <a:r>
              <a:rPr lang="zh-CN" altLang="en-US" sz="2135" b="1" dirty="0">
                <a:solidFill>
                  <a:schemeClr val="bg1"/>
                </a:solidFill>
                <a:latin typeface="Arial" panose="020B0604020202020204" pitchFamily="34" charset="0"/>
                <a:ea typeface="微软雅黑" panose="020B0503020204020204" pitchFamily="34" charset="-122"/>
                <a:sym typeface="+mn-ea"/>
              </a:rPr>
              <a:t>抽查结果将作为年度预算安排的重要依据</a:t>
            </a:r>
          </a:p>
        </p:txBody>
      </p:sp>
      <p:sp>
        <p:nvSpPr>
          <p:cNvPr id="8" name="平行四边形 7">
            <a:extLst>
              <a:ext uri="{FF2B5EF4-FFF2-40B4-BE49-F238E27FC236}">
                <a16:creationId xmlns:a16="http://schemas.microsoft.com/office/drawing/2014/main" id="{AA949C42-14EC-8136-B7E7-CB5F9448713D}"/>
              </a:ext>
            </a:extLst>
          </p:cNvPr>
          <p:cNvSpPr/>
          <p:nvPr/>
        </p:nvSpPr>
        <p:spPr>
          <a:xfrm>
            <a:off x="1123950" y="4070263"/>
            <a:ext cx="9944100" cy="1168400"/>
          </a:xfrm>
          <a:prstGeom prst="parallelogram">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48582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A40E6-380F-9951-0691-FD8DDE588F08}"/>
              </a:ext>
            </a:extLst>
          </p:cNvPr>
          <p:cNvSpPr>
            <a:spLocks noGrp="1"/>
          </p:cNvSpPr>
          <p:nvPr>
            <p:ph type="title"/>
          </p:nvPr>
        </p:nvSpPr>
        <p:spPr/>
        <p:txBody>
          <a:bodyPr/>
          <a:lstStyle/>
          <a:p>
            <a:r>
              <a:rPr kumimoji="1" lang="en-US" altLang="zh-CN" dirty="0"/>
              <a:t>07 </a:t>
            </a:r>
            <a:r>
              <a:rPr kumimoji="1" lang="zh-CN" altLang="en-US" dirty="0"/>
              <a:t>区县应用管理</a:t>
            </a:r>
          </a:p>
        </p:txBody>
      </p:sp>
    </p:spTree>
    <p:extLst>
      <p:ext uri="{BB962C8B-B14F-4D97-AF65-F5344CB8AC3E}">
        <p14:creationId xmlns:p14="http://schemas.microsoft.com/office/powerpoint/2010/main" val="3948348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7.1 </a:t>
            </a:r>
            <a:r>
              <a:rPr kumimoji="1" lang="zh-CN" altLang="en-US" dirty="0"/>
              <a:t>区县</a:t>
            </a:r>
            <a:r>
              <a:rPr kumimoji="1" lang="en-US" altLang="zh-CN" dirty="0"/>
              <a:t>500</a:t>
            </a:r>
            <a:r>
              <a:rPr kumimoji="1" lang="zh-CN" altLang="en-US" dirty="0"/>
              <a:t>万元（含）以上应用开发备案审查流程</a:t>
            </a:r>
          </a:p>
        </p:txBody>
      </p:sp>
      <p:graphicFrame>
        <p:nvGraphicFramePr>
          <p:cNvPr id="4" name="图示 3">
            <a:extLst>
              <a:ext uri="{FF2B5EF4-FFF2-40B4-BE49-F238E27FC236}">
                <a16:creationId xmlns:a16="http://schemas.microsoft.com/office/drawing/2014/main" id="{9A2BD010-A596-6D13-E1B5-D314485A94FE}"/>
              </a:ext>
            </a:extLst>
          </p:cNvPr>
          <p:cNvGraphicFramePr/>
          <p:nvPr>
            <p:extLst>
              <p:ext uri="{D42A27DB-BD31-4B8C-83A1-F6EECF244321}">
                <p14:modId xmlns:p14="http://schemas.microsoft.com/office/powerpoint/2010/main" val="3209962300"/>
              </p:ext>
            </p:extLst>
          </p:nvPr>
        </p:nvGraphicFramePr>
        <p:xfrm>
          <a:off x="2950196" y="2072189"/>
          <a:ext cx="5680303" cy="242260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5" name="组合 4">
            <a:extLst>
              <a:ext uri="{FF2B5EF4-FFF2-40B4-BE49-F238E27FC236}">
                <a16:creationId xmlns:a16="http://schemas.microsoft.com/office/drawing/2014/main" id="{F76632A9-1EFE-3731-E139-C1E2E8F30D8E}"/>
              </a:ext>
            </a:extLst>
          </p:cNvPr>
          <p:cNvGrpSpPr/>
          <p:nvPr/>
        </p:nvGrpSpPr>
        <p:grpSpPr>
          <a:xfrm>
            <a:off x="2950195" y="4882335"/>
            <a:ext cx="5680303" cy="672253"/>
            <a:chOff x="3309606" y="4780863"/>
            <a:chExt cx="4089472" cy="672253"/>
          </a:xfrm>
          <a:solidFill>
            <a:srgbClr val="0070C0"/>
          </a:solidFill>
        </p:grpSpPr>
        <p:sp>
          <p:nvSpPr>
            <p:cNvPr id="6" name="矩形 5">
              <a:extLst>
                <a:ext uri="{FF2B5EF4-FFF2-40B4-BE49-F238E27FC236}">
                  <a16:creationId xmlns:a16="http://schemas.microsoft.com/office/drawing/2014/main" id="{9723DF3E-17A3-80D3-537A-9F2F5D1E97F1}"/>
                </a:ext>
              </a:extLst>
            </p:cNvPr>
            <p:cNvSpPr/>
            <p:nvPr>
              <p:custDataLst>
                <p:tags r:id="rId2"/>
              </p:custDataLst>
            </p:nvPr>
          </p:nvSpPr>
          <p:spPr>
            <a:xfrm>
              <a:off x="3309606" y="4780863"/>
              <a:ext cx="1539240" cy="6722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市级行业主管部门</a:t>
              </a:r>
            </a:p>
          </p:txBody>
        </p:sp>
        <p:sp>
          <p:nvSpPr>
            <p:cNvPr id="7" name="矩形 6">
              <a:extLst>
                <a:ext uri="{FF2B5EF4-FFF2-40B4-BE49-F238E27FC236}">
                  <a16:creationId xmlns:a16="http://schemas.microsoft.com/office/drawing/2014/main" id="{C52B868F-7D4B-122F-5705-FC835BE55A02}"/>
                </a:ext>
              </a:extLst>
            </p:cNvPr>
            <p:cNvSpPr/>
            <p:nvPr>
              <p:custDataLst>
                <p:tags r:id="rId3"/>
              </p:custDataLst>
            </p:nvPr>
          </p:nvSpPr>
          <p:spPr>
            <a:xfrm>
              <a:off x="4940130" y="4780863"/>
              <a:ext cx="1539240" cy="6722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所属牵头部门</a:t>
              </a:r>
            </a:p>
          </p:txBody>
        </p:sp>
        <p:sp>
          <p:nvSpPr>
            <p:cNvPr id="8" name="矩形 7">
              <a:extLst>
                <a:ext uri="{FF2B5EF4-FFF2-40B4-BE49-F238E27FC236}">
                  <a16:creationId xmlns:a16="http://schemas.microsoft.com/office/drawing/2014/main" id="{66DDDF4D-368B-67DE-DA9B-7B7BB1155C7D}"/>
                </a:ext>
              </a:extLst>
            </p:cNvPr>
            <p:cNvSpPr/>
            <p:nvPr>
              <p:custDataLst>
                <p:tags r:id="rId4"/>
              </p:custDataLst>
            </p:nvPr>
          </p:nvSpPr>
          <p:spPr>
            <a:xfrm>
              <a:off x="6584356" y="4780863"/>
              <a:ext cx="814722" cy="6722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grpSp>
      <p:sp>
        <p:nvSpPr>
          <p:cNvPr id="9" name="左大括号 8">
            <a:extLst>
              <a:ext uri="{FF2B5EF4-FFF2-40B4-BE49-F238E27FC236}">
                <a16:creationId xmlns:a16="http://schemas.microsoft.com/office/drawing/2014/main" id="{69367668-5DB6-C970-ED15-923750694550}"/>
              </a:ext>
            </a:extLst>
          </p:cNvPr>
          <p:cNvSpPr/>
          <p:nvPr/>
        </p:nvSpPr>
        <p:spPr>
          <a:xfrm rot="5400000">
            <a:off x="5692644" y="2644920"/>
            <a:ext cx="672253" cy="4117688"/>
          </a:xfrm>
          <a:prstGeom prst="leftBrace">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3E9BA114-9291-D6DB-86EF-E40AFA5B59B1}"/>
              </a:ext>
            </a:extLst>
          </p:cNvPr>
          <p:cNvSpPr/>
          <p:nvPr/>
        </p:nvSpPr>
        <p:spPr>
          <a:xfrm>
            <a:off x="2069465" y="2072005"/>
            <a:ext cx="598170" cy="348234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70">
                <a:solidFill>
                  <a:schemeClr val="bg1"/>
                </a:solidFill>
                <a:latin typeface="微软雅黑" panose="020B0503020204020204" pitchFamily="34" charset="-122"/>
                <a:ea typeface="微软雅黑" panose="020B0503020204020204" pitchFamily="34" charset="-122"/>
              </a:rPr>
              <a:t>市大数据发展局统筹</a:t>
            </a:r>
          </a:p>
        </p:txBody>
      </p:sp>
      <p:sp>
        <p:nvSpPr>
          <p:cNvPr id="11" name="矩形 10">
            <a:extLst>
              <a:ext uri="{FF2B5EF4-FFF2-40B4-BE49-F238E27FC236}">
                <a16:creationId xmlns:a16="http://schemas.microsoft.com/office/drawing/2014/main" id="{57FA4FC4-0E59-2F89-4746-DEF0B17DB320}"/>
              </a:ext>
            </a:extLst>
          </p:cNvPr>
          <p:cNvSpPr/>
          <p:nvPr>
            <p:custDataLst>
              <p:tags r:id="rId1"/>
            </p:custDataLst>
          </p:nvPr>
        </p:nvSpPr>
        <p:spPr>
          <a:xfrm>
            <a:off x="8912860" y="2071370"/>
            <a:ext cx="598170" cy="348297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750" spc="300" dirty="0">
                <a:solidFill>
                  <a:schemeClr val="bg1"/>
                </a:solidFill>
                <a:latin typeface="微软雅黑" panose="020B0503020204020204" pitchFamily="34" charset="-122"/>
                <a:ea typeface="微软雅黑" panose="020B0503020204020204" pitchFamily="34" charset="-122"/>
                <a:sym typeface="+mn-ea"/>
              </a:rPr>
              <a:t>应用全周期管理系统线上申报</a:t>
            </a:r>
          </a:p>
        </p:txBody>
      </p:sp>
    </p:spTree>
    <p:extLst>
      <p:ext uri="{BB962C8B-B14F-4D97-AF65-F5344CB8AC3E}">
        <p14:creationId xmlns:p14="http://schemas.microsoft.com/office/powerpoint/2010/main" val="30285242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7.2  </a:t>
            </a:r>
            <a:r>
              <a:rPr kumimoji="1" lang="zh-CN" altLang="en-US" dirty="0"/>
              <a:t>区县</a:t>
            </a:r>
            <a:r>
              <a:rPr kumimoji="1" lang="en-US" altLang="zh-CN" dirty="0"/>
              <a:t>500</a:t>
            </a:r>
            <a:r>
              <a:rPr kumimoji="1" lang="zh-CN" altLang="en-US" dirty="0"/>
              <a:t>万元（含）以上的应用开发管理</a:t>
            </a:r>
          </a:p>
        </p:txBody>
      </p:sp>
      <p:grpSp>
        <p:nvGrpSpPr>
          <p:cNvPr id="13" name="组合 12">
            <a:extLst>
              <a:ext uri="{FF2B5EF4-FFF2-40B4-BE49-F238E27FC236}">
                <a16:creationId xmlns:a16="http://schemas.microsoft.com/office/drawing/2014/main" id="{63BC7F68-EF5C-F774-0677-5A45B5E8BF72}"/>
              </a:ext>
            </a:extLst>
          </p:cNvPr>
          <p:cNvGrpSpPr/>
          <p:nvPr/>
        </p:nvGrpSpPr>
        <p:grpSpPr>
          <a:xfrm>
            <a:off x="1177290" y="1829988"/>
            <a:ext cx="5044017" cy="3685199"/>
            <a:chOff x="1162050" y="1174668"/>
            <a:chExt cx="5044017" cy="3685199"/>
          </a:xfrm>
        </p:grpSpPr>
        <p:sp>
          <p:nvSpPr>
            <p:cNvPr id="14" name="平行四边形 13">
              <a:extLst>
                <a:ext uri="{FF2B5EF4-FFF2-40B4-BE49-F238E27FC236}">
                  <a16:creationId xmlns:a16="http://schemas.microsoft.com/office/drawing/2014/main" id="{5B48058F-08E4-A9B6-CD21-AF13AC63BB55}"/>
                </a:ext>
              </a:extLst>
            </p:cNvPr>
            <p:cNvSpPr/>
            <p:nvPr/>
          </p:nvSpPr>
          <p:spPr>
            <a:xfrm>
              <a:off x="1225296" y="1970718"/>
              <a:ext cx="4980771" cy="2889149"/>
            </a:xfrm>
            <a:prstGeom prst="parallelogram">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29888122-9665-66FB-4FC3-24F91ACA1545}"/>
                </a:ext>
              </a:extLst>
            </p:cNvPr>
            <p:cNvSpPr txBox="1"/>
            <p:nvPr>
              <p:custDataLst>
                <p:tags r:id="rId2"/>
              </p:custDataLst>
            </p:nvPr>
          </p:nvSpPr>
          <p:spPr>
            <a:xfrm>
              <a:off x="1592688" y="2736976"/>
              <a:ext cx="4039870" cy="1692275"/>
            </a:xfrm>
            <a:prstGeom prst="rect">
              <a:avLst/>
            </a:prstGeom>
            <a:ln>
              <a:noFill/>
            </a:ln>
          </p:spPr>
          <p:txBody>
            <a:bodyPr wrap="square">
              <a:noAutofit/>
            </a:bodyPr>
            <a:lstStyle/>
            <a:p>
              <a:pPr algn="l">
                <a:lnSpc>
                  <a:spcPts val="4000"/>
                </a:lnSpc>
              </a:pPr>
              <a:r>
                <a:rPr lang="zh-CN" altLang="en-US" sz="2000" b="1" dirty="0">
                  <a:solidFill>
                    <a:schemeClr val="bg1"/>
                  </a:solidFill>
                  <a:latin typeface="Arial" panose="020B0604020202020204" pitchFamily="34" charset="0"/>
                  <a:ea typeface="微软雅黑" panose="020B0503020204020204" pitchFamily="34" charset="-122"/>
                  <a:sym typeface="+mn-ea"/>
                </a:rPr>
                <a:t>提交</a:t>
              </a:r>
              <a:r>
                <a:rPr lang="en-US" altLang="zh-CN" sz="2000" b="1" dirty="0">
                  <a:solidFill>
                    <a:schemeClr val="bg1"/>
                  </a:solidFill>
                  <a:latin typeface="Arial" panose="020B0604020202020204" pitchFamily="34" charset="0"/>
                  <a:ea typeface="微软雅黑" panose="020B0503020204020204" pitchFamily="34" charset="-122"/>
                  <a:sym typeface="+mn-ea"/>
                </a:rPr>
                <a:t>:</a:t>
              </a:r>
              <a:r>
                <a:rPr lang="zh-CN" altLang="en-US" sz="2000" b="1" dirty="0">
                  <a:solidFill>
                    <a:schemeClr val="bg1"/>
                  </a:solidFill>
                  <a:latin typeface="Arial" panose="020B0604020202020204" pitchFamily="34" charset="0"/>
                  <a:ea typeface="微软雅黑" panose="020B0503020204020204" pitchFamily="34" charset="-122"/>
                  <a:sym typeface="+mn-ea"/>
                </a:rPr>
                <a:t>①正式书面函件</a:t>
              </a:r>
            </a:p>
            <a:p>
              <a:pPr algn="l">
                <a:lnSpc>
                  <a:spcPts val="4000"/>
                </a:lnSpc>
              </a:pPr>
              <a:r>
                <a:rPr lang="zh-CN" altLang="en-US" sz="2000" b="1" dirty="0">
                  <a:solidFill>
                    <a:schemeClr val="bg1"/>
                  </a:solidFill>
                  <a:latin typeface="Arial" panose="020B0604020202020204" pitchFamily="34" charset="0"/>
                  <a:ea typeface="微软雅黑" panose="020B0503020204020204" pitchFamily="34" charset="-122"/>
                  <a:sym typeface="+mn-ea"/>
                </a:rPr>
                <a:t>②应用开发资金需求计划表</a:t>
              </a:r>
            </a:p>
            <a:p>
              <a:pPr algn="l">
                <a:lnSpc>
                  <a:spcPts val="4000"/>
                </a:lnSpc>
              </a:pPr>
              <a:r>
                <a:rPr lang="zh-CN" altLang="en-US" sz="2000" b="1" dirty="0">
                  <a:solidFill>
                    <a:schemeClr val="bg1"/>
                  </a:solidFill>
                  <a:latin typeface="Arial" panose="020B0604020202020204" pitchFamily="34" charset="0"/>
                  <a:ea typeface="微软雅黑" panose="020B0503020204020204" pitchFamily="34" charset="-122"/>
                  <a:sym typeface="+mn-ea"/>
                </a:rPr>
                <a:t>③资金计划报告及相关佐证材料</a:t>
              </a:r>
            </a:p>
          </p:txBody>
        </p:sp>
        <p:sp>
          <p:nvSpPr>
            <p:cNvPr id="16" name="平行四边形 15">
              <a:extLst>
                <a:ext uri="{FF2B5EF4-FFF2-40B4-BE49-F238E27FC236}">
                  <a16:creationId xmlns:a16="http://schemas.microsoft.com/office/drawing/2014/main" id="{181D754A-E200-50CB-09B6-C5FD44037B76}"/>
                </a:ext>
              </a:extLst>
            </p:cNvPr>
            <p:cNvSpPr/>
            <p:nvPr/>
          </p:nvSpPr>
          <p:spPr>
            <a:xfrm>
              <a:off x="1162050" y="1723030"/>
              <a:ext cx="4716339" cy="2736115"/>
            </a:xfrm>
            <a:prstGeom prst="parallelogram">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6">
              <a:extLst>
                <a:ext uri="{FF2B5EF4-FFF2-40B4-BE49-F238E27FC236}">
                  <a16:creationId xmlns:a16="http://schemas.microsoft.com/office/drawing/2014/main" id="{5BF9A15D-8661-D506-45FA-639B9A8CD060}"/>
                </a:ext>
              </a:extLst>
            </p:cNvPr>
            <p:cNvSpPr txBox="1"/>
            <p:nvPr/>
          </p:nvSpPr>
          <p:spPr>
            <a:xfrm>
              <a:off x="2152087" y="1174668"/>
              <a:ext cx="1762867" cy="1732916"/>
            </a:xfrm>
            <a:prstGeom prst="rect">
              <a:avLst/>
            </a:prstGeom>
            <a:noFill/>
          </p:spPr>
          <p:txBody>
            <a:bodyPr wrap="square" lIns="91440" tIns="45720" rIns="91440" bIns="45720" rtlCol="0">
              <a:spAutoFit/>
            </a:bodyPr>
            <a:lstStyle/>
            <a:p>
              <a:r>
                <a:rPr lang="en-US" altLang="zh-CN" sz="10665" dirty="0">
                  <a:solidFill>
                    <a:schemeClr val="bg1">
                      <a:lumMod val="85000"/>
                    </a:schemeClr>
                  </a:solidFill>
                  <a:latin typeface="Impact" panose="020B0806030902050204" pitchFamily="34" charset="0"/>
                </a:rPr>
                <a:t>01</a:t>
              </a:r>
              <a:endParaRPr lang="zh-CN" altLang="en-US" sz="10665" dirty="0">
                <a:solidFill>
                  <a:schemeClr val="bg1">
                    <a:lumMod val="85000"/>
                  </a:schemeClr>
                </a:solidFill>
                <a:latin typeface="Impact" panose="020B0806030902050204" pitchFamily="34" charset="0"/>
              </a:endParaRPr>
            </a:p>
          </p:txBody>
        </p:sp>
      </p:grpSp>
      <p:grpSp>
        <p:nvGrpSpPr>
          <p:cNvPr id="18" name="组合 17">
            <a:extLst>
              <a:ext uri="{FF2B5EF4-FFF2-40B4-BE49-F238E27FC236}">
                <a16:creationId xmlns:a16="http://schemas.microsoft.com/office/drawing/2014/main" id="{CB50E776-C7D1-3215-28C5-29302250B158}"/>
              </a:ext>
            </a:extLst>
          </p:cNvPr>
          <p:cNvGrpSpPr/>
          <p:nvPr/>
        </p:nvGrpSpPr>
        <p:grpSpPr>
          <a:xfrm>
            <a:off x="6130290" y="1829988"/>
            <a:ext cx="5044017" cy="3685199"/>
            <a:chOff x="1162050" y="1174668"/>
            <a:chExt cx="5044017" cy="3685199"/>
          </a:xfrm>
        </p:grpSpPr>
        <p:sp>
          <p:nvSpPr>
            <p:cNvPr id="19" name="平行四边形 18">
              <a:extLst>
                <a:ext uri="{FF2B5EF4-FFF2-40B4-BE49-F238E27FC236}">
                  <a16:creationId xmlns:a16="http://schemas.microsoft.com/office/drawing/2014/main" id="{A8DDEA1E-6D96-6D38-1F81-CDD41A002DF7}"/>
                </a:ext>
              </a:extLst>
            </p:cNvPr>
            <p:cNvSpPr/>
            <p:nvPr/>
          </p:nvSpPr>
          <p:spPr>
            <a:xfrm>
              <a:off x="1225296" y="1970718"/>
              <a:ext cx="4980771" cy="2889149"/>
            </a:xfrm>
            <a:prstGeom prst="parallelogram">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718DC6F2-E40F-8018-17A7-64D5DAD5CB78}"/>
                </a:ext>
              </a:extLst>
            </p:cNvPr>
            <p:cNvSpPr txBox="1"/>
            <p:nvPr>
              <p:custDataLst>
                <p:tags r:id="rId1"/>
              </p:custDataLst>
            </p:nvPr>
          </p:nvSpPr>
          <p:spPr>
            <a:xfrm>
              <a:off x="1616981" y="2769006"/>
              <a:ext cx="3859545" cy="1692158"/>
            </a:xfrm>
            <a:prstGeom prst="rect">
              <a:avLst/>
            </a:prstGeom>
            <a:ln>
              <a:noFill/>
            </a:ln>
          </p:spPr>
          <p:txBody>
            <a:bodyPr wrap="square">
              <a:noAutofit/>
            </a:bodyPr>
            <a:lstStyle/>
            <a:p>
              <a:pPr algn="l">
                <a:lnSpc>
                  <a:spcPts val="4000"/>
                </a:lnSpc>
              </a:pPr>
              <a:r>
                <a:rPr lang="zh-CN" altLang="en-US" sz="2000" b="1" dirty="0">
                  <a:solidFill>
                    <a:schemeClr val="bg1"/>
                  </a:solidFill>
                  <a:latin typeface="Arial" panose="020B0604020202020204" pitchFamily="34" charset="0"/>
                  <a:ea typeface="微软雅黑" panose="020B0503020204020204" pitchFamily="34" charset="-122"/>
                  <a:sym typeface="+mn-ea"/>
                </a:rPr>
                <a:t>做好与“一体化平台”衔接</a:t>
              </a:r>
            </a:p>
            <a:p>
              <a:pPr algn="l">
                <a:lnSpc>
                  <a:spcPts val="4000"/>
                </a:lnSpc>
              </a:pPr>
              <a:r>
                <a:rPr lang="zh-CN" altLang="en-US" sz="2000" b="1" dirty="0">
                  <a:solidFill>
                    <a:schemeClr val="bg1"/>
                  </a:solidFill>
                  <a:latin typeface="Arial" panose="020B0604020202020204" pitchFamily="34" charset="0"/>
                  <a:ea typeface="微软雅黑" panose="020B0503020204020204" pitchFamily="34" charset="-122"/>
                  <a:sym typeface="+mn-ea"/>
                </a:rPr>
                <a:t>不得擅自开发和运维独立于“一体化平台”之外的非涉密应用</a:t>
              </a:r>
            </a:p>
          </p:txBody>
        </p:sp>
        <p:sp>
          <p:nvSpPr>
            <p:cNvPr id="21" name="平行四边形 20">
              <a:extLst>
                <a:ext uri="{FF2B5EF4-FFF2-40B4-BE49-F238E27FC236}">
                  <a16:creationId xmlns:a16="http://schemas.microsoft.com/office/drawing/2014/main" id="{9C0C8794-5000-B0F0-762E-FD73E79CACF5}"/>
                </a:ext>
              </a:extLst>
            </p:cNvPr>
            <p:cNvSpPr/>
            <p:nvPr/>
          </p:nvSpPr>
          <p:spPr>
            <a:xfrm>
              <a:off x="1162050" y="1723030"/>
              <a:ext cx="4716339" cy="2736115"/>
            </a:xfrm>
            <a:prstGeom prst="parallelogram">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6">
              <a:extLst>
                <a:ext uri="{FF2B5EF4-FFF2-40B4-BE49-F238E27FC236}">
                  <a16:creationId xmlns:a16="http://schemas.microsoft.com/office/drawing/2014/main" id="{89B19A90-E9A5-4C70-1127-E8B14F5EC170}"/>
                </a:ext>
              </a:extLst>
            </p:cNvPr>
            <p:cNvSpPr txBox="1"/>
            <p:nvPr/>
          </p:nvSpPr>
          <p:spPr>
            <a:xfrm>
              <a:off x="2152087" y="1174668"/>
              <a:ext cx="1762867" cy="1732916"/>
            </a:xfrm>
            <a:prstGeom prst="rect">
              <a:avLst/>
            </a:prstGeom>
            <a:noFill/>
          </p:spPr>
          <p:txBody>
            <a:bodyPr wrap="square" lIns="91440" tIns="45720" rIns="91440" bIns="45720" rtlCol="0">
              <a:spAutoFit/>
            </a:bodyPr>
            <a:lstStyle/>
            <a:p>
              <a:r>
                <a:rPr lang="en-US" altLang="zh-CN" sz="10665" dirty="0">
                  <a:solidFill>
                    <a:schemeClr val="bg1">
                      <a:lumMod val="85000"/>
                    </a:schemeClr>
                  </a:solidFill>
                  <a:latin typeface="Impact" panose="020B0806030902050204" pitchFamily="34" charset="0"/>
                </a:rPr>
                <a:t>02</a:t>
              </a:r>
              <a:endParaRPr lang="zh-CN" altLang="en-US" sz="10665" dirty="0">
                <a:solidFill>
                  <a:schemeClr val="bg1">
                    <a:lumMod val="85000"/>
                  </a:schemeClr>
                </a:solidFill>
                <a:latin typeface="Impact" panose="020B0806030902050204" pitchFamily="34" charset="0"/>
              </a:endParaRPr>
            </a:p>
          </p:txBody>
        </p:sp>
      </p:grpSp>
    </p:spTree>
    <p:extLst>
      <p:ext uri="{BB962C8B-B14F-4D97-AF65-F5344CB8AC3E}">
        <p14:creationId xmlns:p14="http://schemas.microsoft.com/office/powerpoint/2010/main" val="15714193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7.3  </a:t>
            </a:r>
            <a:r>
              <a:rPr kumimoji="1" lang="zh-CN" altLang="en-US" dirty="0"/>
              <a:t>区县</a:t>
            </a:r>
            <a:r>
              <a:rPr kumimoji="1" lang="en-US" altLang="zh-CN" dirty="0"/>
              <a:t>500</a:t>
            </a:r>
            <a:r>
              <a:rPr kumimoji="1" lang="zh-CN" altLang="en-US" dirty="0"/>
              <a:t>万元以下的应用开发管理</a:t>
            </a:r>
          </a:p>
        </p:txBody>
      </p:sp>
      <p:grpSp>
        <p:nvGrpSpPr>
          <p:cNvPr id="3" name="组合 2">
            <a:extLst>
              <a:ext uri="{FF2B5EF4-FFF2-40B4-BE49-F238E27FC236}">
                <a16:creationId xmlns:a16="http://schemas.microsoft.com/office/drawing/2014/main" id="{CE5DA20E-F183-CABC-B953-EC6D6CBE2C5B}"/>
              </a:ext>
            </a:extLst>
          </p:cNvPr>
          <p:cNvGrpSpPr/>
          <p:nvPr/>
        </p:nvGrpSpPr>
        <p:grpSpPr>
          <a:xfrm>
            <a:off x="863955" y="2004417"/>
            <a:ext cx="3409295" cy="3577433"/>
            <a:chOff x="1063244" y="1248567"/>
            <a:chExt cx="3409295" cy="3577433"/>
          </a:xfrm>
        </p:grpSpPr>
        <p:sp>
          <p:nvSpPr>
            <p:cNvPr id="4" name="矩形: 对角圆角 3">
              <a:extLst>
                <a:ext uri="{FF2B5EF4-FFF2-40B4-BE49-F238E27FC236}">
                  <a16:creationId xmlns:a16="http://schemas.microsoft.com/office/drawing/2014/main" id="{FB5E4DF2-79FB-D696-A61E-CD2E01C921AA}"/>
                </a:ext>
              </a:extLst>
            </p:cNvPr>
            <p:cNvSpPr/>
            <p:nvPr/>
          </p:nvSpPr>
          <p:spPr>
            <a:xfrm>
              <a:off x="1063244" y="1624332"/>
              <a:ext cx="3292855" cy="3201668"/>
            </a:xfrm>
            <a:prstGeom prst="round2DiagRect">
              <a:avLst>
                <a:gd name="adj1" fmla="val 37294"/>
                <a:gd name="adj2" fmla="val 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B028455-1731-8061-C5C4-BF3D581D9D26}"/>
                </a:ext>
              </a:extLst>
            </p:cNvPr>
            <p:cNvSpPr txBox="1"/>
            <p:nvPr/>
          </p:nvSpPr>
          <p:spPr>
            <a:xfrm>
              <a:off x="1179684" y="2899703"/>
              <a:ext cx="3292855" cy="1630045"/>
            </a:xfrm>
            <a:prstGeom prst="rect">
              <a:avLst/>
            </a:prstGeom>
            <a:noFill/>
          </p:spPr>
          <p:txBody>
            <a:bodyPr wrap="square">
              <a:spAutoFit/>
            </a:bodyPr>
            <a:lstStyle/>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各区县人民政府参照《重庆市政务数字化应用管理暂行办法》和指南，结合实际组织制定管理及评审流程</a:t>
              </a:r>
            </a:p>
          </p:txBody>
        </p:sp>
        <p:sp>
          <p:nvSpPr>
            <p:cNvPr id="6" name="文本框 6">
              <a:extLst>
                <a:ext uri="{FF2B5EF4-FFF2-40B4-BE49-F238E27FC236}">
                  <a16:creationId xmlns:a16="http://schemas.microsoft.com/office/drawing/2014/main" id="{593DAB33-F923-9E1F-164E-38A5D03DD237}"/>
                </a:ext>
              </a:extLst>
            </p:cNvPr>
            <p:cNvSpPr txBox="1"/>
            <p:nvPr/>
          </p:nvSpPr>
          <p:spPr>
            <a:xfrm>
              <a:off x="1063245" y="1248567"/>
              <a:ext cx="1762867" cy="1732916"/>
            </a:xfrm>
            <a:prstGeom prst="rect">
              <a:avLst/>
            </a:prstGeom>
            <a:noFill/>
          </p:spPr>
          <p:txBody>
            <a:bodyPr wrap="square" lIns="91440" tIns="45720" rIns="91440" bIns="45720" rtlCol="0">
              <a:spAutoFit/>
            </a:bodyPr>
            <a:lstStyle/>
            <a:p>
              <a:r>
                <a:rPr lang="en-US" altLang="zh-CN" sz="10665" dirty="0">
                  <a:solidFill>
                    <a:schemeClr val="bg1">
                      <a:lumMod val="95000"/>
                    </a:schemeClr>
                  </a:solidFill>
                  <a:latin typeface="Impact" panose="020B0806030902050204" pitchFamily="34" charset="0"/>
                </a:rPr>
                <a:t>01</a:t>
              </a:r>
              <a:endParaRPr lang="zh-CN" altLang="en-US" sz="10665" dirty="0">
                <a:solidFill>
                  <a:schemeClr val="bg1">
                    <a:lumMod val="95000"/>
                  </a:schemeClr>
                </a:solidFill>
                <a:latin typeface="Impact" panose="020B0806030902050204" pitchFamily="34" charset="0"/>
              </a:endParaRPr>
            </a:p>
          </p:txBody>
        </p:sp>
        <p:sp>
          <p:nvSpPr>
            <p:cNvPr id="7" name="矩形: 对角圆角 6">
              <a:extLst>
                <a:ext uri="{FF2B5EF4-FFF2-40B4-BE49-F238E27FC236}">
                  <a16:creationId xmlns:a16="http://schemas.microsoft.com/office/drawing/2014/main" id="{809BE52C-5E75-3870-3698-F317CA923FC9}"/>
                </a:ext>
              </a:extLst>
            </p:cNvPr>
            <p:cNvSpPr/>
            <p:nvPr/>
          </p:nvSpPr>
          <p:spPr>
            <a:xfrm>
              <a:off x="2603500" y="2209800"/>
              <a:ext cx="584200" cy="144466"/>
            </a:xfrm>
            <a:prstGeom prst="round2Diag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CD7231DC-3093-68CF-A29D-C8AEC3F98ADC}"/>
              </a:ext>
            </a:extLst>
          </p:cNvPr>
          <p:cNvGrpSpPr/>
          <p:nvPr/>
        </p:nvGrpSpPr>
        <p:grpSpPr>
          <a:xfrm>
            <a:off x="4458055" y="2004417"/>
            <a:ext cx="3292855" cy="3577433"/>
            <a:chOff x="1063244" y="1248567"/>
            <a:chExt cx="3292855" cy="3577433"/>
          </a:xfrm>
        </p:grpSpPr>
        <p:sp>
          <p:nvSpPr>
            <p:cNvPr id="9" name="矩形: 对角圆角 8">
              <a:extLst>
                <a:ext uri="{FF2B5EF4-FFF2-40B4-BE49-F238E27FC236}">
                  <a16:creationId xmlns:a16="http://schemas.microsoft.com/office/drawing/2014/main" id="{049A3E51-97D5-A95B-5C6D-403F2BE20B5E}"/>
                </a:ext>
              </a:extLst>
            </p:cNvPr>
            <p:cNvSpPr/>
            <p:nvPr/>
          </p:nvSpPr>
          <p:spPr>
            <a:xfrm>
              <a:off x="1063244" y="1624332"/>
              <a:ext cx="3292855" cy="3201668"/>
            </a:xfrm>
            <a:prstGeom prst="round2DiagRect">
              <a:avLst>
                <a:gd name="adj1" fmla="val 37294"/>
                <a:gd name="adj2" fmla="val 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7D332FA7-0FBD-4B5F-8397-C51CE5E12DE5}"/>
                </a:ext>
              </a:extLst>
            </p:cNvPr>
            <p:cNvSpPr txBox="1"/>
            <p:nvPr/>
          </p:nvSpPr>
          <p:spPr>
            <a:xfrm>
              <a:off x="1491904" y="2899702"/>
              <a:ext cx="2668416" cy="1589987"/>
            </a:xfrm>
            <a:prstGeom prst="rect">
              <a:avLst/>
            </a:prstGeom>
            <a:noFill/>
          </p:spPr>
          <p:txBody>
            <a:bodyPr wrap="square">
              <a:spAutoFit/>
            </a:bodyPr>
            <a:lstStyle/>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符合</a:t>
              </a:r>
              <a:endParaRPr lang="en-US" altLang="zh-CN"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“一体化平台”</a:t>
              </a:r>
              <a:endParaRPr lang="en-US" altLang="zh-CN"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“三级治理中心”</a:t>
              </a:r>
              <a:endParaRPr lang="en-US" altLang="zh-CN"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部署要求</a:t>
              </a:r>
            </a:p>
          </p:txBody>
        </p:sp>
        <p:sp>
          <p:nvSpPr>
            <p:cNvPr id="11" name="文本框 6">
              <a:extLst>
                <a:ext uri="{FF2B5EF4-FFF2-40B4-BE49-F238E27FC236}">
                  <a16:creationId xmlns:a16="http://schemas.microsoft.com/office/drawing/2014/main" id="{F625AA72-2765-A440-8752-FB816A00E1FF}"/>
                </a:ext>
              </a:extLst>
            </p:cNvPr>
            <p:cNvSpPr txBox="1"/>
            <p:nvPr/>
          </p:nvSpPr>
          <p:spPr>
            <a:xfrm>
              <a:off x="1063245" y="1248567"/>
              <a:ext cx="1762867" cy="1732916"/>
            </a:xfrm>
            <a:prstGeom prst="rect">
              <a:avLst/>
            </a:prstGeom>
            <a:noFill/>
          </p:spPr>
          <p:txBody>
            <a:bodyPr wrap="square" lIns="91440" tIns="45720" rIns="91440" bIns="45720" rtlCol="0">
              <a:spAutoFit/>
            </a:bodyPr>
            <a:lstStyle/>
            <a:p>
              <a:r>
                <a:rPr lang="en-US" altLang="zh-CN" sz="10665" dirty="0">
                  <a:solidFill>
                    <a:schemeClr val="bg1">
                      <a:lumMod val="95000"/>
                    </a:schemeClr>
                  </a:solidFill>
                  <a:latin typeface="Impact" panose="020B0806030902050204" pitchFamily="34" charset="0"/>
                </a:rPr>
                <a:t>02</a:t>
              </a:r>
              <a:endParaRPr lang="zh-CN" altLang="en-US" sz="10665" dirty="0">
                <a:solidFill>
                  <a:schemeClr val="bg1">
                    <a:lumMod val="95000"/>
                  </a:schemeClr>
                </a:solidFill>
                <a:latin typeface="Impact" panose="020B0806030902050204" pitchFamily="34" charset="0"/>
              </a:endParaRPr>
            </a:p>
          </p:txBody>
        </p:sp>
        <p:sp>
          <p:nvSpPr>
            <p:cNvPr id="12" name="矩形: 对角圆角 11">
              <a:extLst>
                <a:ext uri="{FF2B5EF4-FFF2-40B4-BE49-F238E27FC236}">
                  <a16:creationId xmlns:a16="http://schemas.microsoft.com/office/drawing/2014/main" id="{4586C9DD-C93F-4F63-3FE4-85CA41EBB62E}"/>
                </a:ext>
              </a:extLst>
            </p:cNvPr>
            <p:cNvSpPr/>
            <p:nvPr/>
          </p:nvSpPr>
          <p:spPr>
            <a:xfrm>
              <a:off x="2603500" y="2209800"/>
              <a:ext cx="584200" cy="144466"/>
            </a:xfrm>
            <a:prstGeom prst="round2Diag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BEDBC167-3764-FE35-BED7-5C2D8F2CD70A}"/>
              </a:ext>
            </a:extLst>
          </p:cNvPr>
          <p:cNvGrpSpPr/>
          <p:nvPr/>
        </p:nvGrpSpPr>
        <p:grpSpPr>
          <a:xfrm>
            <a:off x="8090255" y="2004417"/>
            <a:ext cx="3292855" cy="3577433"/>
            <a:chOff x="1063244" y="1248567"/>
            <a:chExt cx="3292855" cy="3577433"/>
          </a:xfrm>
        </p:grpSpPr>
        <p:sp>
          <p:nvSpPr>
            <p:cNvPr id="14" name="矩形: 对角圆角 13">
              <a:extLst>
                <a:ext uri="{FF2B5EF4-FFF2-40B4-BE49-F238E27FC236}">
                  <a16:creationId xmlns:a16="http://schemas.microsoft.com/office/drawing/2014/main" id="{5C868025-1F73-A16D-6A70-5C6EC81DA64A}"/>
                </a:ext>
              </a:extLst>
            </p:cNvPr>
            <p:cNvSpPr/>
            <p:nvPr/>
          </p:nvSpPr>
          <p:spPr>
            <a:xfrm>
              <a:off x="1063244" y="1624332"/>
              <a:ext cx="3292855" cy="3201668"/>
            </a:xfrm>
            <a:prstGeom prst="round2DiagRect">
              <a:avLst>
                <a:gd name="adj1" fmla="val 37294"/>
                <a:gd name="adj2" fmla="val 0"/>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A2A837BE-3C2E-D9ED-B9B7-77D7E373A857}"/>
                </a:ext>
              </a:extLst>
            </p:cNvPr>
            <p:cNvSpPr txBox="1"/>
            <p:nvPr/>
          </p:nvSpPr>
          <p:spPr>
            <a:xfrm>
              <a:off x="1400429" y="2899567"/>
              <a:ext cx="2759710" cy="1245235"/>
            </a:xfrm>
            <a:prstGeom prst="rect">
              <a:avLst/>
            </a:prstGeom>
            <a:noFill/>
          </p:spPr>
          <p:txBody>
            <a:bodyPr wrap="square">
              <a:spAutoFit/>
            </a:bodyPr>
            <a:lstStyle/>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符合所属“六大应用系统”实施方案有关要求，原则上不得重复建设</a:t>
              </a:r>
            </a:p>
          </p:txBody>
        </p:sp>
        <p:sp>
          <p:nvSpPr>
            <p:cNvPr id="16" name="文本框 6">
              <a:extLst>
                <a:ext uri="{FF2B5EF4-FFF2-40B4-BE49-F238E27FC236}">
                  <a16:creationId xmlns:a16="http://schemas.microsoft.com/office/drawing/2014/main" id="{29355A64-31BE-30CB-81CB-E61D46863B3E}"/>
                </a:ext>
              </a:extLst>
            </p:cNvPr>
            <p:cNvSpPr txBox="1"/>
            <p:nvPr/>
          </p:nvSpPr>
          <p:spPr>
            <a:xfrm>
              <a:off x="1063245" y="1248567"/>
              <a:ext cx="1762867" cy="1732916"/>
            </a:xfrm>
            <a:prstGeom prst="rect">
              <a:avLst/>
            </a:prstGeom>
            <a:noFill/>
          </p:spPr>
          <p:txBody>
            <a:bodyPr wrap="square" lIns="91440" tIns="45720" rIns="91440" bIns="45720" rtlCol="0">
              <a:spAutoFit/>
            </a:bodyPr>
            <a:lstStyle/>
            <a:p>
              <a:r>
                <a:rPr lang="en-US" altLang="zh-CN" sz="10665" dirty="0">
                  <a:solidFill>
                    <a:schemeClr val="bg1">
                      <a:lumMod val="95000"/>
                    </a:schemeClr>
                  </a:solidFill>
                  <a:latin typeface="Impact" panose="020B0806030902050204" pitchFamily="34" charset="0"/>
                </a:rPr>
                <a:t>03</a:t>
              </a:r>
              <a:endParaRPr lang="zh-CN" altLang="en-US" sz="10665" dirty="0">
                <a:solidFill>
                  <a:schemeClr val="bg1">
                    <a:lumMod val="95000"/>
                  </a:schemeClr>
                </a:solidFill>
                <a:latin typeface="Impact" panose="020B0806030902050204" pitchFamily="34" charset="0"/>
              </a:endParaRPr>
            </a:p>
          </p:txBody>
        </p:sp>
        <p:sp>
          <p:nvSpPr>
            <p:cNvPr id="17" name="矩形: 对角圆角 16">
              <a:extLst>
                <a:ext uri="{FF2B5EF4-FFF2-40B4-BE49-F238E27FC236}">
                  <a16:creationId xmlns:a16="http://schemas.microsoft.com/office/drawing/2014/main" id="{C9DA9007-A7AD-8508-EDF4-C3087363BAD3}"/>
                </a:ext>
              </a:extLst>
            </p:cNvPr>
            <p:cNvSpPr/>
            <p:nvPr/>
          </p:nvSpPr>
          <p:spPr>
            <a:xfrm>
              <a:off x="2603500" y="2209800"/>
              <a:ext cx="584200" cy="144466"/>
            </a:xfrm>
            <a:prstGeom prst="round2Diag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6741174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7.4  </a:t>
            </a:r>
            <a:r>
              <a:rPr kumimoji="1" lang="zh-CN" altLang="en-US" dirty="0"/>
              <a:t>区县应用编目要求</a:t>
            </a:r>
          </a:p>
        </p:txBody>
      </p:sp>
      <p:grpSp>
        <p:nvGrpSpPr>
          <p:cNvPr id="3" name="组合 2">
            <a:extLst>
              <a:ext uri="{FF2B5EF4-FFF2-40B4-BE49-F238E27FC236}">
                <a16:creationId xmlns:a16="http://schemas.microsoft.com/office/drawing/2014/main" id="{AFE2E291-0912-B90C-D3FA-A6B623CC6408}"/>
              </a:ext>
            </a:extLst>
          </p:cNvPr>
          <p:cNvGrpSpPr/>
          <p:nvPr/>
        </p:nvGrpSpPr>
        <p:grpSpPr>
          <a:xfrm>
            <a:off x="7173449" y="1277320"/>
            <a:ext cx="4512501" cy="5195080"/>
            <a:chOff x="5580112" y="825560"/>
            <a:chExt cx="3384376" cy="3896310"/>
          </a:xfrm>
          <a:blipFill dpi="0" rotWithShape="1">
            <a:blip r:embed="rId2">
              <a:alphaModFix amt="70000"/>
              <a:extLst>
                <a:ext uri="{28A0092B-C50C-407E-A947-70E740481C1C}">
                  <a14:useLocalDpi xmlns:a14="http://schemas.microsoft.com/office/drawing/2010/main" val="0"/>
                </a:ext>
              </a:extLst>
            </a:blip>
            <a:srcRect/>
            <a:stretch>
              <a:fillRect/>
            </a:stretch>
          </a:blipFill>
        </p:grpSpPr>
        <p:sp>
          <p:nvSpPr>
            <p:cNvPr id="4" name="矩形: 圆角 3">
              <a:extLst>
                <a:ext uri="{FF2B5EF4-FFF2-40B4-BE49-F238E27FC236}">
                  <a16:creationId xmlns:a16="http://schemas.microsoft.com/office/drawing/2014/main" id="{30B286E3-449B-9BAD-A4C1-295B2426C538}"/>
                </a:ext>
              </a:extLst>
            </p:cNvPr>
            <p:cNvSpPr/>
            <p:nvPr/>
          </p:nvSpPr>
          <p:spPr>
            <a:xfrm>
              <a:off x="6696744" y="825560"/>
              <a:ext cx="2088232" cy="324036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圆角 4">
              <a:extLst>
                <a:ext uri="{FF2B5EF4-FFF2-40B4-BE49-F238E27FC236}">
                  <a16:creationId xmlns:a16="http://schemas.microsoft.com/office/drawing/2014/main" id="{B30C9CDC-6C89-D440-72DE-74DF1F66ECCF}"/>
                </a:ext>
              </a:extLst>
            </p:cNvPr>
            <p:cNvSpPr/>
            <p:nvPr/>
          </p:nvSpPr>
          <p:spPr>
            <a:xfrm>
              <a:off x="5796136" y="1707654"/>
              <a:ext cx="576064" cy="576064"/>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圆角 5">
              <a:extLst>
                <a:ext uri="{FF2B5EF4-FFF2-40B4-BE49-F238E27FC236}">
                  <a16:creationId xmlns:a16="http://schemas.microsoft.com/office/drawing/2014/main" id="{B2944D68-DE83-D009-DBD9-F72D783660E5}"/>
                </a:ext>
              </a:extLst>
            </p:cNvPr>
            <p:cNvSpPr/>
            <p:nvPr/>
          </p:nvSpPr>
          <p:spPr>
            <a:xfrm>
              <a:off x="6084168" y="2418735"/>
              <a:ext cx="526504" cy="513055"/>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矩形: 圆角 6">
              <a:extLst>
                <a:ext uri="{FF2B5EF4-FFF2-40B4-BE49-F238E27FC236}">
                  <a16:creationId xmlns:a16="http://schemas.microsoft.com/office/drawing/2014/main" id="{CC7704BC-6502-FC69-36A4-2EF463FDADE1}"/>
                </a:ext>
              </a:extLst>
            </p:cNvPr>
            <p:cNvSpPr/>
            <p:nvPr/>
          </p:nvSpPr>
          <p:spPr>
            <a:xfrm>
              <a:off x="5580112" y="3291830"/>
              <a:ext cx="736504" cy="77409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矩形: 圆角 7">
              <a:extLst>
                <a:ext uri="{FF2B5EF4-FFF2-40B4-BE49-F238E27FC236}">
                  <a16:creationId xmlns:a16="http://schemas.microsoft.com/office/drawing/2014/main" id="{F939A782-79C6-EEF6-E85B-E4B28AE7BE2D}"/>
                </a:ext>
              </a:extLst>
            </p:cNvPr>
            <p:cNvSpPr/>
            <p:nvPr/>
          </p:nvSpPr>
          <p:spPr>
            <a:xfrm>
              <a:off x="8388424" y="4145806"/>
              <a:ext cx="576064" cy="576064"/>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圆角 8">
              <a:extLst>
                <a:ext uri="{FF2B5EF4-FFF2-40B4-BE49-F238E27FC236}">
                  <a16:creationId xmlns:a16="http://schemas.microsoft.com/office/drawing/2014/main" id="{C417A0BD-B007-7568-A1F6-515277AFD1C0}"/>
                </a:ext>
              </a:extLst>
            </p:cNvPr>
            <p:cNvSpPr/>
            <p:nvPr/>
          </p:nvSpPr>
          <p:spPr>
            <a:xfrm>
              <a:off x="6574671" y="4137928"/>
              <a:ext cx="576064" cy="576064"/>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10" name="梯形 9">
            <a:extLst>
              <a:ext uri="{FF2B5EF4-FFF2-40B4-BE49-F238E27FC236}">
                <a16:creationId xmlns:a16="http://schemas.microsoft.com/office/drawing/2014/main" id="{A4411BD5-5820-5318-F1B1-DA769B5343E9}"/>
              </a:ext>
            </a:extLst>
          </p:cNvPr>
          <p:cNvSpPr/>
          <p:nvPr/>
        </p:nvSpPr>
        <p:spPr>
          <a:xfrm rot="5400000">
            <a:off x="66162" y="2298850"/>
            <a:ext cx="4332752" cy="3078724"/>
          </a:xfrm>
          <a:prstGeom prst="trapezoid">
            <a:avLst>
              <a:gd name="adj" fmla="val 1674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C92ECA28-83E1-1438-BF1A-C75B343E7010}"/>
              </a:ext>
            </a:extLst>
          </p:cNvPr>
          <p:cNvSpPr txBox="1"/>
          <p:nvPr/>
        </p:nvSpPr>
        <p:spPr>
          <a:xfrm>
            <a:off x="1005646" y="3491753"/>
            <a:ext cx="2668416" cy="1630045"/>
          </a:xfrm>
          <a:prstGeom prst="rect">
            <a:avLst/>
          </a:prstGeom>
          <a:noFill/>
        </p:spPr>
        <p:txBody>
          <a:bodyPr wrap="square">
            <a:spAutoFit/>
          </a:bodyPr>
          <a:lstStyle/>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区县全量应用须完成全口径编目</a:t>
            </a:r>
            <a:endParaRPr lang="en-US" altLang="zh-CN"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（包含应用、云网、数据、组件编目等）</a:t>
            </a:r>
          </a:p>
        </p:txBody>
      </p:sp>
      <p:sp>
        <p:nvSpPr>
          <p:cNvPr id="12" name="文本框 6">
            <a:extLst>
              <a:ext uri="{FF2B5EF4-FFF2-40B4-BE49-F238E27FC236}">
                <a16:creationId xmlns:a16="http://schemas.microsoft.com/office/drawing/2014/main" id="{49BF44C8-C93E-8580-6C93-7B5581E78321}"/>
              </a:ext>
            </a:extLst>
          </p:cNvPr>
          <p:cNvSpPr txBox="1"/>
          <p:nvPr/>
        </p:nvSpPr>
        <p:spPr>
          <a:xfrm>
            <a:off x="1422629" y="1997954"/>
            <a:ext cx="1762867" cy="1732916"/>
          </a:xfrm>
          <a:prstGeom prst="rect">
            <a:avLst/>
          </a:prstGeom>
          <a:noFill/>
        </p:spPr>
        <p:txBody>
          <a:bodyPr wrap="square" lIns="91440" tIns="45720" rIns="91440" bIns="45720" rtlCol="0">
            <a:spAutoFit/>
          </a:bodyPr>
          <a:lstStyle/>
          <a:p>
            <a:r>
              <a:rPr lang="en-US" altLang="zh-CN" sz="10665" dirty="0">
                <a:solidFill>
                  <a:schemeClr val="bg1">
                    <a:lumMod val="95000"/>
                  </a:schemeClr>
                </a:solidFill>
                <a:latin typeface="Impact" panose="020B0806030902050204" pitchFamily="34" charset="0"/>
              </a:rPr>
              <a:t>01</a:t>
            </a:r>
            <a:endParaRPr lang="zh-CN" altLang="en-US" sz="10665" dirty="0">
              <a:solidFill>
                <a:schemeClr val="bg1">
                  <a:lumMod val="95000"/>
                </a:schemeClr>
              </a:solidFill>
              <a:latin typeface="Impact" panose="020B0806030902050204" pitchFamily="34" charset="0"/>
            </a:endParaRPr>
          </a:p>
        </p:txBody>
      </p:sp>
      <p:sp>
        <p:nvSpPr>
          <p:cNvPr id="13" name="梯形 12">
            <a:extLst>
              <a:ext uri="{FF2B5EF4-FFF2-40B4-BE49-F238E27FC236}">
                <a16:creationId xmlns:a16="http://schemas.microsoft.com/office/drawing/2014/main" id="{85323DA5-48F8-1842-B942-DD4DEBF88442}"/>
              </a:ext>
            </a:extLst>
          </p:cNvPr>
          <p:cNvSpPr/>
          <p:nvPr/>
        </p:nvSpPr>
        <p:spPr>
          <a:xfrm rot="5400000">
            <a:off x="3539380" y="2358335"/>
            <a:ext cx="4332752" cy="3078724"/>
          </a:xfrm>
          <a:prstGeom prst="trapezoid">
            <a:avLst>
              <a:gd name="adj" fmla="val 1674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52F5DB07-E87B-B27E-7DCB-C480AFEA65F3}"/>
              </a:ext>
            </a:extLst>
          </p:cNvPr>
          <p:cNvSpPr txBox="1"/>
          <p:nvPr/>
        </p:nvSpPr>
        <p:spPr>
          <a:xfrm>
            <a:off x="4478864" y="3551238"/>
            <a:ext cx="2668416" cy="1974708"/>
          </a:xfrm>
          <a:prstGeom prst="rect">
            <a:avLst/>
          </a:prstGeom>
          <a:noFill/>
        </p:spPr>
        <p:txBody>
          <a:bodyPr wrap="square">
            <a:spAutoFit/>
          </a:bodyPr>
          <a:lstStyle/>
          <a:p>
            <a:pPr algn="ctr">
              <a:lnSpc>
                <a:spcPts val="3000"/>
              </a:lnSpc>
            </a:pP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鼓励区县全量应用的谋划、审批、开发、发布、运行、评价、注销等全生命周期管理，在</a:t>
            </a:r>
            <a:r>
              <a:rPr lang="en-US" altLang="zh-CN"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IRS</a:t>
            </a:r>
            <a:r>
              <a:rPr lang="zh-CN" altLang="en-US" sz="1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系统中进行动态维护</a:t>
            </a:r>
          </a:p>
        </p:txBody>
      </p:sp>
      <p:sp>
        <p:nvSpPr>
          <p:cNvPr id="15" name="文本框 6">
            <a:extLst>
              <a:ext uri="{FF2B5EF4-FFF2-40B4-BE49-F238E27FC236}">
                <a16:creationId xmlns:a16="http://schemas.microsoft.com/office/drawing/2014/main" id="{2F664DBD-32F2-B507-FDC4-8A967BC10B33}"/>
              </a:ext>
            </a:extLst>
          </p:cNvPr>
          <p:cNvSpPr txBox="1"/>
          <p:nvPr/>
        </p:nvSpPr>
        <p:spPr>
          <a:xfrm>
            <a:off x="4895847" y="2057439"/>
            <a:ext cx="1762867" cy="1732916"/>
          </a:xfrm>
          <a:prstGeom prst="rect">
            <a:avLst/>
          </a:prstGeom>
          <a:noFill/>
        </p:spPr>
        <p:txBody>
          <a:bodyPr wrap="square" lIns="91440" tIns="45720" rIns="91440" bIns="45720" rtlCol="0">
            <a:spAutoFit/>
          </a:bodyPr>
          <a:lstStyle/>
          <a:p>
            <a:r>
              <a:rPr lang="en-US" altLang="zh-CN" sz="10665" dirty="0">
                <a:solidFill>
                  <a:schemeClr val="bg1">
                    <a:lumMod val="95000"/>
                  </a:schemeClr>
                </a:solidFill>
                <a:latin typeface="Impact" panose="020B0806030902050204" pitchFamily="34" charset="0"/>
              </a:rPr>
              <a:t>02</a:t>
            </a:r>
            <a:endParaRPr lang="zh-CN" altLang="en-US" sz="10665" dirty="0">
              <a:solidFill>
                <a:schemeClr val="bg1">
                  <a:lumMod val="95000"/>
                </a:schemeClr>
              </a:solidFill>
              <a:latin typeface="Impact" panose="020B0806030902050204" pitchFamily="34" charset="0"/>
            </a:endParaRPr>
          </a:p>
        </p:txBody>
      </p:sp>
    </p:spTree>
    <p:extLst>
      <p:ext uri="{BB962C8B-B14F-4D97-AF65-F5344CB8AC3E}">
        <p14:creationId xmlns:p14="http://schemas.microsoft.com/office/powerpoint/2010/main" val="14209733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圆顶角 88">
            <a:extLst>
              <a:ext uri="{FF2B5EF4-FFF2-40B4-BE49-F238E27FC236}">
                <a16:creationId xmlns:a16="http://schemas.microsoft.com/office/drawing/2014/main" id="{54B340C1-7324-B3AF-3DB4-204B2087EF70}"/>
              </a:ext>
            </a:extLst>
          </p:cNvPr>
          <p:cNvSpPr/>
          <p:nvPr/>
        </p:nvSpPr>
        <p:spPr>
          <a:xfrm flipV="1">
            <a:off x="990600" y="1980096"/>
            <a:ext cx="10407650" cy="4209448"/>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7.5  </a:t>
            </a:r>
            <a:r>
              <a:rPr kumimoji="1" lang="zh-CN" altLang="en-US" dirty="0"/>
              <a:t>注意事项</a:t>
            </a:r>
          </a:p>
        </p:txBody>
      </p:sp>
      <p:grpSp>
        <p:nvGrpSpPr>
          <p:cNvPr id="25" name="组合 24">
            <a:extLst>
              <a:ext uri="{FF2B5EF4-FFF2-40B4-BE49-F238E27FC236}">
                <a16:creationId xmlns:a16="http://schemas.microsoft.com/office/drawing/2014/main" id="{B276AADB-2485-E2A4-C491-3881C8850338}"/>
              </a:ext>
            </a:extLst>
          </p:cNvPr>
          <p:cNvGrpSpPr/>
          <p:nvPr/>
        </p:nvGrpSpPr>
        <p:grpSpPr>
          <a:xfrm>
            <a:off x="838200" y="1758206"/>
            <a:ext cx="10643316" cy="4431338"/>
            <a:chOff x="759919" y="1829093"/>
            <a:chExt cx="11438715" cy="5162565"/>
          </a:xfrm>
          <a:noFill/>
        </p:grpSpPr>
        <p:sp>
          <p:nvSpPr>
            <p:cNvPr id="4" name="圆角矩形 9">
              <a:extLst>
                <a:ext uri="{FF2B5EF4-FFF2-40B4-BE49-F238E27FC236}">
                  <a16:creationId xmlns:a16="http://schemas.microsoft.com/office/drawing/2014/main" id="{65C38342-E340-DECD-709B-1431E18AE689}"/>
                </a:ext>
              </a:extLst>
            </p:cNvPr>
            <p:cNvSpPr/>
            <p:nvPr>
              <p:custDataLst>
                <p:tags r:id="rId1"/>
              </p:custDataLst>
            </p:nvPr>
          </p:nvSpPr>
          <p:spPr>
            <a:xfrm>
              <a:off x="759919" y="1829093"/>
              <a:ext cx="11301455" cy="5162565"/>
            </a:xfrm>
            <a:prstGeom prst="roundRect">
              <a:avLst>
                <a:gd name="adj" fmla="val 262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schemeClr val="tx1"/>
                </a:solidFill>
              </a:endParaRPr>
            </a:p>
          </p:txBody>
        </p:sp>
        <p:sp>
          <p:nvSpPr>
            <p:cNvPr id="7" name="文本框 6">
              <a:extLst>
                <a:ext uri="{FF2B5EF4-FFF2-40B4-BE49-F238E27FC236}">
                  <a16:creationId xmlns:a16="http://schemas.microsoft.com/office/drawing/2014/main" id="{7F495C17-026D-9C77-1330-9447E156C7C8}"/>
                </a:ext>
              </a:extLst>
            </p:cNvPr>
            <p:cNvSpPr txBox="1"/>
            <p:nvPr/>
          </p:nvSpPr>
          <p:spPr>
            <a:xfrm>
              <a:off x="1240572" y="2241662"/>
              <a:ext cx="9954260" cy="430276"/>
            </a:xfrm>
            <a:prstGeom prst="rect">
              <a:avLst/>
            </a:prstGeom>
            <a:grpFill/>
          </p:spPr>
          <p:txBody>
            <a:bodyPr wrap="square">
              <a:spAutoFit/>
            </a:bodyPr>
            <a:lstStyle/>
            <a:p>
              <a:pPr marL="285750" indent="-285750" algn="l">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mn-ea"/>
                </a:rPr>
                <a:t>区县</a:t>
              </a:r>
              <a:r>
                <a:rPr lang="zh-CN" dirty="0">
                  <a:latin typeface="微软雅黑" panose="020B0503020204020204" pitchFamily="34" charset="-122"/>
                  <a:ea typeface="微软雅黑" panose="020B0503020204020204" pitchFamily="34" charset="-122"/>
                  <a:cs typeface="方正仿宋_GBK" panose="02000000000000000000" charset="-122"/>
                  <a:sym typeface="+mn-ea"/>
                </a:rPr>
                <a:t>“三张清单”</a:t>
              </a:r>
              <a:r>
                <a:rPr lang="zh-CN" altLang="en-US" dirty="0">
                  <a:latin typeface="微软雅黑" panose="020B0503020204020204" pitchFamily="34" charset="-122"/>
                  <a:ea typeface="微软雅黑" panose="020B0503020204020204" pitchFamily="34" charset="-122"/>
                  <a:sym typeface="+mn-ea"/>
                </a:rPr>
                <a:t>由区县</a:t>
              </a:r>
              <a:r>
                <a:rPr lang="zh-CN" altLang="en-US" b="1" dirty="0">
                  <a:solidFill>
                    <a:srgbClr val="C00000"/>
                  </a:solidFill>
                  <a:latin typeface="微软雅黑" panose="020B0503020204020204" pitchFamily="34" charset="-122"/>
                  <a:ea typeface="微软雅黑" panose="020B0503020204020204" pitchFamily="34" charset="-122"/>
                  <a:sym typeface="+mn-ea"/>
                </a:rPr>
                <a:t>利用</a:t>
              </a:r>
              <a:r>
                <a:rPr lang="en-US" altLang="zh-CN" b="1" dirty="0">
                  <a:solidFill>
                    <a:srgbClr val="C00000"/>
                  </a:solidFill>
                  <a:latin typeface="微软雅黑" panose="020B0503020204020204" pitchFamily="34" charset="-122"/>
                  <a:ea typeface="微软雅黑" panose="020B0503020204020204" pitchFamily="34" charset="-122"/>
                  <a:sym typeface="+mn-ea"/>
                </a:rPr>
                <a:t>IRS</a:t>
              </a:r>
              <a:r>
                <a:rPr lang="zh-CN" altLang="en-US" b="1" dirty="0">
                  <a:solidFill>
                    <a:srgbClr val="C00000"/>
                  </a:solidFill>
                  <a:latin typeface="微软雅黑" panose="020B0503020204020204" pitchFamily="34" charset="-122"/>
                  <a:ea typeface="微软雅黑" panose="020B0503020204020204" pitchFamily="34" charset="-122"/>
                  <a:sym typeface="+mn-ea"/>
                </a:rPr>
                <a:t>系统自行查重</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B9E5739B-C0DC-4C7C-986A-0A061FEE56F1}"/>
                </a:ext>
              </a:extLst>
            </p:cNvPr>
            <p:cNvSpPr txBox="1"/>
            <p:nvPr>
              <p:custDataLst>
                <p:tags r:id="rId2"/>
              </p:custDataLst>
            </p:nvPr>
          </p:nvSpPr>
          <p:spPr>
            <a:xfrm>
              <a:off x="1240572" y="4555168"/>
              <a:ext cx="10958062" cy="430276"/>
            </a:xfrm>
            <a:prstGeom prst="rect">
              <a:avLst/>
            </a:prstGeom>
            <a:grpFill/>
          </p:spPr>
          <p:txBody>
            <a:bodyPr wrap="square">
              <a:spAutoFit/>
            </a:bodyPr>
            <a:lstStyle/>
            <a:p>
              <a:pPr marL="285750" indent="-285750" algn="l">
                <a:buFont typeface="Wingdings" panose="05000000000000000000" pitchFamily="2" charset="2"/>
                <a:buChar char="Ø"/>
              </a:pPr>
              <a:r>
                <a:rPr lang="zh-CN" dirty="0">
                  <a:latin typeface="微软雅黑" panose="020B0503020204020204" pitchFamily="34" charset="-122"/>
                  <a:ea typeface="微软雅黑" panose="020B0503020204020204" pitchFamily="34" charset="-122"/>
                  <a:cs typeface="方正仿宋_GBK" panose="02000000000000000000" charset="-122"/>
                  <a:sym typeface="+mn-ea"/>
                </a:rPr>
                <a:t>涉及跨部门，</a:t>
              </a:r>
              <a:r>
                <a:rPr lang="zh-CN" altLang="en-US" dirty="0">
                  <a:latin typeface="微软雅黑" panose="020B0503020204020204" pitchFamily="34" charset="-122"/>
                  <a:ea typeface="微软雅黑" panose="020B0503020204020204" pitchFamily="34" charset="-122"/>
                  <a:sym typeface="+mn-ea"/>
                </a:rPr>
                <a:t>区县</a:t>
              </a:r>
              <a:r>
                <a:rPr lang="zh-CN" dirty="0">
                  <a:latin typeface="微软雅黑" panose="020B0503020204020204" pitchFamily="34" charset="-122"/>
                  <a:ea typeface="微软雅黑" panose="020B0503020204020204" pitchFamily="34" charset="-122"/>
                  <a:cs typeface="方正仿宋_GBK" panose="02000000000000000000" charset="-122"/>
                  <a:sym typeface="+mn-ea"/>
                </a:rPr>
                <a:t>、街镇层级或者延伸到社区网格的应用需</a:t>
              </a:r>
              <a:r>
                <a:rPr 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明确与</a:t>
              </a:r>
              <a:r>
                <a:rPr lang="en-US"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a:t>
              </a:r>
              <a:r>
                <a:rPr 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三级治理中心</a:t>
              </a:r>
              <a:r>
                <a:rPr lang="en-US"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a:t>
              </a:r>
              <a:r>
                <a:rPr 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的对接方案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0906E419-D5B4-3746-3F77-D28AFA835BEB}"/>
                </a:ext>
              </a:extLst>
            </p:cNvPr>
            <p:cNvSpPr txBox="1"/>
            <p:nvPr>
              <p:custDataLst>
                <p:tags r:id="rId3"/>
              </p:custDataLst>
            </p:nvPr>
          </p:nvSpPr>
          <p:spPr>
            <a:xfrm>
              <a:off x="1240572" y="5456295"/>
              <a:ext cx="9954260" cy="430276"/>
            </a:xfrm>
            <a:prstGeom prst="rect">
              <a:avLst/>
            </a:prstGeom>
            <a:grpFill/>
          </p:spPr>
          <p:txBody>
            <a:bodyPr wrap="square">
              <a:spAutoFit/>
            </a:bodyPr>
            <a:lstStyle/>
            <a:p>
              <a:pPr marL="285750" indent="-285750" algn="l">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mn-ea"/>
                </a:rPr>
                <a:t>区县</a:t>
              </a:r>
              <a:r>
                <a:rPr lang="zh-CN" dirty="0">
                  <a:latin typeface="微软雅黑" panose="020B0503020204020204" pitchFamily="34" charset="-122"/>
                  <a:ea typeface="微软雅黑" panose="020B0503020204020204" pitchFamily="34" charset="-122"/>
                  <a:cs typeface="方正仿宋_GBK" panose="02000000000000000000" charset="-122"/>
                  <a:sym typeface="+mn-ea"/>
                </a:rPr>
                <a:t>级应用需明确</a:t>
              </a:r>
              <a:r>
                <a:rPr 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与</a:t>
              </a:r>
              <a:r>
                <a:rPr lang="en-US"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a:t>
              </a:r>
              <a:r>
                <a:rPr 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六大应用系统</a:t>
              </a:r>
              <a:r>
                <a:rPr lang="en-US"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a:t>
              </a:r>
              <a:r>
                <a:rPr 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归口关系</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50D92442-0D40-E147-12C6-8B73059ECAA0}"/>
                </a:ext>
              </a:extLst>
            </p:cNvPr>
            <p:cNvSpPr txBox="1"/>
            <p:nvPr>
              <p:custDataLst>
                <p:tags r:id="rId4"/>
              </p:custDataLst>
            </p:nvPr>
          </p:nvSpPr>
          <p:spPr>
            <a:xfrm>
              <a:off x="1276132" y="6261100"/>
              <a:ext cx="9954260" cy="430276"/>
            </a:xfrm>
            <a:prstGeom prst="rect">
              <a:avLst/>
            </a:prstGeom>
            <a:grpFill/>
          </p:spPr>
          <p:txBody>
            <a:bodyPr wrap="square">
              <a:spAutoFit/>
            </a:bodyPr>
            <a:lstStyle/>
            <a:p>
              <a:pPr marL="285750" indent="-285750" algn="l">
                <a:buFont typeface="Wingdings" panose="05000000000000000000" pitchFamily="2" charset="2"/>
                <a:buChar char="Ø"/>
              </a:pPr>
              <a:r>
                <a:rPr lang="zh-CN" dirty="0">
                  <a:latin typeface="微软雅黑" panose="020B0503020204020204" pitchFamily="34" charset="-122"/>
                  <a:ea typeface="微软雅黑" panose="020B0503020204020204" pitchFamily="34" charset="-122"/>
                  <a:cs typeface="方正仿宋_GBK" panose="02000000000000000000" charset="-122"/>
                  <a:sym typeface="+mn-ea"/>
                </a:rPr>
                <a:t>延伸至乡镇（街道）、村（社区）和网格员的应用需</a:t>
              </a:r>
              <a:r>
                <a:rPr 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明确接入基层治理中心方案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5565DB3C-825F-1B5F-F275-0F140B54ECD6}"/>
                </a:ext>
              </a:extLst>
            </p:cNvPr>
            <p:cNvSpPr txBox="1"/>
            <p:nvPr/>
          </p:nvSpPr>
          <p:spPr>
            <a:xfrm>
              <a:off x="1240572" y="3078215"/>
              <a:ext cx="9954260" cy="430276"/>
            </a:xfrm>
            <a:prstGeom prst="rect">
              <a:avLst/>
            </a:prstGeom>
            <a:grpFill/>
          </p:spPr>
          <p:txBody>
            <a:bodyPr wrap="square">
              <a:spAutoFit/>
            </a:bodyPr>
            <a:lstStyle/>
            <a:p>
              <a:pPr marL="285750" indent="-285750" algn="l">
                <a:buFont typeface="Wingdings" panose="05000000000000000000" pitchFamily="2" charset="2"/>
                <a:buChar char="Ø"/>
              </a:pPr>
              <a:r>
                <a:rPr lang="zh-CN" altLang="zh-CN" dirty="0">
                  <a:latin typeface="微软雅黑" panose="020B0503020204020204" pitchFamily="34" charset="-122"/>
                  <a:ea typeface="微软雅黑" panose="020B0503020204020204" pitchFamily="34" charset="-122"/>
                  <a:cs typeface="方正仿宋_GBK" panose="02000000000000000000" charset="-122"/>
                  <a:sym typeface="+mn-ea"/>
                </a:rPr>
                <a:t>基础设施类应用按照</a:t>
              </a:r>
              <a:r>
                <a:rPr lang="zh-CN" alt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统筹建设、三级贯通</a:t>
              </a:r>
              <a:r>
                <a:rPr lang="zh-CN" altLang="zh-CN" dirty="0">
                  <a:latin typeface="微软雅黑" panose="020B0503020204020204" pitchFamily="34" charset="-122"/>
                  <a:ea typeface="微软雅黑" panose="020B0503020204020204" pitchFamily="34" charset="-122"/>
                  <a:cs typeface="方正仿宋_GBK" panose="02000000000000000000" charset="-122"/>
                  <a:sym typeface="+mn-ea"/>
                </a:rPr>
                <a:t>的原则开发部署，各区</a:t>
              </a:r>
              <a:r>
                <a:rPr lang="zh-CN" altLang="en-US" dirty="0">
                  <a:latin typeface="微软雅黑" panose="020B0503020204020204" pitchFamily="34" charset="-122"/>
                  <a:ea typeface="微软雅黑" panose="020B0503020204020204" pitchFamily="34" charset="-122"/>
                  <a:sym typeface="+mn-ea"/>
                </a:rPr>
                <a:t>县</a:t>
              </a:r>
              <a:r>
                <a:rPr lang="zh-CN" altLang="zh-CN"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不得重复建设</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011DA98E-4710-B19A-A0E2-5220F77CCD9C}"/>
                </a:ext>
              </a:extLst>
            </p:cNvPr>
            <p:cNvSpPr txBox="1"/>
            <p:nvPr/>
          </p:nvSpPr>
          <p:spPr>
            <a:xfrm>
              <a:off x="1240572" y="3814235"/>
              <a:ext cx="9954260" cy="430276"/>
            </a:xfrm>
            <a:prstGeom prst="rect">
              <a:avLst/>
            </a:prstGeom>
            <a:grpFill/>
          </p:spPr>
          <p:txBody>
            <a:bodyPr wrap="square">
              <a:spAutoFit/>
            </a:bodyPr>
            <a:lstStyle/>
            <a:p>
              <a:pPr marL="285750" indent="-285750" algn="l">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方正仿宋_GBK" panose="02000000000000000000" charset="-122"/>
                  <a:sym typeface="+mn-ea"/>
                </a:rPr>
                <a:t>区</a:t>
              </a:r>
              <a:r>
                <a:rPr lang="zh-CN" altLang="en-US" dirty="0">
                  <a:latin typeface="微软雅黑" panose="020B0503020204020204" pitchFamily="34" charset="-122"/>
                  <a:ea typeface="微软雅黑" panose="020B0503020204020204" pitchFamily="34" charset="-122"/>
                  <a:sym typeface="+mn-ea"/>
                </a:rPr>
                <a:t>县</a:t>
              </a:r>
              <a:r>
                <a:rPr lang="zh-CN" altLang="en-US" dirty="0">
                  <a:latin typeface="微软雅黑" panose="020B0503020204020204" pitchFamily="34" charset="-122"/>
                  <a:ea typeface="微软雅黑" panose="020B0503020204020204" pitchFamily="34" charset="-122"/>
                  <a:cs typeface="方正仿宋_GBK" panose="02000000000000000000" charset="-122"/>
                  <a:sym typeface="+mn-ea"/>
                </a:rPr>
                <a:t>业务应用开发须</a:t>
              </a:r>
              <a:r>
                <a:rPr lang="zh-CN" altLang="en-US" b="1" dirty="0">
                  <a:solidFill>
                    <a:srgbClr val="C00000"/>
                  </a:solidFill>
                  <a:latin typeface="微软雅黑" panose="020B0503020204020204" pitchFamily="34" charset="-122"/>
                  <a:ea typeface="微软雅黑" panose="020B0503020204020204" pitchFamily="34" charset="-122"/>
                  <a:cs typeface="方正仿宋_GBK" panose="02000000000000000000" charset="-122"/>
                  <a:sym typeface="+mn-ea"/>
                </a:rPr>
                <a:t>做好与“一体化平台”衔接</a:t>
              </a:r>
            </a:p>
          </p:txBody>
        </p:sp>
      </p:grpSp>
    </p:spTree>
    <p:extLst>
      <p:ext uri="{BB962C8B-B14F-4D97-AF65-F5344CB8AC3E}">
        <p14:creationId xmlns:p14="http://schemas.microsoft.com/office/powerpoint/2010/main" val="40359395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A40E6-380F-9951-0691-FD8DDE588F08}"/>
              </a:ext>
            </a:extLst>
          </p:cNvPr>
          <p:cNvSpPr>
            <a:spLocks noGrp="1"/>
          </p:cNvSpPr>
          <p:nvPr>
            <p:ph type="title"/>
          </p:nvPr>
        </p:nvSpPr>
        <p:spPr/>
        <p:txBody>
          <a:bodyPr/>
          <a:lstStyle/>
          <a:p>
            <a:r>
              <a:rPr kumimoji="1" lang="en-US" altLang="zh-CN" dirty="0"/>
              <a:t>08 </a:t>
            </a:r>
            <a:r>
              <a:rPr kumimoji="1" lang="zh-CN" altLang="en-US" dirty="0"/>
              <a:t>特别说明</a:t>
            </a:r>
          </a:p>
        </p:txBody>
      </p:sp>
    </p:spTree>
    <p:extLst>
      <p:ext uri="{BB962C8B-B14F-4D97-AF65-F5344CB8AC3E}">
        <p14:creationId xmlns:p14="http://schemas.microsoft.com/office/powerpoint/2010/main" val="31110423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顶角 88">
            <a:extLst>
              <a:ext uri="{FF2B5EF4-FFF2-40B4-BE49-F238E27FC236}">
                <a16:creationId xmlns:a16="http://schemas.microsoft.com/office/drawing/2014/main" id="{C6498B8D-FD88-99CC-6A78-224B3066CFBB}"/>
              </a:ext>
            </a:extLst>
          </p:cNvPr>
          <p:cNvSpPr/>
          <p:nvPr/>
        </p:nvSpPr>
        <p:spPr>
          <a:xfrm flipV="1">
            <a:off x="3244752" y="2190968"/>
            <a:ext cx="7296248" cy="1587282"/>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070C0"/>
              </a:solidFill>
            </a:endParaRPr>
          </a:p>
        </p:txBody>
      </p:sp>
      <p:sp>
        <p:nvSpPr>
          <p:cNvPr id="12" name="矩形: 圆顶角 88">
            <a:extLst>
              <a:ext uri="{FF2B5EF4-FFF2-40B4-BE49-F238E27FC236}">
                <a16:creationId xmlns:a16="http://schemas.microsoft.com/office/drawing/2014/main" id="{C09AAC4D-69A4-71D4-2401-8B543DD3A55C}"/>
              </a:ext>
            </a:extLst>
          </p:cNvPr>
          <p:cNvSpPr/>
          <p:nvPr/>
        </p:nvSpPr>
        <p:spPr>
          <a:xfrm flipV="1">
            <a:off x="3244752" y="3943577"/>
            <a:ext cx="7296248" cy="1587282"/>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0070C0"/>
              </a:solidFill>
            </a:endParaRPr>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8.1  </a:t>
            </a:r>
            <a:r>
              <a:rPr kumimoji="1" lang="zh-CN" altLang="en-US" dirty="0"/>
              <a:t>有关要求</a:t>
            </a:r>
          </a:p>
        </p:txBody>
      </p:sp>
      <p:sp>
        <p:nvSpPr>
          <p:cNvPr id="4" name="文本框 3">
            <a:extLst>
              <a:ext uri="{FF2B5EF4-FFF2-40B4-BE49-F238E27FC236}">
                <a16:creationId xmlns:a16="http://schemas.microsoft.com/office/drawing/2014/main" id="{92AD380E-0AB0-FFF4-6066-0903B4EFF221}"/>
              </a:ext>
            </a:extLst>
          </p:cNvPr>
          <p:cNvSpPr txBox="1"/>
          <p:nvPr/>
        </p:nvSpPr>
        <p:spPr>
          <a:xfrm>
            <a:off x="3244752" y="3957768"/>
            <a:ext cx="7296248" cy="1409325"/>
          </a:xfrm>
          <a:prstGeom prst="rect">
            <a:avLst/>
          </a:prstGeom>
        </p:spPr>
        <p:txBody>
          <a:bodyPr wrap="square">
            <a:noAutofit/>
          </a:bodyPr>
          <a:lstStyle/>
          <a:p>
            <a:pPr algn="l">
              <a:lnSpc>
                <a:spcPct val="150000"/>
              </a:lnSpc>
            </a:pPr>
            <a:endParaRPr lang="zh-CN" altLang="en-US" sz="2000" b="1" dirty="0">
              <a:solidFill>
                <a:srgbClr val="0070C0"/>
              </a:solidFill>
              <a:latin typeface="Arial" panose="020B0604020202020204" pitchFamily="34" charset="0"/>
              <a:ea typeface="微软雅黑" panose="020B0503020204020204" pitchFamily="34" charset="-122"/>
            </a:endParaRPr>
          </a:p>
        </p:txBody>
      </p:sp>
      <p:sp>
        <p:nvSpPr>
          <p:cNvPr id="6" name="椭圆 5">
            <a:extLst>
              <a:ext uri="{FF2B5EF4-FFF2-40B4-BE49-F238E27FC236}">
                <a16:creationId xmlns:a16="http://schemas.microsoft.com/office/drawing/2014/main" id="{B015CFA5-D0FB-2ED2-26AE-8E986B15193D}"/>
              </a:ext>
            </a:extLst>
          </p:cNvPr>
          <p:cNvSpPr/>
          <p:nvPr>
            <p:custDataLst>
              <p:tags r:id="rId1"/>
            </p:custDataLst>
          </p:nvPr>
        </p:nvSpPr>
        <p:spPr>
          <a:xfrm>
            <a:off x="1740326" y="2237279"/>
            <a:ext cx="1358674" cy="1343296"/>
          </a:xfrm>
          <a:prstGeom prst="ellipse">
            <a:avLst/>
          </a:prstGeom>
          <a:solidFill>
            <a:srgbClr val="0070C0"/>
          </a:solidFill>
          <a:ln w="12700" cap="flat" cmpd="sng" algn="ctr">
            <a:noFill/>
            <a:prstDash val="solid"/>
            <a:miter lim="800000"/>
          </a:ln>
          <a:effectLst>
            <a:glow rad="63500">
              <a:srgbClr val="3366FE">
                <a:satMod val="175000"/>
                <a:alpha val="20000"/>
              </a:srgbClr>
            </a:glow>
          </a:effectLst>
        </p:spPr>
        <p:txBody>
          <a:bodyPr rtlCol="0" anchor="ctr"/>
          <a:lstStyle/>
          <a:p>
            <a:pPr algn="ctr">
              <a:lnSpc>
                <a:spcPct val="150000"/>
              </a:lnSpc>
            </a:pPr>
            <a:endParaRPr lang="zh-CN" altLang="en-US" sz="2400"/>
          </a:p>
        </p:txBody>
      </p:sp>
      <p:pic>
        <p:nvPicPr>
          <p:cNvPr id="7" name="图片 14" descr="32313538383938393b32313538373837343bb9abd5c2">
            <a:extLst>
              <a:ext uri="{FF2B5EF4-FFF2-40B4-BE49-F238E27FC236}">
                <a16:creationId xmlns:a16="http://schemas.microsoft.com/office/drawing/2014/main" id="{A8F12668-CA11-184D-2F83-6749633C34F8}"/>
              </a:ext>
            </a:extLst>
          </p:cNvPr>
          <p:cNvPicPr>
            <a:picLocks noChangeAspect="1"/>
          </p:cNvPicPr>
          <p:nvPr>
            <p:custDataLst>
              <p:tags r:id="rId2"/>
            </p:custDataLst>
          </p:nvPr>
        </p:nvPicPr>
        <p:blipFill>
          <a:blip r:embed="rId6">
            <a:extLst>
              <a:ext uri="{96DAC541-7B7A-43D3-8B79-37D633B846F1}">
                <asvg:svgBlip xmlns:asvg="http://schemas.microsoft.com/office/drawing/2016/SVG/main" r:embed="rId7"/>
              </a:ext>
            </a:extLst>
          </a:blip>
          <a:stretch>
            <a:fillRect/>
          </a:stretch>
        </p:blipFill>
        <p:spPr>
          <a:xfrm>
            <a:off x="2035961" y="2565284"/>
            <a:ext cx="767405" cy="687286"/>
          </a:xfrm>
          <a:prstGeom prst="rect">
            <a:avLst/>
          </a:prstGeom>
        </p:spPr>
      </p:pic>
      <p:sp>
        <p:nvSpPr>
          <p:cNvPr id="9" name="椭圆 8">
            <a:extLst>
              <a:ext uri="{FF2B5EF4-FFF2-40B4-BE49-F238E27FC236}">
                <a16:creationId xmlns:a16="http://schemas.microsoft.com/office/drawing/2014/main" id="{DD9335E2-029A-D294-19A3-6269505278F0}"/>
              </a:ext>
            </a:extLst>
          </p:cNvPr>
          <p:cNvSpPr/>
          <p:nvPr>
            <p:custDataLst>
              <p:tags r:id="rId3"/>
            </p:custDataLst>
          </p:nvPr>
        </p:nvSpPr>
        <p:spPr>
          <a:xfrm>
            <a:off x="1740326" y="3844959"/>
            <a:ext cx="1358674" cy="1343296"/>
          </a:xfrm>
          <a:prstGeom prst="ellipse">
            <a:avLst/>
          </a:prstGeom>
          <a:solidFill>
            <a:srgbClr val="0070C0"/>
          </a:solidFill>
          <a:ln w="12700" cap="flat" cmpd="sng" algn="ctr">
            <a:noFill/>
            <a:prstDash val="solid"/>
            <a:miter lim="800000"/>
          </a:ln>
          <a:effectLst>
            <a:glow rad="63500">
              <a:srgbClr val="FCB14A">
                <a:alpha val="20000"/>
              </a:srgbClr>
            </a:glow>
          </a:effectLst>
        </p:spPr>
        <p:txBody>
          <a:bodyPr rtlCol="0" anchor="ctr"/>
          <a:lstStyle/>
          <a:p>
            <a:pPr algn="ctr">
              <a:lnSpc>
                <a:spcPct val="150000"/>
              </a:lnSpc>
            </a:pPr>
            <a:endParaRPr lang="zh-CN" altLang="en-US" sz="2400"/>
          </a:p>
        </p:txBody>
      </p:sp>
      <p:pic>
        <p:nvPicPr>
          <p:cNvPr id="10" name="图片 15" descr="32313538383938393b32313538373838383bd1ddcabe">
            <a:extLst>
              <a:ext uri="{FF2B5EF4-FFF2-40B4-BE49-F238E27FC236}">
                <a16:creationId xmlns:a16="http://schemas.microsoft.com/office/drawing/2014/main" id="{8E2B8A6F-231C-3DA1-3823-7548A98260A7}"/>
              </a:ext>
            </a:extLst>
          </p:cNvPr>
          <p:cNvPicPr>
            <a:picLocks noChangeAspect="1"/>
          </p:cNvPicPr>
          <p:nvPr>
            <p:custDataLst>
              <p:tags r:id="rId4"/>
            </p:custDataLst>
          </p:nvPr>
        </p:nvPicPr>
        <p:blipFill>
          <a:blip r:embed="rId8">
            <a:extLst>
              <a:ext uri="{96DAC541-7B7A-43D3-8B79-37D633B846F1}">
                <asvg:svgBlip xmlns:asvg="http://schemas.microsoft.com/office/drawing/2016/SVG/main" r:embed="rId9"/>
              </a:ext>
            </a:extLst>
          </a:blip>
          <a:stretch>
            <a:fillRect/>
          </a:stretch>
        </p:blipFill>
        <p:spPr>
          <a:xfrm>
            <a:off x="2035961" y="4172963"/>
            <a:ext cx="767405" cy="687286"/>
          </a:xfrm>
          <a:prstGeom prst="rect">
            <a:avLst/>
          </a:prstGeom>
        </p:spPr>
      </p:pic>
      <p:sp>
        <p:nvSpPr>
          <p:cNvPr id="11" name="文本框 10">
            <a:extLst>
              <a:ext uri="{FF2B5EF4-FFF2-40B4-BE49-F238E27FC236}">
                <a16:creationId xmlns:a16="http://schemas.microsoft.com/office/drawing/2014/main" id="{611D8D87-0D18-636C-8851-C79F5A9D2445}"/>
              </a:ext>
            </a:extLst>
          </p:cNvPr>
          <p:cNvSpPr txBox="1"/>
          <p:nvPr/>
        </p:nvSpPr>
        <p:spPr>
          <a:xfrm>
            <a:off x="3444437" y="2237279"/>
            <a:ext cx="7007237" cy="1015291"/>
          </a:xfrm>
          <a:prstGeom prst="rect">
            <a:avLst/>
          </a:prstGeom>
        </p:spPr>
        <p:txBody>
          <a:bodyPr wrap="square">
            <a:noAutofit/>
          </a:bodyPr>
          <a:lstStyle/>
          <a:p>
            <a:pPr algn="l">
              <a:lnSpc>
                <a:spcPct val="150000"/>
              </a:lnSpc>
            </a:pPr>
            <a:r>
              <a:rPr lang="zh-CN" altLang="en-US" sz="2000" b="1" dirty="0">
                <a:solidFill>
                  <a:srgbClr val="0070C0"/>
                </a:solidFill>
                <a:latin typeface="Arial" panose="020B0604020202020204" pitchFamily="34" charset="0"/>
                <a:ea typeface="微软雅黑" panose="020B0503020204020204" pitchFamily="34" charset="-122"/>
                <a:sym typeface="+mn-ea"/>
              </a:rPr>
              <a:t>涉及统计调查类的应用，应用责任部门须报本级统计行政主管部门审批</a:t>
            </a:r>
          </a:p>
        </p:txBody>
      </p:sp>
      <p:sp>
        <p:nvSpPr>
          <p:cNvPr id="8" name="文本框 7">
            <a:extLst>
              <a:ext uri="{FF2B5EF4-FFF2-40B4-BE49-F238E27FC236}">
                <a16:creationId xmlns:a16="http://schemas.microsoft.com/office/drawing/2014/main" id="{402ADDB1-6EDA-025C-EF10-5A96D26E7760}"/>
              </a:ext>
            </a:extLst>
          </p:cNvPr>
          <p:cNvSpPr txBox="1"/>
          <p:nvPr/>
        </p:nvSpPr>
        <p:spPr>
          <a:xfrm>
            <a:off x="3536066" y="4024639"/>
            <a:ext cx="6099858" cy="873957"/>
          </a:xfrm>
          <a:prstGeom prst="rect">
            <a:avLst/>
          </a:prstGeom>
          <a:noFill/>
        </p:spPr>
        <p:txBody>
          <a:bodyPr wrap="square">
            <a:spAutoFit/>
          </a:bodyPr>
          <a:lstStyle/>
          <a:p>
            <a:pPr algn="l">
              <a:lnSpc>
                <a:spcPct val="150000"/>
              </a:lnSpc>
            </a:pPr>
            <a:r>
              <a:rPr lang="zh-CN" altLang="en-US" sz="1800" b="1" dirty="0">
                <a:solidFill>
                  <a:srgbClr val="0070C0"/>
                </a:solidFill>
                <a:latin typeface="Arial" panose="020B0604020202020204" pitchFamily="34" charset="0"/>
                <a:ea typeface="微软雅黑" panose="020B0503020204020204" pitchFamily="34" charset="-122"/>
              </a:rPr>
              <a:t>应用责任部门不得利用自有、自筹资金等方式开发与数字重庆建设要求相违背的应用</a:t>
            </a:r>
          </a:p>
        </p:txBody>
      </p:sp>
    </p:spTree>
    <p:extLst>
      <p:ext uri="{BB962C8B-B14F-4D97-AF65-F5344CB8AC3E}">
        <p14:creationId xmlns:p14="http://schemas.microsoft.com/office/powerpoint/2010/main" val="41147723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顶角 88">
            <a:extLst>
              <a:ext uri="{FF2B5EF4-FFF2-40B4-BE49-F238E27FC236}">
                <a16:creationId xmlns:a16="http://schemas.microsoft.com/office/drawing/2014/main" id="{0B04670D-72AA-2DEF-E899-69F513D22A82}"/>
              </a:ext>
            </a:extLst>
          </p:cNvPr>
          <p:cNvSpPr/>
          <p:nvPr/>
        </p:nvSpPr>
        <p:spPr>
          <a:xfrm flipV="1">
            <a:off x="990600" y="4996843"/>
            <a:ext cx="10407650" cy="1310313"/>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6" name="矩形: 圆顶角 88">
            <a:extLst>
              <a:ext uri="{FF2B5EF4-FFF2-40B4-BE49-F238E27FC236}">
                <a16:creationId xmlns:a16="http://schemas.microsoft.com/office/drawing/2014/main" id="{0568A2F6-B89F-26B6-C196-ADC44B25D2A0}"/>
              </a:ext>
            </a:extLst>
          </p:cNvPr>
          <p:cNvSpPr/>
          <p:nvPr/>
        </p:nvSpPr>
        <p:spPr>
          <a:xfrm flipV="1">
            <a:off x="990600" y="3288204"/>
            <a:ext cx="10407650" cy="1163623"/>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4" name="矩形: 圆顶角 88">
            <a:extLst>
              <a:ext uri="{FF2B5EF4-FFF2-40B4-BE49-F238E27FC236}">
                <a16:creationId xmlns:a16="http://schemas.microsoft.com/office/drawing/2014/main" id="{DFC7F039-34E4-591D-BD43-9B1D0082A8C7}"/>
              </a:ext>
            </a:extLst>
          </p:cNvPr>
          <p:cNvSpPr/>
          <p:nvPr/>
        </p:nvSpPr>
        <p:spPr>
          <a:xfrm flipV="1">
            <a:off x="990600" y="2095844"/>
            <a:ext cx="10407650" cy="838123"/>
          </a:xfrm>
          <a:prstGeom prst="round2SameRect">
            <a:avLst>
              <a:gd name="adj1" fmla="val 16667"/>
              <a:gd name="adj2" fmla="val 4352"/>
            </a:avLst>
          </a:prstGeom>
          <a:gradFill flip="none" rotWithShape="1">
            <a:gsLst>
              <a:gs pos="0">
                <a:schemeClr val="accent5">
                  <a:lumMod val="60000"/>
                  <a:lumOff val="40000"/>
                  <a:alpha val="23597"/>
                </a:schemeClr>
              </a:gs>
              <a:gs pos="95000">
                <a:schemeClr val="accent5">
                  <a:lumMod val="20000"/>
                  <a:lumOff val="80000"/>
                  <a:alpha val="17857"/>
                </a:schemeClr>
              </a:gs>
            </a:gsLst>
            <a:lin ang="16200000" scaled="0"/>
            <a:tileRect/>
          </a:gradFill>
          <a:ln w="12700">
            <a:gradFill>
              <a:gsLst>
                <a:gs pos="20000">
                  <a:schemeClr val="accent1">
                    <a:lumMod val="5000"/>
                    <a:lumOff val="95000"/>
                    <a:alpha val="0"/>
                  </a:schemeClr>
                </a:gs>
                <a:gs pos="97126">
                  <a:srgbClr val="4472C4">
                    <a:alpha val="38947"/>
                  </a:srgb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8.2  </a:t>
            </a:r>
            <a:r>
              <a:rPr kumimoji="1" lang="zh-CN" altLang="en-US" dirty="0"/>
              <a:t>近期印发的系列文件</a:t>
            </a:r>
          </a:p>
        </p:txBody>
      </p:sp>
      <p:sp>
        <p:nvSpPr>
          <p:cNvPr id="3" name="文本框 2">
            <a:extLst>
              <a:ext uri="{FF2B5EF4-FFF2-40B4-BE49-F238E27FC236}">
                <a16:creationId xmlns:a16="http://schemas.microsoft.com/office/drawing/2014/main" id="{16B63A56-9F6F-D0E5-363B-A604DE550187}"/>
              </a:ext>
            </a:extLst>
          </p:cNvPr>
          <p:cNvSpPr txBox="1"/>
          <p:nvPr>
            <p:custDataLst>
              <p:tags r:id="rId1"/>
            </p:custDataLst>
          </p:nvPr>
        </p:nvSpPr>
        <p:spPr>
          <a:xfrm>
            <a:off x="1163781" y="2251533"/>
            <a:ext cx="10857653" cy="775662"/>
          </a:xfrm>
          <a:prstGeom prst="rect">
            <a:avLst/>
          </a:prstGeom>
        </p:spPr>
        <p:txBody>
          <a:bodyPr wrap="square">
            <a:spAutoFit/>
          </a:bodyPr>
          <a:lstStyle/>
          <a:p>
            <a:pPr algn="l">
              <a:lnSpc>
                <a:spcPts val="2800"/>
              </a:lnSpc>
            </a:pPr>
            <a:r>
              <a:rPr dirty="0" err="1">
                <a:latin typeface="微软雅黑" panose="020B0503020204020204" pitchFamily="34" charset="-122"/>
                <a:ea typeface="微软雅黑" panose="020B0503020204020204" pitchFamily="34" charset="-122"/>
                <a:sym typeface="+mn-ea"/>
              </a:rPr>
              <a:t>数字重庆建设领导小组关于印发《数字重庆建设总体方案》的通知</a:t>
            </a:r>
            <a:endParaRPr dirty="0">
              <a:latin typeface="微软雅黑" panose="020B0503020204020204" pitchFamily="34" charset="-122"/>
              <a:ea typeface="微软雅黑" panose="020B0503020204020204" pitchFamily="34" charset="-122"/>
              <a:sym typeface="+mn-ea"/>
            </a:endParaRPr>
          </a:p>
          <a:p>
            <a:pPr algn="l">
              <a:lnSpc>
                <a:spcPts val="2800"/>
              </a:lnSpc>
            </a:pPr>
            <a:r>
              <a:rPr lang="zh-CN" altLang="en-US" dirty="0">
                <a:latin typeface="微软雅黑" panose="020B0503020204020204" pitchFamily="34" charset="-122"/>
                <a:ea typeface="微软雅黑" panose="020B0503020204020204" pitchFamily="34" charset="-122"/>
                <a:sym typeface="+mn-ea"/>
              </a:rPr>
              <a:t>《数字重庆通用术语释义》（</a:t>
            </a:r>
            <a:r>
              <a:rPr lang="en-US" altLang="zh-CN" dirty="0">
                <a:latin typeface="微软雅黑" panose="020B0503020204020204" pitchFamily="34" charset="-122"/>
                <a:ea typeface="微软雅黑" panose="020B0503020204020204" pitchFamily="34" charset="-122"/>
                <a:sym typeface="+mn-ea"/>
              </a:rPr>
              <a:t>2023</a:t>
            </a:r>
            <a:r>
              <a:rPr lang="zh-CN" altLang="en-US" dirty="0">
                <a:latin typeface="微软雅黑" panose="020B0503020204020204" pitchFamily="34" charset="-122"/>
                <a:ea typeface="微软雅黑" panose="020B0503020204020204" pitchFamily="34" charset="-122"/>
                <a:sym typeface="+mn-ea"/>
              </a:rPr>
              <a:t>年</a:t>
            </a:r>
            <a:r>
              <a:rPr lang="en-US" altLang="zh-CN" dirty="0">
                <a:latin typeface="微软雅黑" panose="020B0503020204020204" pitchFamily="34" charset="-122"/>
                <a:ea typeface="微软雅黑" panose="020B0503020204020204" pitchFamily="34" charset="-122"/>
                <a:sym typeface="+mn-ea"/>
              </a:rPr>
              <a:t>7</a:t>
            </a:r>
            <a:r>
              <a:rPr lang="zh-CN" altLang="en-US" dirty="0">
                <a:latin typeface="微软雅黑" panose="020B0503020204020204" pitchFamily="34" charset="-122"/>
                <a:ea typeface="微软雅黑" panose="020B0503020204020204" pitchFamily="34" charset="-122"/>
                <a:sym typeface="+mn-ea"/>
              </a:rPr>
              <a:t>月版）</a:t>
            </a:r>
            <a:endParaRPr lang="zh-CN" altLang="en-US"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38BD5183-45E1-3930-DA8C-BC38770537E3}"/>
              </a:ext>
            </a:extLst>
          </p:cNvPr>
          <p:cNvSpPr txBox="1"/>
          <p:nvPr>
            <p:custDataLst>
              <p:tags r:id="rId2"/>
            </p:custDataLst>
          </p:nvPr>
        </p:nvSpPr>
        <p:spPr>
          <a:xfrm>
            <a:off x="1001221" y="3475180"/>
            <a:ext cx="10857653" cy="1134734"/>
          </a:xfrm>
          <a:prstGeom prst="rect">
            <a:avLst/>
          </a:prstGeom>
        </p:spPr>
        <p:txBody>
          <a:bodyPr wrap="square">
            <a:spAutoFit/>
          </a:bodyPr>
          <a:lstStyle/>
          <a:p>
            <a:pPr algn="l">
              <a:lnSpc>
                <a:spcPts val="2800"/>
              </a:lnSpc>
            </a:pPr>
            <a:r>
              <a:rPr dirty="0">
                <a:latin typeface="微软雅黑" panose="020B0503020204020204" pitchFamily="34" charset="-122"/>
                <a:ea typeface="微软雅黑" panose="020B0503020204020204" pitchFamily="34" charset="-122"/>
                <a:sym typeface="+mn-ea"/>
              </a:rPr>
              <a:t>《数字重庆建设应用“三张清单”论证审查办法（试行）》（渝数建办〔2023〕</a:t>
            </a:r>
            <a:r>
              <a:rPr lang="en-US" dirty="0">
                <a:latin typeface="微软雅黑" panose="020B0503020204020204" pitchFamily="34" charset="-122"/>
                <a:ea typeface="微软雅黑" panose="020B0503020204020204" pitchFamily="34" charset="-122"/>
                <a:sym typeface="+mn-ea"/>
              </a:rPr>
              <a:t>1</a:t>
            </a:r>
            <a:r>
              <a:rPr dirty="0">
                <a:latin typeface="微软雅黑" panose="020B0503020204020204" pitchFamily="34" charset="-122"/>
                <a:ea typeface="微软雅黑" panose="020B0503020204020204" pitchFamily="34" charset="-122"/>
                <a:sym typeface="+mn-ea"/>
              </a:rPr>
              <a:t> 号）</a:t>
            </a:r>
          </a:p>
          <a:p>
            <a:pPr algn="l">
              <a:lnSpc>
                <a:spcPts val="2800"/>
              </a:lnSpc>
            </a:pPr>
            <a:r>
              <a:rPr dirty="0">
                <a:latin typeface="微软雅黑" panose="020B0503020204020204" pitchFamily="34" charset="-122"/>
                <a:ea typeface="微软雅黑" panose="020B0503020204020204" pitchFamily="34" charset="-122"/>
                <a:sym typeface="+mn-ea"/>
              </a:rPr>
              <a:t>《依托数字重庆建设“三张清单”推动体系重构流程再造实施方案》（渝数建办〔2023〕2 号）</a:t>
            </a:r>
          </a:p>
          <a:p>
            <a:pPr algn="l">
              <a:lnSpc>
                <a:spcPts val="2800"/>
              </a:lnSpc>
            </a:pPr>
            <a:r>
              <a:rPr dirty="0">
                <a:latin typeface="微软雅黑" panose="020B0503020204020204" pitchFamily="34" charset="-122"/>
                <a:ea typeface="微软雅黑" panose="020B0503020204020204" pitchFamily="34" charset="-122"/>
                <a:sym typeface="+mn-ea"/>
              </a:rPr>
              <a:t>《数字重庆建设应用“三张清单”技术规范（1.0 版）的通知》（渝数建办〔2023〕5 号）</a:t>
            </a:r>
            <a:endParaRPr lang="zh-CN" altLang="en-US"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333AC556-9651-9F4A-3D85-043E425C25B3}"/>
              </a:ext>
            </a:extLst>
          </p:cNvPr>
          <p:cNvSpPr txBox="1"/>
          <p:nvPr>
            <p:custDataLst>
              <p:tags r:id="rId3"/>
            </p:custDataLst>
          </p:nvPr>
        </p:nvSpPr>
        <p:spPr>
          <a:xfrm>
            <a:off x="1203721" y="5183475"/>
            <a:ext cx="8750507" cy="1168400"/>
          </a:xfrm>
          <a:prstGeom prst="rect">
            <a:avLst/>
          </a:prstGeom>
        </p:spPr>
        <p:txBody>
          <a:bodyPr wrap="square">
            <a:spAutoFit/>
          </a:bodyPr>
          <a:lstStyle/>
          <a:p>
            <a:pPr algn="l">
              <a:lnSpc>
                <a:spcPts val="2800"/>
              </a:lnSpc>
            </a:pPr>
            <a:r>
              <a:rPr dirty="0" err="1">
                <a:latin typeface="微软雅黑" panose="020B0503020204020204" pitchFamily="34" charset="-122"/>
                <a:ea typeface="微软雅黑" panose="020B0503020204020204" pitchFamily="34" charset="-122"/>
                <a:sym typeface="+mn-ea"/>
              </a:rPr>
              <a:t>数字重庆建设领导小组办公室主任协调会第一次会议纪要</a:t>
            </a:r>
            <a:r>
              <a:rPr lang="zh-CN" dirty="0">
                <a:latin typeface="微软雅黑" panose="020B0503020204020204" pitchFamily="34" charset="-122"/>
                <a:ea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sym typeface="+mn-ea"/>
              </a:rPr>
              <a:t>2023</a:t>
            </a:r>
            <a:r>
              <a:rPr lang="zh-CN" altLang="en-US" dirty="0">
                <a:latin typeface="微软雅黑" panose="020B0503020204020204" pitchFamily="34" charset="-122"/>
                <a:ea typeface="微软雅黑" panose="020B0503020204020204" pitchFamily="34" charset="-122"/>
                <a:sym typeface="+mn-ea"/>
              </a:rPr>
              <a:t>年</a:t>
            </a:r>
            <a:r>
              <a:rPr lang="en-US" altLang="zh-CN" dirty="0">
                <a:latin typeface="微软雅黑" panose="020B0503020204020204" pitchFamily="34" charset="-122"/>
                <a:ea typeface="微软雅黑" panose="020B0503020204020204" pitchFamily="34" charset="-122"/>
                <a:sym typeface="+mn-ea"/>
              </a:rPr>
              <a:t>5</a:t>
            </a:r>
            <a:r>
              <a:rPr lang="zh-CN" altLang="en-US" dirty="0">
                <a:latin typeface="微软雅黑" panose="020B0503020204020204" pitchFamily="34" charset="-122"/>
                <a:ea typeface="微软雅黑" panose="020B0503020204020204" pitchFamily="34" charset="-122"/>
                <a:sym typeface="+mn-ea"/>
              </a:rPr>
              <a:t>月</a:t>
            </a:r>
            <a:r>
              <a:rPr lang="en-US" altLang="zh-CN" dirty="0">
                <a:latin typeface="微软雅黑" panose="020B0503020204020204" pitchFamily="34" charset="-122"/>
                <a:ea typeface="微软雅黑" panose="020B0503020204020204" pitchFamily="34" charset="-122"/>
                <a:sym typeface="+mn-ea"/>
              </a:rPr>
              <a:t>28</a:t>
            </a:r>
            <a:r>
              <a:rPr lang="zh-CN" altLang="en-US" dirty="0">
                <a:latin typeface="微软雅黑" panose="020B0503020204020204" pitchFamily="34" charset="-122"/>
                <a:ea typeface="微软雅黑" panose="020B0503020204020204" pitchFamily="34" charset="-122"/>
                <a:sym typeface="+mn-ea"/>
              </a:rPr>
              <a:t>日</a:t>
            </a:r>
            <a:r>
              <a:rPr lang="zh-CN" dirty="0">
                <a:latin typeface="微软雅黑" panose="020B0503020204020204" pitchFamily="34" charset="-122"/>
                <a:ea typeface="微软雅黑" panose="020B0503020204020204" pitchFamily="34" charset="-122"/>
                <a:sym typeface="+mn-ea"/>
              </a:rPr>
              <a:t>）</a:t>
            </a:r>
          </a:p>
          <a:p>
            <a:pPr algn="l">
              <a:lnSpc>
                <a:spcPts val="2800"/>
              </a:lnSpc>
            </a:pPr>
            <a:r>
              <a:rPr lang="zh-CN" dirty="0">
                <a:latin typeface="微软雅黑" panose="020B0503020204020204" pitchFamily="34" charset="-122"/>
                <a:ea typeface="微软雅黑" panose="020B0503020204020204" pitchFamily="34" charset="-122"/>
                <a:sym typeface="+mn-ea"/>
              </a:rPr>
              <a:t>数字重庆建设领导小组办公室主任协调会第二次会议纪要（</a:t>
            </a:r>
            <a:r>
              <a:rPr lang="en-US" altLang="zh-CN" dirty="0">
                <a:latin typeface="微软雅黑" panose="020B0503020204020204" pitchFamily="34" charset="-122"/>
                <a:ea typeface="微软雅黑" panose="020B0503020204020204" pitchFamily="34" charset="-122"/>
                <a:sym typeface="+mn-ea"/>
              </a:rPr>
              <a:t>2023</a:t>
            </a:r>
            <a:r>
              <a:rPr lang="zh-CN" altLang="en-US" dirty="0">
                <a:latin typeface="微软雅黑" panose="020B0503020204020204" pitchFamily="34" charset="-122"/>
                <a:ea typeface="微软雅黑" panose="020B0503020204020204" pitchFamily="34" charset="-122"/>
                <a:sym typeface="+mn-ea"/>
              </a:rPr>
              <a:t>年</a:t>
            </a:r>
            <a:r>
              <a:rPr lang="en-US" altLang="zh-CN" dirty="0">
                <a:latin typeface="微软雅黑" panose="020B0503020204020204" pitchFamily="34" charset="-122"/>
                <a:ea typeface="微软雅黑" panose="020B0503020204020204" pitchFamily="34" charset="-122"/>
                <a:sym typeface="+mn-ea"/>
              </a:rPr>
              <a:t>6</a:t>
            </a:r>
            <a:r>
              <a:rPr lang="zh-CN" altLang="en-US" dirty="0">
                <a:latin typeface="微软雅黑" panose="020B0503020204020204" pitchFamily="34" charset="-122"/>
                <a:ea typeface="微软雅黑" panose="020B0503020204020204" pitchFamily="34" charset="-122"/>
                <a:sym typeface="+mn-ea"/>
              </a:rPr>
              <a:t>月</a:t>
            </a:r>
            <a:r>
              <a:rPr lang="en-US" altLang="zh-CN" dirty="0">
                <a:latin typeface="微软雅黑" panose="020B0503020204020204" pitchFamily="34" charset="-122"/>
                <a:ea typeface="微软雅黑" panose="020B0503020204020204" pitchFamily="34" charset="-122"/>
                <a:sym typeface="+mn-ea"/>
              </a:rPr>
              <a:t>17</a:t>
            </a:r>
            <a:r>
              <a:rPr lang="zh-CN" altLang="en-US" dirty="0">
                <a:latin typeface="微软雅黑" panose="020B0503020204020204" pitchFamily="34" charset="-122"/>
                <a:ea typeface="微软雅黑" panose="020B0503020204020204" pitchFamily="34" charset="-122"/>
                <a:sym typeface="+mn-ea"/>
              </a:rPr>
              <a:t>日</a:t>
            </a:r>
            <a:r>
              <a:rPr lang="zh-CN" dirty="0">
                <a:latin typeface="微软雅黑" panose="020B0503020204020204" pitchFamily="34" charset="-122"/>
                <a:ea typeface="微软雅黑" panose="020B0503020204020204" pitchFamily="34" charset="-122"/>
                <a:sym typeface="+mn-ea"/>
              </a:rPr>
              <a:t>）</a:t>
            </a:r>
          </a:p>
          <a:p>
            <a:pPr algn="l">
              <a:lnSpc>
                <a:spcPts val="2800"/>
              </a:lnSpc>
            </a:pPr>
            <a:r>
              <a:rPr lang="zh-CN" dirty="0">
                <a:latin typeface="微软雅黑" panose="020B0503020204020204" pitchFamily="34" charset="-122"/>
                <a:ea typeface="微软雅黑" panose="020B0503020204020204" pitchFamily="34" charset="-122"/>
                <a:sym typeface="+mn-ea"/>
              </a:rPr>
              <a:t>2023年市级政务信息化项目清理工作协调会会议纪要（</a:t>
            </a:r>
            <a:r>
              <a:rPr lang="en-US" altLang="zh-CN" dirty="0">
                <a:latin typeface="微软雅黑" panose="020B0503020204020204" pitchFamily="34" charset="-122"/>
                <a:ea typeface="微软雅黑" panose="020B0503020204020204" pitchFamily="34" charset="-122"/>
                <a:sym typeface="+mn-ea"/>
              </a:rPr>
              <a:t>2023</a:t>
            </a:r>
            <a:r>
              <a:rPr lang="zh-CN" altLang="en-US" dirty="0">
                <a:latin typeface="微软雅黑" panose="020B0503020204020204" pitchFamily="34" charset="-122"/>
                <a:ea typeface="微软雅黑" panose="020B0503020204020204" pitchFamily="34" charset="-122"/>
                <a:sym typeface="+mn-ea"/>
              </a:rPr>
              <a:t>年</a:t>
            </a:r>
            <a:r>
              <a:rPr lang="en-US" altLang="zh-CN" dirty="0">
                <a:latin typeface="微软雅黑" panose="020B0503020204020204" pitchFamily="34" charset="-122"/>
                <a:ea typeface="微软雅黑" panose="020B0503020204020204" pitchFamily="34" charset="-122"/>
                <a:sym typeface="+mn-ea"/>
              </a:rPr>
              <a:t>6</a:t>
            </a:r>
            <a:r>
              <a:rPr lang="zh-CN" altLang="en-US" dirty="0">
                <a:latin typeface="微软雅黑" panose="020B0503020204020204" pitchFamily="34" charset="-122"/>
                <a:ea typeface="微软雅黑" panose="020B0503020204020204" pitchFamily="34" charset="-122"/>
                <a:sym typeface="+mn-ea"/>
              </a:rPr>
              <a:t>月</a:t>
            </a:r>
            <a:r>
              <a:rPr lang="en-US" altLang="zh-CN" dirty="0">
                <a:latin typeface="微软雅黑" panose="020B0503020204020204" pitchFamily="34" charset="-122"/>
                <a:ea typeface="微软雅黑" panose="020B0503020204020204" pitchFamily="34" charset="-122"/>
                <a:sym typeface="+mn-ea"/>
              </a:rPr>
              <a:t>28</a:t>
            </a:r>
            <a:r>
              <a:rPr lang="zh-CN" altLang="en-US" dirty="0">
                <a:latin typeface="微软雅黑" panose="020B0503020204020204" pitchFamily="34" charset="-122"/>
                <a:ea typeface="微软雅黑" panose="020B0503020204020204" pitchFamily="34" charset="-122"/>
                <a:sym typeface="+mn-ea"/>
              </a:rPr>
              <a:t>日</a:t>
            </a:r>
            <a:r>
              <a:rPr lang="zh-CN" dirty="0">
                <a:latin typeface="微软雅黑" panose="020B0503020204020204" pitchFamily="34" charset="-122"/>
                <a:ea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5C65327C-5509-D962-36C0-E5B03B7E4515}"/>
              </a:ext>
            </a:extLst>
          </p:cNvPr>
          <p:cNvSpPr txBox="1"/>
          <p:nvPr>
            <p:custDataLst>
              <p:tags r:id="rId4"/>
            </p:custDataLst>
          </p:nvPr>
        </p:nvSpPr>
        <p:spPr>
          <a:xfrm>
            <a:off x="1203720" y="6013687"/>
            <a:ext cx="10857653" cy="501227"/>
          </a:xfrm>
          <a:prstGeom prst="rect">
            <a:avLst/>
          </a:prstGeom>
        </p:spPr>
        <p:txBody>
          <a:bodyPr wrap="square">
            <a:noAutofit/>
          </a:bodyPr>
          <a:lstStyle/>
          <a:p>
            <a:pPr algn="l">
              <a:lnSpc>
                <a:spcPts val="2800"/>
              </a:lnSpc>
            </a:pP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gn="l">
              <a:lnSpc>
                <a:spcPts val="2800"/>
              </a:lnSpc>
            </a:pPr>
            <a:endParaRPr lang="zh-CN" altLang="en-US" dirty="0">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9FC4AABB-577C-21CF-2EF2-8D3040B451A8}"/>
              </a:ext>
            </a:extLst>
          </p:cNvPr>
          <p:cNvGrpSpPr/>
          <p:nvPr/>
        </p:nvGrpSpPr>
        <p:grpSpPr>
          <a:xfrm>
            <a:off x="1197991" y="4737836"/>
            <a:ext cx="2206625" cy="426295"/>
            <a:chOff x="914400" y="1156669"/>
            <a:chExt cx="1892300" cy="426554"/>
          </a:xfrm>
          <a:solidFill>
            <a:srgbClr val="0070C0"/>
          </a:solidFill>
        </p:grpSpPr>
        <p:sp>
          <p:nvSpPr>
            <p:cNvPr id="16" name="箭头: 五边形 15">
              <a:extLst>
                <a:ext uri="{FF2B5EF4-FFF2-40B4-BE49-F238E27FC236}">
                  <a16:creationId xmlns:a16="http://schemas.microsoft.com/office/drawing/2014/main" id="{C5FAD074-BCC2-C82D-E948-029450F86742}"/>
                </a:ext>
              </a:extLst>
            </p:cNvPr>
            <p:cNvSpPr/>
            <p:nvPr/>
          </p:nvSpPr>
          <p:spPr>
            <a:xfrm>
              <a:off x="914400" y="1156669"/>
              <a:ext cx="1892300" cy="421637"/>
            </a:xfrm>
            <a:prstGeom prst="homePlat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文本框 16">
              <a:extLst>
                <a:ext uri="{FF2B5EF4-FFF2-40B4-BE49-F238E27FC236}">
                  <a16:creationId xmlns:a16="http://schemas.microsoft.com/office/drawing/2014/main" id="{F38AA589-5339-7E06-2672-DF9BF75E8909}"/>
                </a:ext>
              </a:extLst>
            </p:cNvPr>
            <p:cNvSpPr txBox="1"/>
            <p:nvPr>
              <p:custDataLst>
                <p:tags r:id="rId7"/>
              </p:custDataLst>
            </p:nvPr>
          </p:nvSpPr>
          <p:spPr>
            <a:xfrm>
              <a:off x="1037167" y="1184201"/>
              <a:ext cx="1579033" cy="399022"/>
            </a:xfrm>
            <a:prstGeom prst="rect">
              <a:avLst/>
            </a:prstGeom>
            <a:noFill/>
          </p:spPr>
          <p:txBody>
            <a:bodyPr wrap="square">
              <a:spAutoFit/>
            </a:bodyPr>
            <a:lstStyle/>
            <a:p>
              <a:pPr algn="l"/>
              <a:r>
                <a:rPr lang="zh-CN" altLang="en-US" sz="2000" b="1" dirty="0">
                  <a:solidFill>
                    <a:schemeClr val="bg1"/>
                  </a:solidFill>
                  <a:latin typeface="Arial" panose="020B0604020202020204" pitchFamily="34" charset="0"/>
                  <a:ea typeface="微软雅黑" panose="020B0503020204020204" pitchFamily="34" charset="-122"/>
                </a:rPr>
                <a:t>重要会议纪要</a:t>
              </a:r>
            </a:p>
          </p:txBody>
        </p:sp>
      </p:grpSp>
      <p:grpSp>
        <p:nvGrpSpPr>
          <p:cNvPr id="21" name="组合 20">
            <a:extLst>
              <a:ext uri="{FF2B5EF4-FFF2-40B4-BE49-F238E27FC236}">
                <a16:creationId xmlns:a16="http://schemas.microsoft.com/office/drawing/2014/main" id="{72DED706-868E-8A83-3CBC-7D51DB894604}"/>
              </a:ext>
            </a:extLst>
          </p:cNvPr>
          <p:cNvGrpSpPr/>
          <p:nvPr/>
        </p:nvGrpSpPr>
        <p:grpSpPr>
          <a:xfrm>
            <a:off x="1197991" y="3088250"/>
            <a:ext cx="2206625" cy="427625"/>
            <a:chOff x="914400" y="1156669"/>
            <a:chExt cx="1892300" cy="427885"/>
          </a:xfrm>
          <a:solidFill>
            <a:srgbClr val="0070C0"/>
          </a:solidFill>
        </p:grpSpPr>
        <p:sp>
          <p:nvSpPr>
            <p:cNvPr id="22" name="箭头: 五边形 21">
              <a:extLst>
                <a:ext uri="{FF2B5EF4-FFF2-40B4-BE49-F238E27FC236}">
                  <a16:creationId xmlns:a16="http://schemas.microsoft.com/office/drawing/2014/main" id="{9596D819-3D9A-3D6C-FBF2-8841DDBAAED1}"/>
                </a:ext>
              </a:extLst>
            </p:cNvPr>
            <p:cNvSpPr/>
            <p:nvPr/>
          </p:nvSpPr>
          <p:spPr>
            <a:xfrm>
              <a:off x="914400" y="1156669"/>
              <a:ext cx="1892300" cy="421637"/>
            </a:xfrm>
            <a:prstGeom prst="homePlat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3" name="文本框 22">
              <a:extLst>
                <a:ext uri="{FF2B5EF4-FFF2-40B4-BE49-F238E27FC236}">
                  <a16:creationId xmlns:a16="http://schemas.microsoft.com/office/drawing/2014/main" id="{5782C5E5-50D3-EC5D-83D2-A3281173ADB6}"/>
                </a:ext>
              </a:extLst>
            </p:cNvPr>
            <p:cNvSpPr txBox="1"/>
            <p:nvPr>
              <p:custDataLst>
                <p:tags r:id="rId6"/>
              </p:custDataLst>
            </p:nvPr>
          </p:nvSpPr>
          <p:spPr>
            <a:xfrm>
              <a:off x="1037167" y="1184201"/>
              <a:ext cx="1579033" cy="400353"/>
            </a:xfrm>
            <a:prstGeom prst="rect">
              <a:avLst/>
            </a:prstGeom>
            <a:noFill/>
          </p:spPr>
          <p:txBody>
            <a:bodyPr wrap="square">
              <a:spAutoFit/>
            </a:bodyPr>
            <a:lstStyle/>
            <a:p>
              <a:r>
                <a:rPr lang="zh-CN" altLang="en-US" sz="2000" b="1" dirty="0">
                  <a:solidFill>
                    <a:schemeClr val="bg1"/>
                  </a:solidFill>
                  <a:latin typeface="Arial" panose="020B0604020202020204" pitchFamily="34" charset="0"/>
                  <a:ea typeface="微软雅黑" panose="020B0503020204020204" pitchFamily="34" charset="-122"/>
                </a:rPr>
                <a:t>三张清单类</a:t>
              </a:r>
            </a:p>
          </p:txBody>
        </p:sp>
      </p:grpSp>
      <p:grpSp>
        <p:nvGrpSpPr>
          <p:cNvPr id="24" name="组合 23">
            <a:extLst>
              <a:ext uri="{FF2B5EF4-FFF2-40B4-BE49-F238E27FC236}">
                <a16:creationId xmlns:a16="http://schemas.microsoft.com/office/drawing/2014/main" id="{143957EC-2ED7-B8C6-DCFA-B4222E8794A4}"/>
              </a:ext>
            </a:extLst>
          </p:cNvPr>
          <p:cNvGrpSpPr/>
          <p:nvPr/>
        </p:nvGrpSpPr>
        <p:grpSpPr>
          <a:xfrm>
            <a:off x="1197991" y="1878366"/>
            <a:ext cx="2206625" cy="427625"/>
            <a:chOff x="914400" y="1156669"/>
            <a:chExt cx="1892300" cy="427885"/>
          </a:xfrm>
          <a:solidFill>
            <a:srgbClr val="0070C0"/>
          </a:solidFill>
        </p:grpSpPr>
        <p:sp>
          <p:nvSpPr>
            <p:cNvPr id="25" name="箭头: 五边形 24">
              <a:extLst>
                <a:ext uri="{FF2B5EF4-FFF2-40B4-BE49-F238E27FC236}">
                  <a16:creationId xmlns:a16="http://schemas.microsoft.com/office/drawing/2014/main" id="{377015AA-6E97-DB67-5C02-E2FAD5751B84}"/>
                </a:ext>
              </a:extLst>
            </p:cNvPr>
            <p:cNvSpPr/>
            <p:nvPr/>
          </p:nvSpPr>
          <p:spPr>
            <a:xfrm>
              <a:off x="914400" y="1156669"/>
              <a:ext cx="1892300" cy="421637"/>
            </a:xfrm>
            <a:prstGeom prst="homePlat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6" name="文本框 25">
              <a:extLst>
                <a:ext uri="{FF2B5EF4-FFF2-40B4-BE49-F238E27FC236}">
                  <a16:creationId xmlns:a16="http://schemas.microsoft.com/office/drawing/2014/main" id="{B3D963CA-3AB0-8449-4F3F-9330480CD548}"/>
                </a:ext>
              </a:extLst>
            </p:cNvPr>
            <p:cNvSpPr txBox="1"/>
            <p:nvPr>
              <p:custDataLst>
                <p:tags r:id="rId5"/>
              </p:custDataLst>
            </p:nvPr>
          </p:nvSpPr>
          <p:spPr>
            <a:xfrm>
              <a:off x="1037167" y="1184201"/>
              <a:ext cx="1579033" cy="400353"/>
            </a:xfrm>
            <a:prstGeom prst="rect">
              <a:avLst/>
            </a:prstGeom>
            <a:noFill/>
          </p:spPr>
          <p:txBody>
            <a:bodyPr wrap="square">
              <a:spAutoFit/>
            </a:bodyPr>
            <a:lstStyle/>
            <a:p>
              <a:pPr algn="l"/>
              <a:r>
                <a:rPr lang="zh-CN" altLang="en-US" sz="2000" b="1" dirty="0">
                  <a:solidFill>
                    <a:schemeClr val="bg1"/>
                  </a:solidFill>
                  <a:latin typeface="Arial" panose="020B0604020202020204" pitchFamily="34" charset="0"/>
                  <a:ea typeface="微软雅黑" panose="020B0503020204020204" pitchFamily="34" charset="-122"/>
                </a:rPr>
                <a:t>顶层设计类</a:t>
              </a:r>
              <a:endParaRPr lang="zh-CN" altLang="en-US" sz="1400" b="1" dirty="0">
                <a:solidFill>
                  <a:schemeClr val="bg1"/>
                </a:solidFill>
                <a:latin typeface="Arial" panose="020B0604020202020204" pitchFamily="34" charset="0"/>
                <a:ea typeface="微软雅黑" panose="020B0503020204020204" pitchFamily="34" charset="-122"/>
              </a:endParaRPr>
            </a:p>
          </p:txBody>
        </p:sp>
      </p:grpSp>
    </p:spTree>
    <p:extLst>
      <p:ext uri="{BB962C8B-B14F-4D97-AF65-F5344CB8AC3E}">
        <p14:creationId xmlns:p14="http://schemas.microsoft.com/office/powerpoint/2010/main" val="1550945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69610-129B-BC21-3B19-85E26E03B333}"/>
              </a:ext>
            </a:extLst>
          </p:cNvPr>
          <p:cNvSpPr>
            <a:spLocks noGrp="1"/>
          </p:cNvSpPr>
          <p:nvPr>
            <p:ph type="title"/>
          </p:nvPr>
        </p:nvSpPr>
        <p:spPr/>
        <p:txBody>
          <a:bodyPr>
            <a:normAutofit/>
          </a:bodyPr>
          <a:lstStyle/>
          <a:p>
            <a:r>
              <a:rPr kumimoji="1" lang="en-US" altLang="zh-CN" dirty="0"/>
              <a:t>8.3  </a:t>
            </a:r>
            <a:r>
              <a:rPr kumimoji="1" lang="zh-CN" altLang="en-US" dirty="0"/>
              <a:t>已发布标准规范</a:t>
            </a:r>
          </a:p>
        </p:txBody>
      </p:sp>
      <p:sp>
        <p:nvSpPr>
          <p:cNvPr id="3" name="矩形: 圆角 2">
            <a:extLst>
              <a:ext uri="{FF2B5EF4-FFF2-40B4-BE49-F238E27FC236}">
                <a16:creationId xmlns:a16="http://schemas.microsoft.com/office/drawing/2014/main" id="{31B730F9-383F-0704-2C53-845CBA4CF2CE}"/>
              </a:ext>
            </a:extLst>
          </p:cNvPr>
          <p:cNvSpPr/>
          <p:nvPr>
            <p:custDataLst>
              <p:tags r:id="rId1"/>
            </p:custDataLst>
          </p:nvPr>
        </p:nvSpPr>
        <p:spPr>
          <a:xfrm>
            <a:off x="1433059" y="1707205"/>
            <a:ext cx="9469120" cy="5372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latin typeface="微软雅黑" panose="020B0503020204020204" pitchFamily="34" charset="-122"/>
                <a:ea typeface="微软雅黑" panose="020B0503020204020204" pitchFamily="34" charset="-122"/>
                <a:sym typeface="+mn-ea"/>
              </a:rPr>
              <a:t>截止目前，数字重庆标准规范体系制修订计划（一期）已发布</a:t>
            </a:r>
            <a:r>
              <a:rPr lang="en-US" altLang="zh-CN" sz="2400" b="1" dirty="0">
                <a:solidFill>
                  <a:srgbClr val="C00000"/>
                </a:solidFill>
                <a:latin typeface="微软雅黑" panose="020B0503020204020204" pitchFamily="34" charset="-122"/>
                <a:ea typeface="微软雅黑" panose="020B0503020204020204" pitchFamily="34" charset="-122"/>
                <a:sym typeface="+mn-ea"/>
              </a:rPr>
              <a:t>21</a:t>
            </a:r>
            <a:r>
              <a:rPr lang="zh-CN" altLang="en-US" sz="2400" b="1" dirty="0">
                <a:solidFill>
                  <a:srgbClr val="C00000"/>
                </a:solidFill>
                <a:latin typeface="微软雅黑" panose="020B0503020204020204" pitchFamily="34" charset="-122"/>
                <a:ea typeface="微软雅黑" panose="020B0503020204020204" pitchFamily="34" charset="-122"/>
                <a:sym typeface="+mn-ea"/>
              </a:rPr>
              <a:t>项</a:t>
            </a:r>
          </a:p>
        </p:txBody>
      </p:sp>
      <p:graphicFrame>
        <p:nvGraphicFramePr>
          <p:cNvPr id="4" name="表格 3">
            <a:extLst>
              <a:ext uri="{FF2B5EF4-FFF2-40B4-BE49-F238E27FC236}">
                <a16:creationId xmlns:a16="http://schemas.microsoft.com/office/drawing/2014/main" id="{DA6B9D0A-AB3B-704D-B397-1EE4B6715B66}"/>
              </a:ext>
            </a:extLst>
          </p:cNvPr>
          <p:cNvGraphicFramePr/>
          <p:nvPr>
            <p:custDataLst>
              <p:tags r:id="rId2"/>
            </p:custDataLst>
            <p:extLst>
              <p:ext uri="{D42A27DB-BD31-4B8C-83A1-F6EECF244321}">
                <p14:modId xmlns:p14="http://schemas.microsoft.com/office/powerpoint/2010/main" val="2454374927"/>
              </p:ext>
            </p:extLst>
          </p:nvPr>
        </p:nvGraphicFramePr>
        <p:xfrm>
          <a:off x="1083761" y="2329021"/>
          <a:ext cx="10168707" cy="3905456"/>
        </p:xfrm>
        <a:graphic>
          <a:graphicData uri="http://schemas.openxmlformats.org/drawingml/2006/table">
            <a:tbl>
              <a:tblPr/>
              <a:tblGrid>
                <a:gridCol w="1331105">
                  <a:extLst>
                    <a:ext uri="{9D8B030D-6E8A-4147-A177-3AD203B41FA5}">
                      <a16:colId xmlns:a16="http://schemas.microsoft.com/office/drawing/2014/main" val="20000"/>
                    </a:ext>
                  </a:extLst>
                </a:gridCol>
                <a:gridCol w="3737455">
                  <a:extLst>
                    <a:ext uri="{9D8B030D-6E8A-4147-A177-3AD203B41FA5}">
                      <a16:colId xmlns:a16="http://schemas.microsoft.com/office/drawing/2014/main" val="20001"/>
                    </a:ext>
                  </a:extLst>
                </a:gridCol>
                <a:gridCol w="1630555">
                  <a:extLst>
                    <a:ext uri="{9D8B030D-6E8A-4147-A177-3AD203B41FA5}">
                      <a16:colId xmlns:a16="http://schemas.microsoft.com/office/drawing/2014/main" val="20002"/>
                    </a:ext>
                  </a:extLst>
                </a:gridCol>
                <a:gridCol w="3469592">
                  <a:extLst>
                    <a:ext uri="{9D8B030D-6E8A-4147-A177-3AD203B41FA5}">
                      <a16:colId xmlns:a16="http://schemas.microsoft.com/office/drawing/2014/main" val="20003"/>
                    </a:ext>
                  </a:extLst>
                </a:gridCol>
              </a:tblGrid>
              <a:tr h="352208">
                <a:tc gridSpan="4">
                  <a:txBody>
                    <a:bodyPr/>
                    <a:lstStyle/>
                    <a:p>
                      <a:pPr indent="0" algn="ctr">
                        <a:buNone/>
                      </a:pPr>
                      <a:r>
                        <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数字重庆标准规范体系制修订计划（一期）</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70C0"/>
                    </a:solidFill>
                  </a:tcPr>
                </a:tc>
                <a:tc hMerge="1">
                  <a:txBody>
                    <a:bodyPr/>
                    <a:lstStyle/>
                    <a:p>
                      <a:endParaRPr lang="zh-CN"/>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6104">
                <a:tc>
                  <a:txBody>
                    <a:bodyPr/>
                    <a:lstStyle/>
                    <a:p>
                      <a:pPr indent="0" algn="ctr">
                        <a:buNone/>
                      </a:pPr>
                      <a:r>
                        <a:rPr lang="zh-CN" altLang="en-US" sz="1400" b="1" dirty="0">
                          <a:solidFill>
                            <a:srgbClr val="000000"/>
                          </a:solidFill>
                          <a:latin typeface="微软雅黑" panose="020B0503020204020204" pitchFamily="34" charset="-122"/>
                          <a:ea typeface="微软雅黑" panose="020B0503020204020204" pitchFamily="34" charset="-122"/>
                        </a:rPr>
                        <a:t>序号</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altLang="en-US" sz="1400" b="1">
                          <a:solidFill>
                            <a:srgbClr val="000000"/>
                          </a:solidFill>
                          <a:latin typeface="微软雅黑" panose="020B0503020204020204" pitchFamily="34" charset="-122"/>
                          <a:ea typeface="微软雅黑" panose="020B0503020204020204" pitchFamily="34" charset="-122"/>
                        </a:rPr>
                        <a:t>标准规范名称</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altLang="en-US" sz="1400" b="1" dirty="0">
                          <a:solidFill>
                            <a:srgbClr val="000000"/>
                          </a:solidFill>
                          <a:latin typeface="微软雅黑" panose="020B0503020204020204" pitchFamily="34" charset="-122"/>
                          <a:ea typeface="微软雅黑" panose="020B0503020204020204" pitchFamily="34" charset="-122"/>
                        </a:rPr>
                        <a:t>序号</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altLang="en-US" sz="1400" b="1" dirty="0">
                          <a:solidFill>
                            <a:srgbClr val="000000"/>
                          </a:solidFill>
                          <a:latin typeface="微软雅黑" panose="020B0503020204020204" pitchFamily="34" charset="-122"/>
                          <a:ea typeface="微软雅黑" panose="020B0503020204020204" pitchFamily="34" charset="-122"/>
                          <a:sym typeface="+mn-ea"/>
                        </a:rPr>
                        <a:t>标准规范名称</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dirty="0">
                          <a:solidFill>
                            <a:srgbClr val="000000"/>
                          </a:solidFill>
                          <a:latin typeface="微软雅黑" panose="020B0503020204020204" pitchFamily="34" charset="-122"/>
                          <a:ea typeface="微软雅黑" panose="020B0503020204020204" pitchFamily="34" charset="-122"/>
                        </a:rPr>
                        <a:t>重庆市政务数字化应用管理暂行办法</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12</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“渝快政”安全编码规范</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2</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重庆市数据领域行政执法暂行规定</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13</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IRS系统用户行为规范</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3</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dirty="0">
                          <a:solidFill>
                            <a:srgbClr val="000000"/>
                          </a:solidFill>
                          <a:latin typeface="微软雅黑" panose="020B0503020204020204" pitchFamily="34" charset="-122"/>
                          <a:ea typeface="微软雅黑" panose="020B0503020204020204" pitchFamily="34" charset="-122"/>
                        </a:rPr>
                        <a:t>数字重庆通用术语及释义</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14</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IRS系统应用目录编制指南</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4</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“渝快政”用户手册</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15</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IRS系统操作指南</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5</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“渝快政”管理员操作手册</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16</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dirty="0">
                          <a:solidFill>
                            <a:srgbClr val="000000"/>
                          </a:solidFill>
                          <a:latin typeface="微软雅黑" panose="020B0503020204020204" pitchFamily="34" charset="-122"/>
                          <a:ea typeface="微软雅黑" panose="020B0503020204020204" pitchFamily="34" charset="-122"/>
                        </a:rPr>
                        <a:t>IRS系统接口规范</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6</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“渝快政”应用接入管理规范</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17</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dirty="0">
                          <a:solidFill>
                            <a:srgbClr val="000000"/>
                          </a:solidFill>
                          <a:latin typeface="微软雅黑" panose="020B0503020204020204" pitchFamily="34" charset="-122"/>
                          <a:ea typeface="微软雅黑" panose="020B0503020204020204" pitchFamily="34" charset="-122"/>
                        </a:rPr>
                        <a:t>法人库数据规范</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7</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“渝快政”应用接入审核规范</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18</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dirty="0">
                          <a:solidFill>
                            <a:srgbClr val="000000"/>
                          </a:solidFill>
                          <a:latin typeface="微软雅黑" panose="020B0503020204020204" pitchFamily="34" charset="-122"/>
                          <a:ea typeface="微软雅黑" panose="020B0503020204020204" pitchFamily="34" charset="-122"/>
                        </a:rPr>
                        <a:t>自然人库数据规范</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8</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“渝快政”保密指南</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19</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dirty="0">
                          <a:solidFill>
                            <a:srgbClr val="000000"/>
                          </a:solidFill>
                          <a:latin typeface="微软雅黑" panose="020B0503020204020204" pitchFamily="34" charset="-122"/>
                          <a:ea typeface="微软雅黑" panose="020B0503020204020204" pitchFamily="34" charset="-122"/>
                        </a:rPr>
                        <a:t>数据资源目录编制规范</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9</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“渝快政”应用接入技术规范</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20</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dirty="0">
                          <a:solidFill>
                            <a:srgbClr val="000000"/>
                          </a:solidFill>
                          <a:latin typeface="微软雅黑" panose="020B0503020204020204" pitchFamily="34" charset="-122"/>
                          <a:ea typeface="微软雅黑" panose="020B0503020204020204" pitchFamily="34" charset="-122"/>
                        </a:rPr>
                        <a:t>信用信息库数据规范</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10</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a:solidFill>
                            <a:srgbClr val="000000"/>
                          </a:solidFill>
                          <a:latin typeface="微软雅黑" panose="020B0503020204020204" pitchFamily="34" charset="-122"/>
                          <a:ea typeface="微软雅黑" panose="020B0503020204020204" pitchFamily="34" charset="-122"/>
                        </a:rPr>
                        <a:t>“渝快政”运维安全管理规范</a:t>
                      </a:r>
                      <a:endParaRPr lang="zh-CN" altLang="en-US" sz="1400" b="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21</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b="0" dirty="0">
                          <a:solidFill>
                            <a:srgbClr val="000000"/>
                          </a:solidFill>
                          <a:latin typeface="微软雅黑" panose="020B0503020204020204" pitchFamily="34" charset="-122"/>
                          <a:ea typeface="微软雅黑" panose="020B0503020204020204" pitchFamily="34" charset="-122"/>
                        </a:rPr>
                        <a:t>网络资源目录编制规范</a:t>
                      </a:r>
                      <a:endParaRPr lang="zh-CN"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1"/>
                  </a:ext>
                </a:extLst>
              </a:tr>
              <a:tr h="296104">
                <a:tc>
                  <a:txBody>
                    <a:bodyPr/>
                    <a:lstStyle/>
                    <a:p>
                      <a:pPr indent="0" algn="ctr">
                        <a:buNone/>
                      </a:pPr>
                      <a:r>
                        <a:rPr lang="en-US" altLang="en-US" sz="1400" b="0">
                          <a:solidFill>
                            <a:srgbClr val="000000"/>
                          </a:solidFill>
                          <a:latin typeface="微软雅黑" panose="020B0503020204020204" pitchFamily="34" charset="-122"/>
                          <a:ea typeface="微软雅黑" panose="020B0503020204020204" pitchFamily="34" charset="-122"/>
                        </a:rPr>
                        <a:t>11</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zh-CN" sz="1400">
                          <a:solidFill>
                            <a:srgbClr val="000000"/>
                          </a:solidFill>
                          <a:latin typeface="微软雅黑" panose="020B0503020204020204" pitchFamily="34" charset="-122"/>
                          <a:ea typeface="微软雅黑" panose="020B0503020204020204" pitchFamily="34" charset="-122"/>
                          <a:sym typeface="+mn-ea"/>
                        </a:rPr>
                        <a:t>云资源目录编制规范</a:t>
                      </a:r>
                      <a:endParaRPr lang="zh-CN" altLang="en-US" sz="1400" b="0">
                        <a:solidFill>
                          <a:srgbClr val="000000"/>
                        </a:solidFill>
                        <a:latin typeface="微软雅黑" panose="020B0503020204020204" pitchFamily="34" charset="-122"/>
                        <a:ea typeface="微软雅黑" panose="020B0503020204020204" pitchFamily="34" charset="-122"/>
                        <a:sym typeface="+mn-ea"/>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altLang="zh-CN" sz="1400" b="0">
                          <a:solidFill>
                            <a:srgbClr val="000000"/>
                          </a:solidFill>
                          <a:latin typeface="微软雅黑" panose="020B0503020204020204" pitchFamily="34" charset="-122"/>
                          <a:ea typeface="微软雅黑" panose="020B0503020204020204" pitchFamily="34" charset="-122"/>
                        </a:rPr>
                        <a:t>.....</a:t>
                      </a: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endParaRPr lang="en-US" altLang="en-US" sz="1400" b="0" dirty="0">
                        <a:solidFill>
                          <a:srgbClr val="000000"/>
                        </a:solidFill>
                        <a:latin typeface="微软雅黑" panose="020B0503020204020204" pitchFamily="34" charset="-122"/>
                        <a:ea typeface="微软雅黑" panose="020B0503020204020204" pitchFamily="34" charset="-122"/>
                      </a:endParaRPr>
                    </a:p>
                  </a:txBody>
                  <a:tcPr marL="16933" marR="16933" marT="16933" marB="6096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9109010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latin typeface="微软雅黑" panose="020B0503020204020204" pitchFamily="34" charset="-122"/>
                <a:cs typeface="微软雅黑" panose="020B0503020204020204" pitchFamily="34" charset="-122"/>
              </a:rPr>
              <a:t>谢</a:t>
            </a:r>
            <a:r>
              <a:rPr lang="en-US" altLang="zh-CN">
                <a:latin typeface="微软雅黑" panose="020B0503020204020204" pitchFamily="34" charset="-122"/>
                <a:cs typeface="微软雅黑" panose="020B0503020204020204" pitchFamily="34" charset="-122"/>
              </a:rPr>
              <a:t>  </a:t>
            </a:r>
            <a:r>
              <a:rPr lang="zh-CN" altLang="en-US">
                <a:latin typeface="微软雅黑" panose="020B0503020204020204" pitchFamily="34" charset="-122"/>
                <a:cs typeface="微软雅黑" panose="020B0503020204020204" pitchFamily="34" charset="-122"/>
              </a:rPr>
              <a:t>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28076_2*l_h_i*1_2_4"/>
  <p:tag name="KSO_WM_TEMPLATE_CATEGORY" val="diagram"/>
  <p:tag name="KSO_WM_TEMPLATE_INDEX" val="20228076"/>
  <p:tag name="KSO_WM_UNIT_LAYERLEVEL" val="1_1_1"/>
  <p:tag name="KSO_WM_TAG_VERSION" val="1.0"/>
  <p:tag name="KSO_WM_BEAUTIFY_FLAG" val=""/>
  <p:tag name="KSO_WM_UNIT_FILL_FORE_SCHEMECOLOR_INDEX" val="6"/>
  <p:tag name="KSO_WM_UNIT_FILL_TYPE" val="1"/>
  <p:tag name="KSO_WM_UNIT_TEXT_FILL_FORE_SCHEMECOLOR_INDEX" val="2"/>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074_1_1"/>
  <p:tag name="KSO_WM_UNIT_ID" val="diagram20227672_4*m_h_f*1074_1_1"/>
  <p:tag name="KSO_WM_TEMPLATE_CATEGORY" val="diagram"/>
  <p:tag name="KSO_WM_TEMPLATE_INDEX" val="20227672"/>
  <p:tag name="KSO_WM_UNIT_LAYERLEVEL" val="1_1_1"/>
  <p:tag name="KSO_WM_TAG_VERSION" val="1.0"/>
  <p:tag name="KSO_WM_BEAUTIFY_FLAG" val=""/>
  <p:tag name="KSO_WM_UNIT_TEXT_FILL_FORE_SCHEMECOLOR_INDEX" val="14"/>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074_1_1"/>
  <p:tag name="KSO_WM_UNIT_ID" val="diagram20227672_4*m_h_f*1074_1_1"/>
  <p:tag name="KSO_WM_TEMPLATE_CATEGORY" val="diagram"/>
  <p:tag name="KSO_WM_TEMPLATE_INDEX" val="20227672"/>
  <p:tag name="KSO_WM_UNIT_LAYERLEVEL" val="1_1_1"/>
  <p:tag name="KSO_WM_TAG_VERSION" val="1.0"/>
  <p:tag name="KSO_WM_BEAUTIFY_FLAG" val=""/>
  <p:tag name="KSO_WM_UNIT_TEXT_FILL_FORE_SCHEMECOLOR_INDEX" val="14"/>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074_1_1"/>
  <p:tag name="KSO_WM_UNIT_ID" val="diagram20227672_4*m_h_f*1074_1_1"/>
  <p:tag name="KSO_WM_TEMPLATE_CATEGORY" val="diagram"/>
  <p:tag name="KSO_WM_TEMPLATE_INDEX" val="20227672"/>
  <p:tag name="KSO_WM_UNIT_LAYERLEVEL" val="1_1_1"/>
  <p:tag name="KSO_WM_TAG_VERSION" val="1.0"/>
  <p:tag name="KSO_WM_BEAUTIFY_FLAG" val=""/>
  <p:tag name="KSO_WM_UNIT_TEXT_FILL_FORE_SCHEMECOLOR_INDEX" val="14"/>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634_4*l_h_a*1_1_1"/>
  <p:tag name="KSO_WM_TEMPLATE_CATEGORY" val="diagram"/>
  <p:tag name="KSO_WM_TEMPLATE_INDEX" val="634"/>
  <p:tag name="KSO_WM_UNIT_LAYERLEVEL" val="1_1_1"/>
  <p:tag name="KSO_WM_TAG_VERSION" val="1.0"/>
  <p:tag name="KSO_WM_BEAUTIFY_FLAG" val=""/>
  <p:tag name="KSO_WM_UNIT_PRESET_TEXT" val="添加标题"/>
  <p:tag name="KSO_WM_UNIT_FILL_FORE_SCHEMECOLOR_INDEX" val="5"/>
  <p:tag name="KSO_WM_UNIT_FILL_TYPE" val="1"/>
  <p:tag name="KSO_WM_UNIT_TEXT_FILL_FORE_SCHEMECOLOR_INDEX" val="14"/>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634_4*l_h_a*1_1_1"/>
  <p:tag name="KSO_WM_TEMPLATE_CATEGORY" val="diagram"/>
  <p:tag name="KSO_WM_TEMPLATE_INDEX" val="634"/>
  <p:tag name="KSO_WM_UNIT_LAYERLEVEL" val="1_1_1"/>
  <p:tag name="KSO_WM_TAG_VERSION" val="1.0"/>
  <p:tag name="KSO_WM_BEAUTIFY_FLAG" val=""/>
  <p:tag name="KSO_WM_UNIT_PRESET_TEXT" val="添加标题"/>
  <p:tag name="KSO_WM_UNIT_FILL_FORE_SCHEMECOLOR_INDEX" val="5"/>
  <p:tag name="KSO_WM_UNIT_FILL_TYPE" val="1"/>
  <p:tag name="KSO_WM_UNIT_TEXT_FILL_FORE_SCHEMECOLOR_INDEX" val="14"/>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diagram"/>
  <p:tag name="KSO_WM_TEMPLATE_INDEX" val="20170302"/>
  <p:tag name="KSO_WM_UNIT_TYPE" val="l_h_f"/>
  <p:tag name="KSO_WM_UNIT_INDEX" val="1_1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2*l_h_f*1_1_1"/>
  <p:tag name="KSO_WM_UNIT_TEXT_FILL_FORE_SCHEMECOLOR_INDEX" val="13"/>
  <p:tag name="KSO_WM_UNIT_TEXT_FILL_TYPE"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diagram"/>
  <p:tag name="KSO_WM_TEMPLATE_INDEX" val="20170302"/>
  <p:tag name="KSO_WM_UNIT_TYPE" val="l_h_f"/>
  <p:tag name="KSO_WM_UNIT_INDEX" val="1_1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2*l_h_f*1_1_1"/>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diagram"/>
  <p:tag name="KSO_WM_TEMPLATE_INDEX" val="20170302"/>
  <p:tag name="KSO_WM_UNIT_TYPE" val="l_h_f"/>
  <p:tag name="KSO_WM_UNIT_INDEX" val="1_1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2*l_h_f*1_1_1"/>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UNIT_ID" val="diagram160545_3*l_h_f*1_1_1"/>
  <p:tag name="KSO_WM_TEMPLATE_CATEGORY" val="diagram"/>
  <p:tag name="KSO_WM_TEMPLATE_INDEX" val="160545"/>
  <p:tag name="KSO_WM_UNIT_TYPE" val="l_h_f"/>
  <p:tag name="KSO_WM_UNIT_INDEX" val="1_1_1"/>
  <p:tag name="KSO_WM_UNIT_CLEAR" val="1"/>
  <p:tag name="KSO_WM_UNIT_LAYERLEVEL" val="1_1_1"/>
  <p:tag name="KSO_WM_UNIT_VALUE" val="84"/>
  <p:tag name="KSO_WM_UNIT_HIGHLIGHT" val="0"/>
  <p:tag name="KSO_WM_UNIT_COMPATIBLE" val="0"/>
  <p:tag name="KSO_WM_UNIT_PRESET_TEXT_INDEX" val="4"/>
  <p:tag name="KSO_WM_DIAGRAM_GROUP_CODE" val="l1-1"/>
  <p:tag name="KSO_WM_UNIT_PRESET_TEXT_LEN" val="45"/>
  <p:tag name="KSO_WM_UNIT_SHADOW_SCHEMECOLOR_INDEX" val="16"/>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168787_3*l_h_i*1_1_3"/>
  <p:tag name="KSO_WM_TEMPLATE_CATEGORY" val="diagram"/>
  <p:tag name="KSO_WM_TEMPLATE_INDEX" val="20168787"/>
  <p:tag name="KSO_WM_UNIT_LAYERLEVEL" val="1_1_1"/>
  <p:tag name="KSO_WM_TAG_VERSION" val="1.0"/>
  <p:tag name="KSO_WM_BEAUTIFY_FLAG" val=""/>
  <p:tag name="KSO_WM_UNIT_LINE_FORE_SCHEMECOLOR_INDEX" val="5"/>
  <p:tag name="KSO_WM_UNIT_LINE_FILL_TYPE" val="2"/>
  <p:tag name="KSO_WM_UNIT_TEXT_FILL_FORE_SCHEMECOLOR_INDEX" val="2"/>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
  <p:tag name="KSO_WM_UNIT_FILL_FORE_SCHEMECOLOR_INDEX" val="5"/>
  <p:tag name="KSO_WM_UNIT_FILL_TYPE" val="1"/>
  <p:tag name="KSO_WM_UNIT_TEXT_FILL_FORE_SCHEMECOLOR_INDEX" val="2"/>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68787_3*l_h_a*1_1_1"/>
  <p:tag name="KSO_WM_TEMPLATE_CATEGORY" val="diagram"/>
  <p:tag name="KSO_WM_TEMPLATE_INDEX" val="20168787"/>
  <p:tag name="KSO_WM_UNIT_LAYERLEVEL" val="1_1_1"/>
  <p:tag name="KSO_WM_TAG_VERSION" val="1.0"/>
  <p:tag name="KSO_WM_BEAUTIFY_FLAG" val=""/>
  <p:tag name="KSO_WM_UNIT_PRESET_TEXT" val="添加标题"/>
  <p:tag name="KSO_WM_UNIT_TEXT_FILL_FORE_SCHEMECOLOR_INDEX" val="14"/>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168787_3*l_h_i*1_1_3"/>
  <p:tag name="KSO_WM_TEMPLATE_CATEGORY" val="diagram"/>
  <p:tag name="KSO_WM_TEMPLATE_INDEX" val="20168787"/>
  <p:tag name="KSO_WM_UNIT_LAYERLEVEL" val="1_1_1"/>
  <p:tag name="KSO_WM_TAG_VERSION" val="1.0"/>
  <p:tag name="KSO_WM_BEAUTIFY_FLAG" val=""/>
  <p:tag name="KSO_WM_UNIT_LINE_FORE_SCHEMECOLOR_INDEX" val="5"/>
  <p:tag name="KSO_WM_UNIT_LINE_FILL_TYPE" val="2"/>
  <p:tag name="KSO_WM_UNIT_TEXT_FILL_FORE_SCHEMECOLOR_INDEX" val="2"/>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
  <p:tag name="KSO_WM_UNIT_FILL_FORE_SCHEMECOLOR_INDEX" val="5"/>
  <p:tag name="KSO_WM_UNIT_FILL_TYPE" val="1"/>
  <p:tag name="KSO_WM_UNIT_TEXT_FILL_FORE_SCHEMECOLOR_INDEX" val="2"/>
  <p:tag name="KSO_WM_UNIT_TEXT_FILL_TYPE" val="1"/>
</p:tagLst>
</file>

<file path=ppt/tags/tag13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68787_3*l_h_a*1_1_1"/>
  <p:tag name="KSO_WM_TEMPLATE_CATEGORY" val="diagram"/>
  <p:tag name="KSO_WM_TEMPLATE_INDEX" val="20168787"/>
  <p:tag name="KSO_WM_UNIT_LAYERLEVEL" val="1_1_1"/>
  <p:tag name="KSO_WM_TAG_VERSION" val="1.0"/>
  <p:tag name="KSO_WM_BEAUTIFY_FLAG" val=""/>
  <p:tag name="KSO_WM_UNIT_PRESET_TEXT" val="添加标题"/>
  <p:tag name="KSO_WM_UNIT_TEXT_FILL_FORE_SCHEMECOLOR_INDEX" val="14"/>
  <p:tag name="KSO_WM_UNIT_TEXT_FILL_TYPE" val="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168787_3*l_h_i*1_1_3"/>
  <p:tag name="KSO_WM_TEMPLATE_CATEGORY" val="diagram"/>
  <p:tag name="KSO_WM_TEMPLATE_INDEX" val="20168787"/>
  <p:tag name="KSO_WM_UNIT_LAYERLEVEL" val="1_1_1"/>
  <p:tag name="KSO_WM_TAG_VERSION" val="1.0"/>
  <p:tag name="KSO_WM_BEAUTIFY_FLAG" val=""/>
  <p:tag name="KSO_WM_UNIT_LINE_FORE_SCHEMECOLOR_INDEX" val="5"/>
  <p:tag name="KSO_WM_UNIT_LINE_FILL_TYPE" val="2"/>
  <p:tag name="KSO_WM_UNIT_TEXT_FILL_FORE_SCHEMECOLOR_INDEX" val="2"/>
  <p:tag name="KSO_WM_UNIT_TEXT_FILL_TYPE" val="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
  <p:tag name="KSO_WM_UNIT_FILL_FORE_SCHEMECOLOR_INDEX" val="5"/>
  <p:tag name="KSO_WM_UNIT_FILL_TYPE" val="1"/>
  <p:tag name="KSO_WM_UNIT_TEXT_FILL_FORE_SCHEMECOLOR_INDEX" val="2"/>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68787_3*l_h_a*1_1_1"/>
  <p:tag name="KSO_WM_TEMPLATE_CATEGORY" val="diagram"/>
  <p:tag name="KSO_WM_TEMPLATE_INDEX" val="20168787"/>
  <p:tag name="KSO_WM_UNIT_LAYERLEVEL" val="1_1_1"/>
  <p:tag name="KSO_WM_TAG_VERSION" val="1.0"/>
  <p:tag name="KSO_WM_BEAUTIFY_FLAG" val=""/>
  <p:tag name="KSO_WM_UNIT_PRESET_TEXT" val="添加标题"/>
  <p:tag name="KSO_WM_UNIT_TEXT_FILL_FORE_SCHEMECOLOR_INDEX" val="14"/>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TABLE_ENDDRAG_ORIGIN_RECT" val="648*258"/>
  <p:tag name="TABLE_ENDDRAG_RECT" val="36*90*648*258"/>
  <p:tag name="KSO_WM_UNIT_TABLE_BEAUTIFY" val="smartTable{31a53c84-0208-46d6-8124-caf9b3a2bdfa}"/>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UNIT_TABLE_BEAUTIFY" val="smartTable{ea1e52d0-d47f-4153-ba51-2c91459615d7}"/>
  <p:tag name="TABLE_ENDDRAG_ORIGIN_RECT" val="613*265"/>
  <p:tag name="TABLE_ENDDRAG_RECT" val="72*88*613*265"/>
</p:tagLst>
</file>

<file path=ppt/tags/tag191.xml><?xml version="1.0" encoding="utf-8"?>
<p:tagLst xmlns:a="http://schemas.openxmlformats.org/drawingml/2006/main" xmlns:r="http://schemas.openxmlformats.org/officeDocument/2006/relationships" xmlns:p="http://schemas.openxmlformats.org/presentationml/2006/main">
  <p:tag name="KSO_WM_UNIT_TABLE_BEAUTIFY" val="smartTable{ea1e52d0-d47f-4153-ba51-2c91459615d7}"/>
  <p:tag name="TABLE_ENDDRAG_ORIGIN_RECT" val="666*350"/>
  <p:tag name="TABLE_ENDDRAG_RECT" val="25*38*666*350"/>
</p:tagLst>
</file>

<file path=ppt/tags/tag192.xml><?xml version="1.0" encoding="utf-8"?>
<p:tagLst xmlns:a="http://schemas.openxmlformats.org/drawingml/2006/main" xmlns:r="http://schemas.openxmlformats.org/officeDocument/2006/relationships" xmlns:p="http://schemas.openxmlformats.org/presentationml/2006/main">
  <p:tag name="KSO_WM_UNIT_TABLE_BEAUTIFY" val="smartTable{ea1e52d0-d47f-4153-ba51-2c91459615d7}"/>
  <p:tag name="TABLE_ENDDRAG_ORIGIN_RECT" val="613*265"/>
  <p:tag name="TABLE_ENDDRAG_RECT" val="72*88*613*265"/>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UNIT_TABLE_BEAUTIFY" val="smartTable{a8c457ef-e745-4560-b07a-60158849cb6a}"/>
  <p:tag name="TABLE_ENDDRAG_ORIGIN_RECT" val="692*350"/>
  <p:tag name="TABLE_ENDDRAG_RECT" val="14*54*692*350"/>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7977_2*l_h_i*1_1_2"/>
  <p:tag name="KSO_WM_TEMPLATE_CATEGORY" val="diagram"/>
  <p:tag name="KSO_WM_TEMPLATE_INDEX" val="20227977"/>
  <p:tag name="KSO_WM_UNIT_LAYERLEVEL" val="1_1_1"/>
  <p:tag name="KSO_WM_TAG_VERSION" val="1.0"/>
  <p:tag name="KSO_WM_BEAUTIFY_FLAG" val=""/>
  <p:tag name="KSO_WM_DIAGRAM_GROUP_CODE" val="l1-1"/>
  <p:tag name="KSO_WM_UNIT_TYPE" val="l_h_i"/>
  <p:tag name="KSO_WM_UNIT_INDEX" val="1_1_2"/>
  <p:tag name="KSO_WM_UNIT_FILL_FORE_SCHEMECOLOR_INDEX" val="5"/>
  <p:tag name="KSO_WM_UNIT_FILL_TYPE" val="1"/>
  <p:tag name="KSO_WM_UNIT_TEXT_FILL_FORE_SCHEMECOLOR_INDEX" val="2"/>
  <p:tag name="KSO_WM_UNIT_TEXT_FILL_TYPE" val="1"/>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7977_2*l_h_i*1_1_3"/>
  <p:tag name="KSO_WM_TEMPLATE_CATEGORY" val="diagram"/>
  <p:tag name="KSO_WM_TEMPLATE_INDEX" val="20227977"/>
  <p:tag name="KSO_WM_UNIT_LAYERLEVEL" val="1_1_1"/>
  <p:tag name="KSO_WM_TAG_VERSION" val="1.0"/>
  <p:tag name="KSO_WM_BEAUTIFY_FLAG" val=""/>
  <p:tag name="KSO_WM_DIAGRAM_GROUP_CODE" val="l1-1"/>
  <p:tag name="KSO_WM_UNIT_TYPE" val="l_h_i"/>
  <p:tag name="KSO_WM_UNIT_INDEX" val="1_1_3"/>
  <p:tag name="KSO_WM_UNIT_FILL_FORE_SCHEMECOLOR_INDEX" val="5"/>
  <p:tag name="KSO_WM_UNIT_FILL_TYPE" val="1"/>
  <p:tag name="KSO_WM_UNIT_TEXT_FILL_FORE_SCHEMECOLOR_INDEX" val="2"/>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7977_2*l_h_i*1_2_1"/>
  <p:tag name="KSO_WM_TEMPLATE_CATEGORY" val="diagram"/>
  <p:tag name="KSO_WM_TEMPLATE_INDEX" val="20227977"/>
  <p:tag name="KSO_WM_UNIT_LAYERLEVEL" val="1_1_1"/>
  <p:tag name="KSO_WM_TAG_VERSION" val="1.0"/>
  <p:tag name="KSO_WM_BEAUTIFY_FLAG" val=""/>
  <p:tag name="KSO_WM_DIAGRAM_GROUP_CODE" val="l1-1"/>
  <p:tag name="KSO_WM_UNIT_TYPE" val="l_h_i"/>
  <p:tag name="KSO_WM_UNIT_INDEX" val="1_2_1"/>
  <p:tag name="KSO_WM_UNIT_FILL_FORE_SCHEMECOLOR_INDEX" val="8"/>
  <p:tag name="KSO_WM_UNIT_FILL_TYPE" val="1"/>
  <p:tag name="KSO_WM_UNIT_TEXT_FILL_FORE_SCHEMECOLOR_INDEX" val="2"/>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7977_2*l_h_i*1_2_2"/>
  <p:tag name="KSO_WM_TEMPLATE_CATEGORY" val="diagram"/>
  <p:tag name="KSO_WM_TEMPLATE_INDEX" val="20227977"/>
  <p:tag name="KSO_WM_UNIT_LAYERLEVEL" val="1_1_1"/>
  <p:tag name="KSO_WM_TAG_VERSION" val="1.0"/>
  <p:tag name="KSO_WM_BEAUTIFY_FLAG" val=""/>
  <p:tag name="KSO_WM_DIAGRAM_GROUP_CODE" val="l1-1"/>
  <p:tag name="KSO_WM_UNIT_TYPE" val="l_h_i"/>
  <p:tag name="KSO_WM_UNIT_INDEX" val="1_2_2"/>
  <p:tag name="KSO_WM_UNIT_FILL_FORE_SCHEMECOLOR_INDEX" val="8"/>
  <p:tag name="KSO_WM_UNIT_FILL_TYPE" val="1"/>
  <p:tag name="KSO_WM_UNIT_TEXT_FILL_FORE_SCHEMECOLOR_INDEX" val="2"/>
  <p:tag name="KSO_WM_UNIT_TEXT_FILL_TYPE" val="1"/>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7977_2*l_h_i*1_1_2"/>
  <p:tag name="KSO_WM_TEMPLATE_CATEGORY" val="diagram"/>
  <p:tag name="KSO_WM_TEMPLATE_INDEX" val="20227977"/>
  <p:tag name="KSO_WM_UNIT_LAYERLEVEL" val="1_1_1"/>
  <p:tag name="KSO_WM_TAG_VERSION" val="1.0"/>
  <p:tag name="KSO_WM_BEAUTIFY_FLAG" val=""/>
  <p:tag name="KSO_WM_DIAGRAM_GROUP_CODE" val="l1-1"/>
  <p:tag name="KSO_WM_UNIT_TYPE" val="l_h_i"/>
  <p:tag name="KSO_WM_UNIT_INDEX" val="1_1_2"/>
  <p:tag name="KSO_WM_UNIT_FILL_FORE_SCHEMECOLOR_INDEX" val="5"/>
  <p:tag name="KSO_WM_UNIT_FILL_TYPE" val="1"/>
  <p:tag name="KSO_WM_UNIT_TEXT_FILL_FORE_SCHEMECOLOR_INDEX" val="2"/>
  <p:tag name="KSO_WM_UNIT_TEXT_FILL_TYPE" val="1"/>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7977_2*l_h_i*1_1_3"/>
  <p:tag name="KSO_WM_TEMPLATE_CATEGORY" val="diagram"/>
  <p:tag name="KSO_WM_TEMPLATE_INDEX" val="20227977"/>
  <p:tag name="KSO_WM_UNIT_LAYERLEVEL" val="1_1_1"/>
  <p:tag name="KSO_WM_TAG_VERSION" val="1.0"/>
  <p:tag name="KSO_WM_BEAUTIFY_FLAG" val=""/>
  <p:tag name="KSO_WM_DIAGRAM_GROUP_CODE" val="l1-1"/>
  <p:tag name="KSO_WM_UNIT_TYPE" val="l_h_i"/>
  <p:tag name="KSO_WM_UNIT_INDEX" val="1_1_3"/>
  <p:tag name="KSO_WM_UNIT_FILL_FORE_SCHEMECOLOR_INDEX" val="5"/>
  <p:tag name="KSO_WM_UNIT_FILL_TYPE" val="1"/>
  <p:tag name="KSO_WM_UNIT_TEXT_FILL_FORE_SCHEMECOLOR_INDEX" val="2"/>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UNIT_TABLE_BEAUTIFY" val="smartTable{ea1e52d0-d47f-4153-ba51-2c91459615d7}"/>
  <p:tag name="TABLE_ENDDRAG_ORIGIN_RECT" val="698*384"/>
  <p:tag name="TABLE_ENDDRAG_RECT" val="14*49*698*384"/>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493_1_1"/>
  <p:tag name="KSO_WM_UNIT_ID" val="diagram20228010_2*l_h_i*493_1_1"/>
  <p:tag name="KSO_WM_TEMPLATE_CATEGORY" val="diagram"/>
  <p:tag name="KSO_WM_TEMPLATE_INDEX" val="20228010"/>
  <p:tag name="KSO_WM_UNIT_LAYERLEVEL" val="1_1_1"/>
  <p:tag name="KSO_WM_TAG_VERSION" val="1.0"/>
  <p:tag name="KSO_WM_BEAUTIFY_FLAG" val="#wm#"/>
  <p:tag name="KSO_WM_UNIT_LINE_FORE_SCHEMECOLOR_INDEX" val="5"/>
  <p:tag name="KSO_WM_UNIT_LINE_FILL_TYPE" val="2"/>
</p:tagLst>
</file>

<file path=ppt/tags/tag24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493_1_1"/>
  <p:tag name="KSO_WM_UNIT_ID" val="diagram20228010_2*l_h_f*493_1_1"/>
  <p:tag name="KSO_WM_TEMPLATE_CATEGORY" val="diagram"/>
  <p:tag name="KSO_WM_TEMPLATE_INDEX" val="20228010"/>
  <p:tag name="KSO_WM_UNIT_LAYERLEVEL" val="1_1_1"/>
  <p:tag name="KSO_WM_TAG_VERSION" val="1.0"/>
  <p:tag name="KSO_WM_BEAUTIFY_FLAG" val="#wm#"/>
  <p:tag name="KSO_WM_UNIT_TEXT_FILL_FORE_SCHEMECOLOR_INDEX" val="13"/>
  <p:tag name="KSO_WM_UNIT_TEXT_FILL_TYPE" val="1"/>
</p:tagLst>
</file>

<file path=ppt/tags/tag24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493_2_1"/>
  <p:tag name="KSO_WM_UNIT_ID" val="diagram20228010_2*l_h_f*493_2_1"/>
  <p:tag name="KSO_WM_TEMPLATE_CATEGORY" val="diagram"/>
  <p:tag name="KSO_WM_TEMPLATE_INDEX" val="20228010"/>
  <p:tag name="KSO_WM_UNIT_LAYERLEVEL" val="1_1_1"/>
  <p:tag name="KSO_WM_TAG_VERSION" val="1.0"/>
  <p:tag name="KSO_WM_BEAUTIFY_FLAG" val="#wm#"/>
  <p:tag name="KSO_WM_UNIT_TEXT_FILL_FORE_SCHEMECOLOR_INDEX" val="13"/>
  <p:tag name="KSO_WM_UNIT_TEXT_FILL_TYPE" val="1"/>
</p:tagLst>
</file>

<file path=ppt/tags/tag24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493_1_1"/>
  <p:tag name="KSO_WM_UNIT_ID" val="diagram20228010_2*l_h_a*493_1_1"/>
  <p:tag name="KSO_WM_TEMPLATE_CATEGORY" val="diagram"/>
  <p:tag name="KSO_WM_TEMPLATE_INDEX" val="20228010"/>
  <p:tag name="KSO_WM_UNIT_LAYERLEVEL" val="1_1_1"/>
  <p:tag name="KSO_WM_TAG_VERSION" val="1.0"/>
  <p:tag name="KSO_WM_BEAUTIFY_FLAG" val="#wm#"/>
  <p:tag name="KSO_WM_UNIT_TEXT_FILL_FORE_SCHEMECOLOR_INDEX" val="5"/>
  <p:tag name="KSO_WM_UNIT_TEXT_FILL_TYPE" val="1"/>
</p:tagLst>
</file>

<file path=ppt/tags/tag246.xml><?xml version="1.0" encoding="utf-8"?>
<p:tagLst xmlns:a="http://schemas.openxmlformats.org/drawingml/2006/main" xmlns:r="http://schemas.openxmlformats.org/officeDocument/2006/relationships" xmlns:p="http://schemas.openxmlformats.org/presentationml/2006/main">
  <p:tag name="KSO_WM_UNIT_VALUE" val="139*139"/>
  <p:tag name="KSO_WM_UNIT_HIGHLIGHT" val="0"/>
  <p:tag name="KSO_WM_UNIT_COMPATIBLE" val="0"/>
  <p:tag name="KSO_WM_UNIT_DIAGRAM_ISNUMVISUAL" val="0"/>
  <p:tag name="KSO_WM_UNIT_DIAGRAM_ISREFERUNIT" val="0"/>
  <p:tag name="KSO_WM_DIAGRAM_GROUP_CODE" val="l1-1"/>
  <p:tag name="KSO_WM_UNIT_TYPE" val="l_h_x"/>
  <p:tag name="KSO_WM_UNIT_INDEX" val="493_1_1"/>
  <p:tag name="KSO_WM_UNIT_ID" val="diagram20228010_2*l_h_x*493_1_1"/>
  <p:tag name="KSO_WM_TEMPLATE_CATEGORY" val="diagram"/>
  <p:tag name="KSO_WM_TEMPLATE_INDEX" val="20228010"/>
  <p:tag name="KSO_WM_UNIT_LAYERLEVEL" val="1_1_1"/>
  <p:tag name="KSO_WM_TAG_VERSION" val="1.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493_1_1"/>
  <p:tag name="KSO_WM_UNIT_ID" val="diagram20228010_2*l_h_i*493_1_1"/>
  <p:tag name="KSO_WM_TEMPLATE_CATEGORY" val="diagram"/>
  <p:tag name="KSO_WM_TEMPLATE_INDEX" val="20228010"/>
  <p:tag name="KSO_WM_UNIT_LAYERLEVEL" val="1_1_1"/>
  <p:tag name="KSO_WM_TAG_VERSION" val="1.0"/>
  <p:tag name="KSO_WM_BEAUTIFY_FLAG" val="#wm#"/>
  <p:tag name="KSO_WM_UNIT_LINE_FORE_SCHEMECOLOR_INDEX" val="5"/>
  <p:tag name="KSO_WM_UNIT_LINE_FILL_TYPE" val="2"/>
</p:tagLst>
</file>

<file path=ppt/tags/tag248.xml><?xml version="1.0" encoding="utf-8"?>
<p:tagLst xmlns:a="http://schemas.openxmlformats.org/drawingml/2006/main" xmlns:r="http://schemas.openxmlformats.org/officeDocument/2006/relationships" xmlns:p="http://schemas.openxmlformats.org/presentationml/2006/main">
  <p:tag name="KSO_WM_UNIT_VALUE" val="145*145"/>
  <p:tag name="KSO_WM_UNIT_HIGHLIGHT" val="0"/>
  <p:tag name="KSO_WM_UNIT_COMPATIBLE" val="0"/>
  <p:tag name="KSO_WM_UNIT_DIAGRAM_ISNUMVISUAL" val="0"/>
  <p:tag name="KSO_WM_UNIT_DIAGRAM_ISREFERUNIT" val="0"/>
  <p:tag name="KSO_WM_DIAGRAM_GROUP_CODE" val="l1-1"/>
  <p:tag name="KSO_WM_UNIT_TYPE" val="l_h_x"/>
  <p:tag name="KSO_WM_UNIT_INDEX" val="493_2_1"/>
  <p:tag name="KSO_WM_UNIT_ID" val="diagram20228010_2*l_h_x*493_2_1"/>
  <p:tag name="KSO_WM_TEMPLATE_CATEGORY" val="diagram"/>
  <p:tag name="KSO_WM_TEMPLATE_INDEX" val="20228010"/>
  <p:tag name="KSO_WM_UNIT_LAYERLEVEL" val="1_1_1"/>
  <p:tag name="KSO_WM_TAG_VERSION" val="1.0"/>
  <p:tag name="KSO_WM_BEAUTIFY_FLAG" val="#wm#"/>
</p:tagLst>
</file>

<file path=ppt/tags/tag2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493_1_1"/>
  <p:tag name="KSO_WM_UNIT_ID" val="diagram20228010_2*l_h_a*493_1_1"/>
  <p:tag name="KSO_WM_TEMPLATE_CATEGORY" val="diagram"/>
  <p:tag name="KSO_WM_TEMPLATE_INDEX" val="20228010"/>
  <p:tag name="KSO_WM_UNIT_LAYERLEVEL" val="1_1_1"/>
  <p:tag name="KSO_WM_TAG_VERSION" val="1.0"/>
  <p:tag name="KSO_WM_BEAUTIFY_FLAG" val="#wm#"/>
  <p:tag name="KSO_WM_UNIT_TEXT_FILL_FORE_SCHEMECOLOR_INDEX" val="5"/>
  <p:tag name="KSO_WM_UNIT_TEXT_FILL_TYPE" val="1"/>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UNIT_TABLE_BEAUTIFY" val="smartTable{7feec7ed-02c3-40b5-98d0-2a35550c0fc3}"/>
  <p:tag name="TABLE_ENDDRAG_ORIGIN_RECT" val="690*330"/>
  <p:tag name="TABLE_ENDDRAG_RECT" val="18*52*690*330"/>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074_1_1"/>
  <p:tag name="KSO_WM_UNIT_ID" val="diagram20227672_4*m_h_i*1074_1_1"/>
  <p:tag name="KSO_WM_TEMPLATE_CATEGORY" val="diagram"/>
  <p:tag name="KSO_WM_TEMPLATE_INDEX" val="20227672"/>
  <p:tag name="KSO_WM_UNIT_LAYERLEVEL" val="1_1_1"/>
  <p:tag name="KSO_WM_TAG_VERSION" val="1.0"/>
  <p:tag name="KSO_WM_BEAUTIFY_FLAG" val=""/>
  <p:tag name="KSO_WM_UNIT_FILL_FORE_SCHEMECOLOR_INDEX" val="5"/>
  <p:tag name="KSO_WM_UNIT_FILL_TYPE" val="1"/>
  <p:tag name="KSO_WM_UNIT_TEXT_FILL_FORE_SCHEMECOLOR_INDEX" val="2"/>
  <p:tag name="KSO_WM_UNIT_TEXT_FILL_TYPE" val="1"/>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27930_2*l_h_i*1_1_2"/>
  <p:tag name="KSO_WM_TEMPLATE_CATEGORY" val="diagram"/>
  <p:tag name="KSO_WM_TEMPLATE_INDEX" val="20227930"/>
  <p:tag name="KSO_WM_UNIT_LAYERLEVEL" val="1_1_1"/>
  <p:tag name="KSO_WM_TAG_VERSION" val="1.0"/>
  <p:tag name="KSO_WM_BEAUTIFY_FLAG" val=""/>
  <p:tag name="KSO_WM_UNIT_FILL_FORE_SCHEMECOLOR_INDEX" val="5"/>
  <p:tag name="KSO_WM_UNIT_FILL_TYPE" val="1"/>
  <p:tag name="KSO_WM_UNIT_GLOW_SCHEMECOLOR_INDEX" val="5"/>
  <p:tag name="KSO_WM_UNIT_TEXT_FILL_FORE_SCHEMECOLOR_INDEX" val="2"/>
  <p:tag name="KSO_WM_UNIT_TEXT_FILL_TYPE" val="1"/>
</p:tagLst>
</file>

<file path=ppt/tags/tag287.xml><?xml version="1.0" encoding="utf-8"?>
<p:tagLst xmlns:a="http://schemas.openxmlformats.org/drawingml/2006/main" xmlns:r="http://schemas.openxmlformats.org/officeDocument/2006/relationships" xmlns:p="http://schemas.openxmlformats.org/presentationml/2006/main">
  <p:tag name="KSO_WM_UNIT_VALUE" val="151*151"/>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27930_2*l_h_x*1_1_1"/>
  <p:tag name="KSO_WM_TEMPLATE_CATEGORY" val="diagram"/>
  <p:tag name="KSO_WM_TEMPLATE_INDEX" val="20227930"/>
  <p:tag name="KSO_WM_UNIT_LAYERLEVEL" val="1_1_1"/>
  <p:tag name="KSO_WM_TAG_VERSION" val="1.0"/>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27930_2*l_h_i*1_2_2"/>
  <p:tag name="KSO_WM_TEMPLATE_CATEGORY" val="diagram"/>
  <p:tag name="KSO_WM_TEMPLATE_INDEX" val="20227930"/>
  <p:tag name="KSO_WM_UNIT_LAYERLEVEL" val="1_1_1"/>
  <p:tag name="KSO_WM_TAG_VERSION" val="1.0"/>
  <p:tag name="KSO_WM_BEAUTIFY_FLAG" val=""/>
  <p:tag name="KSO_WM_UNIT_FILL_FORE_SCHEMECOLOR_INDEX" val="8"/>
  <p:tag name="KSO_WM_UNIT_FILL_TYPE" val="1"/>
  <p:tag name="KSO_WM_UNIT_GLOW_SCHEMECOLOR_INDEX" val="8"/>
  <p:tag name="KSO_WM_UNIT_TEXT_FILL_FORE_SCHEMECOLOR_INDEX" val="2"/>
  <p:tag name="KSO_WM_UNIT_TEXT_FILL_TYPE" val="1"/>
</p:tagLst>
</file>

<file path=ppt/tags/tag289.xml><?xml version="1.0" encoding="utf-8"?>
<p:tagLst xmlns:a="http://schemas.openxmlformats.org/drawingml/2006/main" xmlns:r="http://schemas.openxmlformats.org/officeDocument/2006/relationships" xmlns:p="http://schemas.openxmlformats.org/presentationml/2006/main">
  <p:tag name="KSO_WM_UNIT_VALUE" val="151*151"/>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27930_2*l_h_x*1_2_1"/>
  <p:tag name="KSO_WM_TEMPLATE_CATEGORY" val="diagram"/>
  <p:tag name="KSO_WM_TEMPLATE_INDEX" val="20227930"/>
  <p:tag name="KSO_WM_UNIT_LAYERLEVEL" val="1_1_1"/>
  <p:tag name="KSO_WM_TAG_VERSION" val="1.0"/>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964,&quot;width&quot;:3420}"/>
  <p:tag name="KSO_WM_UNIT_TABLE_BEAUTIFY" val="smartTable{efde4082-f695-4e32-a3a8-5e04f24e96ec}"/>
  <p:tag name="TABLE_ENDDRAG_ORIGIN_RECT" val="603*303"/>
  <p:tag name="TABLE_ENDDRAG_RECT" val="70*77*603*30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5910</Words>
  <Application>Microsoft Macintosh PowerPoint</Application>
  <PresentationFormat>宽屏</PresentationFormat>
  <Paragraphs>664</Paragraphs>
  <Slides>56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56</vt:i4>
      </vt:variant>
    </vt:vector>
  </HeadingPairs>
  <TitlesOfParts>
    <vt:vector size="65" baseType="lpstr">
      <vt:lpstr>等线</vt:lpstr>
      <vt:lpstr>方正黑体_GBK</vt:lpstr>
      <vt:lpstr>Microsoft YaHei</vt:lpstr>
      <vt:lpstr>Microsoft YaHei</vt:lpstr>
      <vt:lpstr>Arial</vt:lpstr>
      <vt:lpstr>Impact</vt:lpstr>
      <vt:lpstr>Times New Roman</vt:lpstr>
      <vt:lpstr>Wingdings</vt:lpstr>
      <vt:lpstr>Office 主题​​</vt:lpstr>
      <vt:lpstr>《重庆市政务数字化应用管理暂行办法》及《重庆市政务数字化应用开发操作指南》解读</vt:lpstr>
      <vt:lpstr>PowerPoint 演示文稿</vt:lpstr>
      <vt:lpstr>PowerPoint 演示文稿</vt:lpstr>
      <vt:lpstr>目录</vt:lpstr>
      <vt:lpstr>01 适用范围及术语解释</vt:lpstr>
      <vt:lpstr>1.1适用范围</vt:lpstr>
      <vt:lpstr>1.2相关术语解释</vt:lpstr>
      <vt:lpstr>1.2相关术语解释</vt:lpstr>
      <vt:lpstr>1.2相关术语解释</vt:lpstr>
      <vt:lpstr>PowerPoint 演示文稿</vt:lpstr>
      <vt:lpstr>PowerPoint 演示文稿</vt:lpstr>
      <vt:lpstr>1.2相关术语解释</vt:lpstr>
      <vt:lpstr>02 应用谋划</vt:lpstr>
      <vt:lpstr>2.1“三张清单”阶段流程 </vt:lpstr>
      <vt:lpstr>2.2应用谋划原则及要求</vt:lpstr>
      <vt:lpstr>2.3应用种类</vt:lpstr>
      <vt:lpstr>2.4应用的项目类别</vt:lpstr>
      <vt:lpstr>2.5应用的开发模式</vt:lpstr>
      <vt:lpstr>2.6应用查重及复用</vt:lpstr>
      <vt:lpstr>2.7应用开发方案编制要求</vt:lpstr>
      <vt:lpstr>2.8 应用运维方案编制要求</vt:lpstr>
      <vt:lpstr>03 应用申报及审核</vt:lpstr>
      <vt:lpstr>3.1 联合评审机制</vt:lpstr>
      <vt:lpstr>3.2 应用申报范围及边界</vt:lpstr>
      <vt:lpstr>3.3 应用专项资金边界</vt:lpstr>
      <vt:lpstr>3.4 应用申报流程</vt:lpstr>
      <vt:lpstr>3.5 应用开发资金需求计划·申报及审核</vt:lpstr>
      <vt:lpstr>3.6 应用开发方案·申报及审核</vt:lpstr>
      <vt:lpstr>3.7 应用运维方案·申报及审核</vt:lpstr>
      <vt:lpstr>3.8 涉及中央资金的应用申报及审核</vt:lpstr>
      <vt:lpstr>3.8 涉及中央资金的应用申报及审核</vt:lpstr>
      <vt:lpstr>PowerPoint 演示文稿</vt:lpstr>
      <vt:lpstr>4.1 预算申报流程</vt:lpstr>
      <vt:lpstr>4.2 预算编制管理</vt:lpstr>
      <vt:lpstr>4.3 2023年追加预算流程（存量应用）</vt:lpstr>
      <vt:lpstr>4.4 特别说明</vt:lpstr>
      <vt:lpstr>05 组织实施及验收</vt:lpstr>
      <vt:lpstr>5.1  组织实施</vt:lpstr>
      <vt:lpstr>5.2  组织实施</vt:lpstr>
      <vt:lpstr>5.3  应用变更</vt:lpstr>
      <vt:lpstr>5.4  应用开发验收</vt:lpstr>
      <vt:lpstr>5.5  应用开发验收</vt:lpstr>
      <vt:lpstr>06应用绩效评价</vt:lpstr>
      <vt:lpstr>6.1 应用评价及运用</vt:lpstr>
      <vt:lpstr>6.2 专项资金绩效评价</vt:lpstr>
      <vt:lpstr>07 区县应用管理</vt:lpstr>
      <vt:lpstr>7.1 区县500万元（含）以上应用开发备案审查流程</vt:lpstr>
      <vt:lpstr>7.2  区县500万元（含）以上的应用开发管理</vt:lpstr>
      <vt:lpstr>7.3  区县500万元以下的应用开发管理</vt:lpstr>
      <vt:lpstr>7.4  区县应用编目要求</vt:lpstr>
      <vt:lpstr>7.5  注意事项</vt:lpstr>
      <vt:lpstr>08 特别说明</vt:lpstr>
      <vt:lpstr>8.1  有关要求</vt:lpstr>
      <vt:lpstr>8.2  近期印发的系列文件</vt:lpstr>
      <vt:lpstr>8.3  已发布标准规范</vt:lpstr>
      <vt:lpstr>谢  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jie li</dc:creator>
  <cp:lastModifiedBy>jie li</cp:lastModifiedBy>
  <cp:revision>56</cp:revision>
  <dcterms:created xsi:type="dcterms:W3CDTF">2023-08-07T02:00:40Z</dcterms:created>
  <dcterms:modified xsi:type="dcterms:W3CDTF">2023-08-09T11:00:56Z</dcterms:modified>
</cp:coreProperties>
</file>