
<file path=[Content_Types].xml><?xml version="1.0" encoding="utf-8"?>
<Types xmlns="http://schemas.openxmlformats.org/package/2006/content-types">
  <Default Extension="vml" ContentType="application/vnd.openxmlformats-officedocument.vmlDrawing"/>
  <Default Extension="pptx" ContentType="application/vnd.openxmlformats-officedocument.presentationml.presentation"/>
  <Default Extension="png" ContentType="image/png"/>
  <Default Extension="jpeg" ContentType="image/jpeg"/>
  <Default Extension="JPG" ContentType="image/.jp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40"/>
  </p:handoutMasterIdLst>
  <p:sldIdLst>
    <p:sldId id="1530" r:id="rId4"/>
    <p:sldId id="1531" r:id="rId6"/>
    <p:sldId id="1532" r:id="rId7"/>
    <p:sldId id="1533" r:id="rId8"/>
    <p:sldId id="1534" r:id="rId9"/>
    <p:sldId id="1535" r:id="rId10"/>
    <p:sldId id="1536" r:id="rId11"/>
    <p:sldId id="1537" r:id="rId12"/>
    <p:sldId id="1538" r:id="rId13"/>
    <p:sldId id="1539" r:id="rId14"/>
    <p:sldId id="1540" r:id="rId15"/>
    <p:sldId id="1541" r:id="rId16"/>
    <p:sldId id="1542" r:id="rId17"/>
    <p:sldId id="1543" r:id="rId18"/>
    <p:sldId id="1544" r:id="rId19"/>
    <p:sldId id="1545" r:id="rId20"/>
    <p:sldId id="1546" r:id="rId21"/>
    <p:sldId id="1547" r:id="rId22"/>
    <p:sldId id="1548" r:id="rId23"/>
    <p:sldId id="1549" r:id="rId24"/>
    <p:sldId id="1550" r:id="rId25"/>
    <p:sldId id="1551" r:id="rId26"/>
    <p:sldId id="1552" r:id="rId27"/>
    <p:sldId id="1553" r:id="rId28"/>
    <p:sldId id="1554" r:id="rId29"/>
    <p:sldId id="1555" r:id="rId30"/>
    <p:sldId id="1556" r:id="rId31"/>
    <p:sldId id="1557" r:id="rId32"/>
    <p:sldId id="1558" r:id="rId33"/>
    <p:sldId id="1559" r:id="rId34"/>
    <p:sldId id="1560" r:id="rId35"/>
    <p:sldId id="1561" r:id="rId36"/>
    <p:sldId id="1562" r:id="rId37"/>
    <p:sldId id="1563" r:id="rId38"/>
    <p:sldId id="1564" r:id="rId39"/>
  </p:sldIdLst>
  <p:sldSz cx="12192000" cy="6858000"/>
  <p:notesSz cx="6797675" cy="9926320"/>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6" userDrawn="1">
          <p15:clr>
            <a:srgbClr val="A4A3A4"/>
          </p15:clr>
        </p15:guide>
        <p15:guide id="2" pos="39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n jane" initials="sj" lastIdx="2" clrIdx="0"/>
  <p:cmAuthor id="0" name="余红建/ZJSXFJ" initials="余红建" lastIdx="1" clrIdx="0"/>
  <p:cmAuthor id="2" name="邵阳" initials="邵" lastIdx="2" clrIdx="0"/>
  <p:cmAuthor id="3" name="益财" initials="益" lastIdx="1" clrIdx="1"/>
  <p:cmAuthor id="4" name="yankeyu" initials="yankeyu" lastIdx="1" clrIdx="0"/>
  <p:cmAuthor id="5" name="刘乾勇" initials="刘" lastIdx="1" clrIdx="3"/>
  <p:cmAuthor id="6" name="Nhoj unpromising" initials="N" lastIdx="2" clrIdx="4"/>
  <p:cmAuthor id="7" name="作者" initials="作" lastIdx="0" clrIdx="24"/>
  <p:cmAuthor id="8" name="zpz" initials="z" lastIdx="1" clrIdx="5"/>
  <p:cmAuthor id="9" name="LENOVO" initials="L" lastIdx="1" clrIdx="6"/>
  <p:cmAuthor id="10" name="舟瑶" initials="舟" lastIdx="0" clrIdx="6"/>
  <p:cmAuthor id="11" name="Charles Caize Guo" initials="C" lastIdx="7" clrIdx="9"/>
  <p:cmAuthor id="12" name="James Shihao Zhou" initials="J" lastIdx="43" clrIdx="10"/>
  <p:cmAuthor id="13" name="Emily Lu Chen" initials="E" lastIdx="3" clrIdx="11"/>
  <p:cmAuthor id="14" name="Windows 用户" initials="W" lastIdx="8" clrIdx="12"/>
  <p:cmAuthor id="15" name="xu,qiaohan" initials="x" lastIdx="1" clrIdx="13"/>
  <p:cmAuthor id="16" name="wang luyan" initials="w" lastIdx="1" clrIdx="13"/>
  <p:cmAuthor id="17" name="Happy" initials="H" lastIdx="2" clrIdx="14"/>
  <p:cmAuthor id="18" name="李 里" initials="李" lastIdx="3" clrIdx="17"/>
  <p:cmAuthor id="19" name="Lennox" initials="L" lastIdx="2" clrIdx="17"/>
  <p:cmAuthor id="20" name="hscli" initials="h" lastIdx="2" clrIdx="17"/>
  <p:cmAuthor id="21" name="徐津津" initials="徐" lastIdx="1" clrIdx="25"/>
  <p:cmAuthor id="287643681" name="殷格非" initials="殷" lastIdx="2" clrIdx="0"/>
  <p:cmAuthor id="22" name="wb_zhangjing173" initials="w" lastIdx="1" clrIdx="19"/>
  <p:cmAuthor id="23" name="陈冲" initials="CC" lastIdx="6" clrIdx="22"/>
  <p:cmAuthor id="287643682" name="z r" initials="zr" lastIdx="5" clrIdx="12"/>
  <p:cmAuthor id="24" name="史婷婷" initials="史" lastIdx="786497536" clrIdx="0"/>
  <p:cmAuthor id="191251535" name="沈霄雷" initials="沈" lastIdx="833089" clrIdx="0"/>
  <p:cmAuthor id="287643683" name="剑碧 颜" initials="剑颜" lastIdx="2" clrIdx="191251537"/>
  <p:cmAuthor id="25" name="未知用户21" initials="未" lastIdx="3" clrIdx="0"/>
  <p:cmAuthor id="191251536" name="李哲(ZheLi)-顺丰科技" initials="a" lastIdx="1" clrIdx="11"/>
  <p:cmAuthor id="26" name="User" initials="U" lastIdx="8" clrIdx="0"/>
  <p:cmAuthor id="191251537" name="Echo" initials="E" lastIdx="1" clrIdx="191251536"/>
  <p:cmAuthor id="27" name="微软用户" initials="微" lastIdx="27" clrIdx="0"/>
  <p:cmAuthor id="28" name="熊 帅" initials="熊" lastIdx="1" clrIdx="0"/>
  <p:cmAuthor id="29" name="未知用户11" initials="未" lastIdx="2" clrIdx="0"/>
  <p:cmAuthor id="30" name="徐圣语" initials="徐" lastIdx="1" clrIdx="1"/>
  <p:cmAuthor id="31" name="吕昕" initials="吕" lastIdx="3" clrIdx="0"/>
  <p:cmAuthor id="32" name="刘新国" initials="刘" lastIdx="1" clrIdx="6"/>
  <p:cmAuthor id="33" name="NTKO" initials="N" lastIdx="1" clrIdx="8"/>
  <p:cmAuthor id="34" name="ali maher" initials="a" lastIdx="27" clrIdx="33"/>
  <p:cmAuthor id="35" name="王梓" initials="王" lastIdx="1" clrIdx="0"/>
  <p:cmAuthor id="36" name="su liqin" initials="sl" lastIdx="1" clrIdx="35"/>
  <p:cmAuthor id="77" name="欧 志芳" initials="欧" lastIdx="1" clrIdx="26"/>
  <p:cmAuthor id="37" name="micromap" initials="m" lastIdx="1" clrIdx="13"/>
  <p:cmAuthor id="38" name="高军" initials="高" lastIdx="1" clrIdx="25"/>
  <p:cmAuthor id="39" name="xsbai" initials="x" lastIdx="1" clrIdx="37"/>
  <p:cmAuthor id="40" name="lenovo" initials="l" lastIdx="1" clrIdx="39"/>
  <p:cmAuthor id="41" name="kingsoft" initials="k" lastIdx="1" clrIdx="0"/>
  <p:cmAuthor id="42" name="刘 译璟" initials="刘" lastIdx="32" clrIdx="0"/>
  <p:cmAuthor id="43" name="未知用户13" initials="未" lastIdx="2" clrIdx="0"/>
  <p:cmAuthor id="44" name="陈元" initials="陈" lastIdx="0" clrIdx="1"/>
  <p:cmAuthor id="45" name="topway" initials="t" lastIdx="1" clrIdx="0"/>
  <p:cmAuthor id="6871913" name="红旗的理想" initials="红" lastIdx="273105" clrIdx="0"/>
  <p:cmAuthor id="6871914" name="shq316" initials="s" lastIdx="2" clrIdx="2"/>
  <p:cmAuthor id="6871915" name="shq316@vod365.com" initials="s" lastIdx="3" clrIdx="3"/>
  <p:cmAuthor id="6871916" name="yang fengyu" initials="yf"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FFFFFF"/>
    <a:srgbClr val="5D1FF9"/>
    <a:srgbClr val="5FD8FF"/>
    <a:srgbClr val="DEEBF7"/>
    <a:srgbClr val="EB4420"/>
    <a:srgbClr val="2F5597"/>
    <a:srgbClr val="08509C"/>
    <a:srgbClr val="00B050"/>
    <a:srgbClr val="D2DEEF"/>
    <a:srgbClr val="588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364DEFD-1D1D-45AC-B6A7-0296249E4342}" styleName="{96a5a69e-e2c1-4257-9d08-7c964cdb7bb0}">
    <a:wholeTbl>
      <a:tcTxStyle>
        <a:fontRef idx="none">
          <a:prstClr val="black"/>
        </a:fontRef>
      </a:tcTxStyle>
      <a:tcStyle>
        <a:tcBdr/>
        <a:fill>
          <a:solidFill>
            <a:srgbClr val="C6BCAB"/>
          </a:solidFill>
        </a:fill>
      </a:tcStyle>
    </a:wholeTbl>
    <a:band1H>
      <a:tcTxStyle>
        <a:fontRef idx="none">
          <a:prstClr val="black"/>
        </a:fontRef>
      </a:tcTxStyle>
      <a:tcStyle>
        <a:tcBdr>
          <a:left>
            <a:ln w="9525" cmpd="sng">
              <a:solidFill>
                <a:srgbClr val="EAEAEA"/>
              </a:solidFill>
            </a:ln>
          </a:left>
          <a:right>
            <a:ln w="9525" cmpd="sng">
              <a:solidFill>
                <a:srgbClr val="EAEAEA"/>
              </a:solidFill>
            </a:ln>
          </a:right>
          <a:top>
            <a:ln w="9525" cmpd="sng">
              <a:solidFill>
                <a:srgbClr val="EAEAEA"/>
              </a:solidFill>
            </a:ln>
          </a:top>
          <a:bottom>
            <a:ln w="9525" cmpd="sng">
              <a:solidFill>
                <a:srgbClr val="EAEAEA"/>
              </a:solidFill>
            </a:ln>
          </a:bottom>
          <a:insideH>
            <a:ln w="9525" cmpd="sng">
              <a:solidFill>
                <a:srgbClr val="EAEAEA"/>
              </a:solidFill>
            </a:ln>
          </a:insideH>
          <a:insideV>
            <a:ln w="9525" cmpd="sng">
              <a:solidFill>
                <a:srgbClr val="EAEAEA"/>
              </a:solidFill>
            </a:ln>
          </a:insideV>
        </a:tcBdr>
        <a:fill>
          <a:solidFill>
            <a:srgbClr val="D0E0F4"/>
          </a:solidFill>
        </a:fill>
      </a:tcStyle>
    </a:band1H>
    <a:band2H>
      <a:tcTxStyle>
        <a:fontRef idx="none">
          <a:prstClr val="black"/>
        </a:fontRef>
      </a:tcTxStyle>
      <a:tcStyle>
        <a:tcBdr>
          <a:left>
            <a:ln w="6350" cmpd="sng">
              <a:solidFill>
                <a:srgbClr val="EAEAEA"/>
              </a:solidFill>
            </a:ln>
          </a:left>
          <a:right>
            <a:ln w="6350" cmpd="sng">
              <a:solidFill>
                <a:srgbClr val="EAEAEA"/>
              </a:solidFill>
            </a:ln>
          </a:right>
          <a:top>
            <a:ln w="6350" cmpd="sng">
              <a:solidFill>
                <a:srgbClr val="EAEAEA"/>
              </a:solidFill>
            </a:ln>
          </a:top>
          <a:bottom>
            <a:ln w="6350" cmpd="sng">
              <a:solidFill>
                <a:srgbClr val="EAEAEA"/>
              </a:solidFill>
            </a:ln>
          </a:bottom>
          <a:insideH>
            <a:ln w="6350" cmpd="sng">
              <a:solidFill>
                <a:srgbClr val="EAEAEA"/>
              </a:solidFill>
            </a:ln>
          </a:insideH>
          <a:insideV>
            <a:ln w="6350" cmpd="sng">
              <a:solidFill>
                <a:srgbClr val="EAEAEA"/>
              </a:solidFill>
            </a:ln>
          </a:insideV>
        </a:tcBdr>
        <a:fill>
          <a:solidFill>
            <a:srgbClr val="D0E0F4"/>
          </a:solidFill>
        </a:fill>
      </a:tcStyle>
    </a:band2H>
    <a:lastRow>
      <a:tcTxStyle>
        <a:fontRef idx="none">
          <a:prstClr val="black"/>
        </a:fontRef>
      </a:tcTxStyle>
      <a:tcStyle>
        <a:tcBdr>
          <a:top>
            <a:ln w="28575" cmpd="sng">
              <a:solidFill>
                <a:srgbClr val="4684D3"/>
              </a:solidFill>
            </a:ln>
          </a:top>
        </a:tcBdr>
        <a:fill>
          <a:solidFill>
            <a:srgbClr val="DCDCDC"/>
          </a:solidFill>
        </a:fill>
      </a:tcStyle>
    </a:lastRow>
    <a:firstRow>
      <a:tcTxStyle>
        <a:fontRef idx="none">
          <a:prstClr val="black"/>
        </a:fontRef>
      </a:tcTxStyle>
      <a:tcStyle>
        <a:tcBdr>
          <a:bottom>
            <a:ln w="28575" cmpd="sng">
              <a:solidFill>
                <a:srgbClr val="4684D3"/>
              </a:solidFill>
            </a:ln>
          </a:bottom>
        </a:tcBdr>
        <a:fill>
          <a:solidFill>
            <a:srgbClr val="FEFEFE"/>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83" autoAdjust="0"/>
    <p:restoredTop sz="96366" autoAdjust="0"/>
  </p:normalViewPr>
  <p:slideViewPr>
    <p:cSldViewPr showGuides="1">
      <p:cViewPr varScale="1">
        <p:scale>
          <a:sx n="66" d="100"/>
          <a:sy n="66" d="100"/>
        </p:scale>
        <p:origin x="77" y="629"/>
      </p:cViewPr>
      <p:guideLst>
        <p:guide orient="horz" pos="2316"/>
        <p:guide pos="3946"/>
      </p:guideLst>
    </p:cSldViewPr>
  </p:slideViewPr>
  <p:notesTextViewPr>
    <p:cViewPr>
      <p:scale>
        <a:sx n="1" d="1"/>
        <a:sy n="1" d="1"/>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5" Type="http://schemas.openxmlformats.org/officeDocument/2006/relationships/tags" Target="tags/tag288.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650"/>
          </a:xfrm>
          <a:prstGeom prst="rect">
            <a:avLst/>
          </a:prstGeom>
        </p:spPr>
        <p:txBody>
          <a:bodyPr vert="horz" lIns="91440" tIns="45720" rIns="91440" bIns="45720" rtlCol="0"/>
          <a:lstStyle>
            <a:lvl1pPr algn="l">
              <a:defRPr sz="1180"/>
            </a:lvl1pPr>
          </a:lstStyle>
          <a:p>
            <a:endParaRPr lang="zh-CN" altLang="en-US">
              <a:ea typeface="微软雅黑" panose="020B0503020204020204" charset="-122"/>
            </a:endParaRPr>
          </a:p>
        </p:txBody>
      </p:sp>
      <p:sp>
        <p:nvSpPr>
          <p:cNvPr id="3" name="日期占位符 2"/>
          <p:cNvSpPr>
            <a:spLocks noGrp="1"/>
          </p:cNvSpPr>
          <p:nvPr>
            <p:ph type="dt" sz="quarter" idx="1"/>
          </p:nvPr>
        </p:nvSpPr>
        <p:spPr>
          <a:xfrm>
            <a:off x="3816573" y="0"/>
            <a:ext cx="2919748" cy="540650"/>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ea typeface="微软雅黑" panose="020B0503020204020204" charset="-122"/>
              </a:rPr>
            </a:fld>
            <a:endParaRPr lang="zh-CN" altLang="en-US">
              <a:ea typeface="微软雅黑" panose="020B0503020204020204" charset="-122"/>
            </a:endParaRPr>
          </a:p>
        </p:txBody>
      </p:sp>
      <p:sp>
        <p:nvSpPr>
          <p:cNvPr id="4" name="页脚占位符 3"/>
          <p:cNvSpPr>
            <a:spLocks noGrp="1"/>
          </p:cNvSpPr>
          <p:nvPr>
            <p:ph type="ftr" sz="quarter" idx="2"/>
          </p:nvPr>
        </p:nvSpPr>
        <p:spPr>
          <a:xfrm>
            <a:off x="0" y="10234923"/>
            <a:ext cx="2919748" cy="540649"/>
          </a:xfrm>
          <a:prstGeom prst="rect">
            <a:avLst/>
          </a:prstGeom>
        </p:spPr>
        <p:txBody>
          <a:bodyPr vert="horz" lIns="91440" tIns="45720" rIns="91440" bIns="45720" rtlCol="0" anchor="b"/>
          <a:lstStyle>
            <a:lvl1pPr algn="l">
              <a:defRPr sz="1180"/>
            </a:lvl1pPr>
          </a:lstStyle>
          <a:p>
            <a:endParaRPr lang="zh-CN" altLang="en-US">
              <a:ea typeface="微软雅黑" panose="020B0503020204020204" charset="-122"/>
            </a:endParaRPr>
          </a:p>
        </p:txBody>
      </p:sp>
      <p:sp>
        <p:nvSpPr>
          <p:cNvPr id="5" name="灯片编号占位符 4"/>
          <p:cNvSpPr>
            <a:spLocks noGrp="1"/>
          </p:cNvSpPr>
          <p:nvPr>
            <p:ph type="sldNum" sz="quarter" idx="3"/>
          </p:nvPr>
        </p:nvSpPr>
        <p:spPr>
          <a:xfrm>
            <a:off x="3816573" y="10234923"/>
            <a:ext cx="2919748" cy="540649"/>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ea typeface="微软雅黑" panose="020B0503020204020204" charset="-122"/>
              </a:rPr>
            </a:fld>
            <a:endParaRPr lang="zh-CN" altLang="en-US">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ea typeface="微软雅黑" panose="020B0503020204020204" charset="-122"/>
              </a:defRPr>
            </a:lvl1pPr>
          </a:lstStyle>
          <a:p>
            <a:endParaRPr lang="zh-CN" altLang="en-US"/>
          </a:p>
        </p:txBody>
      </p:sp>
      <p:sp>
        <p:nvSpPr>
          <p:cNvPr id="3" name="日期占位符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ea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1393" y="1241425"/>
            <a:ext cx="5954889"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ea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charset="-122"/>
        <a:cs typeface="+mn-cs"/>
      </a:defRPr>
    </a:lvl1pPr>
    <a:lvl2pPr marL="457200" algn="l" defTabSz="914400" rtl="0" eaLnBrk="1" latinLnBrk="0" hangingPunct="1">
      <a:defRPr sz="1200" kern="1200">
        <a:solidFill>
          <a:schemeClr val="tx1"/>
        </a:solidFill>
        <a:latin typeface="+mn-lt"/>
        <a:ea typeface="微软雅黑" panose="020B0503020204020204" charset="-122"/>
        <a:cs typeface="+mn-cs"/>
      </a:defRPr>
    </a:lvl2pPr>
    <a:lvl3pPr marL="914400" algn="l" defTabSz="914400" rtl="0" eaLnBrk="1" latinLnBrk="0" hangingPunct="1">
      <a:defRPr sz="1200" kern="1200">
        <a:solidFill>
          <a:schemeClr val="tx1"/>
        </a:solidFill>
        <a:latin typeface="+mn-lt"/>
        <a:ea typeface="微软雅黑" panose="020B0503020204020204" charset="-122"/>
        <a:cs typeface="+mn-cs"/>
      </a:defRPr>
    </a:lvl3pPr>
    <a:lvl4pPr marL="1371600" algn="l" defTabSz="914400" rtl="0" eaLnBrk="1" latinLnBrk="0" hangingPunct="1">
      <a:defRPr sz="1200" kern="1200">
        <a:solidFill>
          <a:schemeClr val="tx1"/>
        </a:solidFill>
        <a:latin typeface="+mn-lt"/>
        <a:ea typeface="微软雅黑" panose="020B0503020204020204" charset="-122"/>
        <a:cs typeface="+mn-cs"/>
      </a:defRPr>
    </a:lvl4pPr>
    <a:lvl5pPr marL="1828800" algn="l" defTabSz="914400" rtl="0" eaLnBrk="1" latinLnBrk="0" hangingPunct="1">
      <a:defRPr sz="1200" kern="1200">
        <a:solidFill>
          <a:schemeClr val="tx1"/>
        </a:solidFill>
        <a:latin typeface="+mn-lt"/>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6" cy="899167"/>
          </a:xfrm>
        </p:spPr>
        <p:txBody>
          <a:bodyPr lIns="101600" tIns="38100" rIns="25400" bIns="38100" anchor="t" anchorCtr="0">
            <a:noAutofit/>
          </a:bodyPr>
          <a:lstStyle>
            <a:lvl1pPr algn="ctr">
              <a:defRPr sz="5395"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6"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925" y="1508124"/>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96"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165"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165"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882" y="623591"/>
            <a:ext cx="10852236"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42" y="1122363"/>
            <a:ext cx="9144252"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42" y="3602038"/>
            <a:ext cx="914425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73" y="1709739"/>
            <a:ext cx="1051589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73" y="4589463"/>
            <a:ext cx="1051589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24" y="1825624"/>
            <a:ext cx="5181743" cy="435133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72370" y="1825624"/>
            <a:ext cx="5181743" cy="435133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811" y="365126"/>
            <a:ext cx="1051589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812" y="1681163"/>
            <a:ext cx="515792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812" y="2505075"/>
            <a:ext cx="5157929" cy="36845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72370" y="1681163"/>
            <a:ext cx="518333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370" y="2505075"/>
            <a:ext cx="5183331" cy="36845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812" y="457200"/>
            <a:ext cx="3932346"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331" y="987426"/>
            <a:ext cx="617237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9812" y="2057399"/>
            <a:ext cx="393234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812" y="457200"/>
            <a:ext cx="3932346"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331" y="987426"/>
            <a:ext cx="617237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812" y="2057399"/>
            <a:ext cx="393234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141" y="365125"/>
            <a:ext cx="2628972"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23" y="365125"/>
            <a:ext cx="7734514"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6000" y="6349833"/>
            <a:ext cx="3959999"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sp>
        <p:nvSpPr>
          <p:cNvPr id="8" name="标题 7"/>
          <p:cNvSpPr>
            <a:spLocks noGrp="1"/>
          </p:cNvSpPr>
          <p:nvPr>
            <p:ph type="title" hasCustomPrompt="1"/>
          </p:nvPr>
        </p:nvSpPr>
        <p:spPr>
          <a:xfrm>
            <a:off x="669882" y="581225"/>
            <a:ext cx="10852236"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669925" y="1508124"/>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165"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24" y="365126"/>
            <a:ext cx="1051589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24" y="1825624"/>
            <a:ext cx="10515890" cy="4351339"/>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23" y="6356351"/>
            <a:ext cx="2743276" cy="365125"/>
          </a:xfrm>
          <a:prstGeom prst="rect">
            <a:avLst/>
          </a:prstGeom>
        </p:spPr>
        <p:txBody>
          <a:bodyPr vert="horz" lIns="91440" tIns="45720" rIns="91440" bIns="45720" rtlCol="0" anchor="ctr"/>
          <a:lstStyle>
            <a:lvl1pPr algn="l">
              <a:defRPr sz="1200">
                <a:solidFill>
                  <a:schemeClr val="tx1">
                    <a:tint val="75000"/>
                  </a:schemeClr>
                </a:solidFill>
                <a:ea typeface="微软雅黑" panose="020B0503020204020204" charset="-122"/>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a:off x="4038712" y="6356351"/>
            <a:ext cx="4114914" cy="365125"/>
          </a:xfrm>
          <a:prstGeom prst="rect">
            <a:avLst/>
          </a:prstGeom>
        </p:spPr>
        <p:txBody>
          <a:bodyPr vert="horz" lIns="91440" tIns="45720" rIns="91440" bIns="45720" rtlCol="0" anchor="ctr"/>
          <a:lstStyle>
            <a:lvl1pPr algn="ctr">
              <a:defRPr sz="1200">
                <a:solidFill>
                  <a:schemeClr val="tx1">
                    <a:tint val="75000"/>
                  </a:schemeClr>
                </a:solidFill>
                <a:ea typeface="微软雅黑" panose="020B0503020204020204" charset="-122"/>
              </a:defRPr>
            </a:lvl1pPr>
          </a:lstStyle>
          <a:p>
            <a:endParaRPr lang="zh-CN" altLang="en-US"/>
          </a:p>
        </p:txBody>
      </p:sp>
      <p:sp>
        <p:nvSpPr>
          <p:cNvPr id="6" name="Slide Number Placeholder 5"/>
          <p:cNvSpPr>
            <a:spLocks noGrp="1"/>
          </p:cNvSpPr>
          <p:nvPr>
            <p:ph type="sldNum" sz="quarter" idx="4"/>
          </p:nvPr>
        </p:nvSpPr>
        <p:spPr>
          <a:xfrm>
            <a:off x="8610838" y="6356351"/>
            <a:ext cx="2743276" cy="365125"/>
          </a:xfrm>
          <a:prstGeom prst="rect">
            <a:avLst/>
          </a:prstGeom>
        </p:spPr>
        <p:txBody>
          <a:bodyPr vert="horz" lIns="91440" tIns="45720" rIns="91440" bIns="45720" rtlCol="0" anchor="ctr"/>
          <a:lstStyle>
            <a:lvl1pPr algn="r">
              <a:defRPr sz="1200">
                <a:solidFill>
                  <a:schemeClr val="tx1">
                    <a:tint val="75000"/>
                  </a:schemeClr>
                </a:solidFill>
                <a:ea typeface="微软雅黑" panose="020B0503020204020204"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5" kern="1200">
          <a:solidFill>
            <a:schemeClr val="tx1"/>
          </a:solidFill>
          <a:latin typeface="+mj-lt"/>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微软雅黑" panose="020B0503020204020204" charset="-122"/>
          <a:cs typeface="+mn-cs"/>
        </a:defRPr>
      </a:lvl1pPr>
      <a:lvl2pPr marL="685165" indent="-228600" algn="l" defTabSz="914400" rtl="0" eaLnBrk="1" latinLnBrk="0" hangingPunct="1">
        <a:lnSpc>
          <a:spcPct val="90000"/>
        </a:lnSpc>
        <a:spcBef>
          <a:spcPct val="100000"/>
        </a:spcBef>
        <a:buFont typeface="Arial" panose="020B0604020202020204" pitchFamily="34" charset="0"/>
        <a:buChar char="•"/>
        <a:defRPr sz="2400" kern="1200">
          <a:solidFill>
            <a:schemeClr val="tx1"/>
          </a:solidFill>
          <a:latin typeface="+mn-lt"/>
          <a:ea typeface="微软雅黑" panose="020B0503020204020204" charset="-122"/>
          <a:cs typeface="+mn-cs"/>
        </a:defRPr>
      </a:lvl2pPr>
      <a:lvl3pPr marL="1143000" indent="-228600" algn="l" defTabSz="914400" rtl="0" eaLnBrk="1" latinLnBrk="0" hangingPunct="1">
        <a:lnSpc>
          <a:spcPct val="90000"/>
        </a:lnSpc>
        <a:spcBef>
          <a:spcPct val="100000"/>
        </a:spcBef>
        <a:buFont typeface="Arial" panose="020B0604020202020204" pitchFamily="34" charset="0"/>
        <a:buChar char="•"/>
        <a:defRPr sz="2000" kern="1200">
          <a:solidFill>
            <a:schemeClr val="tx1"/>
          </a:solidFill>
          <a:latin typeface="+mn-lt"/>
          <a:ea typeface="微软雅黑" panose="020B0503020204020204" charset="-122"/>
          <a:cs typeface="+mn-cs"/>
        </a:defRPr>
      </a:lvl3pPr>
      <a:lvl4pPr marL="16002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微软雅黑" panose="020B0503020204020204" charset="-122"/>
          <a:cs typeface="+mn-cs"/>
        </a:defRPr>
      </a:lvl4pPr>
      <a:lvl5pPr marL="2056765"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微软雅黑" panose="020B0503020204020204" charset="-122"/>
          <a:cs typeface="+mn-cs"/>
        </a:defRPr>
      </a:lvl5pPr>
      <a:lvl6pPr marL="25146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3" Type="http://schemas.openxmlformats.org/officeDocument/2006/relationships/slideLayout" Target="../slideLayouts/slideLayout10.xml"/><Relationship Id="rId32" Type="http://schemas.openxmlformats.org/officeDocument/2006/relationships/tags" Target="../tags/tag33.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image" Target="../media/image1.png"/><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0.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2.emf"/><Relationship Id="rId1" Type="http://schemas.openxmlformats.org/officeDocument/2006/relationships/package" Target="../embeddings/Presentation1.pptx"/></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3.png"/><Relationship Id="rId2" Type="http://schemas.openxmlformats.org/officeDocument/2006/relationships/tags" Target="../tags/tag47.xml"/><Relationship Id="rId1" Type="http://schemas.openxmlformats.org/officeDocument/2006/relationships/tags" Target="../tags/tag46.xml"/></Relationships>
</file>

<file path=ppt/slides/_rels/slide6.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59.xml"/><Relationship Id="rId7" Type="http://schemas.openxmlformats.org/officeDocument/2006/relationships/image" Target="../media/image3.png"/><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2" Type="http://schemas.openxmlformats.org/officeDocument/2006/relationships/slideLayout" Target="../slideLayouts/slideLayout10.xml"/><Relationship Id="rId11" Type="http://schemas.openxmlformats.org/officeDocument/2006/relationships/tags" Target="../tags/tag60.xml"/><Relationship Id="rId10" Type="http://schemas.microsoft.com/office/2007/relationships/hdphoto" Target="../media/image5.wdp"/><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image" Target="../media/image3.png"/><Relationship Id="rId1" Type="http://schemas.openxmlformats.org/officeDocument/2006/relationships/tags" Target="../tags/tag61.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image" Target="../media/image3.png"/><Relationship Id="rId1" Type="http://schemas.openxmlformats.org/officeDocument/2006/relationships/tags" Target="../tags/tag68.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image" Target="../media/image3.png"/><Relationship Id="rId1" Type="http://schemas.openxmlformats.org/officeDocument/2006/relationships/tags" Target="../tags/tag75.xml"/></Relationships>
</file>

<file path=ppt/slides/_rels/slide10.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image" Target="../media/image3.png"/><Relationship Id="rId10" Type="http://schemas.openxmlformats.org/officeDocument/2006/relationships/slideLayout" Target="../slideLayouts/slideLayout10.xml"/><Relationship Id="rId1" Type="http://schemas.openxmlformats.org/officeDocument/2006/relationships/tags" Target="../tags/tag82.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02.xml"/><Relationship Id="rId7" Type="http://schemas.openxmlformats.org/officeDocument/2006/relationships/image" Target="../media/image3.png"/><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2" Type="http://schemas.openxmlformats.org/officeDocument/2006/relationships/slideLayout" Target="../slideLayouts/slideLayout10.xml"/><Relationship Id="rId11" Type="http://schemas.openxmlformats.org/officeDocument/2006/relationships/tags" Target="../tags/tag103.xml"/><Relationship Id="rId10" Type="http://schemas.microsoft.com/office/2007/relationships/hdphoto" Target="../media/image7.wdp"/><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ags" Target="../tags/tag109.xml"/><Relationship Id="rId6" Type="http://schemas.openxmlformats.org/officeDocument/2006/relationships/image" Target="../media/image8.jpeg"/><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14.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9" Type="http://schemas.openxmlformats.org/officeDocument/2006/relationships/slideLayout" Target="../slideLayouts/slideLayout10.xml"/><Relationship Id="rId28" Type="http://schemas.openxmlformats.org/officeDocument/2006/relationships/tags" Target="../tags/tag137.xml"/><Relationship Id="rId27" Type="http://schemas.openxmlformats.org/officeDocument/2006/relationships/tags" Target="../tags/tag136.xml"/><Relationship Id="rId26" Type="http://schemas.openxmlformats.org/officeDocument/2006/relationships/tags" Target="../tags/tag135.xml"/><Relationship Id="rId25" Type="http://schemas.openxmlformats.org/officeDocument/2006/relationships/tags" Target="../tags/tag134.xml"/><Relationship Id="rId24" Type="http://schemas.openxmlformats.org/officeDocument/2006/relationships/tags" Target="../tags/tag133.xml"/><Relationship Id="rId23" Type="http://schemas.openxmlformats.org/officeDocument/2006/relationships/tags" Target="../tags/tag132.xml"/><Relationship Id="rId22" Type="http://schemas.openxmlformats.org/officeDocument/2006/relationships/tags" Target="../tags/tag131.xml"/><Relationship Id="rId21" Type="http://schemas.openxmlformats.org/officeDocument/2006/relationships/tags" Target="../tags/tag130.xml"/><Relationship Id="rId20" Type="http://schemas.openxmlformats.org/officeDocument/2006/relationships/tags" Target="../tags/tag129.xml"/><Relationship Id="rId2" Type="http://schemas.openxmlformats.org/officeDocument/2006/relationships/tags" Target="../tags/tag111.xml"/><Relationship Id="rId19" Type="http://schemas.openxmlformats.org/officeDocument/2006/relationships/tags" Target="../tags/tag128.xml"/><Relationship Id="rId18" Type="http://schemas.openxmlformats.org/officeDocument/2006/relationships/tags" Target="../tags/tag127.xml"/><Relationship Id="rId17" Type="http://schemas.openxmlformats.org/officeDocument/2006/relationships/tags" Target="../tags/tag126.xml"/><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tags" Target="../tags/tag110.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148.xml"/><Relationship Id="rId5" Type="http://schemas.openxmlformats.org/officeDocument/2006/relationships/image" Target="../media/image9.jpeg"/><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ags" Target="../tags/tag154.xml"/><Relationship Id="rId6" Type="http://schemas.openxmlformats.org/officeDocument/2006/relationships/image" Target="../media/image8.jpeg"/><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159.xml"/><Relationship Id="rId5" Type="http://schemas.openxmlformats.org/officeDocument/2006/relationships/image" Target="../media/image10.jpeg"/><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ags" Target="../tags/tag165.xml"/><Relationship Id="rId6" Type="http://schemas.openxmlformats.org/officeDocument/2006/relationships/image" Target="../media/image8.jpeg"/><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170.xml"/><Relationship Id="rId5" Type="http://schemas.openxmlformats.org/officeDocument/2006/relationships/image" Target="../media/image11.png"/><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175.xml"/><Relationship Id="rId5" Type="http://schemas.openxmlformats.org/officeDocument/2006/relationships/image" Target="../media/image9.jpeg"/><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22.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image" Target="../media/image3.png"/><Relationship Id="rId10" Type="http://schemas.openxmlformats.org/officeDocument/2006/relationships/slideLayout" Target="../slideLayouts/slideLayout10.xml"/><Relationship Id="rId1" Type="http://schemas.openxmlformats.org/officeDocument/2006/relationships/tags" Target="../tags/tag176.xml"/></Relationships>
</file>

<file path=ppt/slides/_rels/slide23.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tags" Target="../tags/tag190.xml"/><Relationship Id="rId7" Type="http://schemas.openxmlformats.org/officeDocument/2006/relationships/image" Target="../media/image3.png"/><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2" Type="http://schemas.openxmlformats.org/officeDocument/2006/relationships/slideLayout" Target="../slideLayouts/slideLayout10.xml"/><Relationship Id="rId11" Type="http://schemas.openxmlformats.org/officeDocument/2006/relationships/tags" Target="../tags/tag191.xml"/><Relationship Id="rId10" Type="http://schemas.microsoft.com/office/2007/relationships/hdphoto" Target="../media/image13.wdp"/><Relationship Id="rId1" Type="http://schemas.openxmlformats.org/officeDocument/2006/relationships/tags" Target="../tags/tag184.xml"/></Relationships>
</file>

<file path=ppt/slides/_rels/slide24.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image" Target="../media/image3.png"/><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3" Type="http://schemas.openxmlformats.org/officeDocument/2006/relationships/slideLayout" Target="../slideLayouts/slideLayout10.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2.xml"/></Relationships>
</file>

<file path=ppt/slides/_rels/slide25.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image" Target="../media/image3.png"/><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7" Type="http://schemas.openxmlformats.org/officeDocument/2006/relationships/slideLayout" Target="../slideLayouts/slideLayout10.xml"/><Relationship Id="rId26" Type="http://schemas.openxmlformats.org/officeDocument/2006/relationships/tags" Target="../tags/tag227.xml"/><Relationship Id="rId25" Type="http://schemas.openxmlformats.org/officeDocument/2006/relationships/tags" Target="../tags/tag226.xml"/><Relationship Id="rId24" Type="http://schemas.openxmlformats.org/officeDocument/2006/relationships/tags" Target="../tags/tag225.xml"/><Relationship Id="rId23" Type="http://schemas.openxmlformats.org/officeDocument/2006/relationships/tags" Target="../tags/tag224.xml"/><Relationship Id="rId22" Type="http://schemas.openxmlformats.org/officeDocument/2006/relationships/tags" Target="../tags/tag223.xml"/><Relationship Id="rId21" Type="http://schemas.openxmlformats.org/officeDocument/2006/relationships/tags" Target="../tags/tag222.xml"/><Relationship Id="rId20" Type="http://schemas.openxmlformats.org/officeDocument/2006/relationships/tags" Target="../tags/tag221.xml"/><Relationship Id="rId2" Type="http://schemas.openxmlformats.org/officeDocument/2006/relationships/tags" Target="../tags/tag204.xml"/><Relationship Id="rId19" Type="http://schemas.openxmlformats.org/officeDocument/2006/relationships/tags" Target="../tags/tag220.xml"/><Relationship Id="rId18" Type="http://schemas.openxmlformats.org/officeDocument/2006/relationships/tags" Target="../tags/tag219.xml"/><Relationship Id="rId17" Type="http://schemas.openxmlformats.org/officeDocument/2006/relationships/tags" Target="../tags/tag218.xml"/><Relationship Id="rId16" Type="http://schemas.openxmlformats.org/officeDocument/2006/relationships/tags" Target="../tags/tag217.xml"/><Relationship Id="rId15" Type="http://schemas.openxmlformats.org/officeDocument/2006/relationships/tags" Target="../tags/tag216.xml"/><Relationship Id="rId14" Type="http://schemas.openxmlformats.org/officeDocument/2006/relationships/tags" Target="../tags/tag215.xml"/><Relationship Id="rId13" Type="http://schemas.openxmlformats.org/officeDocument/2006/relationships/tags" Target="../tags/tag214.xml"/><Relationship Id="rId12" Type="http://schemas.openxmlformats.org/officeDocument/2006/relationships/tags" Target="../tags/tag213.xml"/><Relationship Id="rId11" Type="http://schemas.openxmlformats.org/officeDocument/2006/relationships/tags" Target="../tags/tag212.xml"/><Relationship Id="rId10" Type="http://schemas.openxmlformats.org/officeDocument/2006/relationships/tags" Target="../tags/tag211.xml"/><Relationship Id="rId1" Type="http://schemas.openxmlformats.org/officeDocument/2006/relationships/tags" Target="../tags/tag203.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234.xml"/><Relationship Id="rId7" Type="http://schemas.openxmlformats.org/officeDocument/2006/relationships/image" Target="../media/image3.png"/><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s>
</file>

<file path=ppt/slides/_rels/slide27.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5" Type="http://schemas.openxmlformats.org/officeDocument/2006/relationships/slideLayout" Target="../slideLayouts/slideLayout10.xml"/><Relationship Id="rId14" Type="http://schemas.openxmlformats.org/officeDocument/2006/relationships/tags" Target="../tags/tag248.xml"/><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tags" Target="../tags/tag245.xml"/><Relationship Id="rId10" Type="http://schemas.openxmlformats.org/officeDocument/2006/relationships/tags" Target="../tags/tag244.xml"/><Relationship Id="rId1" Type="http://schemas.openxmlformats.org/officeDocument/2006/relationships/tags" Target="../tags/tag235.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276.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8305" y="908685"/>
            <a:ext cx="11535410" cy="5175250"/>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5" dirty="0"/>
          </a:p>
        </p:txBody>
      </p:sp>
      <p:sp>
        <p:nvSpPr>
          <p:cNvPr id="7" name="文本框 6"/>
          <p:cNvSpPr txBox="1"/>
          <p:nvPr/>
        </p:nvSpPr>
        <p:spPr>
          <a:xfrm>
            <a:off x="408305" y="2276793"/>
            <a:ext cx="11535410" cy="2214880"/>
          </a:xfrm>
          <a:prstGeom prst="rect">
            <a:avLst/>
          </a:prstGeom>
          <a:noFill/>
          <a:scene3d>
            <a:camera prst="orthographicFront"/>
            <a:lightRig rig="threePt" dir="t"/>
          </a:scene3d>
          <a:sp3d>
            <a:bevelT prst="angle"/>
          </a:sp3d>
        </p:spPr>
        <p:txBody>
          <a:bodyPr wrap="square" rtlCol="0">
            <a:spAutoFit/>
          </a:bodyPr>
          <a:lstStyle/>
          <a:p>
            <a:pPr lvl="0" algn="ctr" fontAlgn="auto">
              <a:lnSpc>
                <a:spcPct val="150000"/>
              </a:lnSpc>
              <a:buClrTx/>
              <a:buSzTx/>
              <a:buFontTx/>
            </a:pPr>
            <a:r>
              <a:rPr sz="4600" b="1" dirty="0">
                <a:ln w="0"/>
                <a:solidFill>
                  <a:schemeClr val="bg1"/>
                </a:solidFill>
                <a:effectLst>
                  <a:outerShdw blurRad="38100" dist="19050" dir="2700000" algn="tl" rotWithShape="0">
                    <a:schemeClr val="dk1">
                      <a:alpha val="40000"/>
                    </a:schemeClr>
                  </a:outerShdw>
                </a:effectLst>
                <a:uFillTx/>
                <a:latin typeface="微软雅黑" panose="020B0503020204020204" charset="-122"/>
                <a:ea typeface="微软雅黑" panose="020B0503020204020204" charset="-122"/>
                <a:cs typeface="方正小标宋_GBK" panose="03000509000000000000" charset="-122"/>
                <a:sym typeface="+mn-ea"/>
              </a:rPr>
              <a:t>依托数字重庆建设“三张清单”</a:t>
            </a:r>
            <a:endParaRPr sz="4600" b="1" dirty="0">
              <a:ln w="0"/>
              <a:solidFill>
                <a:schemeClr val="bg1"/>
              </a:solidFill>
              <a:effectLst>
                <a:outerShdw blurRad="38100" dist="19050" dir="2700000" algn="tl" rotWithShape="0">
                  <a:schemeClr val="dk1">
                    <a:alpha val="40000"/>
                  </a:schemeClr>
                </a:outerShdw>
              </a:effectLst>
              <a:uFillTx/>
              <a:latin typeface="微软雅黑" panose="020B0503020204020204" charset="-122"/>
              <a:ea typeface="微软雅黑" panose="020B0503020204020204" charset="-122"/>
              <a:cs typeface="方正小标宋_GBK" panose="03000509000000000000" charset="-122"/>
              <a:sym typeface="+mn-ea"/>
            </a:endParaRPr>
          </a:p>
          <a:p>
            <a:pPr lvl="0" algn="ctr" fontAlgn="auto">
              <a:lnSpc>
                <a:spcPct val="150000"/>
              </a:lnSpc>
              <a:buClrTx/>
              <a:buSzTx/>
              <a:buFontTx/>
            </a:pPr>
            <a:r>
              <a:rPr sz="4600" b="1" dirty="0">
                <a:ln w="0"/>
                <a:solidFill>
                  <a:schemeClr val="bg1"/>
                </a:solidFill>
                <a:effectLst>
                  <a:outerShdw blurRad="38100" dist="19050" dir="2700000" algn="tl" rotWithShape="0">
                    <a:schemeClr val="dk1">
                      <a:alpha val="40000"/>
                    </a:schemeClr>
                  </a:outerShdw>
                </a:effectLst>
                <a:uFillTx/>
                <a:latin typeface="微软雅黑" panose="020B0503020204020204" charset="-122"/>
                <a:ea typeface="微软雅黑" panose="020B0503020204020204" charset="-122"/>
                <a:cs typeface="方正小标宋_GBK" panose="03000509000000000000" charset="-122"/>
                <a:sym typeface="+mn-ea"/>
              </a:rPr>
              <a:t>推动体系重构流程再造</a:t>
            </a:r>
            <a:endParaRPr sz="4600" b="1" dirty="0">
              <a:ln w="0"/>
              <a:solidFill>
                <a:schemeClr val="bg1"/>
              </a:solidFill>
              <a:effectLst>
                <a:outerShdw blurRad="38100" dist="19050" dir="2700000" algn="tl" rotWithShape="0">
                  <a:schemeClr val="dk1">
                    <a:alpha val="40000"/>
                  </a:schemeClr>
                </a:outerShdw>
              </a:effectLst>
              <a:uFillTx/>
              <a:latin typeface="微软雅黑" panose="020B0503020204020204" charset="-122"/>
              <a:ea typeface="微软雅黑" panose="020B0503020204020204" charset="-122"/>
              <a:cs typeface="方正小标宋_GBK" panose="03000509000000000000"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9"/>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279" y="405436"/>
            <a:ext cx="12146400" cy="720000"/>
          </a:xfrm>
          <a:prstGeom prst="rect">
            <a:avLst/>
          </a:prstGeom>
          <a:gradFill>
            <a:gsLst>
              <a:gs pos="0">
                <a:srgbClr val="0070C0"/>
              </a:gs>
              <a:gs pos="99000">
                <a:srgbClr val="4472C4">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3200" b="1">
                <a:latin typeface="微软雅黑" panose="020B0503020204020204" charset="-122"/>
                <a:ea typeface="微软雅黑" panose="020B0503020204020204" charset="-122"/>
                <a:cs typeface="方正黑体_GBK" panose="03000509000000000000" pitchFamily="65" charset="-122"/>
              </a:rPr>
              <a:t>目</a:t>
            </a:r>
            <a:r>
              <a:rPr kumimoji="1" lang="en-US" altLang="zh-CN" sz="3200" b="1">
                <a:latin typeface="微软雅黑" panose="020B0503020204020204" charset="-122"/>
                <a:ea typeface="微软雅黑" panose="020B0503020204020204" charset="-122"/>
                <a:cs typeface="方正黑体_GBK" panose="03000509000000000000" pitchFamily="65" charset="-122"/>
              </a:rPr>
              <a:t>     </a:t>
            </a:r>
            <a:r>
              <a:rPr kumimoji="1" lang="zh-CN" altLang="en-US" sz="3200" b="1">
                <a:latin typeface="微软雅黑" panose="020B0503020204020204" charset="-122"/>
                <a:ea typeface="微软雅黑" panose="020B0503020204020204" charset="-122"/>
                <a:cs typeface="方正黑体_GBK" panose="03000509000000000000" pitchFamily="65" charset="-122"/>
              </a:rPr>
              <a:t>录</a:t>
            </a:r>
            <a:endParaRPr kumimoji="1" lang="zh-CN" altLang="en-US" sz="3200" b="1">
              <a:latin typeface="微软雅黑" panose="020B0503020204020204" charset="-122"/>
              <a:ea typeface="微软雅黑" panose="020B0503020204020204" charset="-122"/>
              <a:cs typeface="方正黑体_GBK" panose="03000509000000000000" pitchFamily="65" charset="-122"/>
            </a:endParaRPr>
          </a:p>
        </p:txBody>
      </p:sp>
      <p:sp>
        <p:nvSpPr>
          <p:cNvPr id="24" name="文本框 23"/>
          <p:cNvSpPr txBox="1"/>
          <p:nvPr>
            <p:custDataLst>
              <p:tags r:id="rId2"/>
            </p:custDataLst>
          </p:nvPr>
        </p:nvSpPr>
        <p:spPr>
          <a:xfrm>
            <a:off x="2933065" y="1397635"/>
            <a:ext cx="6951345" cy="492760"/>
          </a:xfrm>
          <a:prstGeom prst="rect">
            <a:avLst/>
          </a:prstGeom>
          <a:noFill/>
        </p:spPr>
        <p:txBody>
          <a:bodyPr wrap="square">
            <a:noAutofit/>
          </a:bodyPr>
          <a:lstStyle/>
          <a:p>
            <a:pPr algn="l"/>
            <a:r>
              <a:rPr lang="en-US" altLang="zh-CN" sz="2400" b="1" dirty="0">
                <a:solidFill>
                  <a:srgbClr val="0070C0"/>
                </a:solidFill>
                <a:latin typeface="微软雅黑" panose="020B0503020204020204" charset="-122"/>
                <a:ea typeface="微软雅黑" panose="020B0503020204020204" charset="-122"/>
              </a:rPr>
              <a:t>“</a:t>
            </a:r>
            <a:r>
              <a:rPr lang="zh-CN" altLang="en-US" sz="2400" b="1" dirty="0">
                <a:solidFill>
                  <a:srgbClr val="0070C0"/>
                </a:solidFill>
                <a:latin typeface="微软雅黑" panose="020B0503020204020204" charset="-122"/>
                <a:ea typeface="微软雅黑" panose="020B0503020204020204" charset="-122"/>
              </a:rPr>
              <a:t>三张清单</a:t>
            </a:r>
            <a:r>
              <a:rPr lang="en-US" altLang="zh-CN" sz="2400" b="1" dirty="0">
                <a:solidFill>
                  <a:srgbClr val="0070C0"/>
                </a:solidFill>
                <a:latin typeface="微软雅黑" panose="020B0503020204020204" charset="-122"/>
                <a:ea typeface="微软雅黑" panose="020B0503020204020204" charset="-122"/>
              </a:rPr>
              <a:t>”</a:t>
            </a:r>
            <a:r>
              <a:rPr lang="zh-CN" altLang="en-US" sz="2400" b="1" dirty="0">
                <a:solidFill>
                  <a:srgbClr val="0070C0"/>
                </a:solidFill>
                <a:latin typeface="微软雅黑" panose="020B0503020204020204" charset="-122"/>
                <a:ea typeface="微软雅黑" panose="020B0503020204020204" charset="-122"/>
                <a:sym typeface="+mn-ea"/>
              </a:rPr>
              <a:t>是数字重庆建设规定动作和重要抓手</a:t>
            </a:r>
            <a:endParaRPr lang="zh-CN" altLang="en-US" sz="2400" b="1" dirty="0">
              <a:solidFill>
                <a:srgbClr val="0070C0"/>
              </a:solidFill>
              <a:latin typeface="微软雅黑" panose="020B0503020204020204" charset="-122"/>
              <a:ea typeface="微软雅黑" panose="020B0503020204020204" charset="-122"/>
              <a:sym typeface="+mn-ea"/>
            </a:endParaRPr>
          </a:p>
        </p:txBody>
      </p:sp>
      <p:cxnSp>
        <p:nvCxnSpPr>
          <p:cNvPr id="25" name="直线连接符 21"/>
          <p:cNvCxnSpPr/>
          <p:nvPr>
            <p:custDataLst>
              <p:tags r:id="rId3"/>
            </p:custDataLst>
          </p:nvPr>
        </p:nvCxnSpPr>
        <p:spPr>
          <a:xfrm>
            <a:off x="1875790" y="1972310"/>
            <a:ext cx="7920000"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29" name="平行四边形 28"/>
          <p:cNvSpPr/>
          <p:nvPr>
            <p:custDataLst>
              <p:tags r:id="rId4"/>
            </p:custDataLst>
          </p:nvPr>
        </p:nvSpPr>
        <p:spPr>
          <a:xfrm>
            <a:off x="2096770" y="1421130"/>
            <a:ext cx="781685" cy="475615"/>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平行四边形 29"/>
          <p:cNvSpPr/>
          <p:nvPr>
            <p:custDataLst>
              <p:tags r:id="rId5"/>
            </p:custDataLst>
          </p:nvPr>
        </p:nvSpPr>
        <p:spPr>
          <a:xfrm>
            <a:off x="2027555" y="1348740"/>
            <a:ext cx="781685" cy="475615"/>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p:cNvSpPr txBox="1"/>
          <p:nvPr>
            <p:custDataLst>
              <p:tags r:id="rId6"/>
            </p:custDataLst>
          </p:nvPr>
        </p:nvSpPr>
        <p:spPr>
          <a:xfrm>
            <a:off x="2206625" y="1342390"/>
            <a:ext cx="432435" cy="448310"/>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rPr>
              <a:t>1</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endParaRPr>
          </a:p>
        </p:txBody>
      </p:sp>
      <p:sp>
        <p:nvSpPr>
          <p:cNvPr id="34" name="文本框 33"/>
          <p:cNvSpPr txBox="1"/>
          <p:nvPr>
            <p:custDataLst>
              <p:tags r:id="rId7"/>
            </p:custDataLst>
          </p:nvPr>
        </p:nvSpPr>
        <p:spPr>
          <a:xfrm>
            <a:off x="2967990" y="3366770"/>
            <a:ext cx="6905625" cy="460375"/>
          </a:xfrm>
          <a:prstGeom prst="rect">
            <a:avLst/>
          </a:prstGeom>
          <a:noFill/>
        </p:spPr>
        <p:txBody>
          <a:bodyPr wrap="square">
            <a:spAutoFit/>
          </a:bodyPr>
          <a:p>
            <a:pPr algn="just"/>
            <a:r>
              <a:rPr lang="zh-CN" altLang="en-US" sz="2400" b="1" dirty="0">
                <a:solidFill>
                  <a:srgbClr val="0070C0"/>
                </a:solidFill>
                <a:latin typeface="微软雅黑" panose="020B0503020204020204" charset="-122"/>
                <a:ea typeface="微软雅黑" panose="020B0503020204020204" charset="-122"/>
              </a:rPr>
              <a:t>谋划多跨场景</a:t>
            </a:r>
            <a:r>
              <a:rPr lang="en-US" altLang="zh-CN" sz="2400" b="1" dirty="0">
                <a:solidFill>
                  <a:srgbClr val="0070C0"/>
                </a:solidFill>
                <a:latin typeface="微软雅黑" panose="020B0503020204020204" charset="-122"/>
                <a:ea typeface="微软雅黑" panose="020B0503020204020204" charset="-122"/>
                <a:sym typeface="+mn-ea"/>
              </a:rPr>
              <a:t>      </a:t>
            </a:r>
            <a:r>
              <a:rPr lang="zh-CN" altLang="en-US" sz="2400" b="1" dirty="0">
                <a:solidFill>
                  <a:srgbClr val="0070C0"/>
                </a:solidFill>
                <a:latin typeface="微软雅黑" panose="020B0503020204020204" charset="-122"/>
                <a:ea typeface="微软雅黑" panose="020B0503020204020204" charset="-122"/>
                <a:sym typeface="+mn-ea"/>
              </a:rPr>
              <a:t>产生场景清单</a:t>
            </a:r>
            <a:endParaRPr lang="en-US" altLang="zh-CN" sz="2400" b="1" dirty="0">
              <a:solidFill>
                <a:srgbClr val="0070C0"/>
              </a:solidFill>
              <a:latin typeface="微软雅黑" panose="020B0503020204020204" charset="-122"/>
              <a:ea typeface="微软雅黑" panose="020B0503020204020204" charset="-122"/>
            </a:endParaRPr>
          </a:p>
        </p:txBody>
      </p:sp>
      <p:cxnSp>
        <p:nvCxnSpPr>
          <p:cNvPr id="35" name="直线连接符 21"/>
          <p:cNvCxnSpPr/>
          <p:nvPr>
            <p:custDataLst>
              <p:tags r:id="rId8"/>
            </p:custDataLst>
          </p:nvPr>
        </p:nvCxnSpPr>
        <p:spPr>
          <a:xfrm>
            <a:off x="1875790" y="3909695"/>
            <a:ext cx="7920000"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36" name="平行四边形 35"/>
          <p:cNvSpPr/>
          <p:nvPr>
            <p:custDataLst>
              <p:tags r:id="rId9"/>
            </p:custDataLst>
          </p:nvPr>
        </p:nvSpPr>
        <p:spPr>
          <a:xfrm>
            <a:off x="2096770" y="3358515"/>
            <a:ext cx="781685" cy="475615"/>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37" name="平行四边形 36"/>
          <p:cNvSpPr/>
          <p:nvPr>
            <p:custDataLst>
              <p:tags r:id="rId10"/>
            </p:custDataLst>
          </p:nvPr>
        </p:nvSpPr>
        <p:spPr>
          <a:xfrm>
            <a:off x="2027555" y="3286125"/>
            <a:ext cx="781685" cy="475615"/>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38" name="文本框 37"/>
          <p:cNvSpPr txBox="1"/>
          <p:nvPr>
            <p:custDataLst>
              <p:tags r:id="rId11"/>
            </p:custDataLst>
          </p:nvPr>
        </p:nvSpPr>
        <p:spPr>
          <a:xfrm>
            <a:off x="2206625" y="3279775"/>
            <a:ext cx="432435" cy="475615"/>
          </a:xfrm>
          <a:prstGeom prst="rect">
            <a:avLst/>
          </a:prstGeom>
          <a:noFill/>
        </p:spPr>
        <p:txBody>
          <a:bodyPr wrap="square">
            <a:spAutoFit/>
          </a:bodyPr>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rPr>
              <a:t>3</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endParaRPr>
          </a:p>
        </p:txBody>
      </p:sp>
      <p:sp>
        <p:nvSpPr>
          <p:cNvPr id="41" name="文本框 40"/>
          <p:cNvSpPr txBox="1"/>
          <p:nvPr>
            <p:custDataLst>
              <p:tags r:id="rId12"/>
            </p:custDataLst>
          </p:nvPr>
        </p:nvSpPr>
        <p:spPr>
          <a:xfrm>
            <a:off x="2967990" y="2491105"/>
            <a:ext cx="6730365" cy="460375"/>
          </a:xfrm>
          <a:prstGeom prst="rect">
            <a:avLst/>
          </a:prstGeom>
          <a:noFill/>
        </p:spPr>
        <p:txBody>
          <a:bodyPr wrap="square">
            <a:spAutoFit/>
          </a:bodyPr>
          <a:p>
            <a:pPr algn="just"/>
            <a:r>
              <a:rPr lang="zh-CN" altLang="en-US" sz="2400" b="1" dirty="0">
                <a:solidFill>
                  <a:srgbClr val="0070C0"/>
                </a:solidFill>
                <a:latin typeface="微软雅黑" panose="020B0503020204020204" charset="-122"/>
                <a:ea typeface="微软雅黑" panose="020B0503020204020204" charset="-122"/>
              </a:rPr>
              <a:t>开展重大需求分析</a:t>
            </a:r>
            <a:r>
              <a:rPr lang="en-US" altLang="zh-CN" sz="2400" b="1" dirty="0">
                <a:solidFill>
                  <a:srgbClr val="0070C0"/>
                </a:solidFill>
                <a:latin typeface="微软雅黑" panose="020B0503020204020204" charset="-122"/>
                <a:ea typeface="微软雅黑" panose="020B0503020204020204" charset="-122"/>
              </a:rPr>
              <a:t>    </a:t>
            </a:r>
            <a:r>
              <a:rPr lang="zh-CN" altLang="en-US" sz="2400" b="1" dirty="0">
                <a:solidFill>
                  <a:srgbClr val="0070C0"/>
                </a:solidFill>
                <a:latin typeface="微软雅黑" panose="020B0503020204020204" charset="-122"/>
                <a:ea typeface="微软雅黑" panose="020B0503020204020204" charset="-122"/>
              </a:rPr>
              <a:t>生成需求清单</a:t>
            </a:r>
            <a:endParaRPr lang="zh-CN" altLang="en-US" sz="2400" b="1" dirty="0">
              <a:solidFill>
                <a:srgbClr val="0070C0"/>
              </a:solidFill>
              <a:latin typeface="微软雅黑" panose="020B0503020204020204" charset="-122"/>
              <a:ea typeface="微软雅黑" panose="020B0503020204020204" charset="-122"/>
            </a:endParaRPr>
          </a:p>
        </p:txBody>
      </p:sp>
      <p:cxnSp>
        <p:nvCxnSpPr>
          <p:cNvPr id="42" name="直线连接符 21"/>
          <p:cNvCxnSpPr/>
          <p:nvPr>
            <p:custDataLst>
              <p:tags r:id="rId13"/>
            </p:custDataLst>
          </p:nvPr>
        </p:nvCxnSpPr>
        <p:spPr>
          <a:xfrm>
            <a:off x="1875790" y="3034030"/>
            <a:ext cx="7920000"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43" name="平行四边形 42"/>
          <p:cNvSpPr/>
          <p:nvPr>
            <p:custDataLst>
              <p:tags r:id="rId14"/>
            </p:custDataLst>
          </p:nvPr>
        </p:nvSpPr>
        <p:spPr>
          <a:xfrm>
            <a:off x="2096770" y="2482850"/>
            <a:ext cx="781685" cy="475615"/>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44" name="平行四边形 43"/>
          <p:cNvSpPr/>
          <p:nvPr>
            <p:custDataLst>
              <p:tags r:id="rId15"/>
            </p:custDataLst>
          </p:nvPr>
        </p:nvSpPr>
        <p:spPr>
          <a:xfrm>
            <a:off x="2027555" y="2410460"/>
            <a:ext cx="781685" cy="475615"/>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46" name="文本框 45"/>
          <p:cNvSpPr txBox="1"/>
          <p:nvPr>
            <p:custDataLst>
              <p:tags r:id="rId16"/>
            </p:custDataLst>
          </p:nvPr>
        </p:nvSpPr>
        <p:spPr>
          <a:xfrm>
            <a:off x="2206625" y="2404110"/>
            <a:ext cx="432435" cy="475615"/>
          </a:xfrm>
          <a:prstGeom prst="rect">
            <a:avLst/>
          </a:prstGeom>
          <a:noFill/>
        </p:spPr>
        <p:txBody>
          <a:bodyPr wrap="square">
            <a:spAutoFit/>
          </a:bodyPr>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rPr>
              <a:t>2</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endParaRPr>
          </a:p>
        </p:txBody>
      </p:sp>
      <p:sp>
        <p:nvSpPr>
          <p:cNvPr id="49" name="文本框 48"/>
          <p:cNvSpPr txBox="1"/>
          <p:nvPr>
            <p:custDataLst>
              <p:tags r:id="rId17"/>
            </p:custDataLst>
          </p:nvPr>
        </p:nvSpPr>
        <p:spPr>
          <a:xfrm>
            <a:off x="2967990" y="4242435"/>
            <a:ext cx="6800215" cy="460375"/>
          </a:xfrm>
          <a:prstGeom prst="rect">
            <a:avLst/>
          </a:prstGeom>
          <a:noFill/>
        </p:spPr>
        <p:txBody>
          <a:bodyPr wrap="square">
            <a:spAutoFit/>
          </a:bodyPr>
          <a:p>
            <a:pPr algn="just"/>
            <a:r>
              <a:rPr lang="zh-CN" altLang="en-US" sz="2400" b="1" dirty="0">
                <a:solidFill>
                  <a:srgbClr val="0070C0"/>
                </a:solidFill>
                <a:latin typeface="微软雅黑" panose="020B0503020204020204" charset="-122"/>
                <a:ea typeface="微软雅黑" panose="020B0503020204020204" charset="-122"/>
              </a:rPr>
              <a:t>推动重大改革</a:t>
            </a:r>
            <a:r>
              <a:rPr lang="en-US" altLang="zh-CN" sz="2400" b="1" dirty="0">
                <a:solidFill>
                  <a:srgbClr val="0070C0"/>
                </a:solidFill>
                <a:latin typeface="微软雅黑" panose="020B0503020204020204" charset="-122"/>
                <a:ea typeface="微软雅黑" panose="020B0503020204020204" charset="-122"/>
                <a:sym typeface="+mn-ea"/>
              </a:rPr>
              <a:t>      </a:t>
            </a:r>
            <a:r>
              <a:rPr lang="zh-CN" altLang="en-US" sz="2400" b="1" dirty="0">
                <a:solidFill>
                  <a:srgbClr val="0070C0"/>
                </a:solidFill>
                <a:latin typeface="微软雅黑" panose="020B0503020204020204" charset="-122"/>
                <a:ea typeface="微软雅黑" panose="020B0503020204020204" charset="-122"/>
              </a:rPr>
              <a:t>列出改革清单</a:t>
            </a:r>
            <a:endParaRPr lang="zh-CN" altLang="en-US" sz="2400" b="1" dirty="0">
              <a:solidFill>
                <a:srgbClr val="0070C0"/>
              </a:solidFill>
              <a:latin typeface="微软雅黑" panose="020B0503020204020204" charset="-122"/>
              <a:ea typeface="微软雅黑" panose="020B0503020204020204" charset="-122"/>
            </a:endParaRPr>
          </a:p>
        </p:txBody>
      </p:sp>
      <p:cxnSp>
        <p:nvCxnSpPr>
          <p:cNvPr id="50" name="直线连接符 21"/>
          <p:cNvCxnSpPr/>
          <p:nvPr>
            <p:custDataLst>
              <p:tags r:id="rId18"/>
            </p:custDataLst>
          </p:nvPr>
        </p:nvCxnSpPr>
        <p:spPr>
          <a:xfrm>
            <a:off x="1875790" y="4785360"/>
            <a:ext cx="7920000"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51" name="平行四边形 50"/>
          <p:cNvSpPr/>
          <p:nvPr>
            <p:custDataLst>
              <p:tags r:id="rId19"/>
            </p:custDataLst>
          </p:nvPr>
        </p:nvSpPr>
        <p:spPr>
          <a:xfrm>
            <a:off x="2096770" y="4234180"/>
            <a:ext cx="781685" cy="475615"/>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52" name="平行四边形 51"/>
          <p:cNvSpPr/>
          <p:nvPr>
            <p:custDataLst>
              <p:tags r:id="rId20"/>
            </p:custDataLst>
          </p:nvPr>
        </p:nvSpPr>
        <p:spPr>
          <a:xfrm>
            <a:off x="2027555" y="4161790"/>
            <a:ext cx="781685" cy="475615"/>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53" name="文本框 52"/>
          <p:cNvSpPr txBox="1"/>
          <p:nvPr>
            <p:custDataLst>
              <p:tags r:id="rId21"/>
            </p:custDataLst>
          </p:nvPr>
        </p:nvSpPr>
        <p:spPr>
          <a:xfrm>
            <a:off x="2206625" y="4155440"/>
            <a:ext cx="432435" cy="475615"/>
          </a:xfrm>
          <a:prstGeom prst="rect">
            <a:avLst/>
          </a:prstGeom>
          <a:noFill/>
        </p:spPr>
        <p:txBody>
          <a:bodyPr wrap="square">
            <a:spAutoFit/>
          </a:bodyPr>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rPr>
              <a:t>4</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endParaRPr>
          </a:p>
        </p:txBody>
      </p:sp>
      <p:sp>
        <p:nvSpPr>
          <p:cNvPr id="56" name="文本框 55"/>
          <p:cNvSpPr txBox="1"/>
          <p:nvPr>
            <p:custDataLst>
              <p:tags r:id="rId22"/>
            </p:custDataLst>
          </p:nvPr>
        </p:nvSpPr>
        <p:spPr>
          <a:xfrm>
            <a:off x="2871470" y="5118100"/>
            <a:ext cx="6827520" cy="460375"/>
          </a:xfrm>
          <a:prstGeom prst="rect">
            <a:avLst/>
          </a:prstGeom>
          <a:noFill/>
        </p:spPr>
        <p:txBody>
          <a:bodyPr wrap="square">
            <a:spAutoFit/>
          </a:bodyPr>
          <a:p>
            <a:pPr algn="just"/>
            <a:r>
              <a:rPr lang="en-US" altLang="zh-CN" sz="2400" b="1" dirty="0">
                <a:solidFill>
                  <a:srgbClr val="0070C0"/>
                </a:solidFill>
                <a:latin typeface="微软雅黑" panose="020B0503020204020204" charset="-122"/>
                <a:ea typeface="微软雅黑" panose="020B0503020204020204" charset="-122"/>
                <a:sym typeface="+mn-ea"/>
              </a:rPr>
              <a:t>“</a:t>
            </a:r>
            <a:r>
              <a:rPr lang="zh-CN" altLang="en-US" sz="2400" b="1" dirty="0">
                <a:solidFill>
                  <a:srgbClr val="0070C0"/>
                </a:solidFill>
                <a:latin typeface="微软雅黑" panose="020B0503020204020204" charset="-122"/>
                <a:ea typeface="微软雅黑" panose="020B0503020204020204" charset="-122"/>
                <a:sym typeface="+mn-ea"/>
              </a:rPr>
              <a:t>三张清单</a:t>
            </a:r>
            <a:r>
              <a:rPr lang="en-US" altLang="zh-CN" sz="2400" b="1" dirty="0">
                <a:solidFill>
                  <a:srgbClr val="0070C0"/>
                </a:solidFill>
                <a:latin typeface="微软雅黑" panose="020B0503020204020204" charset="-122"/>
                <a:ea typeface="微软雅黑" panose="020B0503020204020204" charset="-122"/>
                <a:sym typeface="+mn-ea"/>
              </a:rPr>
              <a:t>”</a:t>
            </a:r>
            <a:r>
              <a:rPr lang="zh-CN" altLang="en-US" sz="2400" b="1" dirty="0">
                <a:solidFill>
                  <a:srgbClr val="0070C0"/>
                </a:solidFill>
                <a:latin typeface="微软雅黑" panose="020B0503020204020204" charset="-122"/>
                <a:ea typeface="微软雅黑" panose="020B0503020204020204" charset="-122"/>
                <a:sym typeface="+mn-ea"/>
              </a:rPr>
              <a:t>论证审查</a:t>
            </a:r>
            <a:r>
              <a:rPr lang="en-US" altLang="zh-CN" sz="2400" b="1" dirty="0">
                <a:solidFill>
                  <a:srgbClr val="0070C0"/>
                </a:solidFill>
                <a:latin typeface="微软雅黑" panose="020B0503020204020204" charset="-122"/>
                <a:ea typeface="微软雅黑" panose="020B0503020204020204" charset="-122"/>
                <a:sym typeface="+mn-ea"/>
              </a:rPr>
              <a:t>   </a:t>
            </a:r>
            <a:endParaRPr lang="zh-CN" altLang="en-US" sz="2400" b="1" dirty="0">
              <a:solidFill>
                <a:srgbClr val="0070C0"/>
              </a:solidFill>
              <a:latin typeface="微软雅黑" panose="020B0503020204020204" charset="-122"/>
              <a:ea typeface="微软雅黑" panose="020B0503020204020204" charset="-122"/>
              <a:sym typeface="+mn-ea"/>
            </a:endParaRPr>
          </a:p>
        </p:txBody>
      </p:sp>
      <p:cxnSp>
        <p:nvCxnSpPr>
          <p:cNvPr id="57" name="直线连接符 21"/>
          <p:cNvCxnSpPr/>
          <p:nvPr>
            <p:custDataLst>
              <p:tags r:id="rId23"/>
            </p:custDataLst>
          </p:nvPr>
        </p:nvCxnSpPr>
        <p:spPr>
          <a:xfrm>
            <a:off x="1779270" y="5661025"/>
            <a:ext cx="7920000"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59" name="平行四边形 58"/>
          <p:cNvSpPr/>
          <p:nvPr>
            <p:custDataLst>
              <p:tags r:id="rId24"/>
            </p:custDataLst>
          </p:nvPr>
        </p:nvSpPr>
        <p:spPr>
          <a:xfrm>
            <a:off x="2000250" y="5109845"/>
            <a:ext cx="781685" cy="475615"/>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60" name="平行四边形 59"/>
          <p:cNvSpPr/>
          <p:nvPr>
            <p:custDataLst>
              <p:tags r:id="rId25"/>
            </p:custDataLst>
          </p:nvPr>
        </p:nvSpPr>
        <p:spPr>
          <a:xfrm>
            <a:off x="1931035" y="5037455"/>
            <a:ext cx="781685" cy="475615"/>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61" name="文本框 60"/>
          <p:cNvSpPr txBox="1"/>
          <p:nvPr>
            <p:custDataLst>
              <p:tags r:id="rId26"/>
            </p:custDataLst>
          </p:nvPr>
        </p:nvSpPr>
        <p:spPr>
          <a:xfrm>
            <a:off x="2110105" y="5031105"/>
            <a:ext cx="432435" cy="475615"/>
          </a:xfrm>
          <a:prstGeom prst="rect">
            <a:avLst/>
          </a:prstGeom>
          <a:noFill/>
        </p:spPr>
        <p:txBody>
          <a:bodyPr wrap="square">
            <a:spAutoFit/>
          </a:bodyPr>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rPr>
              <a:t>5</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endParaRPr>
          </a:p>
        </p:txBody>
      </p:sp>
      <p:sp>
        <p:nvSpPr>
          <p:cNvPr id="2" name="文本框 1"/>
          <p:cNvSpPr txBox="1"/>
          <p:nvPr>
            <p:custDataLst>
              <p:tags r:id="rId27"/>
            </p:custDataLst>
          </p:nvPr>
        </p:nvSpPr>
        <p:spPr>
          <a:xfrm>
            <a:off x="2871470" y="5847080"/>
            <a:ext cx="6827520" cy="460375"/>
          </a:xfrm>
          <a:prstGeom prst="rect">
            <a:avLst/>
          </a:prstGeom>
          <a:noFill/>
        </p:spPr>
        <p:txBody>
          <a:bodyPr wrap="square">
            <a:spAutoFit/>
          </a:bodyPr>
          <a:p>
            <a:pPr algn="just"/>
            <a:r>
              <a:rPr lang="en-US" altLang="zh-CN" sz="2400" b="1" dirty="0">
                <a:solidFill>
                  <a:srgbClr val="0070C0"/>
                </a:solidFill>
                <a:latin typeface="微软雅黑" panose="020B0503020204020204" charset="-122"/>
                <a:ea typeface="微软雅黑" panose="020B0503020204020204" charset="-122"/>
                <a:sym typeface="+mn-ea"/>
              </a:rPr>
              <a:t>“</a:t>
            </a:r>
            <a:r>
              <a:rPr lang="zh-CN" altLang="en-US" sz="2400" b="1" dirty="0">
                <a:solidFill>
                  <a:srgbClr val="0070C0"/>
                </a:solidFill>
                <a:latin typeface="微软雅黑" panose="020B0503020204020204" charset="-122"/>
                <a:ea typeface="微软雅黑" panose="020B0503020204020204" charset="-122"/>
                <a:sym typeface="+mn-ea"/>
              </a:rPr>
              <a:t>三张清单</a:t>
            </a:r>
            <a:r>
              <a:rPr lang="en-US" altLang="zh-CN" sz="2400" b="1" dirty="0">
                <a:solidFill>
                  <a:srgbClr val="0070C0"/>
                </a:solidFill>
                <a:latin typeface="微软雅黑" panose="020B0503020204020204" charset="-122"/>
                <a:ea typeface="微软雅黑" panose="020B0503020204020204" charset="-122"/>
                <a:sym typeface="+mn-ea"/>
              </a:rPr>
              <a:t>”</a:t>
            </a:r>
            <a:r>
              <a:rPr lang="zh-CN" sz="2400" b="1" dirty="0">
                <a:solidFill>
                  <a:srgbClr val="0070C0"/>
                </a:solidFill>
                <a:latin typeface="微软雅黑" panose="020B0503020204020204" charset="-122"/>
                <a:ea typeface="微软雅黑" panose="020B0503020204020204" charset="-122"/>
                <a:sym typeface="+mn-ea"/>
              </a:rPr>
              <a:t>常见错误</a:t>
            </a:r>
            <a:endParaRPr lang="zh-CN" sz="2400" b="1" dirty="0">
              <a:solidFill>
                <a:srgbClr val="0070C0"/>
              </a:solidFill>
              <a:latin typeface="微软雅黑" panose="020B0503020204020204" charset="-122"/>
              <a:ea typeface="微软雅黑" panose="020B0503020204020204" charset="-122"/>
              <a:sym typeface="+mn-ea"/>
            </a:endParaRPr>
          </a:p>
        </p:txBody>
      </p:sp>
      <p:cxnSp>
        <p:nvCxnSpPr>
          <p:cNvPr id="3" name="直线连接符 21"/>
          <p:cNvCxnSpPr/>
          <p:nvPr>
            <p:custDataLst>
              <p:tags r:id="rId28"/>
            </p:custDataLst>
          </p:nvPr>
        </p:nvCxnSpPr>
        <p:spPr>
          <a:xfrm>
            <a:off x="1779270" y="6390005"/>
            <a:ext cx="7920000"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4" name="平行四边形 3"/>
          <p:cNvSpPr/>
          <p:nvPr>
            <p:custDataLst>
              <p:tags r:id="rId29"/>
            </p:custDataLst>
          </p:nvPr>
        </p:nvSpPr>
        <p:spPr>
          <a:xfrm>
            <a:off x="2000250" y="5838825"/>
            <a:ext cx="781685" cy="475615"/>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6" name="平行四边形 5"/>
          <p:cNvSpPr/>
          <p:nvPr>
            <p:custDataLst>
              <p:tags r:id="rId30"/>
            </p:custDataLst>
          </p:nvPr>
        </p:nvSpPr>
        <p:spPr>
          <a:xfrm>
            <a:off x="1931035" y="5766435"/>
            <a:ext cx="781685" cy="475615"/>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7" name="文本框 6"/>
          <p:cNvSpPr txBox="1"/>
          <p:nvPr>
            <p:custDataLst>
              <p:tags r:id="rId31"/>
            </p:custDataLst>
          </p:nvPr>
        </p:nvSpPr>
        <p:spPr>
          <a:xfrm>
            <a:off x="2110105" y="5760085"/>
            <a:ext cx="432435" cy="475615"/>
          </a:xfrm>
          <a:prstGeom prst="rect">
            <a:avLst/>
          </a:prstGeom>
          <a:noFill/>
        </p:spPr>
        <p:txBody>
          <a:bodyPr wrap="square">
            <a:spAutoFit/>
          </a:bodyPr>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rPr>
              <a:t>6</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charset="-122"/>
              <a:ea typeface="微软雅黑" panose="020B0503020204020204" charset="-122"/>
            </a:endParaRPr>
          </a:p>
        </p:txBody>
      </p:sp>
    </p:spTree>
    <p:custDataLst>
      <p:tags r:id="rId3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 name="同侧圆角矩形 48"/>
          <p:cNvSpPr/>
          <p:nvPr>
            <p:custDataLst>
              <p:tags r:id="rId1"/>
            </p:custDataLst>
          </p:nvPr>
        </p:nvSpPr>
        <p:spPr>
          <a:xfrm>
            <a:off x="6090285" y="1124585"/>
            <a:ext cx="6153785" cy="5590540"/>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grpSp>
        <p:nvGrpSpPr>
          <p:cNvPr id="4" name="组合 3"/>
          <p:cNvGrpSpPr/>
          <p:nvPr/>
        </p:nvGrpSpPr>
        <p:grpSpPr>
          <a:xfrm>
            <a:off x="458211" y="265845"/>
            <a:ext cx="505934" cy="514803"/>
            <a:chOff x="3627907" y="1980747"/>
            <a:chExt cx="1105193" cy="762453"/>
          </a:xfrm>
          <a:solidFill>
            <a:srgbClr val="0070C0"/>
          </a:solidFill>
        </p:grpSpPr>
        <p:sp>
          <p:nvSpPr>
            <p:cNvPr id="5" name="燕尾形 19"/>
            <p:cNvSpPr/>
            <p:nvPr>
              <p:custDataLst>
                <p:tags r:id="rId2"/>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3"/>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4"/>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1127760" y="278765"/>
            <a:ext cx="11003280" cy="521970"/>
          </a:xfrm>
          <a:prstGeom prst="rect">
            <a:avLst/>
          </a:prstGeom>
          <a:noFill/>
        </p:spPr>
        <p:txBody>
          <a:bodyPr wrap="square" rtlCol="0" anchor="t">
            <a:spAutoFit/>
          </a:bodyPr>
          <a:p>
            <a:pPr algn="l"/>
            <a:r>
              <a:rPr lang="en-US" altLang="zh-CN" sz="2800" b="1" dirty="0">
                <a:solidFill>
                  <a:srgbClr val="0070C0"/>
                </a:solidFill>
                <a:latin typeface="微软雅黑" panose="020B0503020204020204" charset="-122"/>
                <a:ea typeface="微软雅黑" panose="020B0503020204020204" charset="-122"/>
                <a:sym typeface="+mn-ea"/>
              </a:rPr>
              <a:t>1“</a:t>
            </a:r>
            <a:r>
              <a:rPr lang="zh-CN" altLang="en-US" sz="2800" b="1" dirty="0">
                <a:solidFill>
                  <a:srgbClr val="0070C0"/>
                </a:solidFill>
                <a:latin typeface="微软雅黑" panose="020B0503020204020204" charset="-122"/>
                <a:ea typeface="微软雅黑" panose="020B0503020204020204" charset="-122"/>
                <a:sym typeface="+mn-ea"/>
              </a:rPr>
              <a:t>三张清单</a:t>
            </a:r>
            <a:r>
              <a:rPr lang="en-US" altLang="zh-CN" sz="2800" b="1" dirty="0">
                <a:solidFill>
                  <a:srgbClr val="0070C0"/>
                </a:solidFill>
                <a:latin typeface="微软雅黑" panose="020B0503020204020204" charset="-122"/>
                <a:ea typeface="微软雅黑" panose="020B0503020204020204" charset="-122"/>
                <a:sym typeface="+mn-ea"/>
              </a:rPr>
              <a:t>”</a:t>
            </a:r>
            <a:r>
              <a:rPr lang="zh-CN" altLang="en-US" sz="2800" b="1" dirty="0">
                <a:solidFill>
                  <a:srgbClr val="0070C0"/>
                </a:solidFill>
                <a:latin typeface="微软雅黑" panose="020B0503020204020204" charset="-122"/>
                <a:ea typeface="微软雅黑" panose="020B0503020204020204" charset="-122"/>
                <a:sym typeface="+mn-ea"/>
              </a:rPr>
              <a:t>是数字重庆建设规定动作和重要抓手</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pic>
        <p:nvPicPr>
          <p:cNvPr id="8" name="图片 7"/>
          <p:cNvPicPr>
            <a:picLocks noChangeAspect="1"/>
          </p:cNvPicPr>
          <p:nvPr>
            <p:custDataLst>
              <p:tags r:id="rId5"/>
            </p:custDataLst>
          </p:nvPr>
        </p:nvPicPr>
        <p:blipFill>
          <a:blip r:embed="rId6"/>
          <a:stretch>
            <a:fillRect/>
          </a:stretch>
        </p:blipFill>
        <p:spPr>
          <a:xfrm>
            <a:off x="191770" y="1412875"/>
            <a:ext cx="5248275" cy="3905250"/>
          </a:xfrm>
          <a:prstGeom prst="rect">
            <a:avLst/>
          </a:prstGeom>
        </p:spPr>
      </p:pic>
      <p:sp>
        <p:nvSpPr>
          <p:cNvPr id="9" name="文本框 8"/>
          <p:cNvSpPr txBox="1"/>
          <p:nvPr>
            <p:custDataLst>
              <p:tags r:id="rId7"/>
            </p:custDataLst>
          </p:nvPr>
        </p:nvSpPr>
        <p:spPr>
          <a:xfrm>
            <a:off x="6168390" y="1341120"/>
            <a:ext cx="5902960" cy="5180330"/>
          </a:xfrm>
          <a:prstGeom prst="rect">
            <a:avLst/>
          </a:prstGeom>
          <a:noFill/>
          <a:ln w="12700">
            <a:solidFill>
              <a:schemeClr val="accent1"/>
            </a:solidFill>
          </a:ln>
        </p:spPr>
        <p:txBody>
          <a:bodyPr wrap="square" rtlCol="0" anchor="t">
            <a:noAutofit/>
          </a:bodyPr>
          <a:p>
            <a:pPr marL="457200" indent="-457200" algn="just" hangingPunct="0">
              <a:lnSpc>
                <a:spcPts val="4860"/>
              </a:lnSpc>
              <a:buFont typeface="Wingdings" panose="05000000000000000000" charset="0"/>
              <a:buChar char="l"/>
            </a:pPr>
            <a:r>
              <a:rPr lang="zh-CN" altLang="en-US" sz="2400" b="1" dirty="0">
                <a:solidFill>
                  <a:srgbClr val="003399"/>
                </a:solidFill>
                <a:latin typeface="微软雅黑" panose="020B0503020204020204" charset="-122"/>
                <a:ea typeface="微软雅黑" panose="020B0503020204020204" charset="-122"/>
                <a:sym typeface="+mn-ea"/>
              </a:rPr>
              <a:t>重大需求、多跨场景应用、重大改革清单，是数字重庆建设的规定动作和重要抓手，是构建重大应用、推动制度重塑的逻辑主线。</a:t>
            </a:r>
            <a:endParaRPr lang="zh-CN" altLang="en-US" sz="2400" b="1" dirty="0">
              <a:solidFill>
                <a:srgbClr val="003399"/>
              </a:solidFill>
              <a:latin typeface="微软雅黑" panose="020B0503020204020204" charset="-122"/>
              <a:ea typeface="微软雅黑" panose="020B0503020204020204" charset="-122"/>
              <a:sym typeface="+mn-ea"/>
            </a:endParaRPr>
          </a:p>
          <a:p>
            <a:pPr marL="457200" indent="-457200" algn="just" hangingPunct="0">
              <a:lnSpc>
                <a:spcPts val="4860"/>
              </a:lnSpc>
              <a:buFont typeface="Wingdings" panose="05000000000000000000" charset="0"/>
              <a:buChar char="l"/>
            </a:pPr>
            <a:r>
              <a:rPr lang="zh-CN" altLang="en-US" sz="2400" b="1" dirty="0">
                <a:solidFill>
                  <a:srgbClr val="003399"/>
                </a:solidFill>
                <a:latin typeface="微软雅黑" panose="020B0503020204020204" charset="-122"/>
                <a:ea typeface="微软雅黑" panose="020B0503020204020204" charset="-122"/>
                <a:sym typeface="+mn-ea"/>
              </a:rPr>
              <a:t>要从重大需求出发谋划多跨场景，再从场景应用构建中找到改革突破口，形成改革方案，根据改革方案进行数字化应用开发，形成重大应用。</a:t>
            </a:r>
            <a:endParaRPr lang="zh-CN" altLang="en-US" sz="2400" b="1" dirty="0">
              <a:solidFill>
                <a:srgbClr val="003399"/>
              </a:solidFill>
              <a:latin typeface="微软雅黑" panose="020B0503020204020204" charset="-122"/>
              <a:ea typeface="微软雅黑" panose="020B0503020204020204" charset="-122"/>
              <a:sym typeface="+mn-ea"/>
            </a:endParaRPr>
          </a:p>
        </p:txBody>
      </p:sp>
      <p:sp>
        <p:nvSpPr>
          <p:cNvPr id="11" name="右箭头 10"/>
          <p:cNvSpPr/>
          <p:nvPr/>
        </p:nvSpPr>
        <p:spPr>
          <a:xfrm>
            <a:off x="5375910" y="3284855"/>
            <a:ext cx="759460" cy="4597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对象 3"/>
          <p:cNvGraphicFramePr/>
          <p:nvPr/>
        </p:nvGraphicFramePr>
        <p:xfrm>
          <a:off x="3175" y="909320"/>
          <a:ext cx="12096115" cy="5773420"/>
        </p:xfrm>
        <a:graphic>
          <a:graphicData uri="http://schemas.openxmlformats.org/presentationml/2006/ole">
            <mc:AlternateContent xmlns:mc="http://schemas.openxmlformats.org/markup-compatibility/2006">
              <mc:Choice xmlns:v="urn:schemas-microsoft-com:vml" Requires="v">
                <p:oleObj spid="_x0000_s5" name="" r:id="rId1" imgW="6124575" imgH="3438525" progId="PowerPoint.Show.12">
                  <p:embed/>
                </p:oleObj>
              </mc:Choice>
              <mc:Fallback>
                <p:oleObj name="" r:id="rId1" imgW="6124575" imgH="3438525" progId="PowerPoint.Show.12">
                  <p:embed/>
                  <p:pic>
                    <p:nvPicPr>
                      <p:cNvPr id="0" name="图片 4"/>
                      <p:cNvPicPr/>
                      <p:nvPr/>
                    </p:nvPicPr>
                    <p:blipFill>
                      <a:blip r:embed="rId2"/>
                      <a:stretch>
                        <a:fillRect/>
                      </a:stretch>
                    </p:blipFill>
                    <p:spPr>
                      <a:xfrm>
                        <a:off x="3175" y="909320"/>
                        <a:ext cx="12096115" cy="5773420"/>
                      </a:xfrm>
                      <a:prstGeom prst="rect">
                        <a:avLst/>
                      </a:prstGeom>
                    </p:spPr>
                  </p:pic>
                </p:oleObj>
              </mc:Fallback>
            </mc:AlternateContent>
          </a:graphicData>
        </a:graphic>
      </p:graphicFrame>
      <p:grpSp>
        <p:nvGrpSpPr>
          <p:cNvPr id="6" name="组合 5"/>
          <p:cNvGrpSpPr/>
          <p:nvPr/>
        </p:nvGrpSpPr>
        <p:grpSpPr>
          <a:xfrm>
            <a:off x="458211" y="265845"/>
            <a:ext cx="505934" cy="514803"/>
            <a:chOff x="3627907" y="1980747"/>
            <a:chExt cx="1105193" cy="762453"/>
          </a:xfrm>
          <a:solidFill>
            <a:srgbClr val="0070C0"/>
          </a:solidFill>
        </p:grpSpPr>
        <p:sp>
          <p:nvSpPr>
            <p:cNvPr id="7"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2" name="矩形 1"/>
          <p:cNvSpPr/>
          <p:nvPr/>
        </p:nvSpPr>
        <p:spPr>
          <a:xfrm>
            <a:off x="480060" y="1701165"/>
            <a:ext cx="11016615" cy="1871980"/>
          </a:xfrm>
          <a:prstGeom prst="rect">
            <a:avLst/>
          </a:prstGeom>
          <a:ln>
            <a:prstDash val="sysDot"/>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矩形 15"/>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8" name="文本框 7"/>
          <p:cNvSpPr txBox="1"/>
          <p:nvPr>
            <p:custDataLst>
              <p:tags r:id="rId6"/>
            </p:custDataLst>
          </p:nvPr>
        </p:nvSpPr>
        <p:spPr>
          <a:xfrm>
            <a:off x="1127760" y="278765"/>
            <a:ext cx="9448165" cy="521970"/>
          </a:xfrm>
          <a:prstGeom prst="rect">
            <a:avLst/>
          </a:prstGeom>
          <a:noFill/>
        </p:spPr>
        <p:txBody>
          <a:bodyPr wrap="square" rtlCol="0" anchor="t">
            <a:spAutoFit/>
          </a:bodyPr>
          <a:p>
            <a:pPr algn="l"/>
            <a:r>
              <a:rPr lang="en-US" altLang="zh-CN" sz="2800" b="1" dirty="0">
                <a:solidFill>
                  <a:srgbClr val="0070C0"/>
                </a:solidFill>
                <a:latin typeface="微软雅黑" panose="020B0503020204020204" charset="-122"/>
                <a:ea typeface="微软雅黑" panose="020B0503020204020204" charset="-122"/>
                <a:sym typeface="+mn-ea"/>
              </a:rPr>
              <a:t>1“</a:t>
            </a:r>
            <a:r>
              <a:rPr lang="zh-CN" altLang="en-US" sz="2800" b="1" dirty="0">
                <a:solidFill>
                  <a:srgbClr val="0070C0"/>
                </a:solidFill>
                <a:latin typeface="微软雅黑" panose="020B0503020204020204" charset="-122"/>
                <a:ea typeface="微软雅黑" panose="020B0503020204020204" charset="-122"/>
                <a:sym typeface="+mn-ea"/>
              </a:rPr>
              <a:t>三张清单</a:t>
            </a:r>
            <a:r>
              <a:rPr lang="en-US" altLang="zh-CN" sz="2800" b="1" dirty="0">
                <a:solidFill>
                  <a:srgbClr val="0070C0"/>
                </a:solidFill>
                <a:latin typeface="微软雅黑" panose="020B0503020204020204" charset="-122"/>
                <a:ea typeface="微软雅黑" panose="020B0503020204020204" charset="-122"/>
                <a:sym typeface="+mn-ea"/>
              </a:rPr>
              <a:t>”</a:t>
            </a:r>
            <a:r>
              <a:rPr lang="zh-CN" altLang="en-US" sz="2800" b="1" dirty="0">
                <a:solidFill>
                  <a:srgbClr val="0070C0"/>
                </a:solidFill>
                <a:latin typeface="微软雅黑" panose="020B0503020204020204" charset="-122"/>
                <a:ea typeface="微软雅黑" panose="020B0503020204020204" charset="-122"/>
                <a:sym typeface="+mn-ea"/>
              </a:rPr>
              <a:t>是数字重庆建设规定动作和重要抓手</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sp>
        <p:nvSpPr>
          <p:cNvPr id="3" name="文本框 2"/>
          <p:cNvSpPr txBox="1"/>
          <p:nvPr/>
        </p:nvSpPr>
        <p:spPr>
          <a:xfrm>
            <a:off x="480695" y="1557020"/>
            <a:ext cx="11059160" cy="521970"/>
          </a:xfrm>
          <a:prstGeom prst="rect">
            <a:avLst/>
          </a:prstGeom>
        </p:spPr>
        <p:style>
          <a:lnRef idx="0">
            <a:srgbClr val="FFFFFF"/>
          </a:lnRef>
          <a:fillRef idx="1">
            <a:schemeClr val="accent1"/>
          </a:fillRef>
          <a:effectRef idx="1">
            <a:schemeClr val="accent1"/>
          </a:effectRef>
          <a:fontRef idx="minor">
            <a:schemeClr val="lt1"/>
          </a:fontRef>
        </p:style>
        <p:txBody>
          <a:bodyPr wrap="square" rtlCol="0">
            <a:spAutoFit/>
          </a:bodyPr>
          <a:p>
            <a:pPr algn="ctr"/>
            <a:r>
              <a:rPr lang="zh-CN" altLang="en-US" sz="2800" b="1">
                <a:solidFill>
                  <a:schemeClr val="bg1"/>
                </a:solidFill>
              </a:rPr>
              <a:t>政府部门工作</a:t>
            </a:r>
            <a:r>
              <a:rPr lang="zh-CN" altLang="en-US" sz="2800" b="1">
                <a:solidFill>
                  <a:schemeClr val="bg1"/>
                </a:solidFill>
                <a:sym typeface="+mn-ea"/>
              </a:rPr>
              <a:t>开展</a:t>
            </a:r>
            <a:endParaRPr lang="zh-CN" altLang="en-US" sz="2800" b="1">
              <a:solidFill>
                <a:schemeClr val="bg1"/>
              </a:solidFill>
              <a:sym typeface="+mn-ea"/>
            </a:endParaRPr>
          </a:p>
        </p:txBody>
      </p:sp>
    </p:spTree>
    <p:custDataLst>
      <p:tags r:id="rId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1"/>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sp>
        <p:nvSpPr>
          <p:cNvPr id="4" name="文本框 3"/>
          <p:cNvSpPr txBox="1"/>
          <p:nvPr/>
        </p:nvSpPr>
        <p:spPr>
          <a:xfrm>
            <a:off x="688975" y="2348865"/>
            <a:ext cx="10695305" cy="3091815"/>
          </a:xfrm>
          <a:prstGeom prst="rect">
            <a:avLst/>
          </a:prstGeom>
          <a:noFill/>
        </p:spPr>
        <p:txBody>
          <a:bodyPr wrap="square" rtlCol="0" anchor="t">
            <a:spAutoFit/>
          </a:bodyPr>
          <a:p>
            <a:pPr indent="711200" algn="just" fontAlgn="auto" hangingPunct="0">
              <a:lnSpc>
                <a:spcPct val="150000"/>
              </a:lnSpc>
              <a:buSzTx/>
              <a:buFont typeface="Arial" panose="020B0604020202020204" pitchFamily="34" charset="0"/>
            </a:pPr>
            <a:r>
              <a:rPr lang="en-US" altLang="zh-CN" sz="2600" b="1" spc="-150"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a:t>
            </a:r>
            <a:r>
              <a:rPr lang="zh-CN" altLang="en-US" sz="2600" b="1" spc="-150"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各级各部门都要行动起来，</a:t>
            </a:r>
            <a:r>
              <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按照</a:t>
            </a:r>
            <a:r>
              <a:rPr lang="en-US" altLang="zh-CN"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a:t>
            </a:r>
            <a:r>
              <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大场景、小切口</a:t>
            </a:r>
            <a:r>
              <a:rPr lang="en-US" altLang="zh-CN"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a:t>
            </a:r>
            <a:r>
              <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和急用先行、成熟先行的要求，以</a:t>
            </a:r>
            <a:r>
              <a:rPr lang="en-US" altLang="zh-CN"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a:t>
            </a:r>
            <a:r>
              <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三张清单</a:t>
            </a:r>
            <a:r>
              <a:rPr lang="en-US" altLang="zh-CN"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a:t>
            </a:r>
            <a:r>
              <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为抓手，抓好重大应用谋划和开发，争取更多重大应用成果落地，进一步放大优势、形成胜势。</a:t>
            </a:r>
            <a:r>
              <a:rPr lang="en-US" altLang="zh-CN" sz="2600" b="1" spc="-150"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a:t>
            </a:r>
            <a:endParaRPr lang="en-US" altLang="zh-CN" sz="2600" b="1" spc="-150" dirty="0">
              <a:solidFill>
                <a:srgbClr val="003399"/>
              </a:solidFill>
              <a:latin typeface="微软雅黑" panose="020B0503020204020204" charset="-122"/>
              <a:ea typeface="微软雅黑" panose="020B0503020204020204" charset="-122"/>
              <a:cs typeface="方正黑体_GBK" panose="03000509000000000000" pitchFamily="65" charset="-122"/>
              <a:sym typeface="+mn-ea"/>
            </a:endParaRPr>
          </a:p>
          <a:p>
            <a:pPr indent="711200" algn="just" fontAlgn="auto" hangingPunct="0">
              <a:lnSpc>
                <a:spcPct val="150000"/>
              </a:lnSpc>
              <a:buSzTx/>
              <a:buFont typeface="Arial" panose="020B0604020202020204" pitchFamily="34" charset="0"/>
            </a:pPr>
            <a:r>
              <a:rPr lang="en-US" altLang="zh-CN"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     ——2023年4月25日，</a:t>
            </a:r>
            <a:r>
              <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rPr>
              <a:t>袁家军书记在数字重庆建设大会上的讲话</a:t>
            </a:r>
            <a:endParaRPr lang="zh-CN" altLang="en-US" sz="2600" b="1" dirty="0">
              <a:solidFill>
                <a:srgbClr val="003399"/>
              </a:solidFill>
              <a:latin typeface="微软雅黑" panose="020B0503020204020204" charset="-122"/>
              <a:ea typeface="微软雅黑" panose="020B0503020204020204" charset="-122"/>
              <a:cs typeface="方正黑体_GBK" panose="03000509000000000000" pitchFamily="65" charset="-122"/>
              <a:sym typeface="+mn-ea"/>
            </a:endParaRPr>
          </a:p>
        </p:txBody>
      </p:sp>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4"/>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5"/>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6"/>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7"/>
            </p:custDataLst>
          </p:nvPr>
        </p:nvSpPr>
        <p:spPr>
          <a:xfrm>
            <a:off x="1127760" y="278765"/>
            <a:ext cx="8885555" cy="521970"/>
          </a:xfrm>
          <a:prstGeom prst="rect">
            <a:avLst/>
          </a:prstGeom>
          <a:noFill/>
        </p:spPr>
        <p:txBody>
          <a:bodyPr wrap="square" rtlCol="0" anchor="t">
            <a:spAutoFit/>
          </a:bodyPr>
          <a:p>
            <a:pPr algn="l"/>
            <a:r>
              <a:rPr lang="en-US" altLang="zh-CN" sz="2800" b="1" dirty="0">
                <a:solidFill>
                  <a:srgbClr val="0070C0"/>
                </a:solidFill>
                <a:latin typeface="微软雅黑" panose="020B0503020204020204" charset="-122"/>
                <a:ea typeface="微软雅黑" panose="020B0503020204020204" charset="-122"/>
                <a:sym typeface="+mn-ea"/>
              </a:rPr>
              <a:t>1“</a:t>
            </a:r>
            <a:r>
              <a:rPr lang="zh-CN" altLang="en-US" sz="2800" b="1" dirty="0">
                <a:solidFill>
                  <a:srgbClr val="0070C0"/>
                </a:solidFill>
                <a:latin typeface="微软雅黑" panose="020B0503020204020204" charset="-122"/>
                <a:ea typeface="微软雅黑" panose="020B0503020204020204" charset="-122"/>
                <a:sym typeface="+mn-ea"/>
              </a:rPr>
              <a:t>三张清单</a:t>
            </a:r>
            <a:r>
              <a:rPr lang="en-US" altLang="zh-CN" sz="2800" b="1" dirty="0">
                <a:solidFill>
                  <a:srgbClr val="0070C0"/>
                </a:solidFill>
                <a:latin typeface="微软雅黑" panose="020B0503020204020204" charset="-122"/>
                <a:ea typeface="微软雅黑" panose="020B0503020204020204" charset="-122"/>
                <a:sym typeface="+mn-ea"/>
              </a:rPr>
              <a:t>”</a:t>
            </a:r>
            <a:r>
              <a:rPr lang="zh-CN" altLang="en-US" sz="2800" b="1" dirty="0">
                <a:solidFill>
                  <a:srgbClr val="0070C0"/>
                </a:solidFill>
                <a:latin typeface="微软雅黑" panose="020B0503020204020204" charset="-122"/>
                <a:ea typeface="微软雅黑" panose="020B0503020204020204" charset="-122"/>
                <a:sym typeface="+mn-ea"/>
              </a:rPr>
              <a:t>是数字重庆建设规定动作和重要抓手</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spTree>
    <p:custDataLst>
      <p:tags r:id="rId8"/>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2 </a:t>
            </a:r>
            <a:r>
              <a:rPr lang="zh-CN" altLang="en-US" sz="2800" b="1" dirty="0">
                <a:solidFill>
                  <a:srgbClr val="0070C0"/>
                </a:solidFill>
                <a:latin typeface="微软雅黑" panose="020B0503020204020204" charset="-122"/>
                <a:ea typeface="微软雅黑" panose="020B0503020204020204" charset="-122"/>
                <a:sym typeface="+mn-ea"/>
              </a:rPr>
              <a:t>开展重大需求分析</a:t>
            </a:r>
            <a:r>
              <a:rPr lang="en-US" altLang="zh-CN" sz="2800" b="1" dirty="0">
                <a:solidFill>
                  <a:srgbClr val="0070C0"/>
                </a:solidFill>
                <a:latin typeface="微软雅黑" panose="020B0503020204020204" charset="-122"/>
                <a:ea typeface="微软雅黑" panose="020B0503020204020204" charset="-122"/>
                <a:sym typeface="+mn-ea"/>
              </a:rPr>
              <a:t>    </a:t>
            </a:r>
            <a:r>
              <a:rPr lang="zh-CN" altLang="en-US" sz="2800" b="1" dirty="0">
                <a:solidFill>
                  <a:srgbClr val="0070C0"/>
                </a:solidFill>
                <a:latin typeface="微软雅黑" panose="020B0503020204020204" charset="-122"/>
                <a:ea typeface="微软雅黑" panose="020B0503020204020204" charset="-122"/>
                <a:sym typeface="+mn-ea"/>
              </a:rPr>
              <a:t>生成需求清单</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5"/>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grpSp>
        <p:nvGrpSpPr>
          <p:cNvPr id="9" name="组合 8"/>
          <p:cNvGrpSpPr/>
          <p:nvPr/>
        </p:nvGrpSpPr>
        <p:grpSpPr>
          <a:xfrm>
            <a:off x="407670" y="2494915"/>
            <a:ext cx="11418570" cy="2030095"/>
            <a:chOff x="642" y="4833"/>
            <a:chExt cx="17982" cy="3197"/>
          </a:xfrm>
        </p:grpSpPr>
        <p:sp>
          <p:nvSpPr>
            <p:cNvPr id="2" name="kGjBRnqUNkRE9Kh文本框 1"/>
            <p:cNvSpPr txBox="1"/>
            <p:nvPr/>
          </p:nvSpPr>
          <p:spPr>
            <a:xfrm>
              <a:off x="642" y="4833"/>
              <a:ext cx="17982" cy="3197"/>
            </a:xfrm>
            <a:prstGeom prst="rect">
              <a:avLst/>
            </a:prstGeom>
            <a:noFill/>
          </p:spPr>
          <p:txBody>
            <a:bodyPr wrap="square" rtlCol="0" anchor="t">
              <a:spAutoFit/>
            </a:bodyPr>
            <a:p>
              <a:pPr indent="0" fontAlgn="auto">
                <a:lnSpc>
                  <a:spcPct val="150000"/>
                </a:lnSpc>
              </a:pPr>
              <a:r>
                <a:rPr lang="en-US" altLang="zh-CN" sz="2800" b="1" spc="-150" dirty="0">
                  <a:solidFill>
                    <a:srgbClr val="003399"/>
                  </a:solidFill>
                  <a:latin typeface="微软雅黑" panose="020B0503020204020204" charset="-122"/>
                  <a:ea typeface="微软雅黑" panose="020B0503020204020204" charset="-122"/>
                </a:rPr>
                <a:t>             </a:t>
              </a:r>
              <a:r>
                <a:rPr lang="zh-CN" altLang="en-US" sz="2800" b="1" spc="-150" dirty="0">
                  <a:solidFill>
                    <a:srgbClr val="003399"/>
                  </a:solidFill>
                  <a:latin typeface="微软雅黑" panose="020B0503020204020204" charset="-122"/>
                  <a:ea typeface="微软雅黑" panose="020B0503020204020204" charset="-122"/>
                </a:rPr>
                <a:t>需求清单：</a:t>
              </a:r>
              <a:r>
                <a:rPr lang="zh-CN" altLang="en-US" sz="2800" b="1" spc="-150" dirty="0">
                  <a:solidFill>
                    <a:schemeClr val="tx1"/>
                  </a:solidFill>
                  <a:latin typeface="微软雅黑" panose="020B0503020204020204" charset="-122"/>
                  <a:ea typeface="微软雅黑" panose="020B0503020204020204" charset="-122"/>
                </a:rPr>
                <a:t>坚持国家所需、群众所盼、未来所向，围绕群众高频需求、企业共性需求，提升政治能力，推动治理能力和治理体系现代化、提升竞争力、防范化解重大风险，从重大任务中找准重大需求。</a:t>
              </a:r>
              <a:endParaRPr lang="zh-CN" altLang="en-US" sz="2800" b="1" spc="-150" dirty="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custDataLst>
                <p:tags r:id="rId8"/>
              </p:custDataLst>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1776" y="5173"/>
              <a:ext cx="744" cy="744"/>
            </a:xfrm>
            <a:prstGeom prst="rect">
              <a:avLst/>
            </a:prstGeom>
          </p:spPr>
        </p:pic>
      </p:grpSp>
    </p:spTree>
    <p:custDataLst>
      <p:tags r:id="rId1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64160" y="2228850"/>
            <a:ext cx="11620500" cy="4385945"/>
          </a:xfrm>
          <a:prstGeom prst="rect">
            <a:avLst/>
          </a:prstGeom>
          <a:noFill/>
          <a:ln w="9525">
            <a:noFill/>
          </a:ln>
        </p:spPr>
      </p:pic>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6"/>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2.1 动态梳理三类需求</a:t>
            </a:r>
            <a:endParaRPr lang="en-US" altLang="zh-CN" sz="2800" b="1" dirty="0">
              <a:solidFill>
                <a:srgbClr val="0070C0"/>
              </a:solidFill>
              <a:latin typeface="微软雅黑" panose="020B0503020204020204" charset="-122"/>
              <a:ea typeface="微软雅黑" panose="020B0503020204020204" charset="-122"/>
              <a:sym typeface="+mn-ea"/>
            </a:endParaRPr>
          </a:p>
        </p:txBody>
      </p:sp>
      <p:graphicFrame>
        <p:nvGraphicFramePr>
          <p:cNvPr id="3" name="表格 2"/>
          <p:cNvGraphicFramePr/>
          <p:nvPr>
            <p:custDataLst>
              <p:tags r:id="rId7"/>
            </p:custDataLst>
          </p:nvPr>
        </p:nvGraphicFramePr>
        <p:xfrm>
          <a:off x="963930" y="1125220"/>
          <a:ext cx="10243820" cy="5894705"/>
        </p:xfrm>
        <a:graphic>
          <a:graphicData uri="http://schemas.openxmlformats.org/drawingml/2006/table">
            <a:tbl>
              <a:tblPr firstRow="1" lastRow="1" bandRow="1">
                <a:tableStyleId>{E364DEFD-1D1D-45AC-B6A7-0296249E4342}</a:tableStyleId>
              </a:tblPr>
              <a:tblGrid>
                <a:gridCol w="5260975"/>
                <a:gridCol w="4982845"/>
              </a:tblGrid>
              <a:tr h="794385">
                <a:tc gridSpan="2">
                  <a:txBody>
                    <a:bodyPr/>
                    <a:p>
                      <a:pPr indent="0" algn="ctr" fontAlgn="auto">
                        <a:lnSpc>
                          <a:spcPct val="100000"/>
                        </a:lnSpc>
                        <a:spcBef>
                          <a:spcPts val="0"/>
                        </a:spcBef>
                        <a:spcAft>
                          <a:spcPts val="0"/>
                        </a:spcAft>
                        <a:buNone/>
                      </a:pPr>
                      <a:r>
                        <a:rPr lang="en-US" sz="2400" b="1" spc="130">
                          <a:solidFill>
                            <a:schemeClr val="tx1"/>
                          </a:solidFill>
                          <a:latin typeface="微软雅黑" panose="020B0503020204020204" charset="-122"/>
                          <a:ea typeface="微软雅黑" panose="020B0503020204020204" charset="-122"/>
                          <a:cs typeface="方正黑体_GBK" panose="03000509000000000000" pitchFamily="65" charset="-122"/>
                        </a:rPr>
                        <a:t>“国家所需”来源标准</a:t>
                      </a:r>
                      <a:endParaRPr lang="en-US" altLang="en-US" sz="2400" b="1" spc="13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254000" marR="254000" marT="177800" marB="177800" vert="horz" anchor="ctr" anchorCtr="0">
                    <a:lnL>
                      <a:noFill/>
                    </a:lnL>
                    <a:lnR>
                      <a:noFill/>
                    </a:lnR>
                    <a:lnT>
                      <a:noFill/>
                    </a:lnT>
                    <a:lnB w="28575">
                      <a:solidFill>
                        <a:srgbClr val="646464"/>
                      </a:solidFill>
                      <a:prstDash val="solid"/>
                    </a:lnB>
                    <a:solidFill>
                      <a:srgbClr val="FFFFFF"/>
                    </a:solidFill>
                  </a:tcPr>
                </a:tc>
                <a:tc hMerge="1">
                  <a:tcPr>
                    <a:lnR>
                      <a:noFill/>
                    </a:lnR>
                    <a:lnT>
                      <a:noFill/>
                    </a:lnT>
                    <a:lnB w="28575">
                      <a:solidFill>
                        <a:srgbClr val="646464"/>
                      </a:solidFill>
                      <a:prstDash val="solid"/>
                    </a:lnB>
                  </a:tcPr>
                </a:tc>
              </a:tr>
              <a:tr h="715010">
                <a:tc>
                  <a:txBody>
                    <a:bodyPr/>
                    <a:p>
                      <a:pPr indent="0" algn="ctr">
                        <a:lnSpc>
                          <a:spcPct val="120000"/>
                        </a:lnSpc>
                        <a:spcBef>
                          <a:spcPts val="0"/>
                        </a:spcBef>
                        <a:spcAft>
                          <a:spcPts val="0"/>
                        </a:spcAft>
                        <a:buNone/>
                      </a:pPr>
                      <a:r>
                        <a:rPr lang="en-US" sz="2000" b="1" spc="130">
                          <a:solidFill>
                            <a:schemeClr val="bg1"/>
                          </a:solidFill>
                          <a:latin typeface="微软雅黑" panose="020B0503020204020204" charset="-122"/>
                          <a:ea typeface="微软雅黑" panose="020B0503020204020204" charset="-122"/>
                        </a:rPr>
                        <a:t>党中央国务院决策部署</a:t>
                      </a:r>
                      <a:endParaRPr lang="en-US" sz="2000" b="1" spc="130">
                        <a:solidFill>
                          <a:schemeClr val="bg1"/>
                        </a:solidFill>
                        <a:latin typeface="微软雅黑" panose="020B0503020204020204" charset="-122"/>
                        <a:ea typeface="微软雅黑" panose="020B0503020204020204" charset="-122"/>
                      </a:endParaRPr>
                    </a:p>
                  </a:txBody>
                  <a:tcPr marL="0" marR="0" marT="0" marB="0" vert="horz" anchor="ctr" anchorCtr="0">
                    <a:lnL>
                      <a:noFill/>
                    </a:lnL>
                    <a:lnR w="9525">
                      <a:solidFill>
                        <a:srgbClr val="646464"/>
                      </a:solidFill>
                      <a:prstDash val="sysDash"/>
                    </a:lnR>
                    <a:lnT w="28575">
                      <a:solidFill>
                        <a:srgbClr val="646464"/>
                      </a:solidFill>
                      <a:prstDash val="solid"/>
                    </a:lnT>
                    <a:lnB w="28575">
                      <a:solidFill>
                        <a:srgbClr val="646464"/>
                      </a:solidFill>
                      <a:prstDash val="solid"/>
                    </a:lnB>
                    <a:solidFill>
                      <a:srgbClr val="00B0F0"/>
                    </a:solidFill>
                  </a:tcPr>
                </a:tc>
                <a:tc>
                  <a:txBody>
                    <a:bodyPr/>
                    <a:p>
                      <a:pPr indent="0" algn="ctr">
                        <a:lnSpc>
                          <a:spcPct val="120000"/>
                        </a:lnSpc>
                        <a:spcBef>
                          <a:spcPts val="0"/>
                        </a:spcBef>
                        <a:spcAft>
                          <a:spcPts val="0"/>
                        </a:spcAft>
                        <a:buNone/>
                      </a:pPr>
                      <a:r>
                        <a:rPr lang="en-US" sz="2000" b="1" spc="130">
                          <a:solidFill>
                            <a:schemeClr val="bg1"/>
                          </a:solidFill>
                          <a:latin typeface="微软雅黑" panose="020B0503020204020204" charset="-122"/>
                          <a:ea typeface="微软雅黑" panose="020B0503020204020204" charset="-122"/>
                        </a:rPr>
                        <a:t>市委市政府工作安排</a:t>
                      </a:r>
                      <a:endParaRPr lang="en-US" sz="2000" b="1" spc="130">
                        <a:solidFill>
                          <a:schemeClr val="bg1"/>
                        </a:solidFill>
                        <a:latin typeface="微软雅黑" panose="020B0503020204020204" charset="-122"/>
                        <a:ea typeface="微软雅黑" panose="020B0503020204020204" charset="-122"/>
                      </a:endParaRPr>
                    </a:p>
                  </a:txBody>
                  <a:tcPr marL="0" marR="0" marT="0" marB="0" vert="horz" anchor="ctr" anchorCtr="0">
                    <a:lnL w="9525">
                      <a:solidFill>
                        <a:srgbClr val="646464"/>
                      </a:solidFill>
                      <a:prstDash val="sysDash"/>
                    </a:lnL>
                    <a:lnR>
                      <a:noFill/>
                    </a:lnR>
                    <a:lnT w="28575">
                      <a:solidFill>
                        <a:srgbClr val="646464"/>
                      </a:solidFill>
                      <a:prstDash val="solid"/>
                    </a:lnT>
                    <a:lnB w="28575">
                      <a:solidFill>
                        <a:srgbClr val="646464"/>
                      </a:solidFill>
                      <a:prstDash val="solid"/>
                    </a:lnB>
                    <a:solidFill>
                      <a:srgbClr val="00B0F0"/>
                    </a:solidFill>
                  </a:tcPr>
                </a:tc>
              </a:tr>
              <a:tr h="3727450">
                <a:tc>
                  <a:txBody>
                    <a:bodyPr/>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①习近平总书记重要讲话重要指示</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批示精神</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②党的二十大报告</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③中央政治局及其常委会部署事项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④中央深改委会议部署事项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⑤国家“十四五”规划</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⑥国务院政府工作报告</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⑦国务院常务会议部署事项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⑧党中央国务院文件</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⑨中央及国家部委部署地方有关工作</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0" marR="0" marT="0" marB="0" vert="horz" anchor="ctr" anchorCtr="0">
                    <a:lnL>
                      <a:noFill/>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①市委全会报告</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②市委常委会年度工作要点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③市委常委会会议部署事项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④市委深改委会议部署事项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⑤市委市政府及两厅文件</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⑥重庆“十四五”规划</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⑦重庆市人民政府工作报告</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⑧市政府常务会议部署事项</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⑨市委市政府其他重大部署</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a:lnSpc>
                          <a:spcPct val="12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0" marR="0" marT="0" marB="0" vert="horz" anchor="ctr" anchorCtr="0">
                    <a:lnL w="9525">
                      <a:solidFill>
                        <a:srgbClr val="646464"/>
                      </a:solidFill>
                      <a:prstDash val="sysDash"/>
                    </a:lnL>
                    <a:lnR>
                      <a:noFill/>
                    </a:lnR>
                    <a:lnT w="28575">
                      <a:solidFill>
                        <a:srgbClr val="646464"/>
                      </a:solidFill>
                      <a:prstDash val="solid"/>
                    </a:lnT>
                    <a:lnB w="28575">
                      <a:solidFill>
                        <a:srgbClr val="646464"/>
                      </a:solidFill>
                      <a:prstDash val="solid"/>
                    </a:lnB>
                    <a:solidFill>
                      <a:srgbClr val="FFFFFF"/>
                    </a:solidFill>
                  </a:tcPr>
                </a:tc>
              </a:tr>
            </a:tbl>
          </a:graphicData>
        </a:graphic>
      </p:graphicFrame>
    </p:spTree>
    <p:custDataLst>
      <p:tags r:id="rId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64160" y="2228850"/>
            <a:ext cx="11620500" cy="4385945"/>
          </a:xfrm>
          <a:prstGeom prst="rect">
            <a:avLst/>
          </a:prstGeom>
          <a:noFill/>
          <a:ln w="9525">
            <a:noFill/>
          </a:ln>
        </p:spPr>
      </p:pic>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6"/>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2.1 动态梳理三类需求</a:t>
            </a:r>
            <a:endParaRPr lang="en-US" altLang="zh-CN" sz="2800" b="1" dirty="0">
              <a:solidFill>
                <a:srgbClr val="0070C0"/>
              </a:solidFill>
              <a:latin typeface="微软雅黑" panose="020B0503020204020204" charset="-122"/>
              <a:ea typeface="微软雅黑" panose="020B0503020204020204" charset="-122"/>
              <a:sym typeface="+mn-ea"/>
            </a:endParaRPr>
          </a:p>
        </p:txBody>
      </p:sp>
      <p:graphicFrame>
        <p:nvGraphicFramePr>
          <p:cNvPr id="3" name="表格 2"/>
          <p:cNvGraphicFramePr/>
          <p:nvPr>
            <p:custDataLst>
              <p:tags r:id="rId7"/>
            </p:custDataLst>
          </p:nvPr>
        </p:nvGraphicFramePr>
        <p:xfrm>
          <a:off x="605155" y="1125220"/>
          <a:ext cx="11254105" cy="5502275"/>
        </p:xfrm>
        <a:graphic>
          <a:graphicData uri="http://schemas.openxmlformats.org/drawingml/2006/table">
            <a:tbl>
              <a:tblPr firstRow="1" lastRow="1" bandRow="1">
                <a:tableStyleId>{E364DEFD-1D1D-45AC-B6A7-0296249E4342}</a:tableStyleId>
              </a:tblPr>
              <a:tblGrid>
                <a:gridCol w="3864610"/>
                <a:gridCol w="4012565"/>
                <a:gridCol w="3376930"/>
              </a:tblGrid>
              <a:tr h="721360">
                <a:tc gridSpan="3">
                  <a:txBody>
                    <a:bodyPr/>
                    <a:p>
                      <a:pPr indent="0" algn="ctr" fontAlgn="auto">
                        <a:lnSpc>
                          <a:spcPct val="100000"/>
                        </a:lnSpc>
                        <a:spcBef>
                          <a:spcPts val="0"/>
                        </a:spcBef>
                        <a:spcAft>
                          <a:spcPts val="0"/>
                        </a:spcAft>
                        <a:buNone/>
                      </a:pPr>
                      <a:r>
                        <a:rPr lang="en-US" sz="2400" b="1" spc="130">
                          <a:solidFill>
                            <a:schemeClr val="tx1"/>
                          </a:solidFill>
                          <a:latin typeface="微软雅黑" panose="020B0503020204020204" charset="-122"/>
                          <a:ea typeface="微软雅黑" panose="020B0503020204020204" charset="-122"/>
                          <a:cs typeface="方正黑体_GBK" panose="03000509000000000000" pitchFamily="65" charset="-122"/>
                        </a:rPr>
                        <a:t>“群众企业基层所盼”来源标准</a:t>
                      </a:r>
                      <a:endParaRPr lang="en-US" sz="2400" b="1" spc="13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254000" marR="254000" marT="177800" marB="177800" vert="horz" anchor="ctr" anchorCtr="0">
                    <a:lnL>
                      <a:noFill/>
                    </a:lnL>
                    <a:lnR>
                      <a:noFill/>
                    </a:lnR>
                    <a:lnT>
                      <a:noFill/>
                    </a:lnT>
                    <a:lnB w="28575">
                      <a:solidFill>
                        <a:srgbClr val="646464"/>
                      </a:solidFill>
                      <a:prstDash val="solid"/>
                    </a:lnB>
                    <a:solidFill>
                      <a:srgbClr val="FFFFFF"/>
                    </a:solidFill>
                  </a:tcPr>
                </a:tc>
                <a:tc hMerge="1">
                  <a:tcPr>
                    <a:lnR>
                      <a:noFill/>
                    </a:lnR>
                    <a:lnT>
                      <a:noFill/>
                    </a:lnT>
                    <a:lnB w="28575">
                      <a:solidFill>
                        <a:srgbClr val="646464"/>
                      </a:solidFill>
                      <a:prstDash val="solid"/>
                    </a:lnB>
                  </a:tcPr>
                </a:tc>
                <a:tc hMerge="1">
                  <a:tcPr>
                    <a:lnR>
                      <a:noFill/>
                    </a:lnR>
                    <a:lnT>
                      <a:noFill/>
                    </a:lnT>
                    <a:lnB w="28575">
                      <a:solidFill>
                        <a:srgbClr val="646464"/>
                      </a:solidFill>
                      <a:prstDash val="solid"/>
                    </a:lnB>
                    <a:solidFill>
                      <a:srgbClr val="FFFFFF"/>
                    </a:solidFill>
                  </a:tcPr>
                </a:tc>
              </a:tr>
              <a:tr h="721360">
                <a:tc>
                  <a:txBody>
                    <a:bodyPr/>
                    <a:p>
                      <a:pPr indent="0" algn="ctr">
                        <a:lnSpc>
                          <a:spcPct val="120000"/>
                        </a:lnSpc>
                        <a:spcBef>
                          <a:spcPts val="0"/>
                        </a:spcBef>
                        <a:spcAft>
                          <a:spcPts val="0"/>
                        </a:spcAft>
                        <a:buNone/>
                      </a:pPr>
                      <a:r>
                        <a:rPr lang="en-US" sz="2000" b="1" spc="130">
                          <a:solidFill>
                            <a:schemeClr val="bg1"/>
                          </a:solidFill>
                          <a:latin typeface="微软雅黑" panose="020B0503020204020204" charset="-122"/>
                          <a:ea typeface="微软雅黑" panose="020B0503020204020204" charset="-122"/>
                        </a:rPr>
                        <a:t>群众高频需求</a:t>
                      </a:r>
                      <a:endParaRPr lang="en-US" sz="2000" b="1" spc="130">
                        <a:solidFill>
                          <a:schemeClr val="bg1"/>
                        </a:solidFill>
                        <a:latin typeface="微软雅黑" panose="020B0503020204020204" charset="-122"/>
                        <a:ea typeface="微软雅黑" panose="020B0503020204020204" charset="-122"/>
                      </a:endParaRPr>
                    </a:p>
                  </a:txBody>
                  <a:tcPr marL="254000" marR="254000" marT="177800" marB="177800" vert="horz" anchor="ctr" anchorCtr="0">
                    <a:lnL>
                      <a:noFill/>
                    </a:lnL>
                    <a:lnR w="9525">
                      <a:solidFill>
                        <a:srgbClr val="646464"/>
                      </a:solidFill>
                      <a:prstDash val="sysDash"/>
                    </a:lnR>
                    <a:lnT w="28575">
                      <a:solidFill>
                        <a:srgbClr val="646464"/>
                      </a:solidFill>
                      <a:prstDash val="solid"/>
                    </a:lnT>
                    <a:lnB w="28575">
                      <a:solidFill>
                        <a:srgbClr val="646464"/>
                      </a:solidFill>
                      <a:prstDash val="solid"/>
                    </a:lnB>
                    <a:solidFill>
                      <a:srgbClr val="00B0F0"/>
                    </a:solidFill>
                  </a:tcPr>
                </a:tc>
                <a:tc>
                  <a:txBody>
                    <a:bodyPr/>
                    <a:p>
                      <a:pPr indent="0" algn="ctr">
                        <a:lnSpc>
                          <a:spcPct val="120000"/>
                        </a:lnSpc>
                        <a:spcBef>
                          <a:spcPts val="0"/>
                        </a:spcBef>
                        <a:spcAft>
                          <a:spcPts val="0"/>
                        </a:spcAft>
                        <a:buNone/>
                      </a:pPr>
                      <a:r>
                        <a:rPr lang="en-US" sz="2000" b="1" spc="130">
                          <a:solidFill>
                            <a:schemeClr val="bg1"/>
                          </a:solidFill>
                          <a:latin typeface="微软雅黑" panose="020B0503020204020204" charset="-122"/>
                          <a:ea typeface="微软雅黑" panose="020B0503020204020204" charset="-122"/>
                        </a:rPr>
                        <a:t>企业共性需求</a:t>
                      </a:r>
                      <a:endParaRPr lang="en-US" sz="2000" b="1" spc="130">
                        <a:solidFill>
                          <a:schemeClr val="bg1"/>
                        </a:solidFill>
                        <a:latin typeface="微软雅黑" panose="020B0503020204020204" charset="-122"/>
                        <a:ea typeface="微软雅黑" panose="020B0503020204020204" charset="-122"/>
                      </a:endParaRPr>
                    </a:p>
                  </a:txBody>
                  <a:tcPr marL="254000" marR="254000" marT="177800" marB="177800" vert="horz" anchor="ctr" anchorCtr="0">
                    <a:lnL w="9525">
                      <a:solidFill>
                        <a:srgbClr val="646464"/>
                      </a:solidFill>
                      <a:prstDash val="sysDash"/>
                    </a:lnL>
                    <a:lnR w="12700">
                      <a:solidFill>
                        <a:schemeClr val="tx1"/>
                      </a:solidFill>
                      <a:prstDash val="sysDot"/>
                    </a:lnR>
                    <a:lnT w="28575">
                      <a:solidFill>
                        <a:srgbClr val="646464"/>
                      </a:solidFill>
                      <a:prstDash val="solid"/>
                    </a:lnT>
                    <a:lnB w="28575">
                      <a:solidFill>
                        <a:srgbClr val="646464"/>
                      </a:solidFill>
                      <a:prstDash val="solid"/>
                    </a:lnB>
                    <a:solidFill>
                      <a:srgbClr val="00B0F0"/>
                    </a:solidFill>
                  </a:tcPr>
                </a:tc>
                <a:tc>
                  <a:txBody>
                    <a:bodyPr/>
                    <a:p>
                      <a:pPr indent="0" algn="ctr">
                        <a:lnSpc>
                          <a:spcPct val="120000"/>
                        </a:lnSpc>
                        <a:spcBef>
                          <a:spcPts val="0"/>
                        </a:spcBef>
                        <a:spcAft>
                          <a:spcPts val="0"/>
                        </a:spcAft>
                        <a:buNone/>
                      </a:pPr>
                      <a:r>
                        <a:rPr lang="en-US" altLang="en-US" sz="2000" b="1" spc="130">
                          <a:solidFill>
                            <a:schemeClr val="bg1"/>
                          </a:solidFill>
                          <a:latin typeface="微软雅黑" panose="020B0503020204020204" charset="-122"/>
                          <a:ea typeface="微软雅黑" panose="020B0503020204020204" charset="-122"/>
                        </a:rPr>
                        <a:t>基层所盼</a:t>
                      </a:r>
                      <a:endParaRPr lang="en-US" altLang="en-US" sz="2000" b="1" spc="130">
                        <a:solidFill>
                          <a:schemeClr val="bg1"/>
                        </a:solidFill>
                        <a:latin typeface="微软雅黑" panose="020B0503020204020204" charset="-122"/>
                        <a:ea typeface="微软雅黑" panose="020B0503020204020204" charset="-122"/>
                      </a:endParaRPr>
                    </a:p>
                  </a:txBody>
                  <a:tcPr marL="254000" marR="254000" marT="177800" marB="177800" vert="horz" anchor="ctr" anchorCtr="0">
                    <a:lnL w="12700">
                      <a:solidFill>
                        <a:schemeClr val="tx1"/>
                      </a:solidFill>
                      <a:prstDash val="sysDot"/>
                    </a:lnL>
                    <a:lnR>
                      <a:noFill/>
                    </a:lnR>
                    <a:lnT w="28575">
                      <a:solidFill>
                        <a:srgbClr val="646464"/>
                      </a:solidFill>
                      <a:prstDash val="solid"/>
                    </a:lnT>
                    <a:lnB w="28575">
                      <a:solidFill>
                        <a:srgbClr val="646464"/>
                      </a:solidFill>
                      <a:prstDash val="solid"/>
                    </a:lnB>
                    <a:solidFill>
                      <a:srgbClr val="00B0F0"/>
                    </a:solidFill>
                  </a:tcPr>
                </a:tc>
              </a:tr>
              <a:tr h="4059555">
                <a:tc>
                  <a:txBody>
                    <a:bodyPr/>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①教育：幼儿托育不方便成本高、优质教育分布不均衡等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②就业：就业难、欠薪等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③居住：房价高、保交楼等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④就医：看病难、看病贵等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⑤养老：养老服务供需不匹配等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⑥救助：救助服务不及时等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⑦家政：中介服务不规范等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0" marR="0" marT="177800" marB="177800" vert="horz" anchor="ctr" anchorCtr="0">
                    <a:lnL>
                      <a:noFill/>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①开办注销：流程复杂、业务繁琐等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②政策惠及：落地难、享受难等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③招工用工：招工难、稳岗难等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④融资服务：融资难、融资贵等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⑤研发创新：资金不足、人才不足等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⑥权益保障：维权难等</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a:t>
                      </a:r>
                      <a:endParaRPr 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0" marR="0" marT="177800" marB="177800" vert="horz" anchor="ctr" anchorCtr="0">
                    <a:lnL w="9525">
                      <a:solidFill>
                        <a:srgbClr val="646464"/>
                      </a:solidFill>
                      <a:prstDash val="sysDash"/>
                    </a:lnL>
                    <a:lnR w="12700">
                      <a:solidFill>
                        <a:schemeClr val="tx1"/>
                      </a:solidFill>
                      <a:prstDash val="sysDot"/>
                    </a:lnR>
                    <a:lnT w="28575">
                      <a:solidFill>
                        <a:srgbClr val="646464"/>
                      </a:solidFill>
                      <a:prstDash val="solid"/>
                    </a:lnT>
                    <a:lnB w="28575">
                      <a:solidFill>
                        <a:srgbClr val="646464"/>
                      </a:solidFill>
                      <a:prstDash val="solid"/>
                    </a:lnB>
                    <a:solidFill>
                      <a:srgbClr val="FFFFFF"/>
                    </a:solidFill>
                  </a:tcPr>
                </a:tc>
                <a:tc>
                  <a:txBody>
                    <a:bodyPr/>
                    <a:p>
                      <a:pPr indent="0" algn="l" fontAlgn="auto">
                        <a:lnSpc>
                          <a:spcPct val="100000"/>
                        </a:lnSpc>
                        <a:spcBef>
                          <a:spcPts val="0"/>
                        </a:spcBef>
                        <a:spcAft>
                          <a:spcPts val="0"/>
                        </a:spcAft>
                        <a:buNone/>
                      </a:pPr>
                      <a:r>
                        <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①基层减负：会多文多填表多、形式主义等</a:t>
                      </a:r>
                      <a:endPar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②职能优化：事权责不匹配、块统难等</a:t>
                      </a:r>
                      <a:endPar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③政策支持：落地难、操作难等</a:t>
                      </a:r>
                      <a:endPar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④激励容错：政策限制多、容错难等</a:t>
                      </a:r>
                      <a:endPar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⑤能力提升：培训少、专业人员少等</a:t>
                      </a:r>
                      <a:endPar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p>
                      <a:pPr indent="0" algn="l" fontAlgn="auto">
                        <a:lnSpc>
                          <a:spcPct val="100000"/>
                        </a:lnSpc>
                        <a:spcBef>
                          <a:spcPts val="0"/>
                        </a:spcBef>
                        <a:spcAft>
                          <a:spcPts val="0"/>
                        </a:spcAft>
                        <a:buNone/>
                      </a:pPr>
                      <a:r>
                        <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rPr>
                        <a:t>……</a:t>
                      </a:r>
                      <a:endParaRPr lang="en-US" altLang="en-US" sz="2000" b="0" spc="12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0" marR="0" marT="177800" marB="177800" vert="horz" anchor="ctr" anchorCtr="0">
                    <a:lnL w="12700">
                      <a:solidFill>
                        <a:schemeClr val="tx1"/>
                      </a:solidFill>
                      <a:prstDash val="sysDot"/>
                    </a:lnL>
                    <a:lnR>
                      <a:noFill/>
                    </a:lnR>
                    <a:lnT w="28575">
                      <a:solidFill>
                        <a:srgbClr val="646464"/>
                      </a:solidFill>
                      <a:prstDash val="solid"/>
                    </a:lnT>
                    <a:lnB w="28575">
                      <a:solidFill>
                        <a:srgbClr val="646464"/>
                      </a:solidFill>
                      <a:prstDash val="solid"/>
                    </a:lnB>
                    <a:solidFill>
                      <a:srgbClr val="FFFFFF"/>
                    </a:solidFill>
                  </a:tcPr>
                </a:tc>
              </a:tr>
            </a:tbl>
          </a:graphicData>
        </a:graphic>
      </p:graphicFrame>
    </p:spTree>
    <p:custDataLst>
      <p:tags r:id="rId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64160" y="2228850"/>
            <a:ext cx="11620500" cy="4385945"/>
          </a:xfrm>
          <a:prstGeom prst="rect">
            <a:avLst/>
          </a:prstGeom>
          <a:noFill/>
          <a:ln w="9525">
            <a:noFill/>
          </a:ln>
        </p:spPr>
      </p:pic>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6"/>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2.1 动态梳理三类需求</a:t>
            </a:r>
            <a:endParaRPr lang="en-US" altLang="zh-CN" sz="2800" b="1" dirty="0">
              <a:solidFill>
                <a:srgbClr val="0070C0"/>
              </a:solidFill>
              <a:latin typeface="微软雅黑" panose="020B0503020204020204" charset="-122"/>
              <a:ea typeface="微软雅黑" panose="020B0503020204020204" charset="-122"/>
              <a:sym typeface="+mn-ea"/>
            </a:endParaRPr>
          </a:p>
        </p:txBody>
      </p:sp>
      <p:graphicFrame>
        <p:nvGraphicFramePr>
          <p:cNvPr id="3" name="表格 2"/>
          <p:cNvGraphicFramePr/>
          <p:nvPr>
            <p:custDataLst>
              <p:tags r:id="rId7"/>
            </p:custDataLst>
          </p:nvPr>
        </p:nvGraphicFramePr>
        <p:xfrm>
          <a:off x="963930" y="1628775"/>
          <a:ext cx="10243820" cy="4128135"/>
        </p:xfrm>
        <a:graphic>
          <a:graphicData uri="http://schemas.openxmlformats.org/drawingml/2006/table">
            <a:tbl>
              <a:tblPr firstRow="1" lastRow="1" bandRow="1">
                <a:tableStyleId>{E364DEFD-1D1D-45AC-B6A7-0296249E4342}</a:tableStyleId>
              </a:tblPr>
              <a:tblGrid>
                <a:gridCol w="10243820"/>
              </a:tblGrid>
              <a:tr h="794385">
                <a:tc>
                  <a:txBody>
                    <a:bodyPr/>
                    <a:p>
                      <a:pPr indent="0" algn="ctr">
                        <a:lnSpc>
                          <a:spcPct val="120000"/>
                        </a:lnSpc>
                        <a:spcBef>
                          <a:spcPts val="0"/>
                        </a:spcBef>
                        <a:spcAft>
                          <a:spcPts val="0"/>
                        </a:spcAft>
                        <a:buNone/>
                      </a:pPr>
                      <a:r>
                        <a:rPr lang="en-US" sz="2800" b="1" spc="130">
                          <a:solidFill>
                            <a:schemeClr val="tx1"/>
                          </a:solidFill>
                          <a:latin typeface="微软雅黑" panose="020B0503020204020204" charset="-122"/>
                          <a:ea typeface="微软雅黑" panose="020B0503020204020204" charset="-122"/>
                          <a:cs typeface="方正黑体_GBK" panose="03000509000000000000" pitchFamily="65" charset="-122"/>
                        </a:rPr>
                        <a:t>“比学先进”来源标准</a:t>
                      </a:r>
                      <a:endParaRPr lang="en-US" sz="2800" b="1" spc="130">
                        <a:solidFill>
                          <a:schemeClr val="tx1"/>
                        </a:solidFill>
                        <a:latin typeface="微软雅黑" panose="020B0503020204020204" charset="-122"/>
                        <a:ea typeface="微软雅黑" panose="020B0503020204020204" charset="-122"/>
                        <a:cs typeface="方正黑体_GBK" panose="03000509000000000000" pitchFamily="65" charset="-122"/>
                      </a:endParaRPr>
                    </a:p>
                  </a:txBody>
                  <a:tcPr marL="254000" marR="254000" marT="177800" marB="177800" vert="horz" anchor="ctr" anchorCtr="0">
                    <a:lnL>
                      <a:noFill/>
                    </a:lnL>
                    <a:lnR>
                      <a:noFill/>
                    </a:lnR>
                    <a:lnT>
                      <a:noFill/>
                    </a:lnT>
                    <a:lnB w="28575">
                      <a:solidFill>
                        <a:srgbClr val="646464"/>
                      </a:solidFill>
                      <a:prstDash val="solid"/>
                    </a:lnB>
                    <a:solidFill>
                      <a:srgbClr val="FFFFFF"/>
                    </a:solidFill>
                  </a:tcPr>
                </a:tc>
              </a:tr>
              <a:tr h="3333750">
                <a:tc>
                  <a:txBody>
                    <a:bodyPr/>
                    <a:p>
                      <a:pPr indent="0" algn="l">
                        <a:lnSpc>
                          <a:spcPct val="120000"/>
                        </a:lnSpc>
                        <a:spcBef>
                          <a:spcPts val="0"/>
                        </a:spcBef>
                        <a:spcAft>
                          <a:spcPts val="0"/>
                        </a:spcAft>
                        <a:buNone/>
                      </a:pPr>
                      <a:r>
                        <a:rPr lang="en-US" sz="2400" b="1" spc="130">
                          <a:solidFill>
                            <a:schemeClr val="bg1"/>
                          </a:solidFill>
                          <a:latin typeface="微软雅黑" panose="020B0503020204020204" charset="-122"/>
                          <a:ea typeface="微软雅黑" panose="020B0503020204020204" charset="-122"/>
                        </a:rPr>
                        <a:t>①在全国性会议作经验交流、典型发言。</a:t>
                      </a:r>
                      <a:endParaRPr lang="en-US" sz="2400" b="1" spc="130">
                        <a:solidFill>
                          <a:schemeClr val="bg1"/>
                        </a:solidFill>
                        <a:latin typeface="微软雅黑" panose="020B0503020204020204" charset="-122"/>
                        <a:ea typeface="微软雅黑" panose="020B0503020204020204" charset="-122"/>
                      </a:endParaRPr>
                    </a:p>
                    <a:p>
                      <a:pPr indent="0" algn="l">
                        <a:lnSpc>
                          <a:spcPct val="120000"/>
                        </a:lnSpc>
                        <a:spcBef>
                          <a:spcPts val="0"/>
                        </a:spcBef>
                        <a:spcAft>
                          <a:spcPts val="0"/>
                        </a:spcAft>
                        <a:buNone/>
                      </a:pPr>
                      <a:r>
                        <a:rPr lang="en-US" sz="2400" b="1" spc="130">
                          <a:solidFill>
                            <a:schemeClr val="bg1"/>
                          </a:solidFill>
                          <a:latin typeface="微软雅黑" panose="020B0503020204020204" charset="-122"/>
                          <a:ea typeface="微软雅黑" panose="020B0503020204020204" charset="-122"/>
                        </a:rPr>
                        <a:t>②做法在中央和国家部委文件中被肯定性表述或通报表彰。</a:t>
                      </a:r>
                      <a:endParaRPr lang="en-US" sz="2400" b="1" spc="130">
                        <a:solidFill>
                          <a:schemeClr val="bg1"/>
                        </a:solidFill>
                        <a:latin typeface="微软雅黑" panose="020B0503020204020204" charset="-122"/>
                        <a:ea typeface="微软雅黑" panose="020B0503020204020204" charset="-122"/>
                      </a:endParaRPr>
                    </a:p>
                    <a:p>
                      <a:pPr indent="0" algn="l">
                        <a:lnSpc>
                          <a:spcPct val="120000"/>
                        </a:lnSpc>
                        <a:spcBef>
                          <a:spcPts val="0"/>
                        </a:spcBef>
                        <a:spcAft>
                          <a:spcPts val="0"/>
                        </a:spcAft>
                        <a:buNone/>
                      </a:pPr>
                      <a:r>
                        <a:rPr lang="en-US" sz="2400" b="1" spc="130">
                          <a:solidFill>
                            <a:schemeClr val="bg1"/>
                          </a:solidFill>
                          <a:latin typeface="微软雅黑" panose="020B0503020204020204" charset="-122"/>
                          <a:ea typeface="微软雅黑" panose="020B0503020204020204" charset="-122"/>
                        </a:rPr>
                        <a:t>③被中央或国家部委工作简报刊发。</a:t>
                      </a:r>
                      <a:endParaRPr lang="en-US" sz="2400" b="1" spc="130">
                        <a:solidFill>
                          <a:schemeClr val="bg1"/>
                        </a:solidFill>
                        <a:latin typeface="微软雅黑" panose="020B0503020204020204" charset="-122"/>
                        <a:ea typeface="微软雅黑" panose="020B0503020204020204" charset="-122"/>
                      </a:endParaRPr>
                    </a:p>
                    <a:p>
                      <a:pPr indent="0" algn="l">
                        <a:lnSpc>
                          <a:spcPct val="120000"/>
                        </a:lnSpc>
                        <a:spcBef>
                          <a:spcPts val="0"/>
                        </a:spcBef>
                        <a:spcAft>
                          <a:spcPts val="0"/>
                        </a:spcAft>
                        <a:buNone/>
                      </a:pPr>
                      <a:r>
                        <a:rPr lang="en-US" sz="2400" b="1" spc="130">
                          <a:solidFill>
                            <a:schemeClr val="bg1"/>
                          </a:solidFill>
                          <a:latin typeface="微软雅黑" panose="020B0503020204020204" charset="-122"/>
                          <a:ea typeface="微软雅黑" panose="020B0503020204020204" charset="-122"/>
                        </a:rPr>
                        <a:t>④被人民日报、新华社、中央广播电视总台、光明日报、经济日报等媒体深度报道。</a:t>
                      </a:r>
                      <a:endParaRPr lang="en-US" sz="2400" b="1" spc="130">
                        <a:solidFill>
                          <a:schemeClr val="bg1"/>
                        </a:solidFill>
                        <a:latin typeface="微软雅黑" panose="020B0503020204020204" charset="-122"/>
                        <a:ea typeface="微软雅黑" panose="020B0503020204020204" charset="-122"/>
                      </a:endParaRPr>
                    </a:p>
                    <a:p>
                      <a:pPr indent="0" algn="l">
                        <a:lnSpc>
                          <a:spcPct val="120000"/>
                        </a:lnSpc>
                        <a:spcBef>
                          <a:spcPts val="0"/>
                        </a:spcBef>
                        <a:spcAft>
                          <a:spcPts val="0"/>
                        </a:spcAft>
                        <a:buNone/>
                      </a:pPr>
                      <a:r>
                        <a:rPr lang="en-US" sz="2400" b="1" spc="130">
                          <a:solidFill>
                            <a:schemeClr val="bg1"/>
                          </a:solidFill>
                          <a:latin typeface="微软雅黑" panose="020B0503020204020204" charset="-122"/>
                          <a:ea typeface="微软雅黑" panose="020B0503020204020204" charset="-122"/>
                        </a:rPr>
                        <a:t>……</a:t>
                      </a:r>
                      <a:endParaRPr lang="en-US" sz="2400" b="1" spc="130">
                        <a:solidFill>
                          <a:schemeClr val="bg1"/>
                        </a:solidFill>
                        <a:latin typeface="微软雅黑" panose="020B0503020204020204" charset="-122"/>
                        <a:ea typeface="微软雅黑" panose="020B0503020204020204" charset="-122"/>
                      </a:endParaRPr>
                    </a:p>
                  </a:txBody>
                  <a:tcPr marL="254000" marR="254000" marT="177800" marB="177800" vert="horz" anchor="ctr" anchorCtr="0">
                    <a:lnL>
                      <a:noFill/>
                    </a:lnL>
                    <a:lnR>
                      <a:noFill/>
                    </a:lnR>
                    <a:lnT w="28575">
                      <a:solidFill>
                        <a:srgbClr val="646464"/>
                      </a:solidFill>
                      <a:prstDash val="solid"/>
                    </a:lnT>
                    <a:lnB w="28575">
                      <a:solidFill>
                        <a:srgbClr val="646464"/>
                      </a:solidFill>
                      <a:prstDash val="solid"/>
                    </a:lnB>
                    <a:solidFill>
                      <a:srgbClr val="00B0F0"/>
                    </a:solidFill>
                  </a:tcPr>
                </a:tc>
              </a:tr>
            </a:tbl>
          </a:graphicData>
        </a:graphic>
      </p:graphicFrame>
    </p:spTree>
    <p:custDataLst>
      <p:tags r:id="rId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64160" y="1670050"/>
            <a:ext cx="11620500" cy="4944745"/>
          </a:xfrm>
          <a:prstGeom prst="rect">
            <a:avLst/>
          </a:prstGeom>
          <a:noFill/>
          <a:ln w="9525">
            <a:noFill/>
          </a:ln>
        </p:spPr>
      </p:pic>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6"/>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2.2 需求清单归集整理标准</a:t>
            </a:r>
            <a:endParaRPr lang="en-US" altLang="zh-CN" sz="2800" b="1" dirty="0">
              <a:solidFill>
                <a:srgbClr val="0070C0"/>
              </a:solidFill>
              <a:latin typeface="微软雅黑" panose="020B0503020204020204" charset="-122"/>
              <a:ea typeface="微软雅黑" panose="020B0503020204020204" charset="-122"/>
              <a:sym typeface="+mn-ea"/>
            </a:endParaRPr>
          </a:p>
        </p:txBody>
      </p:sp>
      <p:sp>
        <p:nvSpPr>
          <p:cNvPr id="2" name="圆角矩形 1"/>
          <p:cNvSpPr/>
          <p:nvPr/>
        </p:nvSpPr>
        <p:spPr>
          <a:xfrm>
            <a:off x="926465" y="2505075"/>
            <a:ext cx="1413510" cy="5035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b="1">
                <a:latin typeface="微软雅黑" panose="020B0503020204020204" charset="-122"/>
                <a:ea typeface="微软雅黑" panose="020B0503020204020204" charset="-122"/>
                <a:cs typeface="方正黑体_GBK" panose="03000509000000000000" pitchFamily="65" charset="-122"/>
              </a:rPr>
              <a:t>高</a:t>
            </a:r>
            <a:r>
              <a:rPr lang="en-US" altLang="zh-CN" sz="2800" b="1">
                <a:latin typeface="微软雅黑" panose="020B0503020204020204" charset="-122"/>
                <a:ea typeface="微软雅黑" panose="020B0503020204020204" charset="-122"/>
                <a:cs typeface="方正黑体_GBK" panose="03000509000000000000" pitchFamily="65" charset="-122"/>
              </a:rPr>
              <a:t>  </a:t>
            </a:r>
            <a:r>
              <a:rPr lang="zh-CN" altLang="en-US" sz="2800" b="1">
                <a:latin typeface="微软雅黑" panose="020B0503020204020204" charset="-122"/>
                <a:ea typeface="微软雅黑" panose="020B0503020204020204" charset="-122"/>
                <a:cs typeface="方正黑体_GBK" panose="03000509000000000000" pitchFamily="65" charset="-122"/>
              </a:rPr>
              <a:t>频</a:t>
            </a:r>
            <a:endParaRPr lang="zh-CN" altLang="en-US" sz="2800" b="1">
              <a:latin typeface="微软雅黑" panose="020B0503020204020204" charset="-122"/>
              <a:ea typeface="微软雅黑" panose="020B0503020204020204" charset="-122"/>
              <a:cs typeface="方正黑体_GBK" panose="03000509000000000000" pitchFamily="65" charset="-122"/>
            </a:endParaRPr>
          </a:p>
        </p:txBody>
      </p:sp>
      <p:sp>
        <p:nvSpPr>
          <p:cNvPr id="12" name="圆角矩形 11"/>
          <p:cNvSpPr/>
          <p:nvPr/>
        </p:nvSpPr>
        <p:spPr>
          <a:xfrm>
            <a:off x="2726690" y="2275205"/>
            <a:ext cx="8999855" cy="12960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rPr>
              <a:t>与群众企业基层生产、生活、治理紧密相关的经常性办理事项，如出生、入学、就业、入职、退休、就医，企业开办、经营、注销，基层工作运转、公共服务等。</a:t>
            </a:r>
            <a:r>
              <a:rPr lang="zh-CN" altLang="en-US" sz="2400" b="1">
                <a:solidFill>
                  <a:srgbClr val="FFC000"/>
                </a:solidFill>
                <a:latin typeface="微软雅黑" panose="020B0503020204020204" charset="-122"/>
                <a:ea typeface="微软雅黑" panose="020B0503020204020204" charset="-122"/>
              </a:rPr>
              <a:t>可采用案例、数据作支撑</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p:txBody>
      </p:sp>
      <p:sp>
        <p:nvSpPr>
          <p:cNvPr id="8" name="圆角矩形 7"/>
          <p:cNvSpPr/>
          <p:nvPr>
            <p:custDataLst>
              <p:tags r:id="rId7"/>
            </p:custDataLst>
          </p:nvPr>
        </p:nvSpPr>
        <p:spPr>
          <a:xfrm>
            <a:off x="926465" y="4580890"/>
            <a:ext cx="1529715" cy="6864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rPr>
              <a:t>两端上线</a:t>
            </a:r>
            <a:endParaRPr lang="zh-CN" altLang="en-US" sz="2400" b="1">
              <a:latin typeface="微软雅黑" panose="020B0503020204020204" charset="-122"/>
              <a:ea typeface="微软雅黑" panose="020B0503020204020204" charset="-122"/>
            </a:endParaRPr>
          </a:p>
        </p:txBody>
      </p:sp>
      <p:sp>
        <p:nvSpPr>
          <p:cNvPr id="15" name="圆角矩形 14"/>
          <p:cNvSpPr/>
          <p:nvPr>
            <p:custDataLst>
              <p:tags r:id="rId8"/>
            </p:custDataLst>
          </p:nvPr>
        </p:nvSpPr>
        <p:spPr>
          <a:xfrm>
            <a:off x="2726690" y="4444365"/>
            <a:ext cx="8999855" cy="15005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2400">
                <a:latin typeface="微软雅黑" panose="020B0503020204020204" charset="-122"/>
                <a:ea typeface="微软雅黑" panose="020B0503020204020204" charset="-122"/>
                <a:cs typeface="方正黑体_GBK" panose="03000509000000000000" pitchFamily="65" charset="-122"/>
              </a:rPr>
              <a:t>生成的重大应用能够在“渝快办”或“渝快政”上，</a:t>
            </a:r>
            <a:r>
              <a:rPr lang="zh-CN" altLang="en-US" sz="2400">
                <a:solidFill>
                  <a:srgbClr val="FFC000"/>
                </a:solidFill>
                <a:latin typeface="微软雅黑" panose="020B0503020204020204" charset="-122"/>
                <a:ea typeface="微软雅黑" panose="020B0503020204020204" charset="-122"/>
                <a:cs typeface="方正黑体_GBK" panose="03000509000000000000" pitchFamily="65" charset="-122"/>
              </a:rPr>
              <a:t>为群众企业或基层提供服务</a:t>
            </a:r>
            <a:r>
              <a:rPr lang="zh-CN" altLang="en-US" sz="2400">
                <a:latin typeface="微软雅黑" panose="020B0503020204020204" charset="-122"/>
                <a:ea typeface="微软雅黑" panose="020B0503020204020204" charset="-122"/>
                <a:cs typeface="方正黑体_GBK" panose="03000509000000000000" pitchFamily="65" charset="-122"/>
              </a:rPr>
              <a:t>。涉密重大应用按照有关规定管理，并提供有关密级的规定。</a:t>
            </a:r>
            <a:endParaRPr lang="zh-CN" altLang="en-US" sz="2400">
              <a:latin typeface="微软雅黑" panose="020B0503020204020204" charset="-122"/>
              <a:ea typeface="微软雅黑" panose="020B0503020204020204" charset="-122"/>
              <a:cs typeface="方正黑体_GBK" panose="03000509000000000000" pitchFamily="65" charset="-122"/>
            </a:endParaRPr>
          </a:p>
        </p:txBody>
      </p:sp>
    </p:spTree>
    <p:custDataLst>
      <p:tags r:id="rId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2.3 需求清单归集整理标准示例</a:t>
            </a:r>
            <a:endParaRPr lang="en-US" altLang="zh-CN" sz="2800" b="1" dirty="0">
              <a:solidFill>
                <a:srgbClr val="0070C0"/>
              </a:solidFill>
              <a:latin typeface="微软雅黑" panose="020B0503020204020204" charset="-122"/>
              <a:ea typeface="微软雅黑" panose="020B0503020204020204" charset="-122"/>
              <a:sym typeface="+mn-ea"/>
            </a:endParaRPr>
          </a:p>
        </p:txBody>
      </p:sp>
      <p:graphicFrame>
        <p:nvGraphicFramePr>
          <p:cNvPr id="10" name="表格 9"/>
          <p:cNvGraphicFramePr/>
          <p:nvPr>
            <p:custDataLst>
              <p:tags r:id="rId5"/>
            </p:custDataLst>
          </p:nvPr>
        </p:nvGraphicFramePr>
        <p:xfrm>
          <a:off x="306070" y="1816735"/>
          <a:ext cx="11280775" cy="4366895"/>
        </p:xfrm>
        <a:graphic>
          <a:graphicData uri="http://schemas.openxmlformats.org/drawingml/2006/table">
            <a:tbl>
              <a:tblPr/>
              <a:tblGrid>
                <a:gridCol w="1472565"/>
                <a:gridCol w="6312535"/>
                <a:gridCol w="3495675"/>
              </a:tblGrid>
              <a:tr h="246380">
                <a:tc>
                  <a:txBody>
                    <a:bodyPr/>
                    <a:p>
                      <a:pPr marL="36195" indent="0" algn="ctr" fontAlgn="ctr">
                        <a:lnSpc>
                          <a:spcPts val="1700"/>
                        </a:lnSpc>
                        <a:spcBef>
                          <a:spcPct val="0"/>
                        </a:spcBef>
                        <a:spcAft>
                          <a:spcPct val="0"/>
                        </a:spcAft>
                      </a:pPr>
                      <a:r>
                        <a:rPr lang="zh-CN" sz="1400">
                          <a:solidFill>
                            <a:schemeClr val="bg1"/>
                          </a:solidFill>
                          <a:latin typeface="微软雅黑" panose="020B0503020204020204" charset="-122"/>
                          <a:ea typeface="微软雅黑" panose="020B0503020204020204" charset="-122"/>
                        </a:rPr>
                        <a:t>需求来源</a:t>
                      </a:r>
                      <a:endParaRPr lang="zh-CN" sz="1400">
                        <a:solidFill>
                          <a:schemeClr val="bg1"/>
                        </a:solidFill>
                        <a:latin typeface="微软雅黑" panose="020B0503020204020204" charset="-122"/>
                        <a:ea typeface="微软雅黑" panose="020B0503020204020204" charset="-122"/>
                      </a:endParaRPr>
                    </a:p>
                  </a:txBody>
                  <a:tcPr marL="36195" marR="36195" marT="0" marB="0" anchor="ctr" anchorCtr="0">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0070C0"/>
                    </a:solidFill>
                  </a:tcPr>
                </a:tc>
                <a:tc>
                  <a:txBody>
                    <a:bodyPr/>
                    <a:p>
                      <a:pPr marL="36195" indent="0" algn="ctr" fontAlgn="ctr">
                        <a:lnSpc>
                          <a:spcPts val="1700"/>
                        </a:lnSpc>
                        <a:spcBef>
                          <a:spcPct val="0"/>
                        </a:spcBef>
                        <a:spcAft>
                          <a:spcPct val="0"/>
                        </a:spcAft>
                      </a:pPr>
                      <a:r>
                        <a:rPr lang="zh-CN" sz="1400">
                          <a:solidFill>
                            <a:schemeClr val="bg1"/>
                          </a:solidFill>
                          <a:latin typeface="微软雅黑" panose="020B0503020204020204" charset="-122"/>
                          <a:ea typeface="微软雅黑" panose="020B0503020204020204" charset="-122"/>
                        </a:rPr>
                        <a:t>内</a:t>
                      </a:r>
                      <a:r>
                        <a:rPr lang="zh-CN" altLang="en-US" sz="1400">
                          <a:solidFill>
                            <a:schemeClr val="bg1"/>
                          </a:solidFill>
                          <a:latin typeface="微软雅黑" panose="020B0503020204020204" charset="-122"/>
                          <a:ea typeface="微软雅黑" panose="020B0503020204020204" charset="-122"/>
                        </a:rPr>
                        <a:t>    </a:t>
                      </a:r>
                      <a:r>
                        <a:rPr lang="zh-CN" sz="1400">
                          <a:solidFill>
                            <a:schemeClr val="bg1"/>
                          </a:solidFill>
                          <a:latin typeface="微软雅黑" panose="020B0503020204020204" charset="-122"/>
                          <a:ea typeface="微软雅黑" panose="020B0503020204020204" charset="-122"/>
                        </a:rPr>
                        <a:t>容</a:t>
                      </a:r>
                      <a:endParaRPr lang="zh-CN" sz="1400">
                        <a:solidFill>
                          <a:schemeClr val="bg1"/>
                        </a:solidFill>
                        <a:latin typeface="微软雅黑" panose="020B0503020204020204" charset="-122"/>
                        <a:ea typeface="微软雅黑" panose="020B0503020204020204" charset="-122"/>
                      </a:endParaRPr>
                    </a:p>
                  </a:txBody>
                  <a:tcPr marL="36195" marR="36195" marT="0" marB="0" anchor="ctr" anchorCtr="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0070C0"/>
                    </a:solidFill>
                  </a:tcPr>
                </a:tc>
                <a:tc>
                  <a:txBody>
                    <a:bodyPr/>
                    <a:p>
                      <a:pPr marL="36195" indent="0" algn="ctr" fontAlgn="ctr">
                        <a:lnSpc>
                          <a:spcPts val="1700"/>
                        </a:lnSpc>
                        <a:spcBef>
                          <a:spcPct val="0"/>
                        </a:spcBef>
                        <a:spcAft>
                          <a:spcPct val="0"/>
                        </a:spcAft>
                      </a:pPr>
                      <a:r>
                        <a:rPr lang="zh-CN" sz="1400">
                          <a:solidFill>
                            <a:schemeClr val="bg1"/>
                          </a:solidFill>
                          <a:latin typeface="微软雅黑" panose="020B0503020204020204" charset="-122"/>
                          <a:ea typeface="微软雅黑" panose="020B0503020204020204" charset="-122"/>
                        </a:rPr>
                        <a:t>多部门履职需求</a:t>
                      </a:r>
                      <a:endParaRPr lang="zh-CN" sz="1400">
                        <a:solidFill>
                          <a:schemeClr val="bg1"/>
                        </a:solidFill>
                        <a:latin typeface="微软雅黑" panose="020B0503020204020204" charset="-122"/>
                        <a:ea typeface="微软雅黑" panose="020B0503020204020204" charset="-122"/>
                      </a:endParaRPr>
                    </a:p>
                  </a:txBody>
                  <a:tcPr marL="36195" marR="36195" marT="0"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0070C0"/>
                    </a:solidFill>
                  </a:tcPr>
                </a:tc>
              </a:tr>
              <a:tr h="4120515">
                <a:tc>
                  <a:txBody>
                    <a:bodyPr/>
                    <a:p>
                      <a:pPr marL="36195" indent="0" algn="ctr" fontAlgn="ctr">
                        <a:lnSpc>
                          <a:spcPct val="100000"/>
                        </a:lnSpc>
                        <a:spcBef>
                          <a:spcPct val="0"/>
                        </a:spcBef>
                        <a:spcAft>
                          <a:spcPct val="0"/>
                        </a:spcAft>
                      </a:pPr>
                      <a:r>
                        <a:rPr lang="zh-CN" sz="1400">
                          <a:latin typeface="微软雅黑" panose="020B0503020204020204" charset="-122"/>
                          <a:ea typeface="微软雅黑" panose="020B0503020204020204" charset="-122"/>
                        </a:rPr>
                        <a:t>提升政治</a:t>
                      </a:r>
                      <a:endParaRPr lang="zh-CN" sz="1400">
                        <a:latin typeface="微软雅黑" panose="020B0503020204020204" charset="-122"/>
                        <a:ea typeface="微软雅黑" panose="020B0503020204020204" charset="-122"/>
                      </a:endParaRPr>
                    </a:p>
                    <a:p>
                      <a:pPr marL="36195" indent="0" algn="ctr" fontAlgn="ctr">
                        <a:lnSpc>
                          <a:spcPct val="100000"/>
                        </a:lnSpc>
                        <a:spcBef>
                          <a:spcPct val="0"/>
                        </a:spcBef>
                        <a:spcAft>
                          <a:spcPct val="0"/>
                        </a:spcAft>
                      </a:pPr>
                      <a:r>
                        <a:rPr lang="zh-CN" sz="1400">
                          <a:latin typeface="微软雅黑" panose="020B0503020204020204" charset="-122"/>
                          <a:ea typeface="微软雅黑" panose="020B0503020204020204" charset="-122"/>
                        </a:rPr>
                        <a:t>能力</a:t>
                      </a:r>
                      <a:endParaRPr lang="zh-CN" sz="1400">
                        <a:latin typeface="微软雅黑" panose="020B0503020204020204" charset="-122"/>
                        <a:ea typeface="微软雅黑" panose="020B0503020204020204" charset="-122"/>
                      </a:endParaRPr>
                    </a:p>
                  </a:txBody>
                  <a:tcPr marL="36195" marR="36195" marT="0"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p>
                      <a:pPr marL="36195" indent="0" algn="just" fontAlgn="ctr">
                        <a:lnSpc>
                          <a:spcPct val="100000"/>
                        </a:lnSpc>
                        <a:spcBef>
                          <a:spcPct val="0"/>
                        </a:spcBef>
                        <a:spcAft>
                          <a:spcPct val="0"/>
                        </a:spcAft>
                      </a:pPr>
                      <a:r>
                        <a:rPr lang="en-US" altLang="zh-CN" sz="1600">
                          <a:latin typeface="微软雅黑" panose="020B0503020204020204" charset="-122"/>
                          <a:ea typeface="微软雅黑" panose="020B0503020204020204" charset="-122"/>
                        </a:rPr>
                        <a:t>1. 2024</a:t>
                      </a:r>
                      <a:r>
                        <a:rPr lang="zh-CN" sz="1600">
                          <a:latin typeface="微软雅黑" panose="020B0503020204020204" charset="-122"/>
                          <a:ea typeface="微软雅黑" panose="020B0503020204020204" charset="-122"/>
                        </a:rPr>
                        <a:t>年</a:t>
                      </a:r>
                      <a:r>
                        <a:rPr lang="en-US" altLang="zh-CN" sz="1600">
                          <a:latin typeface="微软雅黑" panose="020B0503020204020204" charset="-122"/>
                          <a:ea typeface="微软雅黑" panose="020B0503020204020204" charset="-122"/>
                        </a:rPr>
                        <a:t>4</a:t>
                      </a:r>
                      <a:r>
                        <a:rPr lang="zh-CN" sz="1600">
                          <a:latin typeface="微软雅黑" panose="020B0503020204020204" charset="-122"/>
                          <a:ea typeface="微软雅黑" panose="020B0503020204020204" charset="-122"/>
                        </a:rPr>
                        <a:t>月，习近平总书记在重庆考察时强调</a:t>
                      </a:r>
                      <a:r>
                        <a:rPr lang="zh-CN" altLang="en-US" sz="1600">
                          <a:latin typeface="微软雅黑" panose="020B0503020204020204" charset="-122"/>
                          <a:ea typeface="微软雅黑" panose="020B0503020204020204" charset="-122"/>
                        </a:rPr>
                        <a:t>“要深入践行人民城市理念，积极探索超大城市现代化治理新路子”“全面推进韧性城市建设”“加快智慧城市建设步伐”。</a:t>
                      </a:r>
                      <a:endParaRPr lang="zh-CN" altLang="en-US" sz="16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600">
                          <a:latin typeface="微软雅黑" panose="020B0503020204020204" charset="-122"/>
                          <a:ea typeface="微软雅黑" panose="020B0503020204020204" charset="-122"/>
                        </a:rPr>
                        <a:t>2. </a:t>
                      </a:r>
                      <a:r>
                        <a:rPr lang="zh-CN" sz="1600">
                          <a:latin typeface="微软雅黑" panose="020B0503020204020204" charset="-122"/>
                          <a:ea typeface="微软雅黑" panose="020B0503020204020204" charset="-122"/>
                        </a:rPr>
                        <a:t>落实国务院办公厅《关于推动城市停车设施发展意见的通知》</a:t>
                      </a:r>
                      <a:r>
                        <a:rPr lang="zh-CN" altLang="en-US" sz="1600">
                          <a:latin typeface="微软雅黑" panose="020B0503020204020204" charset="-122"/>
                          <a:ea typeface="微软雅黑" panose="020B0503020204020204" charset="-122"/>
                        </a:rPr>
                        <a:t>“鼓励电子不停车快捷收费系统在停车设施应用。统筹推进路内停车和停车设施收费电子化建设。加快应用大数据、物联网、第五代移动通信（</a:t>
                      </a:r>
                      <a:r>
                        <a:rPr lang="en-US" altLang="zh-CN" sz="1600">
                          <a:latin typeface="微软雅黑" panose="020B0503020204020204" charset="-122"/>
                          <a:ea typeface="微软雅黑" panose="020B0503020204020204" charset="-122"/>
                        </a:rPr>
                        <a:t>5G</a:t>
                      </a:r>
                      <a:r>
                        <a:rPr lang="zh-CN" sz="1600">
                          <a:latin typeface="微软雅黑" panose="020B0503020204020204" charset="-122"/>
                          <a:ea typeface="微软雅黑" panose="020B0503020204020204" charset="-122"/>
                        </a:rPr>
                        <a:t>）、</a:t>
                      </a:r>
                      <a:r>
                        <a:rPr lang="zh-CN" altLang="en-US" sz="1600">
                          <a:latin typeface="微软雅黑" panose="020B0503020204020204" charset="-122"/>
                          <a:ea typeface="微软雅黑" panose="020B0503020204020204" charset="-122"/>
                        </a:rPr>
                        <a:t>‘</a:t>
                      </a:r>
                      <a:r>
                        <a:rPr lang="zh-CN" sz="1600">
                          <a:latin typeface="微软雅黑" panose="020B0503020204020204" charset="-122"/>
                          <a:ea typeface="微软雅黑" panose="020B0503020204020204" charset="-122"/>
                        </a:rPr>
                        <a:t>互联网</a:t>
                      </a:r>
                      <a:r>
                        <a:rPr lang="en-US" altLang="zh-CN" sz="1600">
                          <a:latin typeface="微软雅黑" panose="020B0503020204020204" charset="-122"/>
                          <a:ea typeface="微软雅黑" panose="020B0503020204020204" charset="-122"/>
                        </a:rPr>
                        <a:t>+’</a:t>
                      </a:r>
                      <a:r>
                        <a:rPr lang="zh-CN" sz="1600">
                          <a:latin typeface="微软雅黑" panose="020B0503020204020204" charset="-122"/>
                          <a:ea typeface="微软雅黑" panose="020B0503020204020204" charset="-122"/>
                        </a:rPr>
                        <a:t>等新技术新模式，开发移动终端智能化停车服务应用</a:t>
                      </a:r>
                      <a:r>
                        <a:rPr lang="zh-CN" altLang="en-US" sz="1600">
                          <a:latin typeface="微软雅黑" panose="020B0503020204020204" charset="-122"/>
                          <a:ea typeface="微软雅黑" panose="020B0503020204020204" charset="-122"/>
                        </a:rPr>
                        <a:t>”的要求。</a:t>
                      </a:r>
                      <a:endParaRPr lang="zh-CN" altLang="en-US" sz="16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600">
                          <a:latin typeface="微软雅黑" panose="020B0503020204020204" charset="-122"/>
                          <a:ea typeface="微软雅黑" panose="020B0503020204020204" charset="-122"/>
                        </a:rPr>
                        <a:t>3. 2024</a:t>
                      </a:r>
                      <a:r>
                        <a:rPr lang="zh-CN" sz="1600">
                          <a:latin typeface="微软雅黑" panose="020B0503020204020204" charset="-122"/>
                          <a:ea typeface="微软雅黑" panose="020B0503020204020204" charset="-122"/>
                        </a:rPr>
                        <a:t>年</a:t>
                      </a:r>
                      <a:r>
                        <a:rPr lang="en-US" altLang="zh-CN" sz="1600">
                          <a:latin typeface="微软雅黑" panose="020B0503020204020204" charset="-122"/>
                          <a:ea typeface="微软雅黑" panose="020B0503020204020204" charset="-122"/>
                        </a:rPr>
                        <a:t>5</a:t>
                      </a:r>
                      <a:r>
                        <a:rPr lang="zh-CN" sz="1600">
                          <a:latin typeface="微软雅黑" panose="020B0503020204020204" charset="-122"/>
                          <a:ea typeface="微软雅黑" panose="020B0503020204020204" charset="-122"/>
                        </a:rPr>
                        <a:t>月，胡衡华市长在市城市管理局调研时指出要加快推进</a:t>
                      </a:r>
                      <a:r>
                        <a:rPr lang="zh-CN" altLang="en-US" sz="1600">
                          <a:latin typeface="微软雅黑" panose="020B0503020204020204" charset="-122"/>
                          <a:ea typeface="微软雅黑" panose="020B0503020204020204" charset="-122"/>
                        </a:rPr>
                        <a:t>“渝畅停”应用建设。“渝畅停”应用从惠民有感出发，谋划便民服务；从建设韧性城市出发，强化停车场运行监管；从加快智慧城市建设出发，提高停车一体化治理效率。</a:t>
                      </a:r>
                      <a:endParaRPr lang="zh-CN" altLang="en-US" sz="1600">
                        <a:latin typeface="微软雅黑" panose="020B0503020204020204" charset="-122"/>
                        <a:ea typeface="微软雅黑" panose="020B0503020204020204" charset="-122"/>
                      </a:endParaRPr>
                    </a:p>
                  </a:txBody>
                  <a:tcPr marL="36195" marR="36195" marT="0"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p>
                      <a:pPr marL="36195" indent="0" algn="just" fontAlgn="ctr">
                        <a:lnSpc>
                          <a:spcPct val="100000"/>
                        </a:lnSpc>
                        <a:spcBef>
                          <a:spcPct val="0"/>
                        </a:spcBef>
                        <a:spcAft>
                          <a:spcPct val="0"/>
                        </a:spcAft>
                      </a:pPr>
                      <a:r>
                        <a:rPr lang="en-US" altLang="zh-CN" sz="1400">
                          <a:latin typeface="微软雅黑" panose="020B0503020204020204" charset="-122"/>
                          <a:ea typeface="微软雅黑" panose="020B0503020204020204" charset="-122"/>
                        </a:rPr>
                        <a:t>1.</a:t>
                      </a:r>
                      <a:r>
                        <a:rPr lang="zh-CN" sz="1400">
                          <a:latin typeface="微软雅黑" panose="020B0503020204020204" charset="-122"/>
                          <a:ea typeface="微软雅黑" panose="020B0503020204020204" charset="-122"/>
                        </a:rPr>
                        <a:t>停车资源统筹的协同需求：市城管局、市发改委、市规自局、市住建委、市市场监督局、市经信委、各区县政府等。</a:t>
                      </a:r>
                      <a:endParaRPr lang="zh-CN" sz="14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400">
                          <a:latin typeface="微软雅黑" panose="020B0503020204020204" charset="-122"/>
                          <a:ea typeface="微软雅黑" panose="020B0503020204020204" charset="-122"/>
                        </a:rPr>
                        <a:t> 2.</a:t>
                      </a:r>
                      <a:r>
                        <a:rPr lang="zh-CN" sz="1400">
                          <a:latin typeface="微软雅黑" panose="020B0503020204020204" charset="-122"/>
                          <a:ea typeface="微软雅黑" panose="020B0503020204020204" charset="-122"/>
                        </a:rPr>
                        <a:t>公共停车场规划评估及调整的协同需求：各区县政府、市城管局、市规自局、市住建委等。</a:t>
                      </a:r>
                      <a:endParaRPr lang="zh-CN" sz="14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400">
                          <a:latin typeface="微软雅黑" panose="020B0503020204020204" charset="-122"/>
                          <a:ea typeface="微软雅黑" panose="020B0503020204020204" charset="-122"/>
                        </a:rPr>
                        <a:t> 3.</a:t>
                      </a:r>
                      <a:r>
                        <a:rPr lang="zh-CN" sz="1400">
                          <a:latin typeface="微软雅黑" panose="020B0503020204020204" charset="-122"/>
                          <a:ea typeface="微软雅黑" panose="020B0503020204020204" charset="-122"/>
                        </a:rPr>
                        <a:t>路内停车点科学规范设置、泊位统一编码、收费管理需求：各区县政府、市城管局、市公安局、市发改委等。</a:t>
                      </a:r>
                      <a:endParaRPr lang="zh-CN" sz="14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400">
                          <a:latin typeface="微软雅黑" panose="020B0503020204020204" charset="-122"/>
                          <a:ea typeface="微软雅黑" panose="020B0503020204020204" charset="-122"/>
                        </a:rPr>
                        <a:t> 4.</a:t>
                      </a:r>
                      <a:r>
                        <a:rPr lang="zh-CN" sz="1400">
                          <a:latin typeface="微软雅黑" panose="020B0503020204020204" charset="-122"/>
                          <a:ea typeface="微软雅黑" panose="020B0503020204020204" charset="-122"/>
                        </a:rPr>
                        <a:t>新能源车充泊一体化发展需求：市经信委、市城管局等。</a:t>
                      </a:r>
                      <a:endParaRPr lang="zh-CN" sz="14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400">
                          <a:latin typeface="微软雅黑" panose="020B0503020204020204" charset="-122"/>
                          <a:ea typeface="微软雅黑" panose="020B0503020204020204" charset="-122"/>
                        </a:rPr>
                        <a:t> 5.</a:t>
                      </a:r>
                      <a:r>
                        <a:rPr lang="zh-CN" sz="1400">
                          <a:latin typeface="微软雅黑" panose="020B0503020204020204" charset="-122"/>
                          <a:ea typeface="微软雅黑" panose="020B0503020204020204" charset="-122"/>
                        </a:rPr>
                        <a:t>停车设施错时共享，有效盘活停车资源、提供便民服务的协同需求：各区县政府、市城管局、市住建委、停车场点管理者等。</a:t>
                      </a:r>
                      <a:endParaRPr lang="zh-CN" sz="1400">
                        <a:latin typeface="微软雅黑" panose="020B0503020204020204" charset="-122"/>
                        <a:ea typeface="微软雅黑" panose="020B0503020204020204" charset="-122"/>
                      </a:endParaRPr>
                    </a:p>
                    <a:p>
                      <a:pPr marL="36195" indent="0" algn="just" fontAlgn="ctr">
                        <a:lnSpc>
                          <a:spcPct val="100000"/>
                        </a:lnSpc>
                        <a:spcBef>
                          <a:spcPct val="0"/>
                        </a:spcBef>
                        <a:spcAft>
                          <a:spcPct val="0"/>
                        </a:spcAft>
                      </a:pPr>
                      <a:r>
                        <a:rPr lang="en-US" altLang="zh-CN" sz="1400">
                          <a:latin typeface="微软雅黑" panose="020B0503020204020204" charset="-122"/>
                          <a:ea typeface="微软雅黑" panose="020B0503020204020204" charset="-122"/>
                        </a:rPr>
                        <a:t> 6.</a:t>
                      </a:r>
                      <a:r>
                        <a:rPr lang="zh-CN" sz="1400">
                          <a:latin typeface="微软雅黑" panose="020B0503020204020204" charset="-122"/>
                          <a:ea typeface="微软雅黑" panose="020B0503020204020204" charset="-122"/>
                        </a:rPr>
                        <a:t>停车场点经营方信息共享的协同需求：市发改委、市市场监管局、市城管局等。</a:t>
                      </a:r>
                      <a:endParaRPr lang="zh-CN" sz="1400">
                        <a:latin typeface="微软雅黑" panose="020B0503020204020204" charset="-122"/>
                        <a:ea typeface="微软雅黑" panose="020B0503020204020204" charset="-122"/>
                      </a:endParaRPr>
                    </a:p>
                  </a:txBody>
                  <a:tcPr marL="36195" marR="36195" marT="0"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115" name="文本框 114"/>
          <p:cNvSpPr txBox="1"/>
          <p:nvPr/>
        </p:nvSpPr>
        <p:spPr>
          <a:xfrm>
            <a:off x="2783840" y="1196975"/>
            <a:ext cx="5982335" cy="459105"/>
          </a:xfrm>
          <a:prstGeom prst="rect">
            <a:avLst/>
          </a:prstGeom>
          <a:gradFill>
            <a:gsLst>
              <a:gs pos="0">
                <a:schemeClr val="accent1">
                  <a:lumMod val="5000"/>
                  <a:lumOff val="95000"/>
                </a:schemeClr>
              </a:gs>
              <a:gs pos="100000">
                <a:schemeClr val="bg1"/>
              </a:gs>
              <a:gs pos="64000">
                <a:schemeClr val="accent1">
                  <a:lumMod val="45000"/>
                  <a:lumOff val="55000"/>
                </a:schemeClr>
              </a:gs>
              <a:gs pos="45000">
                <a:schemeClr val="accent1">
                  <a:lumMod val="30000"/>
                  <a:lumOff val="70000"/>
                </a:schemeClr>
              </a:gs>
            </a:gsLst>
            <a:lin ang="0" scaled="0"/>
          </a:gradFill>
        </p:spPr>
        <p:txBody>
          <a:bodyPr wrap="square" tIns="71755" rtlCol="0" anchor="ctr" anchorCtr="0">
            <a:noAutofit/>
          </a:bodyPr>
          <a:p>
            <a:pPr lvl="0" algn="ctr">
              <a:buClrTx/>
              <a:buSzTx/>
              <a:buFontTx/>
            </a:pPr>
            <a:r>
              <a:rPr lang="zh-CN" b="1" kern="2000" dirty="0">
                <a:solidFill>
                  <a:srgbClr val="003399"/>
                </a:solidFill>
                <a:uFillTx/>
                <a:latin typeface="微软雅黑" panose="020B0503020204020204" charset="-122"/>
                <a:ea typeface="微软雅黑" panose="020B0503020204020204" charset="-122"/>
                <a:sym typeface="+mn-ea"/>
              </a:rPr>
              <a:t>“渝悦·渝畅停”应用重大需求清单（部分）</a:t>
            </a:r>
            <a:endParaRPr lang="zh-CN" b="1" kern="2000" dirty="0">
              <a:solidFill>
                <a:srgbClr val="003399"/>
              </a:solidFill>
              <a:uFillTx/>
              <a:latin typeface="微软雅黑" panose="020B0503020204020204" charset="-122"/>
              <a:ea typeface="微软雅黑" panose="020B0503020204020204" charset="-122"/>
              <a:sym typeface="+mn-ea"/>
            </a:endParaRPr>
          </a:p>
        </p:txBody>
      </p: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 </a:t>
            </a:r>
            <a:r>
              <a:rPr lang="zh-CN" altLang="en-US" sz="2800" b="1" dirty="0">
                <a:solidFill>
                  <a:srgbClr val="0070C0"/>
                </a:solidFill>
                <a:latin typeface="微软雅黑" panose="020B0503020204020204" charset="-122"/>
                <a:ea typeface="微软雅黑" panose="020B0503020204020204" charset="-122"/>
                <a:sym typeface="+mn-ea"/>
              </a:rPr>
              <a:t>谋划多跨场景</a:t>
            </a:r>
            <a:r>
              <a:rPr lang="en-US" altLang="zh-CN" sz="2800" b="1" dirty="0">
                <a:solidFill>
                  <a:srgbClr val="0070C0"/>
                </a:solidFill>
                <a:latin typeface="微软雅黑" panose="020B0503020204020204" charset="-122"/>
                <a:ea typeface="微软雅黑" panose="020B0503020204020204" charset="-122"/>
                <a:sym typeface="+mn-ea"/>
              </a:rPr>
              <a:t>      </a:t>
            </a:r>
            <a:r>
              <a:rPr lang="zh-CN" altLang="en-US" sz="2800" b="1" dirty="0">
                <a:solidFill>
                  <a:srgbClr val="0070C0"/>
                </a:solidFill>
                <a:latin typeface="微软雅黑" panose="020B0503020204020204" charset="-122"/>
                <a:ea typeface="微软雅黑" panose="020B0503020204020204" charset="-122"/>
                <a:sym typeface="+mn-ea"/>
              </a:rPr>
              <a:t>产生场景清单</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5"/>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grpSp>
        <p:nvGrpSpPr>
          <p:cNvPr id="3" name="组合 2"/>
          <p:cNvGrpSpPr/>
          <p:nvPr/>
        </p:nvGrpSpPr>
        <p:grpSpPr>
          <a:xfrm>
            <a:off x="407670" y="2494915"/>
            <a:ext cx="11418570" cy="1712595"/>
            <a:chOff x="642" y="3929"/>
            <a:chExt cx="17982" cy="2697"/>
          </a:xfrm>
        </p:grpSpPr>
        <p:sp>
          <p:nvSpPr>
            <p:cNvPr id="2" name="kGjBRnqUNkRE9Kh文本框 1"/>
            <p:cNvSpPr txBox="1"/>
            <p:nvPr/>
          </p:nvSpPr>
          <p:spPr>
            <a:xfrm>
              <a:off x="642" y="3929"/>
              <a:ext cx="17982" cy="2697"/>
            </a:xfrm>
            <a:prstGeom prst="rect">
              <a:avLst/>
            </a:prstGeom>
            <a:noFill/>
          </p:spPr>
          <p:txBody>
            <a:bodyPr wrap="square" rtlCol="0" anchor="t">
              <a:noAutofit/>
            </a:bodyPr>
            <a:p>
              <a:pPr indent="0" fontAlgn="auto">
                <a:lnSpc>
                  <a:spcPct val="150000"/>
                </a:lnSpc>
              </a:pPr>
              <a:r>
                <a:rPr lang="en-US" altLang="zh-CN" sz="2800" b="1" spc="-150" dirty="0">
                  <a:solidFill>
                    <a:srgbClr val="003399"/>
                  </a:solidFill>
                  <a:latin typeface="微软雅黑" panose="020B0503020204020204" charset="-122"/>
                  <a:ea typeface="微软雅黑" panose="020B0503020204020204" charset="-122"/>
                </a:rPr>
                <a:t>         </a:t>
              </a:r>
              <a:r>
                <a:rPr lang="zh-CN" altLang="en-US" sz="2800" b="1" spc="-150" dirty="0">
                  <a:solidFill>
                    <a:srgbClr val="003399"/>
                  </a:solidFill>
                  <a:latin typeface="微软雅黑" panose="020B0503020204020204" charset="-122"/>
                  <a:ea typeface="微软雅黑" panose="020B0503020204020204" charset="-122"/>
                </a:rPr>
                <a:t>场景清单：</a:t>
              </a:r>
              <a:r>
                <a:rPr lang="zh-CN" altLang="en-US" sz="2800" b="1" spc="-150" dirty="0">
                  <a:solidFill>
                    <a:schemeClr val="tx1"/>
                  </a:solidFill>
                  <a:latin typeface="微软雅黑" panose="020B0503020204020204" charset="-122"/>
                  <a:ea typeface="微软雅黑" panose="020B0503020204020204" charset="-122"/>
                </a:rPr>
                <a:t>从重大需求出发，按照“大场景、小切口”和急用先行、成熟先行的要求，谋划多跨场景。</a:t>
              </a:r>
              <a:endParaRPr lang="zh-CN" altLang="en-US" sz="2800" b="1" spc="-150" dirty="0">
                <a:solidFill>
                  <a:schemeClr val="tx1"/>
                </a:solidFill>
                <a:latin typeface="微软雅黑" panose="020B0503020204020204" charset="-122"/>
                <a:ea typeface="微软雅黑" panose="020B0503020204020204" charset="-122"/>
              </a:endParaRPr>
            </a:p>
          </p:txBody>
        </p:sp>
        <p:pic>
          <p:nvPicPr>
            <p:cNvPr id="13" name="图片 12"/>
            <p:cNvPicPr>
              <a:picLocks noChangeAspect="1"/>
            </p:cNvPicPr>
            <p:nvPr>
              <p:custDataLst>
                <p:tags r:id="rId8"/>
              </p:custDataLst>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1323" y="4266"/>
              <a:ext cx="735" cy="705"/>
            </a:xfrm>
            <a:prstGeom prst="rect">
              <a:avLst/>
            </a:prstGeom>
          </p:spPr>
        </p:pic>
      </p:grpSp>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pic>
        <p:nvPicPr>
          <p:cNvPr id="2" name="图片 2" descr="0419"/>
          <p:cNvPicPr>
            <a:picLocks noChangeAspect="1"/>
          </p:cNvPicPr>
          <p:nvPr>
            <p:custDataLst>
              <p:tags r:id="rId5"/>
            </p:custDataLst>
          </p:nvPr>
        </p:nvPicPr>
        <p:blipFill>
          <a:blip r:embed="rId6"/>
          <a:srcRect l="12993" t="15242" r="10217" b="13702"/>
          <a:stretch>
            <a:fillRect/>
          </a:stretch>
        </p:blipFill>
        <p:spPr>
          <a:xfrm>
            <a:off x="1631950" y="1701165"/>
            <a:ext cx="8957945" cy="4507230"/>
          </a:xfrm>
          <a:prstGeom prst="rect">
            <a:avLst/>
          </a:prstGeom>
          <a:noFill/>
          <a:ln w="9525">
            <a:noFill/>
          </a:ln>
        </p:spPr>
      </p:pic>
      <p:sp>
        <p:nvSpPr>
          <p:cNvPr id="4" name="矩形 3"/>
          <p:cNvSpPr/>
          <p:nvPr/>
        </p:nvSpPr>
        <p:spPr>
          <a:xfrm>
            <a:off x="2999740" y="3860800"/>
            <a:ext cx="2602865" cy="64833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zh-CN" altLang="en-US" sz="2800" b="1" dirty="0">
                <a:solidFill>
                  <a:srgbClr val="0070C0"/>
                </a:solidFill>
                <a:latin typeface="微软雅黑" panose="020B0503020204020204" charset="-122"/>
                <a:ea typeface="微软雅黑" panose="020B0503020204020204" charset="-122"/>
                <a:sym typeface="+mn-ea"/>
              </a:rPr>
              <a:t>业务事项组成</a:t>
            </a:r>
            <a:endParaRPr lang="zh-CN" altLang="en-US" sz="2800" b="1" dirty="0">
              <a:solidFill>
                <a:srgbClr val="0070C0"/>
              </a:solidFill>
              <a:latin typeface="微软雅黑" panose="020B0503020204020204" charset="-122"/>
              <a:ea typeface="微软雅黑" panose="020B0503020204020204" charset="-122"/>
              <a:sym typeface="+mn-ea"/>
            </a:endParaRPr>
          </a:p>
        </p:txBody>
      </p:sp>
      <p:sp>
        <p:nvSpPr>
          <p:cNvPr id="76" name="矩形: 圆角 75"/>
          <p:cNvSpPr/>
          <p:nvPr/>
        </p:nvSpPr>
        <p:spPr>
          <a:xfrm>
            <a:off x="2919697" y="1822643"/>
            <a:ext cx="8786469" cy="4243806"/>
          </a:xfrm>
          <a:prstGeom prst="roundRect">
            <a:avLst>
              <a:gd name="adj" fmla="val 2425"/>
            </a:avLst>
          </a:prstGeom>
          <a:solidFill>
            <a:schemeClr val="bg1"/>
          </a:solidFill>
          <a:ln w="25400">
            <a:noFill/>
          </a:ln>
          <a:effectLst>
            <a:outerShdw blurRad="114300" sx="102000" sy="102000" algn="ctr" rotWithShape="0">
              <a:srgbClr val="01A9E4">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77" name="等腰三角形 24"/>
          <p:cNvSpPr/>
          <p:nvPr>
            <p:custDataLst>
              <p:tags r:id="rId5"/>
            </p:custDataLst>
          </p:nvPr>
        </p:nvSpPr>
        <p:spPr>
          <a:xfrm rot="5400000" flipV="1">
            <a:off x="437437" y="3532215"/>
            <a:ext cx="4509673" cy="558800"/>
          </a:xfrm>
          <a:custGeom>
            <a:avLst/>
            <a:gdLst>
              <a:gd name="connsiteX0" fmla="*/ 0 w 578876"/>
              <a:gd name="connsiteY0" fmla="*/ 4648025 h 4648025"/>
              <a:gd name="connsiteX1" fmla="*/ 289438 w 578876"/>
              <a:gd name="connsiteY1" fmla="*/ 0 h 4648025"/>
              <a:gd name="connsiteX2" fmla="*/ 578876 w 578876"/>
              <a:gd name="connsiteY2" fmla="*/ 4648025 h 4648025"/>
              <a:gd name="connsiteX3" fmla="*/ 0 w 578876"/>
              <a:gd name="connsiteY3" fmla="*/ 4648025 h 4648025"/>
              <a:gd name="connsiteX0-1" fmla="*/ 0 w 578876"/>
              <a:gd name="connsiteY0-2" fmla="*/ 4648025 h 4648025"/>
              <a:gd name="connsiteX1-3" fmla="*/ 289438 w 578876"/>
              <a:gd name="connsiteY1-4" fmla="*/ 0 h 4648025"/>
              <a:gd name="connsiteX2-5" fmla="*/ 578876 w 578876"/>
              <a:gd name="connsiteY2-6" fmla="*/ 4648025 h 4648025"/>
              <a:gd name="connsiteX3-7" fmla="*/ 0 w 578876"/>
              <a:gd name="connsiteY3-8" fmla="*/ 4648025 h 4648025"/>
              <a:gd name="connsiteX0-9" fmla="*/ 0 w 578876"/>
              <a:gd name="connsiteY0-10" fmla="*/ 4648025 h 4648025"/>
              <a:gd name="connsiteX1-11" fmla="*/ 289438 w 578876"/>
              <a:gd name="connsiteY1-12" fmla="*/ 0 h 4648025"/>
              <a:gd name="connsiteX2-13" fmla="*/ 578876 w 578876"/>
              <a:gd name="connsiteY2-14" fmla="*/ 4648025 h 4648025"/>
              <a:gd name="connsiteX3-15" fmla="*/ 0 w 578876"/>
              <a:gd name="connsiteY3-16" fmla="*/ 4648025 h 4648025"/>
              <a:gd name="connsiteX0-17" fmla="*/ 0 w 578876"/>
              <a:gd name="connsiteY0-18" fmla="*/ 4648025 h 4648025"/>
              <a:gd name="connsiteX1-19" fmla="*/ 289438 w 578876"/>
              <a:gd name="connsiteY1-20" fmla="*/ 0 h 4648025"/>
              <a:gd name="connsiteX2-21" fmla="*/ 578876 w 578876"/>
              <a:gd name="connsiteY2-22" fmla="*/ 4648025 h 4648025"/>
              <a:gd name="connsiteX3-23" fmla="*/ 0 w 578876"/>
              <a:gd name="connsiteY3-24" fmla="*/ 4648025 h 4648025"/>
              <a:gd name="connsiteX0-25" fmla="*/ 0 w 578876"/>
              <a:gd name="connsiteY0-26" fmla="*/ 4648025 h 4648025"/>
              <a:gd name="connsiteX1-27" fmla="*/ 289438 w 578876"/>
              <a:gd name="connsiteY1-28" fmla="*/ 0 h 4648025"/>
              <a:gd name="connsiteX2-29" fmla="*/ 578876 w 578876"/>
              <a:gd name="connsiteY2-30" fmla="*/ 4648025 h 4648025"/>
              <a:gd name="connsiteX3-31" fmla="*/ 0 w 578876"/>
              <a:gd name="connsiteY3-32" fmla="*/ 4648025 h 4648025"/>
              <a:gd name="connsiteX0-33" fmla="*/ 0 w 578876"/>
              <a:gd name="connsiteY0-34" fmla="*/ 4648025 h 4648025"/>
              <a:gd name="connsiteX1-35" fmla="*/ 289438 w 578876"/>
              <a:gd name="connsiteY1-36" fmla="*/ 0 h 4648025"/>
              <a:gd name="connsiteX2-37" fmla="*/ 578876 w 578876"/>
              <a:gd name="connsiteY2-38" fmla="*/ 4648025 h 4648025"/>
              <a:gd name="connsiteX3-39" fmla="*/ 0 w 578876"/>
              <a:gd name="connsiteY3-40" fmla="*/ 4648025 h 4648025"/>
              <a:gd name="connsiteX0-41" fmla="*/ 0 w 578876"/>
              <a:gd name="connsiteY0-42" fmla="*/ 4648025 h 4648025"/>
              <a:gd name="connsiteX1-43" fmla="*/ 289438 w 578876"/>
              <a:gd name="connsiteY1-44" fmla="*/ 0 h 4648025"/>
              <a:gd name="connsiteX2-45" fmla="*/ 578876 w 578876"/>
              <a:gd name="connsiteY2-46" fmla="*/ 4648025 h 4648025"/>
              <a:gd name="connsiteX3-47" fmla="*/ 0 w 578876"/>
              <a:gd name="connsiteY3-48" fmla="*/ 4648025 h 4648025"/>
              <a:gd name="connsiteX0-49" fmla="*/ 0 w 578876"/>
              <a:gd name="connsiteY0-50" fmla="*/ 4648025 h 4648025"/>
              <a:gd name="connsiteX1-51" fmla="*/ 289438 w 578876"/>
              <a:gd name="connsiteY1-52" fmla="*/ 0 h 4648025"/>
              <a:gd name="connsiteX2-53" fmla="*/ 578876 w 578876"/>
              <a:gd name="connsiteY2-54" fmla="*/ 4648025 h 4648025"/>
              <a:gd name="connsiteX3-55" fmla="*/ 0 w 578876"/>
              <a:gd name="connsiteY3-56" fmla="*/ 4648025 h 4648025"/>
              <a:gd name="connsiteX0-57" fmla="*/ 0 w 578876"/>
              <a:gd name="connsiteY0-58" fmla="*/ 4648025 h 4648025"/>
              <a:gd name="connsiteX1-59" fmla="*/ 289438 w 578876"/>
              <a:gd name="connsiteY1-60" fmla="*/ 0 h 4648025"/>
              <a:gd name="connsiteX2-61" fmla="*/ 578876 w 578876"/>
              <a:gd name="connsiteY2-62" fmla="*/ 4648025 h 4648025"/>
              <a:gd name="connsiteX3-63" fmla="*/ 0 w 578876"/>
              <a:gd name="connsiteY3-64" fmla="*/ 4648025 h 4648025"/>
              <a:gd name="connsiteX0-65" fmla="*/ 0 w 578876"/>
              <a:gd name="connsiteY0-66" fmla="*/ 4648025 h 4648025"/>
              <a:gd name="connsiteX1-67" fmla="*/ 289438 w 578876"/>
              <a:gd name="connsiteY1-68" fmla="*/ 0 h 4648025"/>
              <a:gd name="connsiteX2-69" fmla="*/ 578876 w 578876"/>
              <a:gd name="connsiteY2-70" fmla="*/ 4648025 h 4648025"/>
              <a:gd name="connsiteX3-71" fmla="*/ 0 w 578876"/>
              <a:gd name="connsiteY3-72" fmla="*/ 4648025 h 4648025"/>
              <a:gd name="connsiteX0-73" fmla="*/ 0 w 578876"/>
              <a:gd name="connsiteY0-74" fmla="*/ 4648025 h 4648025"/>
              <a:gd name="connsiteX1-75" fmla="*/ 289438 w 578876"/>
              <a:gd name="connsiteY1-76" fmla="*/ 0 h 4648025"/>
              <a:gd name="connsiteX2-77" fmla="*/ 578876 w 578876"/>
              <a:gd name="connsiteY2-78" fmla="*/ 4648025 h 4648025"/>
              <a:gd name="connsiteX3-79" fmla="*/ 0 w 578876"/>
              <a:gd name="connsiteY3-80" fmla="*/ 4648025 h 4648025"/>
              <a:gd name="connsiteX0-81" fmla="*/ 0 w 578876"/>
              <a:gd name="connsiteY0-82" fmla="*/ 4648025 h 4648025"/>
              <a:gd name="connsiteX1-83" fmla="*/ 289438 w 578876"/>
              <a:gd name="connsiteY1-84" fmla="*/ 0 h 4648025"/>
              <a:gd name="connsiteX2-85" fmla="*/ 578876 w 578876"/>
              <a:gd name="connsiteY2-86" fmla="*/ 4648025 h 4648025"/>
              <a:gd name="connsiteX3-87" fmla="*/ 0 w 578876"/>
              <a:gd name="connsiteY3-88" fmla="*/ 4648025 h 4648025"/>
              <a:gd name="connsiteX0-89" fmla="*/ 0 w 578876"/>
              <a:gd name="connsiteY0-90" fmla="*/ 4648025 h 4648025"/>
              <a:gd name="connsiteX1-91" fmla="*/ 289438 w 578876"/>
              <a:gd name="connsiteY1-92" fmla="*/ 0 h 4648025"/>
              <a:gd name="connsiteX2-93" fmla="*/ 578876 w 578876"/>
              <a:gd name="connsiteY2-94" fmla="*/ 4648025 h 4648025"/>
              <a:gd name="connsiteX3-95" fmla="*/ 0 w 578876"/>
              <a:gd name="connsiteY3-96" fmla="*/ 4648025 h 4648025"/>
              <a:gd name="connsiteX0-97" fmla="*/ 0 w 578876"/>
              <a:gd name="connsiteY0-98" fmla="*/ 4648025 h 4648025"/>
              <a:gd name="connsiteX1-99" fmla="*/ 289438 w 578876"/>
              <a:gd name="connsiteY1-100" fmla="*/ 0 h 4648025"/>
              <a:gd name="connsiteX2-101" fmla="*/ 578876 w 578876"/>
              <a:gd name="connsiteY2-102" fmla="*/ 4648025 h 4648025"/>
              <a:gd name="connsiteX3-103" fmla="*/ 0 w 578876"/>
              <a:gd name="connsiteY3-104" fmla="*/ 4648025 h 4648025"/>
              <a:gd name="connsiteX0-105" fmla="*/ 0 w 578876"/>
              <a:gd name="connsiteY0-106" fmla="*/ 4648025 h 4648025"/>
              <a:gd name="connsiteX1-107" fmla="*/ 289438 w 578876"/>
              <a:gd name="connsiteY1-108" fmla="*/ 0 h 4648025"/>
              <a:gd name="connsiteX2-109" fmla="*/ 578876 w 578876"/>
              <a:gd name="connsiteY2-110" fmla="*/ 4648025 h 4648025"/>
              <a:gd name="connsiteX3-111" fmla="*/ 0 w 578876"/>
              <a:gd name="connsiteY3-112" fmla="*/ 4648025 h 4648025"/>
            </a:gdLst>
            <a:ahLst/>
            <a:cxnLst>
              <a:cxn ang="0">
                <a:pos x="connsiteX0-1" y="connsiteY0-2"/>
              </a:cxn>
              <a:cxn ang="0">
                <a:pos x="connsiteX1-3" y="connsiteY1-4"/>
              </a:cxn>
              <a:cxn ang="0">
                <a:pos x="connsiteX2-5" y="connsiteY2-6"/>
              </a:cxn>
              <a:cxn ang="0">
                <a:pos x="connsiteX3-7" y="connsiteY3-8"/>
              </a:cxn>
            </a:cxnLst>
            <a:rect l="l" t="t" r="r" b="b"/>
            <a:pathLst>
              <a:path w="578876" h="4648025">
                <a:moveTo>
                  <a:pt x="0" y="4648025"/>
                </a:moveTo>
                <a:cubicBezTo>
                  <a:pt x="162866" y="3047883"/>
                  <a:pt x="238853" y="1866842"/>
                  <a:pt x="289438" y="0"/>
                </a:cubicBezTo>
                <a:cubicBezTo>
                  <a:pt x="343197" y="1879542"/>
                  <a:pt x="403887" y="3035183"/>
                  <a:pt x="578876" y="4648025"/>
                </a:cubicBezTo>
                <a:lnTo>
                  <a:pt x="0" y="4648025"/>
                </a:lnTo>
                <a:close/>
              </a:path>
            </a:pathLst>
          </a:custGeom>
          <a:gradFill>
            <a:gsLst>
              <a:gs pos="0">
                <a:schemeClr val="bg1">
                  <a:alpha val="0"/>
                </a:schemeClr>
              </a:gs>
              <a:gs pos="86000">
                <a:schemeClr val="accent5">
                  <a:lumMod val="7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457200"/>
            <a:endParaRPr lang="zh-CN" altLang="en-US" sz="2000" dirty="0">
              <a:latin typeface="微软雅黑" panose="020B0503020204020204" charset="-122"/>
              <a:ea typeface="微软雅黑" panose="020B0503020204020204" charset="-122"/>
            </a:endParaRPr>
          </a:p>
        </p:txBody>
      </p:sp>
      <p:sp>
        <p:nvSpPr>
          <p:cNvPr id="4" name="object 9"/>
          <p:cNvSpPr txBox="1"/>
          <p:nvPr/>
        </p:nvSpPr>
        <p:spPr>
          <a:xfrm>
            <a:off x="594027" y="3480045"/>
            <a:ext cx="2062996" cy="937260"/>
          </a:xfrm>
          <a:prstGeom prst="rect">
            <a:avLst/>
          </a:prstGeom>
        </p:spPr>
        <p:txBody>
          <a:bodyPr vert="horz" wrap="square" lIns="0" tIns="1270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lang="zh-CN" altLang="en-US" sz="2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t>业务事项</a:t>
            </a:r>
            <a:endParaRPr kumimoji="0" lang="en-US" altLang="zh-CN" sz="2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endParaRPr>
          </a:p>
          <a:p>
            <a:pPr marL="12700" marR="0" lvl="0" indent="0" algn="ctr" defTabSz="914400" rtl="0" eaLnBrk="1" fontAlgn="auto" latinLnBrk="0" hangingPunct="1">
              <a:lnSpc>
                <a:spcPct val="100000"/>
              </a:lnSpc>
              <a:spcBef>
                <a:spcPts val="100"/>
              </a:spcBef>
              <a:spcAft>
                <a:spcPts val="0"/>
              </a:spcAft>
              <a:buClrTx/>
              <a:buSzTx/>
              <a:buFontTx/>
              <a:buNone/>
              <a:defRPr/>
            </a:pPr>
            <a:r>
              <a:rPr kumimoji="0" lang="zh-CN" altLang="en-US" sz="1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t>具体表述部门履职</a:t>
            </a:r>
            <a:br>
              <a:rPr kumimoji="0" lang="en-US" altLang="zh-CN" sz="1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br>
            <a:r>
              <a:rPr kumimoji="0" lang="zh-CN" altLang="en-US" sz="1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t>内容的最小单元</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j-cs"/>
            </a:endParaRPr>
          </a:p>
        </p:txBody>
      </p:sp>
      <p:sp>
        <p:nvSpPr>
          <p:cNvPr id="8" name="矩形 7"/>
          <p:cNvSpPr/>
          <p:nvPr/>
        </p:nvSpPr>
        <p:spPr>
          <a:xfrm>
            <a:off x="416486" y="2465513"/>
            <a:ext cx="2418080" cy="583565"/>
          </a:xfrm>
          <a:prstGeom prst="rect">
            <a:avLst/>
          </a:prstGeom>
        </p:spPr>
        <p:txBody>
          <a:bodyPr wrap="none">
            <a:spAutoFit/>
          </a:bodyPr>
          <a:lstStyle/>
          <a:p>
            <a:pPr algn="ctr"/>
            <a:r>
              <a:rPr lang="zh-CN" altLang="en-US" sz="1600" dirty="0">
                <a:latin typeface="微软雅黑" panose="020B0503020204020204" charset="-122"/>
                <a:ea typeface="微软雅黑" panose="020B0503020204020204" charset="-122"/>
              </a:rPr>
              <a:t>构建以业务事项为主线的</a:t>
            </a:r>
            <a:endParaRPr lang="en-US" altLang="zh-CN"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数字化履职体系</a:t>
            </a:r>
            <a:endParaRPr lang="zh-CN" altLang="en-US" sz="1600" dirty="0">
              <a:latin typeface="微软雅黑" panose="020B0503020204020204" charset="-122"/>
              <a:ea typeface="微软雅黑" panose="020B0503020204020204" charset="-122"/>
            </a:endParaRPr>
          </a:p>
        </p:txBody>
      </p:sp>
      <p:sp>
        <p:nvSpPr>
          <p:cNvPr id="11" name="右箭头 102"/>
          <p:cNvSpPr/>
          <p:nvPr/>
        </p:nvSpPr>
        <p:spPr>
          <a:xfrm rot="16200000">
            <a:off x="1415975" y="3070541"/>
            <a:ext cx="419100" cy="389250"/>
          </a:xfrm>
          <a:prstGeom prst="rightArrow">
            <a:avLst/>
          </a:prstGeom>
          <a:gradFill>
            <a:gsLst>
              <a:gs pos="0">
                <a:srgbClr val="FFFFFF">
                  <a:alpha val="0"/>
                </a:srgbClr>
              </a:gs>
              <a:gs pos="41000">
                <a:srgbClr val="004EDF">
                  <a:alpha val="3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1827530" rtl="0" eaLnBrk="0" fontAlgn="base" latinLnBrk="0" hangingPunct="0">
              <a:lnSpc>
                <a:spcPct val="100000"/>
              </a:lnSpc>
              <a:spcBef>
                <a:spcPct val="0"/>
              </a:spcBef>
              <a:spcAft>
                <a:spcPct val="0"/>
              </a:spcAft>
              <a:buClrTx/>
              <a:buSzTx/>
              <a:buFontTx/>
              <a:buNone/>
              <a:defRPr/>
            </a:pPr>
            <a:endParaRPr kumimoji="0" lang="zh-CN" altLang="en-US"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cs"/>
            </a:endParaRPr>
          </a:p>
        </p:txBody>
      </p:sp>
      <p:grpSp>
        <p:nvGrpSpPr>
          <p:cNvPr id="20" name="组合 19"/>
          <p:cNvGrpSpPr/>
          <p:nvPr/>
        </p:nvGrpSpPr>
        <p:grpSpPr>
          <a:xfrm>
            <a:off x="3044997" y="2274905"/>
            <a:ext cx="8552975" cy="3734354"/>
            <a:chOff x="1127125" y="1407795"/>
            <a:chExt cx="9416415" cy="4908550"/>
          </a:xfrm>
        </p:grpSpPr>
        <p:sp>
          <p:nvSpPr>
            <p:cNvPr id="21" name="矩形 20"/>
            <p:cNvSpPr/>
            <p:nvPr/>
          </p:nvSpPr>
          <p:spPr>
            <a:xfrm>
              <a:off x="1127125" y="1407795"/>
              <a:ext cx="9416415" cy="4908550"/>
            </a:xfrm>
            <a:prstGeom prst="rect">
              <a:avLst/>
            </a:prstGeom>
            <a:solidFill>
              <a:schemeClr val="bg1"/>
            </a:solidFill>
            <a:ln w="285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wordArtVert" wrap="square" numCol="1" spcCol="0" rtlCol="0" fromWordArt="0" anchor="ctr" anchorCtr="0" compatLnSpc="1">
              <a:noAutofit/>
            </a:bodyP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1">
                <a:ln>
                  <a:noFill/>
                </a:ln>
                <a:solidFill>
                  <a:srgbClr val="FFC000"/>
                </a:solidFill>
                <a:effectLst/>
                <a:uLnTx/>
                <a:uFillTx/>
                <a:latin typeface="微软雅黑" panose="020B0503020204020204" charset="-122"/>
                <a:ea typeface="微软雅黑" panose="020B0503020204020204" charset="-122"/>
                <a:cs typeface="+mn-cs"/>
                <a:sym typeface="+mn-ea"/>
              </a:endParaRPr>
            </a:p>
          </p:txBody>
        </p:sp>
        <p:sp>
          <p:nvSpPr>
            <p:cNvPr id="22" name="矩形 21"/>
            <p:cNvSpPr/>
            <p:nvPr>
              <p:custDataLst>
                <p:tags r:id="rId6"/>
              </p:custDataLst>
            </p:nvPr>
          </p:nvSpPr>
          <p:spPr>
            <a:xfrm>
              <a:off x="1409065" y="1725295"/>
              <a:ext cx="4318635" cy="3722370"/>
            </a:xfrm>
            <a:prstGeom prst="rect">
              <a:avLst/>
            </a:prstGeom>
            <a:noFill/>
            <a:ln w="3175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endParaRPr>
            </a:p>
          </p:txBody>
        </p:sp>
        <p:grpSp>
          <p:nvGrpSpPr>
            <p:cNvPr id="23" name="组合 22"/>
            <p:cNvGrpSpPr/>
            <p:nvPr/>
          </p:nvGrpSpPr>
          <p:grpSpPr>
            <a:xfrm>
              <a:off x="1544320" y="2289175"/>
              <a:ext cx="1766570" cy="1527810"/>
              <a:chOff x="6939" y="4388"/>
              <a:chExt cx="1779" cy="3104"/>
            </a:xfrm>
          </p:grpSpPr>
          <p:sp>
            <p:nvSpPr>
              <p:cNvPr id="54" name="矩形 53" descr="7b0a20202020227461726765744d6f64756c65223a202270726f636573734f6e6c696e65466f6e7473220a7d0a"/>
              <p:cNvSpPr/>
              <p:nvPr>
                <p:custDataLst>
                  <p:tags r:id="rId7"/>
                </p:custDataLst>
              </p:nvPr>
            </p:nvSpPr>
            <p:spPr>
              <a:xfrm>
                <a:off x="6939" y="4388"/>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base"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1">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行政许可</a:t>
                </a:r>
                <a:endParaRPr kumimoji="0" lang="zh-CN" altLang="en-US" sz="1100" b="0" i="0" u="none" strike="noStrike" kern="1200" cap="none" spc="0" normalizeH="0" baseline="0" noProof="1">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5" name="矩形 54" descr="7b0a20202020227461726765744d6f64756c65223a202270726f636573734f6e6c696e65466f6e7473220a7d0a"/>
              <p:cNvSpPr/>
              <p:nvPr>
                <p:custDataLst>
                  <p:tags r:id="rId8"/>
                </p:custDataLst>
              </p:nvPr>
            </p:nvSpPr>
            <p:spPr>
              <a:xfrm>
                <a:off x="7847" y="4388"/>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行政给付</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6" name="矩形 55" descr="7b0a20202020227461726765744d6f64756c65223a202270726f636573734f6e6c696e65466f6e7473220a7d0a"/>
              <p:cNvSpPr/>
              <p:nvPr>
                <p:custDataLst>
                  <p:tags r:id="rId9"/>
                </p:custDataLst>
              </p:nvPr>
            </p:nvSpPr>
            <p:spPr>
              <a:xfrm>
                <a:off x="6942" y="5165"/>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行政奖励</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7" name="矩形 56" descr="7b0a20202020227461726765744d6f64756c65223a202270726f636573734f6e6c696e65466f6e7473220a7d0a"/>
              <p:cNvSpPr/>
              <p:nvPr>
                <p:custDataLst>
                  <p:tags r:id="rId10"/>
                </p:custDataLst>
              </p:nvPr>
            </p:nvSpPr>
            <p:spPr>
              <a:xfrm>
                <a:off x="7847" y="5962"/>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行政备案</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8" name="矩形 57" descr="7b0a20202020227461726765744d6f64756c65223a202270726f636573734f6e6c696e65466f6e7473220a7d0a"/>
              <p:cNvSpPr/>
              <p:nvPr>
                <p:custDataLst>
                  <p:tags r:id="rId11"/>
                </p:custDataLst>
              </p:nvPr>
            </p:nvSpPr>
            <p:spPr>
              <a:xfrm>
                <a:off x="6942" y="6756"/>
                <a:ext cx="1776"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其他行政权力</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（依申请类）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9" name="矩形 58" descr="7b0a20202020227461726765744d6f64756c65223a202270726f636573734f6e6c696e65466f6e7473220a7d0a"/>
              <p:cNvSpPr/>
              <p:nvPr>
                <p:custDataLst>
                  <p:tags r:id="rId12"/>
                </p:custDataLst>
              </p:nvPr>
            </p:nvSpPr>
            <p:spPr>
              <a:xfrm>
                <a:off x="7850" y="5165"/>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行政确认</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60" name="矩形 59" descr="7b0a20202020227461726765744d6f64756c65223a202270726f636573734f6e6c696e65466f6e7473220a7d0a"/>
              <p:cNvSpPr/>
              <p:nvPr>
                <p:custDataLst>
                  <p:tags r:id="rId13"/>
                </p:custDataLst>
              </p:nvPr>
            </p:nvSpPr>
            <p:spPr>
              <a:xfrm>
                <a:off x="6942" y="5962"/>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行政裁决</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grpSp>
        <p:grpSp>
          <p:nvGrpSpPr>
            <p:cNvPr id="24" name="组合 23"/>
            <p:cNvGrpSpPr/>
            <p:nvPr/>
          </p:nvGrpSpPr>
          <p:grpSpPr>
            <a:xfrm>
              <a:off x="1557655" y="3955415"/>
              <a:ext cx="1749425" cy="1243330"/>
              <a:chOff x="3534" y="5168"/>
              <a:chExt cx="1779" cy="2324"/>
            </a:xfrm>
          </p:grpSpPr>
          <p:sp>
            <p:nvSpPr>
              <p:cNvPr id="49" name="矩形 48" descr="7b0a20202020227461726765744d6f64756c65223a202270726f636573734f6e6c696e65466f6e7473220a7d0a"/>
              <p:cNvSpPr/>
              <p:nvPr>
                <p:custDataLst>
                  <p:tags r:id="rId14"/>
                </p:custDataLst>
              </p:nvPr>
            </p:nvSpPr>
            <p:spPr>
              <a:xfrm>
                <a:off x="3538" y="5168"/>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行政处罚</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0" name="矩形 49" descr="7b0a20202020227461726765744d6f64756c65223a202270726f636573734f6e6c696e65466f6e7473220a7d0a"/>
              <p:cNvSpPr/>
              <p:nvPr>
                <p:custDataLst>
                  <p:tags r:id="rId15"/>
                </p:custDataLst>
              </p:nvPr>
            </p:nvSpPr>
            <p:spPr>
              <a:xfrm>
                <a:off x="4445" y="5168"/>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行政强制</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1" name="矩形 50" descr="7b0a20202020227461726765744d6f64756c65223a202270726f636573734f6e6c696e65466f6e7473220a7d0a"/>
              <p:cNvSpPr/>
              <p:nvPr>
                <p:custDataLst>
                  <p:tags r:id="rId16"/>
                </p:custDataLst>
              </p:nvPr>
            </p:nvSpPr>
            <p:spPr>
              <a:xfrm>
                <a:off x="3534" y="6756"/>
                <a:ext cx="1776"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其他行政权力</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（非依申请类）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2" name="矩形 51" descr="7b0a20202020227461726765744d6f64756c65223a202270726f636573734f6e6c696e65466f6e7473220a7d0a"/>
              <p:cNvSpPr/>
              <p:nvPr>
                <p:custDataLst>
                  <p:tags r:id="rId17"/>
                </p:custDataLst>
              </p:nvPr>
            </p:nvSpPr>
            <p:spPr>
              <a:xfrm>
                <a:off x="3535" y="5962"/>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行政征收</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53" name="矩形 52" descr="7b0a20202020227461726765744d6f64756c65223a202270726f636573734f6e6c696e65466f6e7473220a7d0a"/>
              <p:cNvSpPr/>
              <p:nvPr>
                <p:custDataLst>
                  <p:tags r:id="rId18"/>
                </p:custDataLst>
              </p:nvPr>
            </p:nvSpPr>
            <p:spPr>
              <a:xfrm>
                <a:off x="4442" y="5962"/>
                <a:ext cx="868" cy="736"/>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行政检查</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grpSp>
        <p:sp>
          <p:nvSpPr>
            <p:cNvPr id="25" name="矩形 24"/>
            <p:cNvSpPr/>
            <p:nvPr>
              <p:custDataLst>
                <p:tags r:id="rId19"/>
              </p:custDataLst>
            </p:nvPr>
          </p:nvSpPr>
          <p:spPr>
            <a:xfrm>
              <a:off x="1482090" y="2231390"/>
              <a:ext cx="4200525" cy="1684655"/>
            </a:xfrm>
            <a:prstGeom prst="rect">
              <a:avLst/>
            </a:prstGeom>
            <a:noFill/>
            <a:ln w="12700"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b" anchorCtr="1"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srgbClr val="ED7D31"/>
                </a:solidFill>
                <a:effectLst/>
                <a:uLnTx/>
                <a:uFillTx/>
                <a:latin typeface="微软雅黑" panose="020B0503020204020204" charset="-122"/>
                <a:ea typeface="微软雅黑" panose="020B0503020204020204" charset="-122"/>
                <a:cs typeface="+mn-cs"/>
                <a:sym typeface="+mn-ea"/>
              </a:endParaRPr>
            </a:p>
          </p:txBody>
        </p:sp>
        <p:sp>
          <p:nvSpPr>
            <p:cNvPr id="26" name="矩形 25"/>
            <p:cNvSpPr/>
            <p:nvPr>
              <p:custDataLst>
                <p:tags r:id="rId20"/>
              </p:custDataLst>
            </p:nvPr>
          </p:nvSpPr>
          <p:spPr>
            <a:xfrm>
              <a:off x="7423785" y="1725295"/>
              <a:ext cx="1303020" cy="3721735"/>
            </a:xfrm>
            <a:prstGeom prst="rect">
              <a:avLst/>
            </a:prstGeom>
            <a:noFill/>
            <a:ln w="31750" cmpd="sng">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srgbClr val="00B0F0"/>
                </a:solidFill>
                <a:effectLst/>
                <a:uLnTx/>
                <a:uFillTx/>
                <a:latin typeface="微软雅黑" panose="020B0503020204020204" charset="-122"/>
                <a:ea typeface="微软雅黑" panose="020B0503020204020204" charset="-122"/>
                <a:cs typeface="+mn-cs"/>
                <a:sym typeface="+mn-ea"/>
              </a:endParaRPr>
            </a:p>
          </p:txBody>
        </p:sp>
        <p:sp>
          <p:nvSpPr>
            <p:cNvPr id="27" name="矩形 26" descr="7b0a20202020227461726765744d6f64756c65223a202270726f636573734f6e6c696e65466f6e7473220a7d0a"/>
            <p:cNvSpPr/>
            <p:nvPr>
              <p:custDataLst>
                <p:tags r:id="rId21"/>
              </p:custDataLst>
            </p:nvPr>
          </p:nvSpPr>
          <p:spPr>
            <a:xfrm>
              <a:off x="4637405" y="2289175"/>
              <a:ext cx="956945" cy="363220"/>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查询类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12" name="矩形 11" descr="7b0a20202020227461726765744d6f64756c65223a202270726f636573734f6e6c696e65466f6e7473220a7d0a"/>
            <p:cNvSpPr/>
            <p:nvPr>
              <p:custDataLst>
                <p:tags r:id="rId22"/>
              </p:custDataLst>
            </p:nvPr>
          </p:nvSpPr>
          <p:spPr>
            <a:xfrm>
              <a:off x="3652520" y="3956050"/>
              <a:ext cx="960120" cy="393700"/>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rPr>
                <a:t>场馆信息类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9" name="矩形 8" descr="7b0a20202020227461726765744d6f64756c65223a202270726f636573734f6e6c696e65466f6e7473220a7d0a"/>
            <p:cNvSpPr/>
            <p:nvPr>
              <p:custDataLst>
                <p:tags r:id="rId23"/>
              </p:custDataLst>
            </p:nvPr>
          </p:nvSpPr>
          <p:spPr>
            <a:xfrm>
              <a:off x="4636770" y="4375785"/>
              <a:ext cx="960120" cy="397510"/>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rPr>
                <a:t>通知公告类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30" name="矩形 29" descr="7b0a20202020227461726765744d6f64756c65223a202270726f636573734f6e6c696e65466f6e7473220a7d0a"/>
            <p:cNvSpPr/>
            <p:nvPr>
              <p:custDataLst>
                <p:tags r:id="rId24"/>
              </p:custDataLst>
            </p:nvPr>
          </p:nvSpPr>
          <p:spPr>
            <a:xfrm>
              <a:off x="3652520" y="4375785"/>
              <a:ext cx="960120" cy="398145"/>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rPr>
                <a:t>政策文件类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31" name="矩形 30" descr="7b0a20202020227461726765744d6f64756c65223a202270726f636573734f6e6c696e65466f6e7473220a7d0a"/>
            <p:cNvSpPr/>
            <p:nvPr>
              <p:custDataLst>
                <p:tags r:id="rId25"/>
              </p:custDataLst>
            </p:nvPr>
          </p:nvSpPr>
          <p:spPr>
            <a:xfrm>
              <a:off x="3648710" y="4805045"/>
              <a:ext cx="1945640" cy="393700"/>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rPr>
                <a:t>普通信息类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32" name="矩形 31" descr="7b0a20202020227461726765744d6f64756c65223a202270726f636573734f6e6c696e65466f6e7473220a7d0a"/>
            <p:cNvSpPr/>
            <p:nvPr>
              <p:custDataLst>
                <p:tags r:id="rId26"/>
              </p:custDataLst>
            </p:nvPr>
          </p:nvSpPr>
          <p:spPr>
            <a:xfrm>
              <a:off x="3652520" y="2289175"/>
              <a:ext cx="960120" cy="361950"/>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办理类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33" name="矩形 32" descr="7b0a20202020227461726765744d6f64756c65223a202270726f636573734f6e6c696e65466f6e7473220a7d0a"/>
            <p:cNvSpPr/>
            <p:nvPr>
              <p:custDataLst>
                <p:tags r:id="rId27"/>
              </p:custDataLst>
            </p:nvPr>
          </p:nvSpPr>
          <p:spPr>
            <a:xfrm>
              <a:off x="4636770" y="3956685"/>
              <a:ext cx="957580" cy="393065"/>
            </a:xfrm>
            <a:prstGeom prst="rect">
              <a:avLst/>
            </a:prstGeom>
            <a:noFill/>
            <a:extLst>
              <a:ext uri="{909E8E84-426E-40DD-AFC4-6F175D3DCCD1}">
                <a14:hiddenFill xmlns:a14="http://schemas.microsoft.com/office/drawing/2010/main">
                  <a:gradFill>
                    <a:gsLst>
                      <a:gs pos="0">
                        <a:srgbClr val="9EE256"/>
                      </a:gs>
                      <a:gs pos="100000">
                        <a:srgbClr val="52762D"/>
                      </a:gs>
                    </a:gsLst>
                    <a:lin ang="5400000" scaled="0"/>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rPr>
                <a:t>投诉咨询类</a:t>
              </a:r>
              <a:endParaRPr kumimoji="0" lang="zh-CN" alt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方正小标宋_GBK" panose="03000509000000000000" charset="-122"/>
              </a:endParaRPr>
            </a:p>
          </p:txBody>
        </p:sp>
        <p:sp>
          <p:nvSpPr>
            <p:cNvPr id="34" name="矩形 33"/>
            <p:cNvSpPr/>
            <p:nvPr/>
          </p:nvSpPr>
          <p:spPr>
            <a:xfrm>
              <a:off x="5842635" y="1725295"/>
              <a:ext cx="1469390" cy="3724275"/>
            </a:xfrm>
            <a:prstGeom prst="rect">
              <a:avLst/>
            </a:prstGeom>
            <a:solidFill>
              <a:schemeClr val="bg1"/>
            </a:solidFill>
            <a:ln w="28575">
              <a:solidFill>
                <a:srgbClr val="C695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wordArtVert" wrap="square" numCol="1" spcCol="0" rtlCol="0" fromWordArt="0" anchor="ctr" anchorCtr="0" compatLnSpc="1">
              <a:noAutofit/>
            </a:bodyP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1">
                <a:ln>
                  <a:noFill/>
                </a:ln>
                <a:solidFill>
                  <a:srgbClr val="FFC000"/>
                </a:solidFill>
                <a:effectLst/>
                <a:uLnTx/>
                <a:uFillTx/>
                <a:latin typeface="微软雅黑" panose="020B0503020204020204" charset="-122"/>
                <a:ea typeface="微软雅黑" panose="020B0503020204020204" charset="-122"/>
                <a:cs typeface="+mn-cs"/>
                <a:sym typeface="+mn-ea"/>
              </a:endParaRPr>
            </a:p>
          </p:txBody>
        </p:sp>
        <p:sp>
          <p:nvSpPr>
            <p:cNvPr id="35" name="文本框 34"/>
            <p:cNvSpPr txBox="1"/>
            <p:nvPr/>
          </p:nvSpPr>
          <p:spPr>
            <a:xfrm>
              <a:off x="6024245" y="2773045"/>
              <a:ext cx="1106170" cy="36224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C69500"/>
                  </a:solidFill>
                  <a:effectLst/>
                  <a:uLnTx/>
                  <a:uFillTx/>
                  <a:latin typeface="微软雅黑" panose="020B0503020204020204" charset="-122"/>
                  <a:ea typeface="微软雅黑" panose="020B0503020204020204" charset="-122"/>
                  <a:cs typeface="+mn-cs"/>
                  <a:sym typeface="+mn-ea"/>
                </a:rPr>
                <a:t>交办事项</a:t>
              </a:r>
              <a:endParaRPr kumimoji="0" lang="zh-CN" altLang="en-US" sz="1200" b="0" i="0" u="none" strike="noStrike" kern="1200" cap="none" spc="0" normalizeH="0" baseline="0" noProof="0">
                <a:ln>
                  <a:noFill/>
                </a:ln>
                <a:solidFill>
                  <a:srgbClr val="C69500"/>
                </a:solidFill>
                <a:effectLst/>
                <a:uLnTx/>
                <a:uFillTx/>
                <a:latin typeface="微软雅黑" panose="020B0503020204020204" charset="-122"/>
                <a:ea typeface="微软雅黑" panose="020B0503020204020204" charset="-122"/>
                <a:cs typeface="+mn-cs"/>
                <a:sym typeface="+mn-ea"/>
              </a:endParaRPr>
            </a:p>
          </p:txBody>
        </p:sp>
        <p:sp>
          <p:nvSpPr>
            <p:cNvPr id="36" name="矩形 35"/>
            <p:cNvSpPr/>
            <p:nvPr/>
          </p:nvSpPr>
          <p:spPr>
            <a:xfrm>
              <a:off x="8837930" y="1725295"/>
              <a:ext cx="1480820" cy="3724910"/>
            </a:xfrm>
            <a:prstGeom prst="rect">
              <a:avLst/>
            </a:prstGeom>
            <a:solidFill>
              <a:schemeClr val="bg1"/>
            </a:solidFill>
            <a:ln w="28575">
              <a:solidFill>
                <a:srgbClr val="6B6BCE"/>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wordArtVert" wrap="square" numCol="1" spcCol="0" rtlCol="0" fromWordArt="0" anchor="ctr" anchorCtr="0" compatLnSpc="1">
              <a:noAutofit/>
            </a:bodyP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1">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37" name="文本框 36"/>
            <p:cNvSpPr txBox="1"/>
            <p:nvPr/>
          </p:nvSpPr>
          <p:spPr>
            <a:xfrm>
              <a:off x="9014460" y="2776220"/>
              <a:ext cx="1127760" cy="36224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6B6BCE"/>
                  </a:solidFill>
                  <a:effectLst/>
                  <a:uLnTx/>
                  <a:uFillTx/>
                  <a:latin typeface="微软雅黑" panose="020B0503020204020204" charset="-122"/>
                  <a:ea typeface="微软雅黑" panose="020B0503020204020204" charset="-122"/>
                  <a:cs typeface="+mn-cs"/>
                  <a:sym typeface="+mn-ea"/>
                </a:rPr>
                <a:t>生成事项</a:t>
              </a:r>
              <a:endParaRPr kumimoji="0" lang="zh-CN" altLang="en-US" sz="1200" b="0" i="0" u="none" strike="noStrike" kern="1200" cap="none" spc="0" normalizeH="0" baseline="0" noProof="0">
                <a:ln>
                  <a:noFill/>
                </a:ln>
                <a:solidFill>
                  <a:srgbClr val="6B6BCE"/>
                </a:solidFill>
                <a:effectLst/>
                <a:uLnTx/>
                <a:uFillTx/>
                <a:latin typeface="微软雅黑" panose="020B0503020204020204" charset="-122"/>
                <a:ea typeface="微软雅黑" panose="020B0503020204020204" charset="-122"/>
                <a:cs typeface="+mn-cs"/>
                <a:sym typeface="+mn-ea"/>
              </a:endParaRPr>
            </a:p>
          </p:txBody>
        </p:sp>
        <p:sp>
          <p:nvSpPr>
            <p:cNvPr id="38" name="文本框 37"/>
            <p:cNvSpPr txBox="1"/>
            <p:nvPr/>
          </p:nvSpPr>
          <p:spPr>
            <a:xfrm>
              <a:off x="4093105" y="3608705"/>
              <a:ext cx="1124160" cy="342212"/>
            </a:xfrm>
            <a:prstGeom prst="rect">
              <a:avLst/>
            </a:prstGeom>
            <a:noFill/>
            <a:ln>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ED7D31"/>
                  </a:solidFill>
                  <a:effectLst/>
                  <a:uLnTx/>
                  <a:uFillTx/>
                  <a:latin typeface="微软雅黑" panose="020B0503020204020204" charset="-122"/>
                  <a:ea typeface="微软雅黑" panose="020B0503020204020204" charset="-122"/>
                  <a:cs typeface="+mn-cs"/>
                  <a:sym typeface="+mn-ea"/>
                </a:rPr>
                <a:t>政务服务事项</a:t>
              </a:r>
              <a:endParaRPr kumimoji="0" lang="zh-CN" altLang="en-US" sz="1100" b="0" i="0" u="none" strike="noStrike" kern="1200" cap="none" spc="0" normalizeH="0" baseline="0" noProof="0">
                <a:ln>
                  <a:noFill/>
                </a:ln>
                <a:solidFill>
                  <a:srgbClr val="ED7D31"/>
                </a:solidFill>
                <a:effectLst/>
                <a:uLnTx/>
                <a:uFillTx/>
                <a:latin typeface="微软雅黑" panose="020B0503020204020204" charset="-122"/>
                <a:ea typeface="微软雅黑" panose="020B0503020204020204" charset="-122"/>
                <a:cs typeface="+mn-cs"/>
                <a:sym typeface="+mn-ea"/>
              </a:endParaRPr>
            </a:p>
          </p:txBody>
        </p:sp>
        <p:sp>
          <p:nvSpPr>
            <p:cNvPr id="39" name="文本框 38"/>
            <p:cNvSpPr txBox="1"/>
            <p:nvPr/>
          </p:nvSpPr>
          <p:spPr>
            <a:xfrm>
              <a:off x="7522211" y="2773045"/>
              <a:ext cx="1106170" cy="36224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0B0F0"/>
                  </a:solidFill>
                  <a:effectLst/>
                  <a:uLnTx/>
                  <a:uFillTx/>
                  <a:latin typeface="微软雅黑" panose="020B0503020204020204" charset="-122"/>
                  <a:ea typeface="微软雅黑" panose="020B0503020204020204" charset="-122"/>
                  <a:cs typeface="+mn-cs"/>
                  <a:sym typeface="+mn-ea"/>
                </a:rPr>
                <a:t>便民事项</a:t>
              </a:r>
              <a:endParaRPr kumimoji="0" lang="zh-CN" altLang="en-US" sz="1200" b="0" i="0" u="none" strike="noStrike" kern="1200" cap="none" spc="0" normalizeH="0" baseline="0" noProof="0">
                <a:ln>
                  <a:noFill/>
                </a:ln>
                <a:solidFill>
                  <a:srgbClr val="00B0F0"/>
                </a:solidFill>
                <a:effectLst/>
                <a:uLnTx/>
                <a:uFillTx/>
                <a:latin typeface="微软雅黑" panose="020B0503020204020204" charset="-122"/>
                <a:ea typeface="微软雅黑" panose="020B0503020204020204" charset="-122"/>
                <a:cs typeface="+mn-cs"/>
                <a:sym typeface="+mn-ea"/>
              </a:endParaRPr>
            </a:p>
          </p:txBody>
        </p:sp>
        <p:sp>
          <p:nvSpPr>
            <p:cNvPr id="40" name="文本框 39"/>
            <p:cNvSpPr txBox="1"/>
            <p:nvPr/>
          </p:nvSpPr>
          <p:spPr>
            <a:xfrm>
              <a:off x="1453515" y="5441315"/>
              <a:ext cx="4274185" cy="8480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        </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依据法律、法规、规章、规范性文件和部门职责分工的规定，及由政府各部门面向自然人、法人和其他组织的授益性事项</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1" name="文本框 40"/>
            <p:cNvSpPr txBox="1"/>
            <p:nvPr/>
          </p:nvSpPr>
          <p:spPr>
            <a:xfrm>
              <a:off x="6119494" y="5450205"/>
              <a:ext cx="962025" cy="6051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依据上级</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交办任务</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2" name="文本框 41"/>
            <p:cNvSpPr txBox="1"/>
            <p:nvPr/>
          </p:nvSpPr>
          <p:spPr>
            <a:xfrm>
              <a:off x="7593965" y="5450205"/>
              <a:ext cx="1132841" cy="6051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依群众</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诉求</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3" name="文本框 42"/>
            <p:cNvSpPr txBox="1"/>
            <p:nvPr/>
          </p:nvSpPr>
          <p:spPr>
            <a:xfrm>
              <a:off x="9014460" y="5441315"/>
              <a:ext cx="1227455" cy="6051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业务协同过程中生成</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4" name="文本框 43"/>
            <p:cNvSpPr txBox="1"/>
            <p:nvPr/>
          </p:nvSpPr>
          <p:spPr>
            <a:xfrm>
              <a:off x="2726056" y="1753870"/>
              <a:ext cx="1546860" cy="403143"/>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rPr>
                <a:t>法定事项</a:t>
              </a:r>
              <a:endParaRPr kumimoji="0" lang="zh-CN" altLang="en-US" sz="14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endParaRPr>
            </a:p>
          </p:txBody>
        </p:sp>
        <p:sp>
          <p:nvSpPr>
            <p:cNvPr id="45" name="矩形 44"/>
            <p:cNvSpPr/>
            <p:nvPr/>
          </p:nvSpPr>
          <p:spPr>
            <a:xfrm>
              <a:off x="1475740" y="2077720"/>
              <a:ext cx="1918335" cy="3183890"/>
            </a:xfrm>
            <a:prstGeom prst="rect">
              <a:avLst/>
            </a:prstGeom>
            <a:noFill/>
            <a:ln>
              <a:solidFill>
                <a:schemeClr val="accent6">
                  <a:lumMod val="75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6" name="文本框 45"/>
            <p:cNvSpPr txBox="1"/>
            <p:nvPr/>
          </p:nvSpPr>
          <p:spPr>
            <a:xfrm>
              <a:off x="1884680" y="1967230"/>
              <a:ext cx="1089025" cy="302148"/>
            </a:xfrm>
            <a:prstGeom prst="rect">
              <a:avLst/>
            </a:prstGeom>
            <a:solidFill>
              <a:schemeClr val="bg1">
                <a:lumMod val="95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rPr>
                <a:t>行政权力事项</a:t>
              </a:r>
              <a:endParaRPr kumimoji="0" lang="zh-CN" altLang="en-US" sz="9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endParaRPr>
            </a:p>
          </p:txBody>
        </p:sp>
        <p:sp>
          <p:nvSpPr>
            <p:cNvPr id="47" name="矩形 46"/>
            <p:cNvSpPr/>
            <p:nvPr/>
          </p:nvSpPr>
          <p:spPr>
            <a:xfrm>
              <a:off x="3581400" y="2091055"/>
              <a:ext cx="2101215" cy="3183890"/>
            </a:xfrm>
            <a:prstGeom prst="rect">
              <a:avLst/>
            </a:prstGeom>
            <a:noFill/>
            <a:ln>
              <a:solidFill>
                <a:schemeClr val="accent6">
                  <a:lumMod val="75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8" name="文本框 47"/>
            <p:cNvSpPr txBox="1"/>
            <p:nvPr/>
          </p:nvSpPr>
          <p:spPr>
            <a:xfrm>
              <a:off x="4076700" y="1955800"/>
              <a:ext cx="1089025" cy="302148"/>
            </a:xfrm>
            <a:prstGeom prst="rect">
              <a:avLst/>
            </a:prstGeom>
            <a:solidFill>
              <a:schemeClr val="bg1">
                <a:lumMod val="95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rPr>
                <a:t>公共服务事项</a:t>
              </a:r>
              <a:endParaRPr kumimoji="0" lang="zh-CN" altLang="en-US" sz="900" b="0" i="0" u="none" strike="noStrike" kern="1200" cap="none" spc="0" normalizeH="0" baseline="0" noProof="0">
                <a:ln>
                  <a:noFill/>
                </a:ln>
                <a:solidFill>
                  <a:srgbClr val="00B050"/>
                </a:solidFill>
                <a:effectLst/>
                <a:uLnTx/>
                <a:uFillTx/>
                <a:latin typeface="微软雅黑" panose="020B0503020204020204" charset="-122"/>
                <a:ea typeface="微软雅黑" panose="020B0503020204020204" charset="-122"/>
                <a:cs typeface="+mn-cs"/>
                <a:sym typeface="+mn-ea"/>
              </a:endParaRPr>
            </a:p>
          </p:txBody>
        </p:sp>
      </p:grpSp>
      <p:sp>
        <p:nvSpPr>
          <p:cNvPr id="61" name="矩形 60"/>
          <p:cNvSpPr/>
          <p:nvPr/>
        </p:nvSpPr>
        <p:spPr>
          <a:xfrm>
            <a:off x="6307090" y="1893304"/>
            <a:ext cx="2011680" cy="337185"/>
          </a:xfrm>
          <a:prstGeom prst="rect">
            <a:avLst/>
          </a:prstGeom>
        </p:spPr>
        <p:txBody>
          <a:bodyPr wrap="none">
            <a:spAutoFit/>
          </a:bodyPr>
          <a:lstStyle/>
          <a:p>
            <a:pPr algn="ctr"/>
            <a:r>
              <a:rPr lang="zh-CN" altLang="en-US" sz="1600" b="1" dirty="0">
                <a:solidFill>
                  <a:srgbClr val="006FC0"/>
                </a:solidFill>
                <a:latin typeface="微软雅黑" panose="020B0503020204020204" charset="-122"/>
                <a:ea typeface="微软雅黑" panose="020B0503020204020204" charset="-122"/>
              </a:rPr>
              <a:t>业务事项组成示意图</a:t>
            </a:r>
            <a:endParaRPr lang="zh-CN" altLang="en-US" sz="1600" b="1" dirty="0">
              <a:solidFill>
                <a:srgbClr val="006FC0"/>
              </a:solidFill>
              <a:latin typeface="微软雅黑" panose="020B0503020204020204" charset="-122"/>
              <a:ea typeface="微软雅黑" panose="020B0503020204020204" charset="-122"/>
            </a:endParaRPr>
          </a:p>
        </p:txBody>
      </p:sp>
    </p:spTree>
    <p:custDataLst>
      <p:tags r:id="rId2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zh-CN" altLang="en-US" sz="2800" b="1" dirty="0">
                <a:solidFill>
                  <a:srgbClr val="0070C0"/>
                </a:solidFill>
                <a:latin typeface="微软雅黑" panose="020B0503020204020204" charset="-122"/>
                <a:ea typeface="微软雅黑" panose="020B0503020204020204" charset="-122"/>
                <a:sym typeface="+mn-ea"/>
              </a:rPr>
              <a:t>业务事项标准</a:t>
            </a:r>
            <a:endParaRPr lang="zh-CN" altLang="en-US" sz="2800" b="1" dirty="0">
              <a:solidFill>
                <a:srgbClr val="0070C0"/>
              </a:solidFill>
              <a:latin typeface="微软雅黑" panose="020B0503020204020204" charset="-122"/>
              <a:ea typeface="微软雅黑" panose="020B0503020204020204" charset="-122"/>
              <a:sym typeface="+mn-ea"/>
            </a:endParaRPr>
          </a:p>
        </p:txBody>
      </p:sp>
      <p:sp>
        <p:nvSpPr>
          <p:cNvPr id="2" name="矩形: 圆角 75"/>
          <p:cNvSpPr/>
          <p:nvPr/>
        </p:nvSpPr>
        <p:spPr>
          <a:xfrm>
            <a:off x="2919697" y="1822643"/>
            <a:ext cx="8786469" cy="4243806"/>
          </a:xfrm>
          <a:prstGeom prst="roundRect">
            <a:avLst>
              <a:gd name="adj" fmla="val 2425"/>
            </a:avLst>
          </a:prstGeom>
          <a:solidFill>
            <a:schemeClr val="bg1"/>
          </a:solidFill>
          <a:ln w="25400">
            <a:noFill/>
          </a:ln>
          <a:effectLst>
            <a:outerShdw blurRad="114300" sx="102000" sy="102000" algn="ctr" rotWithShape="0">
              <a:srgbClr val="01A9E4">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 name="文本框 2"/>
          <p:cNvSpPr txBox="1"/>
          <p:nvPr/>
        </p:nvSpPr>
        <p:spPr>
          <a:xfrm>
            <a:off x="2988587" y="1871034"/>
            <a:ext cx="8644255" cy="4338320"/>
          </a:xfrm>
          <a:prstGeom prst="rect">
            <a:avLst/>
          </a:prstGeom>
          <a:noFill/>
          <a:ln w="9525">
            <a:noFill/>
          </a:ln>
        </p:spPr>
        <p:txBody>
          <a:bodyPr wrap="square">
            <a:spAutoFit/>
          </a:bodyPr>
          <a:lstStyle/>
          <a:p>
            <a:r>
              <a:rPr lang="zh-CN" altLang="en-US" sz="2000" b="1" dirty="0">
                <a:solidFill>
                  <a:srgbClr val="4472C4">
                    <a:lumMod val="50000"/>
                  </a:srgbClr>
                </a:solidFill>
                <a:latin typeface="微软雅黑" panose="020B0503020204020204" charset="-122"/>
                <a:ea typeface="微软雅黑" panose="020B0503020204020204" charset="-122"/>
              </a:rPr>
              <a:t>相对</a:t>
            </a:r>
            <a:r>
              <a:rPr lang="en-US" altLang="zh-CN" sz="2000" b="1" dirty="0">
                <a:solidFill>
                  <a:srgbClr val="4472C4">
                    <a:lumMod val="50000"/>
                  </a:srgbClr>
                </a:solidFill>
                <a:latin typeface="微软雅黑" panose="020B0503020204020204" charset="-122"/>
                <a:ea typeface="微软雅黑" panose="020B0503020204020204" charset="-122"/>
              </a:rPr>
              <a:t>“</a:t>
            </a:r>
            <a:r>
              <a:rPr lang="zh-CN" altLang="en-US" sz="2000" b="1" dirty="0">
                <a:solidFill>
                  <a:srgbClr val="4472C4">
                    <a:lumMod val="50000"/>
                  </a:srgbClr>
                </a:solidFill>
                <a:latin typeface="微软雅黑" panose="020B0503020204020204" charset="-122"/>
                <a:ea typeface="微软雅黑" panose="020B0503020204020204" charset="-122"/>
              </a:rPr>
              <a:t>最小”</a:t>
            </a:r>
            <a:endParaRPr lang="zh-CN" altLang="en-US" sz="2000" b="1" dirty="0">
              <a:solidFill>
                <a:srgbClr val="4472C4">
                  <a:lumMod val="50000"/>
                </a:srgbClr>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是在部门权责边界清晰、满足构建融跨场景需要、满足数字化管理需要前提下的“相对最小”。</a:t>
            </a:r>
            <a:endPar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拆解</a:t>
            </a:r>
            <a:r>
              <a:rPr kumimoji="0" lang="en-US" altLang="zh-CN"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a:t>
            </a:r>
            <a:r>
              <a:rPr kumimoji="0" lang="zh-CN" altLang="en-US"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最小</a:t>
            </a:r>
            <a:r>
              <a:rPr kumimoji="0" lang="en-US" altLang="zh-CN"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a:t>
            </a:r>
            <a:r>
              <a:rPr kumimoji="0" lang="zh-CN" altLang="en-US"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标准</a:t>
            </a:r>
            <a:endParaRPr kumimoji="0" lang="zh-CN" altLang="en-US"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a:t>
            </a:r>
            <a:r>
              <a:rPr kumimoji="0" lang="en-US" altLang="zh-CN"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1</a:t>
            </a: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）业务事项不跨部门和层级</a:t>
            </a:r>
            <a:endPar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a:t>
            </a:r>
            <a:r>
              <a:rPr kumimoji="0" lang="en-US" altLang="zh-CN"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2</a:t>
            </a: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）业务事项所有工作需完整执行不能分割，或者满足当前所有业务协同模型组合需求而不必拆解。</a:t>
            </a:r>
            <a:endPar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600" dirty="0">
              <a:solidFill>
                <a:srgbClr val="4472C4">
                  <a:lumMod val="50000"/>
                </a:srgbClr>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业务事项的“最小”，是针对具体业务事项自身而言的“最小”，业务事项之间不能比较大小。比如，“</a:t>
            </a:r>
            <a:r>
              <a:rPr kumimoji="0" lang="zh-CN" altLang="en-US" b="0" i="0" u="none" strike="noStrike" kern="1200" cap="none" spc="0" normalizeH="0" baseline="0" noProof="0" dirty="0">
                <a:ln>
                  <a:noFill/>
                </a:ln>
                <a:solidFill>
                  <a:srgbClr val="FFC000">
                    <a:lumMod val="50000"/>
                  </a:srgbClr>
                </a:solidFill>
                <a:effectLst/>
                <a:uLnTx/>
                <a:uFillTx/>
                <a:latin typeface="微软雅黑" panose="020B0503020204020204" charset="-122"/>
                <a:ea typeface="微软雅黑" panose="020B0503020204020204" charset="-122"/>
                <a:cs typeface="+mn-cs"/>
              </a:rPr>
              <a:t>（网格员）现场核实并判断违规垂钓类型</a:t>
            </a: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 ”、“</a:t>
            </a:r>
            <a:r>
              <a:rPr kumimoji="0" lang="zh-CN" altLang="en-US" b="0" i="0" u="none" strike="noStrike" kern="1200" cap="none" spc="0" normalizeH="0" baseline="0" noProof="0" dirty="0">
                <a:ln>
                  <a:noFill/>
                </a:ln>
                <a:solidFill>
                  <a:srgbClr val="FFC000">
                    <a:lumMod val="50000"/>
                  </a:srgbClr>
                </a:solidFill>
                <a:effectLst/>
                <a:uLnTx/>
                <a:uFillTx/>
                <a:latin typeface="微软雅黑" panose="020B0503020204020204" charset="-122"/>
                <a:ea typeface="微软雅黑" panose="020B0503020204020204" charset="-122"/>
                <a:cs typeface="+mn-cs"/>
              </a:rPr>
              <a:t>（平安法治执法岗）对违规垂钓行为行政处罚</a:t>
            </a:r>
            <a:r>
              <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 ”两个业务事项，虽然后者相较前者业务更复杂、办理时间更长，但均符合业务事项“最小”的要求，不需要对后者进行进一步拆解。</a:t>
            </a:r>
            <a:endParaRPr kumimoji="0" lang="zh-CN" altLang="en-US"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600" dirty="0">
              <a:solidFill>
                <a:srgbClr val="4472C4">
                  <a:lumMod val="50000"/>
                </a:srgbClr>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业务事项命名</a:t>
            </a:r>
            <a:r>
              <a:rPr kumimoji="0" lang="en-US" altLang="zh-CN" b="0" i="0" u="none" strike="noStrike" kern="1200" cap="none" spc="0" normalizeH="0" baseline="0" noProof="0" dirty="0">
                <a:ln>
                  <a:noFill/>
                </a:ln>
                <a:solidFill>
                  <a:srgbClr val="4472C4">
                    <a:lumMod val="50000"/>
                  </a:srgbClr>
                </a:solidFill>
                <a:effectLst/>
                <a:uLnTx/>
                <a:uFillTx/>
                <a:latin typeface="微软雅黑" panose="020B0503020204020204" charset="-122"/>
                <a:ea typeface="微软雅黑" panose="020B0503020204020204" charset="-122"/>
                <a:cs typeface="+mn-cs"/>
              </a:rPr>
              <a:t>   </a:t>
            </a:r>
            <a:r>
              <a:rPr kumimoji="0" lang="zh-CN" altLang="en-US" b="0" i="0" u="none" strike="noStrike" kern="1200" cap="none" spc="0" normalizeH="0" baseline="0" noProof="0" dirty="0">
                <a:ln>
                  <a:noFill/>
                </a:ln>
                <a:solidFill>
                  <a:srgbClr val="FFC000">
                    <a:lumMod val="50000"/>
                  </a:srgbClr>
                </a:solidFill>
                <a:effectLst/>
                <a:uLnTx/>
                <a:uFillTx/>
                <a:latin typeface="微软雅黑" panose="020B0503020204020204" charset="-122"/>
                <a:ea typeface="微软雅黑" panose="020B0503020204020204" charset="-122"/>
                <a:cs typeface="+mn-cs"/>
                <a:sym typeface="+mn-ea"/>
              </a:rPr>
              <a:t>（主语）谓语</a:t>
            </a:r>
            <a:r>
              <a:rPr kumimoji="0" lang="en-US" altLang="zh-CN" b="0" i="0" u="none" strike="noStrike" kern="1200" cap="none" spc="0" normalizeH="0" baseline="0" noProof="0" dirty="0">
                <a:ln>
                  <a:noFill/>
                </a:ln>
                <a:solidFill>
                  <a:srgbClr val="FFC000">
                    <a:lumMod val="50000"/>
                  </a:srgbClr>
                </a:solidFill>
                <a:effectLst/>
                <a:uLnTx/>
                <a:uFillTx/>
                <a:latin typeface="微软雅黑" panose="020B0503020204020204" charset="-122"/>
                <a:ea typeface="微软雅黑" panose="020B0503020204020204" charset="-122"/>
                <a:cs typeface="+mn-cs"/>
                <a:sym typeface="+mn-ea"/>
              </a:rPr>
              <a:t>+</a:t>
            </a:r>
            <a:r>
              <a:rPr kumimoji="0" lang="zh-CN" altLang="en-US" b="0" i="0" u="none" strike="noStrike" kern="1200" cap="none" spc="0" normalizeH="0" baseline="0" noProof="0" dirty="0">
                <a:ln>
                  <a:noFill/>
                </a:ln>
                <a:solidFill>
                  <a:srgbClr val="FFC000">
                    <a:lumMod val="50000"/>
                  </a:srgbClr>
                </a:solidFill>
                <a:effectLst/>
                <a:uLnTx/>
                <a:uFillTx/>
                <a:latin typeface="微软雅黑" panose="020B0503020204020204" charset="-122"/>
                <a:ea typeface="微软雅黑" panose="020B0503020204020204" charset="-122"/>
                <a:cs typeface="+mn-cs"/>
                <a:sym typeface="+mn-ea"/>
              </a:rPr>
              <a:t>宾语，</a:t>
            </a:r>
            <a:r>
              <a:rPr lang="en-US" altLang="zh-CN">
                <a:solidFill>
                  <a:srgbClr val="1F4E79"/>
                </a:solidFill>
                <a:latin typeface="微软雅黑" panose="020B0503020204020204" charset="-122"/>
                <a:ea typeface="微软雅黑" panose="020B0503020204020204" charset="-122"/>
                <a:sym typeface="+mn-ea"/>
              </a:rPr>
              <a:t> </a:t>
            </a:r>
            <a:r>
              <a:rPr lang="en-US" altLang="zh-CN" sz="1200">
                <a:solidFill>
                  <a:srgbClr val="1F4E79"/>
                </a:solidFill>
                <a:latin typeface="微软雅黑" panose="020B0503020204020204" charset="-122"/>
                <a:ea typeface="微软雅黑" panose="020B0503020204020204" charset="-122"/>
                <a:sym typeface="+mn-ea"/>
              </a:rPr>
              <a:t> </a:t>
            </a:r>
            <a:r>
              <a:rPr lang="en-US" altLang="zh-CN" sz="1000">
                <a:solidFill>
                  <a:schemeClr val="accent4">
                    <a:lumMod val="50000"/>
                  </a:schemeClr>
                </a:solidFill>
                <a:latin typeface="微软雅黑" panose="020B0503020204020204" charset="-122"/>
                <a:ea typeface="微软雅黑" panose="020B0503020204020204" charset="-122"/>
                <a:sym typeface="+mn-ea"/>
              </a:rPr>
              <a:t>如：“提出市政府规章解释意见征求意见稿</a:t>
            </a:r>
            <a:r>
              <a:rPr lang="en-US" altLang="zh-CN" sz="1000">
                <a:solidFill>
                  <a:srgbClr val="1F4E79"/>
                </a:solidFill>
                <a:latin typeface="微软雅黑" panose="020B0503020204020204" charset="-122"/>
                <a:ea typeface="微软雅黑" panose="020B0503020204020204" charset="-122"/>
                <a:sym typeface="+mn-ea"/>
              </a:rPr>
              <a:t>”而不是“提出征求意见稿”</a:t>
            </a:r>
            <a:endParaRPr lang="en-US" altLang="zh-CN" sz="1000" b="0">
              <a:solidFill>
                <a:srgbClr val="1F4E79"/>
              </a:solidFill>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dirty="0">
              <a:ln>
                <a:noFill/>
              </a:ln>
              <a:solidFill>
                <a:srgbClr val="1F4E79"/>
              </a:solidFill>
              <a:effectLst/>
              <a:uLnTx/>
              <a:uFillTx/>
              <a:latin typeface="微软雅黑" panose="020B0503020204020204" charset="-122"/>
              <a:ea typeface="微软雅黑" panose="020B0503020204020204" charset="-122"/>
              <a:cs typeface="+mn-cs"/>
              <a:sym typeface="+mn-ea"/>
            </a:endParaRPr>
          </a:p>
        </p:txBody>
      </p:sp>
      <p:sp>
        <p:nvSpPr>
          <p:cNvPr id="10" name="等腰三角形 24"/>
          <p:cNvSpPr/>
          <p:nvPr>
            <p:custDataLst>
              <p:tags r:id="rId5"/>
            </p:custDataLst>
          </p:nvPr>
        </p:nvSpPr>
        <p:spPr>
          <a:xfrm rot="5400000" flipV="1">
            <a:off x="437437" y="3532215"/>
            <a:ext cx="4509673" cy="558800"/>
          </a:xfrm>
          <a:custGeom>
            <a:avLst/>
            <a:gdLst>
              <a:gd name="connsiteX0" fmla="*/ 0 w 578876"/>
              <a:gd name="connsiteY0" fmla="*/ 4648025 h 4648025"/>
              <a:gd name="connsiteX1" fmla="*/ 289438 w 578876"/>
              <a:gd name="connsiteY1" fmla="*/ 0 h 4648025"/>
              <a:gd name="connsiteX2" fmla="*/ 578876 w 578876"/>
              <a:gd name="connsiteY2" fmla="*/ 4648025 h 4648025"/>
              <a:gd name="connsiteX3" fmla="*/ 0 w 578876"/>
              <a:gd name="connsiteY3" fmla="*/ 4648025 h 4648025"/>
              <a:gd name="connsiteX0-1" fmla="*/ 0 w 578876"/>
              <a:gd name="connsiteY0-2" fmla="*/ 4648025 h 4648025"/>
              <a:gd name="connsiteX1-3" fmla="*/ 289438 w 578876"/>
              <a:gd name="connsiteY1-4" fmla="*/ 0 h 4648025"/>
              <a:gd name="connsiteX2-5" fmla="*/ 578876 w 578876"/>
              <a:gd name="connsiteY2-6" fmla="*/ 4648025 h 4648025"/>
              <a:gd name="connsiteX3-7" fmla="*/ 0 w 578876"/>
              <a:gd name="connsiteY3-8" fmla="*/ 4648025 h 4648025"/>
              <a:gd name="connsiteX0-9" fmla="*/ 0 w 578876"/>
              <a:gd name="connsiteY0-10" fmla="*/ 4648025 h 4648025"/>
              <a:gd name="connsiteX1-11" fmla="*/ 289438 w 578876"/>
              <a:gd name="connsiteY1-12" fmla="*/ 0 h 4648025"/>
              <a:gd name="connsiteX2-13" fmla="*/ 578876 w 578876"/>
              <a:gd name="connsiteY2-14" fmla="*/ 4648025 h 4648025"/>
              <a:gd name="connsiteX3-15" fmla="*/ 0 w 578876"/>
              <a:gd name="connsiteY3-16" fmla="*/ 4648025 h 4648025"/>
              <a:gd name="connsiteX0-17" fmla="*/ 0 w 578876"/>
              <a:gd name="connsiteY0-18" fmla="*/ 4648025 h 4648025"/>
              <a:gd name="connsiteX1-19" fmla="*/ 289438 w 578876"/>
              <a:gd name="connsiteY1-20" fmla="*/ 0 h 4648025"/>
              <a:gd name="connsiteX2-21" fmla="*/ 578876 w 578876"/>
              <a:gd name="connsiteY2-22" fmla="*/ 4648025 h 4648025"/>
              <a:gd name="connsiteX3-23" fmla="*/ 0 w 578876"/>
              <a:gd name="connsiteY3-24" fmla="*/ 4648025 h 4648025"/>
              <a:gd name="connsiteX0-25" fmla="*/ 0 w 578876"/>
              <a:gd name="connsiteY0-26" fmla="*/ 4648025 h 4648025"/>
              <a:gd name="connsiteX1-27" fmla="*/ 289438 w 578876"/>
              <a:gd name="connsiteY1-28" fmla="*/ 0 h 4648025"/>
              <a:gd name="connsiteX2-29" fmla="*/ 578876 w 578876"/>
              <a:gd name="connsiteY2-30" fmla="*/ 4648025 h 4648025"/>
              <a:gd name="connsiteX3-31" fmla="*/ 0 w 578876"/>
              <a:gd name="connsiteY3-32" fmla="*/ 4648025 h 4648025"/>
              <a:gd name="connsiteX0-33" fmla="*/ 0 w 578876"/>
              <a:gd name="connsiteY0-34" fmla="*/ 4648025 h 4648025"/>
              <a:gd name="connsiteX1-35" fmla="*/ 289438 w 578876"/>
              <a:gd name="connsiteY1-36" fmla="*/ 0 h 4648025"/>
              <a:gd name="connsiteX2-37" fmla="*/ 578876 w 578876"/>
              <a:gd name="connsiteY2-38" fmla="*/ 4648025 h 4648025"/>
              <a:gd name="connsiteX3-39" fmla="*/ 0 w 578876"/>
              <a:gd name="connsiteY3-40" fmla="*/ 4648025 h 4648025"/>
              <a:gd name="connsiteX0-41" fmla="*/ 0 w 578876"/>
              <a:gd name="connsiteY0-42" fmla="*/ 4648025 h 4648025"/>
              <a:gd name="connsiteX1-43" fmla="*/ 289438 w 578876"/>
              <a:gd name="connsiteY1-44" fmla="*/ 0 h 4648025"/>
              <a:gd name="connsiteX2-45" fmla="*/ 578876 w 578876"/>
              <a:gd name="connsiteY2-46" fmla="*/ 4648025 h 4648025"/>
              <a:gd name="connsiteX3-47" fmla="*/ 0 w 578876"/>
              <a:gd name="connsiteY3-48" fmla="*/ 4648025 h 4648025"/>
              <a:gd name="connsiteX0-49" fmla="*/ 0 w 578876"/>
              <a:gd name="connsiteY0-50" fmla="*/ 4648025 h 4648025"/>
              <a:gd name="connsiteX1-51" fmla="*/ 289438 w 578876"/>
              <a:gd name="connsiteY1-52" fmla="*/ 0 h 4648025"/>
              <a:gd name="connsiteX2-53" fmla="*/ 578876 w 578876"/>
              <a:gd name="connsiteY2-54" fmla="*/ 4648025 h 4648025"/>
              <a:gd name="connsiteX3-55" fmla="*/ 0 w 578876"/>
              <a:gd name="connsiteY3-56" fmla="*/ 4648025 h 4648025"/>
              <a:gd name="connsiteX0-57" fmla="*/ 0 w 578876"/>
              <a:gd name="connsiteY0-58" fmla="*/ 4648025 h 4648025"/>
              <a:gd name="connsiteX1-59" fmla="*/ 289438 w 578876"/>
              <a:gd name="connsiteY1-60" fmla="*/ 0 h 4648025"/>
              <a:gd name="connsiteX2-61" fmla="*/ 578876 w 578876"/>
              <a:gd name="connsiteY2-62" fmla="*/ 4648025 h 4648025"/>
              <a:gd name="connsiteX3-63" fmla="*/ 0 w 578876"/>
              <a:gd name="connsiteY3-64" fmla="*/ 4648025 h 4648025"/>
              <a:gd name="connsiteX0-65" fmla="*/ 0 w 578876"/>
              <a:gd name="connsiteY0-66" fmla="*/ 4648025 h 4648025"/>
              <a:gd name="connsiteX1-67" fmla="*/ 289438 w 578876"/>
              <a:gd name="connsiteY1-68" fmla="*/ 0 h 4648025"/>
              <a:gd name="connsiteX2-69" fmla="*/ 578876 w 578876"/>
              <a:gd name="connsiteY2-70" fmla="*/ 4648025 h 4648025"/>
              <a:gd name="connsiteX3-71" fmla="*/ 0 w 578876"/>
              <a:gd name="connsiteY3-72" fmla="*/ 4648025 h 4648025"/>
              <a:gd name="connsiteX0-73" fmla="*/ 0 w 578876"/>
              <a:gd name="connsiteY0-74" fmla="*/ 4648025 h 4648025"/>
              <a:gd name="connsiteX1-75" fmla="*/ 289438 w 578876"/>
              <a:gd name="connsiteY1-76" fmla="*/ 0 h 4648025"/>
              <a:gd name="connsiteX2-77" fmla="*/ 578876 w 578876"/>
              <a:gd name="connsiteY2-78" fmla="*/ 4648025 h 4648025"/>
              <a:gd name="connsiteX3-79" fmla="*/ 0 w 578876"/>
              <a:gd name="connsiteY3-80" fmla="*/ 4648025 h 4648025"/>
              <a:gd name="connsiteX0-81" fmla="*/ 0 w 578876"/>
              <a:gd name="connsiteY0-82" fmla="*/ 4648025 h 4648025"/>
              <a:gd name="connsiteX1-83" fmla="*/ 289438 w 578876"/>
              <a:gd name="connsiteY1-84" fmla="*/ 0 h 4648025"/>
              <a:gd name="connsiteX2-85" fmla="*/ 578876 w 578876"/>
              <a:gd name="connsiteY2-86" fmla="*/ 4648025 h 4648025"/>
              <a:gd name="connsiteX3-87" fmla="*/ 0 w 578876"/>
              <a:gd name="connsiteY3-88" fmla="*/ 4648025 h 4648025"/>
              <a:gd name="connsiteX0-89" fmla="*/ 0 w 578876"/>
              <a:gd name="connsiteY0-90" fmla="*/ 4648025 h 4648025"/>
              <a:gd name="connsiteX1-91" fmla="*/ 289438 w 578876"/>
              <a:gd name="connsiteY1-92" fmla="*/ 0 h 4648025"/>
              <a:gd name="connsiteX2-93" fmla="*/ 578876 w 578876"/>
              <a:gd name="connsiteY2-94" fmla="*/ 4648025 h 4648025"/>
              <a:gd name="connsiteX3-95" fmla="*/ 0 w 578876"/>
              <a:gd name="connsiteY3-96" fmla="*/ 4648025 h 4648025"/>
              <a:gd name="connsiteX0-97" fmla="*/ 0 w 578876"/>
              <a:gd name="connsiteY0-98" fmla="*/ 4648025 h 4648025"/>
              <a:gd name="connsiteX1-99" fmla="*/ 289438 w 578876"/>
              <a:gd name="connsiteY1-100" fmla="*/ 0 h 4648025"/>
              <a:gd name="connsiteX2-101" fmla="*/ 578876 w 578876"/>
              <a:gd name="connsiteY2-102" fmla="*/ 4648025 h 4648025"/>
              <a:gd name="connsiteX3-103" fmla="*/ 0 w 578876"/>
              <a:gd name="connsiteY3-104" fmla="*/ 4648025 h 4648025"/>
              <a:gd name="connsiteX0-105" fmla="*/ 0 w 578876"/>
              <a:gd name="connsiteY0-106" fmla="*/ 4648025 h 4648025"/>
              <a:gd name="connsiteX1-107" fmla="*/ 289438 w 578876"/>
              <a:gd name="connsiteY1-108" fmla="*/ 0 h 4648025"/>
              <a:gd name="connsiteX2-109" fmla="*/ 578876 w 578876"/>
              <a:gd name="connsiteY2-110" fmla="*/ 4648025 h 4648025"/>
              <a:gd name="connsiteX3-111" fmla="*/ 0 w 578876"/>
              <a:gd name="connsiteY3-112" fmla="*/ 4648025 h 4648025"/>
            </a:gdLst>
            <a:ahLst/>
            <a:cxnLst>
              <a:cxn ang="0">
                <a:pos x="connsiteX0-1" y="connsiteY0-2"/>
              </a:cxn>
              <a:cxn ang="0">
                <a:pos x="connsiteX1-3" y="connsiteY1-4"/>
              </a:cxn>
              <a:cxn ang="0">
                <a:pos x="connsiteX2-5" y="connsiteY2-6"/>
              </a:cxn>
              <a:cxn ang="0">
                <a:pos x="connsiteX3-7" y="connsiteY3-8"/>
              </a:cxn>
            </a:cxnLst>
            <a:rect l="l" t="t" r="r" b="b"/>
            <a:pathLst>
              <a:path w="578876" h="4648025">
                <a:moveTo>
                  <a:pt x="0" y="4648025"/>
                </a:moveTo>
                <a:cubicBezTo>
                  <a:pt x="162866" y="3047883"/>
                  <a:pt x="238853" y="1866842"/>
                  <a:pt x="289438" y="0"/>
                </a:cubicBezTo>
                <a:cubicBezTo>
                  <a:pt x="343197" y="1879542"/>
                  <a:pt x="403887" y="3035183"/>
                  <a:pt x="578876" y="4648025"/>
                </a:cubicBezTo>
                <a:lnTo>
                  <a:pt x="0" y="4648025"/>
                </a:lnTo>
                <a:close/>
              </a:path>
            </a:pathLst>
          </a:custGeom>
          <a:gradFill>
            <a:gsLst>
              <a:gs pos="0">
                <a:schemeClr val="bg1">
                  <a:alpha val="0"/>
                </a:schemeClr>
              </a:gs>
              <a:gs pos="86000">
                <a:schemeClr val="accent5">
                  <a:lumMod val="7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457200"/>
            <a:endParaRPr lang="zh-CN" altLang="en-US" sz="2000" dirty="0">
              <a:latin typeface="微软雅黑" panose="020B0503020204020204" charset="-122"/>
              <a:ea typeface="微软雅黑" panose="020B0503020204020204" charset="-122"/>
            </a:endParaRPr>
          </a:p>
        </p:txBody>
      </p:sp>
      <p:sp>
        <p:nvSpPr>
          <p:cNvPr id="17" name="object 9"/>
          <p:cNvSpPr txBox="1"/>
          <p:nvPr/>
        </p:nvSpPr>
        <p:spPr>
          <a:xfrm>
            <a:off x="594027" y="3480045"/>
            <a:ext cx="2062996" cy="937260"/>
          </a:xfrm>
          <a:prstGeom prst="rect">
            <a:avLst/>
          </a:prstGeom>
        </p:spPr>
        <p:txBody>
          <a:bodyPr vert="horz" wrap="square" lIns="0" tIns="1270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lang="zh-CN" altLang="en-US" sz="2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t>业务事项</a:t>
            </a:r>
            <a:endParaRPr kumimoji="0" lang="en-US" altLang="zh-CN" sz="2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endParaRPr>
          </a:p>
          <a:p>
            <a:pPr marL="12700" marR="0" lvl="0" indent="0" algn="ctr" defTabSz="914400" rtl="0" eaLnBrk="1" fontAlgn="auto" latinLnBrk="0" hangingPunct="1">
              <a:lnSpc>
                <a:spcPct val="100000"/>
              </a:lnSpc>
              <a:spcBef>
                <a:spcPts val="100"/>
              </a:spcBef>
              <a:spcAft>
                <a:spcPts val="0"/>
              </a:spcAft>
              <a:buClrTx/>
              <a:buSzTx/>
              <a:buFontTx/>
              <a:buNone/>
              <a:defRPr/>
            </a:pPr>
            <a:r>
              <a:rPr kumimoji="0" lang="zh-CN" altLang="en-US" sz="1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t>具体表述部门履职</a:t>
            </a:r>
            <a:br>
              <a:rPr kumimoji="0" lang="en-US" altLang="zh-CN" sz="1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br>
            <a:r>
              <a:rPr kumimoji="0" lang="zh-CN" altLang="en-US" sz="1400" b="1" i="0" u="none" strike="noStrike" kern="1200" cap="none" spc="0" normalizeH="0" baseline="0" noProof="0" dirty="0">
                <a:ln>
                  <a:noFill/>
                </a:ln>
                <a:solidFill>
                  <a:srgbClr val="006FC0"/>
                </a:solidFill>
                <a:effectLst/>
                <a:uLnTx/>
                <a:uFillTx/>
                <a:latin typeface="微软雅黑" panose="020B0503020204020204" charset="-122"/>
                <a:ea typeface="微软雅黑" panose="020B0503020204020204" charset="-122"/>
                <a:cs typeface="+mj-cs"/>
              </a:rPr>
              <a:t>内容的最小单元</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j-cs"/>
            </a:endParaRPr>
          </a:p>
        </p:txBody>
      </p:sp>
      <p:sp>
        <p:nvSpPr>
          <p:cNvPr id="18" name="矩形 17"/>
          <p:cNvSpPr/>
          <p:nvPr/>
        </p:nvSpPr>
        <p:spPr>
          <a:xfrm>
            <a:off x="416486" y="2465513"/>
            <a:ext cx="2418080" cy="583565"/>
          </a:xfrm>
          <a:prstGeom prst="rect">
            <a:avLst/>
          </a:prstGeom>
        </p:spPr>
        <p:txBody>
          <a:bodyPr wrap="none">
            <a:spAutoFit/>
          </a:bodyPr>
          <a:lstStyle/>
          <a:p>
            <a:pPr algn="ctr"/>
            <a:r>
              <a:rPr lang="zh-CN" altLang="en-US" sz="1600" dirty="0">
                <a:latin typeface="微软雅黑" panose="020B0503020204020204" charset="-122"/>
                <a:ea typeface="微软雅黑" panose="020B0503020204020204" charset="-122"/>
              </a:rPr>
              <a:t>构建以业务事项为主线的</a:t>
            </a:r>
            <a:endParaRPr lang="en-US" altLang="zh-CN" sz="1600" dirty="0">
              <a:latin typeface="微软雅黑" panose="020B0503020204020204" charset="-122"/>
              <a:ea typeface="微软雅黑" panose="020B0503020204020204" charset="-122"/>
            </a:endParaRPr>
          </a:p>
          <a:p>
            <a:pPr algn="ctr"/>
            <a:r>
              <a:rPr lang="zh-CN" altLang="en-US" sz="1600" dirty="0">
                <a:latin typeface="微软雅黑" panose="020B0503020204020204" charset="-122"/>
                <a:ea typeface="微软雅黑" panose="020B0503020204020204" charset="-122"/>
              </a:rPr>
              <a:t>数字化履职体系</a:t>
            </a:r>
            <a:endParaRPr lang="zh-CN" altLang="en-US" sz="1600" dirty="0">
              <a:latin typeface="微软雅黑" panose="020B0503020204020204" charset="-122"/>
              <a:ea typeface="微软雅黑" panose="020B0503020204020204" charset="-122"/>
            </a:endParaRPr>
          </a:p>
        </p:txBody>
      </p:sp>
      <p:sp>
        <p:nvSpPr>
          <p:cNvPr id="19" name="右箭头 102"/>
          <p:cNvSpPr/>
          <p:nvPr/>
        </p:nvSpPr>
        <p:spPr>
          <a:xfrm rot="16200000">
            <a:off x="1415975" y="3070541"/>
            <a:ext cx="419100" cy="389250"/>
          </a:xfrm>
          <a:prstGeom prst="rightArrow">
            <a:avLst/>
          </a:prstGeom>
          <a:gradFill>
            <a:gsLst>
              <a:gs pos="0">
                <a:srgbClr val="FFFFFF">
                  <a:alpha val="0"/>
                </a:srgbClr>
              </a:gs>
              <a:gs pos="41000">
                <a:srgbClr val="004EDF">
                  <a:alpha val="3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1827530" rtl="0" eaLnBrk="0" fontAlgn="base" latinLnBrk="0" hangingPunct="0">
              <a:lnSpc>
                <a:spcPct val="100000"/>
              </a:lnSpc>
              <a:spcBef>
                <a:spcPct val="0"/>
              </a:spcBef>
              <a:spcAft>
                <a:spcPct val="0"/>
              </a:spcAft>
              <a:buClrTx/>
              <a:buSzTx/>
              <a:buFontTx/>
              <a:buNone/>
              <a:defRPr/>
            </a:pPr>
            <a:endParaRPr kumimoji="0" lang="zh-CN" altLang="en-US"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cs"/>
            </a:endParaRPr>
          </a:p>
        </p:txBody>
      </p:sp>
      <p:sp>
        <p:nvSpPr>
          <p:cNvPr id="13" name="文本框 12"/>
          <p:cNvSpPr txBox="1"/>
          <p:nvPr/>
        </p:nvSpPr>
        <p:spPr>
          <a:xfrm>
            <a:off x="1560195" y="1203325"/>
            <a:ext cx="9135745" cy="368300"/>
          </a:xfrm>
          <a:prstGeom prst="rect">
            <a:avLst/>
          </a:prstGeom>
          <a:noFill/>
        </p:spPr>
        <p:txBody>
          <a:bodyPr wrap="square" rtlCol="0" anchor="t">
            <a:spAutoFit/>
          </a:bodyPr>
          <a:p>
            <a:r>
              <a:rPr lang="zh-CN" altLang="en-US" b="1">
                <a:latin typeface="微软雅黑" panose="020B0503020204020204" charset="-122"/>
                <a:ea typeface="微软雅黑" panose="020B0503020204020204" charset="-122"/>
                <a:cs typeface="微软雅黑" panose="020B0503020204020204" charset="-122"/>
                <a:sym typeface="+mn-ea"/>
              </a:rPr>
              <a:t>核心业务是由部门结合“三定”规定中的职能确定的履职内容</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sp>
        <p:nvSpPr>
          <p:cNvPr id="2" name="矩形 1"/>
          <p:cNvSpPr/>
          <p:nvPr/>
        </p:nvSpPr>
        <p:spPr>
          <a:xfrm>
            <a:off x="6096000" y="2564765"/>
            <a:ext cx="5379720" cy="3658235"/>
          </a:xfrm>
          <a:prstGeom prst="rect">
            <a:avLst/>
          </a:prstGeom>
          <a:solidFill>
            <a:schemeClr val="accent2">
              <a:lumMod val="20000"/>
              <a:lumOff val="80000"/>
              <a:alpha val="2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26" name="图片 88" descr="C:\Users\user\Desktop\智慧长江物流\幻灯片4.jpg幻灯片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130" y="1091565"/>
            <a:ext cx="11635105" cy="5609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矩形 3"/>
          <p:cNvSpPr/>
          <p:nvPr/>
        </p:nvSpPr>
        <p:spPr>
          <a:xfrm>
            <a:off x="6816090" y="1630680"/>
            <a:ext cx="5296535" cy="49447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pic>
        <p:nvPicPr>
          <p:cNvPr id="2" name="图片 2" descr="0419"/>
          <p:cNvPicPr>
            <a:picLocks noChangeAspect="1"/>
          </p:cNvPicPr>
          <p:nvPr>
            <p:custDataLst>
              <p:tags r:id="rId5"/>
            </p:custDataLst>
          </p:nvPr>
        </p:nvPicPr>
        <p:blipFill>
          <a:blip r:embed="rId6"/>
          <a:srcRect l="12993" t="15242" r="10217" b="13702"/>
          <a:stretch>
            <a:fillRect/>
          </a:stretch>
        </p:blipFill>
        <p:spPr>
          <a:xfrm>
            <a:off x="1631950" y="1701165"/>
            <a:ext cx="8957945" cy="4507230"/>
          </a:xfrm>
          <a:prstGeom prst="rect">
            <a:avLst/>
          </a:prstGeom>
          <a:noFill/>
          <a:ln w="9525">
            <a:noFill/>
          </a:ln>
        </p:spPr>
      </p:pic>
      <p:sp>
        <p:nvSpPr>
          <p:cNvPr id="3" name="矩形 2"/>
          <p:cNvSpPr/>
          <p:nvPr/>
        </p:nvSpPr>
        <p:spPr>
          <a:xfrm>
            <a:off x="3360420" y="4509135"/>
            <a:ext cx="2602865" cy="64833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pic>
        <p:nvPicPr>
          <p:cNvPr id="2050" name="图片 93" descr="C:\Users\user\Desktop\智慧长江物流2.jpg智慧长江物流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415" y="1137920"/>
            <a:ext cx="11833860" cy="58337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pic>
        <p:nvPicPr>
          <p:cNvPr id="2" name="图片 2" descr="0419"/>
          <p:cNvPicPr>
            <a:picLocks noChangeAspect="1"/>
          </p:cNvPicPr>
          <p:nvPr>
            <p:custDataLst>
              <p:tags r:id="rId5"/>
            </p:custDataLst>
          </p:nvPr>
        </p:nvPicPr>
        <p:blipFill>
          <a:blip r:embed="rId6"/>
          <a:srcRect l="12993" t="15242" r="10217" b="13702"/>
          <a:stretch>
            <a:fillRect/>
          </a:stretch>
        </p:blipFill>
        <p:spPr>
          <a:xfrm>
            <a:off x="1631950" y="1701165"/>
            <a:ext cx="8957945" cy="4507230"/>
          </a:xfrm>
          <a:prstGeom prst="rect">
            <a:avLst/>
          </a:prstGeom>
          <a:noFill/>
          <a:ln w="9525">
            <a:noFill/>
          </a:ln>
        </p:spPr>
      </p:pic>
      <p:sp>
        <p:nvSpPr>
          <p:cNvPr id="3" name="矩形 2"/>
          <p:cNvSpPr/>
          <p:nvPr/>
        </p:nvSpPr>
        <p:spPr>
          <a:xfrm>
            <a:off x="6240145" y="4580890"/>
            <a:ext cx="2602865" cy="64833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pic>
        <p:nvPicPr>
          <p:cNvPr id="3074" name="图片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225" y="1057910"/>
            <a:ext cx="11652885" cy="549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3.1 </a:t>
            </a:r>
            <a:r>
              <a:rPr sz="2800" b="1" dirty="0">
                <a:solidFill>
                  <a:srgbClr val="0070C0"/>
                </a:solidFill>
                <a:latin typeface="微软雅黑" panose="020B0503020204020204" charset="-122"/>
                <a:ea typeface="微软雅黑" panose="020B0503020204020204" charset="-122"/>
                <a:sym typeface="+mn-ea"/>
              </a:rPr>
              <a:t>利用“V模型”构建多跨场景</a:t>
            </a:r>
            <a:endParaRPr sz="2800" b="1" dirty="0">
              <a:solidFill>
                <a:srgbClr val="0070C0"/>
              </a:solidFill>
              <a:latin typeface="微软雅黑" panose="020B0503020204020204" charset="-122"/>
              <a:ea typeface="微软雅黑" panose="020B0503020204020204" charset="-122"/>
              <a:sym typeface="+mn-ea"/>
            </a:endParaRPr>
          </a:p>
        </p:txBody>
      </p:sp>
      <p:sp>
        <p:nvSpPr>
          <p:cNvPr id="2" name="矩形 1"/>
          <p:cNvSpPr/>
          <p:nvPr/>
        </p:nvSpPr>
        <p:spPr>
          <a:xfrm>
            <a:off x="6096000" y="2564765"/>
            <a:ext cx="5379720" cy="3658235"/>
          </a:xfrm>
          <a:prstGeom prst="rect">
            <a:avLst/>
          </a:prstGeom>
          <a:solidFill>
            <a:schemeClr val="accent2">
              <a:lumMod val="20000"/>
              <a:lumOff val="80000"/>
              <a:alpha val="2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26" name="图片 88" descr="C:\Users\user\Desktop\智慧长江物流\幻灯片4.jpg幻灯片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130" y="1091565"/>
            <a:ext cx="11635105" cy="5609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6"/>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64160" y="1265555"/>
            <a:ext cx="11620500" cy="4385945"/>
          </a:xfrm>
          <a:prstGeom prst="rect">
            <a:avLst/>
          </a:prstGeom>
          <a:noFill/>
          <a:ln w="9525">
            <a:noFill/>
          </a:ln>
        </p:spPr>
      </p:pic>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6"/>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3.2 </a:t>
            </a:r>
            <a:r>
              <a:rPr lang="zh-CN" altLang="en-US" sz="2800" b="1" dirty="0">
                <a:solidFill>
                  <a:srgbClr val="0070C0"/>
                </a:solidFill>
                <a:latin typeface="微软雅黑" panose="020B0503020204020204" charset="-122"/>
                <a:ea typeface="微软雅黑" panose="020B0503020204020204" charset="-122"/>
                <a:sym typeface="+mn-ea"/>
              </a:rPr>
              <a:t>场景</a:t>
            </a:r>
            <a:r>
              <a:rPr lang="en-US" altLang="zh-CN" sz="2800" b="1" dirty="0">
                <a:solidFill>
                  <a:srgbClr val="0070C0"/>
                </a:solidFill>
                <a:latin typeface="微软雅黑" panose="020B0503020204020204" charset="-122"/>
                <a:ea typeface="微软雅黑" panose="020B0503020204020204" charset="-122"/>
                <a:sym typeface="+mn-ea"/>
              </a:rPr>
              <a:t>清单整理标准</a:t>
            </a:r>
            <a:endParaRPr lang="en-US" altLang="zh-CN" sz="2800" b="1" dirty="0">
              <a:solidFill>
                <a:srgbClr val="0070C0"/>
              </a:solidFill>
              <a:latin typeface="微软雅黑" panose="020B0503020204020204" charset="-122"/>
              <a:ea typeface="微软雅黑" panose="020B0503020204020204" charset="-122"/>
              <a:sym typeface="+mn-ea"/>
            </a:endParaRPr>
          </a:p>
        </p:txBody>
      </p:sp>
      <p:sp>
        <p:nvSpPr>
          <p:cNvPr id="2" name="圆角矩形 1"/>
          <p:cNvSpPr/>
          <p:nvPr/>
        </p:nvSpPr>
        <p:spPr>
          <a:xfrm>
            <a:off x="1012825" y="4291965"/>
            <a:ext cx="1413510" cy="6375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cs typeface="方正黑体_GBK" panose="03000509000000000000" pitchFamily="65" charset="-122"/>
                <a:sym typeface="+mn-ea"/>
              </a:rPr>
              <a:t>五</a:t>
            </a:r>
            <a:r>
              <a:rPr lang="en-US" altLang="zh-CN" sz="2400" b="1">
                <a:latin typeface="微软雅黑" panose="020B0503020204020204" charset="-122"/>
                <a:ea typeface="微软雅黑" panose="020B0503020204020204" charset="-122"/>
                <a:cs typeface="方正黑体_GBK" panose="03000509000000000000" pitchFamily="65" charset="-122"/>
                <a:sym typeface="+mn-ea"/>
              </a:rPr>
              <a:t>  </a:t>
            </a:r>
            <a:r>
              <a:rPr lang="zh-CN" altLang="en-US" sz="2400" b="1">
                <a:latin typeface="微软雅黑" panose="020B0503020204020204" charset="-122"/>
                <a:ea typeface="微软雅黑" panose="020B0503020204020204" charset="-122"/>
                <a:cs typeface="方正黑体_GBK" panose="03000509000000000000" pitchFamily="65" charset="-122"/>
                <a:sym typeface="+mn-ea"/>
              </a:rPr>
              <a:t>跨</a:t>
            </a:r>
            <a:endParaRPr lang="zh-CN" altLang="en-US" sz="2400" b="1">
              <a:latin typeface="微软雅黑" panose="020B0503020204020204" charset="-122"/>
              <a:ea typeface="微软雅黑" panose="020B0503020204020204" charset="-122"/>
              <a:cs typeface="方正黑体_GBK" panose="03000509000000000000" pitchFamily="65" charset="-122"/>
            </a:endParaRPr>
          </a:p>
        </p:txBody>
      </p:sp>
      <p:sp>
        <p:nvSpPr>
          <p:cNvPr id="12" name="圆角矩形 11"/>
          <p:cNvSpPr/>
          <p:nvPr/>
        </p:nvSpPr>
        <p:spPr>
          <a:xfrm>
            <a:off x="2813050" y="3998595"/>
            <a:ext cx="8999855" cy="16421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2400">
                <a:latin typeface="微软雅黑" panose="020B0503020204020204" charset="-122"/>
                <a:ea typeface="微软雅黑" panose="020B0503020204020204" charset="-122"/>
                <a:cs typeface="方正黑体_GBK" panose="03000509000000000000" pitchFamily="65" charset="-122"/>
                <a:sym typeface="+mn-ea"/>
              </a:rPr>
              <a:t>列入重大应用的项目，</a:t>
            </a:r>
            <a:r>
              <a:rPr lang="zh-CN" altLang="en-US" sz="2400" b="1">
                <a:solidFill>
                  <a:srgbClr val="FFC000"/>
                </a:solidFill>
                <a:latin typeface="微软雅黑" panose="020B0503020204020204" charset="-122"/>
                <a:ea typeface="微软雅黑" panose="020B0503020204020204" charset="-122"/>
                <a:cs typeface="方正黑体_GBK" panose="03000509000000000000" pitchFamily="65" charset="-122"/>
                <a:sym typeface="+mn-ea"/>
              </a:rPr>
              <a:t>至少</a:t>
            </a:r>
            <a:r>
              <a:rPr lang="zh-CN" altLang="en-US" sz="2400">
                <a:latin typeface="微软雅黑" panose="020B0503020204020204" charset="-122"/>
                <a:ea typeface="微软雅黑" panose="020B0503020204020204" charset="-122"/>
                <a:cs typeface="方正黑体_GBK" panose="03000509000000000000" pitchFamily="65" charset="-122"/>
                <a:sym typeface="+mn-ea"/>
              </a:rPr>
              <a:t>实现“跨业务、跨部门、跨层级、跨区域、跨系统”“五跨”中的</a:t>
            </a:r>
            <a:r>
              <a:rPr lang="zh-CN" altLang="en-US" sz="2400" b="1">
                <a:solidFill>
                  <a:srgbClr val="FFC000"/>
                </a:solidFill>
                <a:latin typeface="微软雅黑" panose="020B0503020204020204" charset="-122"/>
                <a:ea typeface="微软雅黑" panose="020B0503020204020204" charset="-122"/>
                <a:cs typeface="方正黑体_GBK" panose="03000509000000000000" pitchFamily="65" charset="-122"/>
                <a:sym typeface="+mn-ea"/>
              </a:rPr>
              <a:t>“三跨”</a:t>
            </a:r>
            <a:r>
              <a:rPr lang="zh-CN" altLang="en-US" sz="2400">
                <a:latin typeface="微软雅黑" panose="020B0503020204020204" charset="-122"/>
                <a:ea typeface="微软雅黑" panose="020B0503020204020204" charset="-122"/>
                <a:cs typeface="方正黑体_GBK" panose="03000509000000000000" pitchFamily="65" charset="-122"/>
                <a:sym typeface="+mn-ea"/>
              </a:rPr>
              <a:t>，“跨部门”是重大应用项目的底线。“五跨”情况须附单页材料，详细说明“融跨”背景、预计实现方式和预期效果等情况。</a:t>
            </a:r>
            <a:endParaRPr lang="zh-CN" altLang="en-US" sz="2400">
              <a:latin typeface="微软雅黑" panose="020B0503020204020204" charset="-122"/>
              <a:ea typeface="微软雅黑" panose="020B0503020204020204" charset="-122"/>
              <a:cs typeface="方正黑体_GBK" panose="03000509000000000000" pitchFamily="65" charset="-122"/>
              <a:sym typeface="+mn-ea"/>
            </a:endParaRPr>
          </a:p>
        </p:txBody>
      </p:sp>
      <p:sp>
        <p:nvSpPr>
          <p:cNvPr id="4" name="圆角矩形 3"/>
          <p:cNvSpPr/>
          <p:nvPr>
            <p:custDataLst>
              <p:tags r:id="rId7"/>
            </p:custDataLst>
          </p:nvPr>
        </p:nvSpPr>
        <p:spPr>
          <a:xfrm>
            <a:off x="998220" y="2221865"/>
            <a:ext cx="1413510" cy="5035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b="1">
                <a:latin typeface="微软雅黑" panose="020B0503020204020204" charset="-122"/>
                <a:ea typeface="微软雅黑" panose="020B0503020204020204" charset="-122"/>
                <a:cs typeface="方正黑体_GBK" panose="03000509000000000000" pitchFamily="65" charset="-122"/>
              </a:rPr>
              <a:t>三</a:t>
            </a:r>
            <a:r>
              <a:rPr lang="en-US" altLang="zh-CN" sz="2800" b="1">
                <a:latin typeface="微软雅黑" panose="020B0503020204020204" charset="-122"/>
                <a:ea typeface="微软雅黑" panose="020B0503020204020204" charset="-122"/>
                <a:cs typeface="方正黑体_GBK" panose="03000509000000000000" pitchFamily="65" charset="-122"/>
              </a:rPr>
              <a:t>  </a:t>
            </a:r>
            <a:r>
              <a:rPr lang="zh-CN" altLang="en-US" sz="2800" b="1">
                <a:latin typeface="微软雅黑" panose="020B0503020204020204" charset="-122"/>
                <a:ea typeface="微软雅黑" panose="020B0503020204020204" charset="-122"/>
                <a:cs typeface="方正黑体_GBK" panose="03000509000000000000" pitchFamily="65" charset="-122"/>
              </a:rPr>
              <a:t>融</a:t>
            </a:r>
            <a:endParaRPr lang="zh-CN" altLang="en-US" sz="2800" b="1">
              <a:latin typeface="微软雅黑" panose="020B0503020204020204" charset="-122"/>
              <a:ea typeface="微软雅黑" panose="020B0503020204020204" charset="-122"/>
              <a:cs typeface="方正黑体_GBK" panose="03000509000000000000" pitchFamily="65" charset="-122"/>
            </a:endParaRPr>
          </a:p>
        </p:txBody>
      </p:sp>
      <p:sp>
        <p:nvSpPr>
          <p:cNvPr id="13" name="圆角矩形 12"/>
          <p:cNvSpPr/>
          <p:nvPr>
            <p:custDataLst>
              <p:tags r:id="rId8"/>
            </p:custDataLst>
          </p:nvPr>
        </p:nvSpPr>
        <p:spPr>
          <a:xfrm>
            <a:off x="2755265" y="2113915"/>
            <a:ext cx="8999855" cy="12960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2400" b="1">
                <a:latin typeface="微软雅黑" panose="020B0503020204020204" charset="-122"/>
                <a:ea typeface="微软雅黑" panose="020B0503020204020204" charset="-122"/>
                <a:cs typeface="方正黑体_GBK" panose="03000509000000000000" pitchFamily="65" charset="-122"/>
              </a:rPr>
              <a:t>列入重大应用的项目，</a:t>
            </a:r>
            <a:r>
              <a:rPr lang="zh-CN" altLang="en-US" sz="2400" b="1">
                <a:solidFill>
                  <a:srgbClr val="FFC000"/>
                </a:solidFill>
                <a:latin typeface="微软雅黑" panose="020B0503020204020204" charset="-122"/>
                <a:ea typeface="微软雅黑" panose="020B0503020204020204" charset="-122"/>
                <a:cs typeface="方正黑体_GBK" panose="03000509000000000000" pitchFamily="65" charset="-122"/>
              </a:rPr>
              <a:t>至少</a:t>
            </a:r>
            <a:r>
              <a:rPr lang="zh-CN" altLang="en-US" sz="2400" b="1">
                <a:latin typeface="微软雅黑" panose="020B0503020204020204" charset="-122"/>
                <a:ea typeface="微软雅黑" panose="020B0503020204020204" charset="-122"/>
                <a:cs typeface="方正黑体_GBK" panose="03000509000000000000" pitchFamily="65" charset="-122"/>
              </a:rPr>
              <a:t>要有“技术融合、业务融合、数据融合”“三融”中的“</a:t>
            </a:r>
            <a:r>
              <a:rPr lang="zh-CN" altLang="en-US" sz="2400" b="1">
                <a:solidFill>
                  <a:srgbClr val="FFC000"/>
                </a:solidFill>
                <a:latin typeface="微软雅黑" panose="020B0503020204020204" charset="-122"/>
                <a:ea typeface="微软雅黑" panose="020B0503020204020204" charset="-122"/>
                <a:cs typeface="方正黑体_GBK" panose="03000509000000000000" pitchFamily="65" charset="-122"/>
              </a:rPr>
              <a:t>两融”</a:t>
            </a:r>
            <a:r>
              <a:rPr lang="zh-CN" altLang="en-US" sz="2400" b="1">
                <a:latin typeface="微软雅黑" panose="020B0503020204020204" charset="-122"/>
                <a:ea typeface="微软雅黑" panose="020B0503020204020204" charset="-122"/>
                <a:cs typeface="方正黑体_GBK" panose="03000509000000000000" pitchFamily="65" charset="-122"/>
              </a:rPr>
              <a:t>。“三融”情况须附单页材料，详细说明“融”的背景、实现方式及预期效果等情况。</a:t>
            </a:r>
            <a:endParaRPr lang="zh-CN" altLang="en-US" sz="2400" b="1">
              <a:latin typeface="微软雅黑" panose="020B0503020204020204" charset="-122"/>
              <a:ea typeface="微软雅黑" panose="020B0503020204020204" charset="-122"/>
              <a:cs typeface="方正黑体_GBK" panose="03000509000000000000" pitchFamily="65" charset="-122"/>
            </a:endParaRPr>
          </a:p>
        </p:txBody>
      </p:sp>
    </p:spTree>
    <p:custDataLst>
      <p:tags r:id="rId9"/>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4 </a:t>
            </a:r>
            <a:r>
              <a:rPr lang="zh-CN" altLang="en-US" sz="2800" b="1" dirty="0">
                <a:solidFill>
                  <a:srgbClr val="0070C0"/>
                </a:solidFill>
                <a:latin typeface="微软雅黑" panose="020B0503020204020204" charset="-122"/>
                <a:ea typeface="微软雅黑" panose="020B0503020204020204" charset="-122"/>
                <a:sym typeface="+mn-ea"/>
              </a:rPr>
              <a:t>推动重大改革</a:t>
            </a:r>
            <a:r>
              <a:rPr lang="en-US" altLang="zh-CN" sz="2800" b="1" dirty="0">
                <a:solidFill>
                  <a:srgbClr val="0070C0"/>
                </a:solidFill>
                <a:latin typeface="微软雅黑" panose="020B0503020204020204" charset="-122"/>
                <a:ea typeface="微软雅黑" panose="020B0503020204020204" charset="-122"/>
                <a:sym typeface="+mn-ea"/>
              </a:rPr>
              <a:t>      </a:t>
            </a:r>
            <a:r>
              <a:rPr lang="zh-CN" altLang="en-US" sz="2800" b="1" dirty="0">
                <a:solidFill>
                  <a:srgbClr val="0070C0"/>
                </a:solidFill>
                <a:latin typeface="微软雅黑" panose="020B0503020204020204" charset="-122"/>
                <a:ea typeface="微软雅黑" panose="020B0503020204020204" charset="-122"/>
                <a:sym typeface="+mn-ea"/>
              </a:rPr>
              <a:t>列出改革清单</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5"/>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sp>
        <p:nvSpPr>
          <p:cNvPr id="2" name="kGjBRnqUNkRE9Kh文本框 1"/>
          <p:cNvSpPr txBox="1"/>
          <p:nvPr/>
        </p:nvSpPr>
        <p:spPr>
          <a:xfrm>
            <a:off x="407670" y="2494915"/>
            <a:ext cx="11418570" cy="2215515"/>
          </a:xfrm>
          <a:prstGeom prst="rect">
            <a:avLst/>
          </a:prstGeom>
          <a:noFill/>
        </p:spPr>
        <p:txBody>
          <a:bodyPr wrap="square" rtlCol="0" anchor="t">
            <a:noAutofit/>
          </a:bodyPr>
          <a:p>
            <a:pPr indent="0" fontAlgn="auto">
              <a:lnSpc>
                <a:spcPct val="150000"/>
              </a:lnSpc>
            </a:pPr>
            <a:r>
              <a:rPr lang="en-US" altLang="zh-CN" sz="2800" b="1" spc="-150" dirty="0">
                <a:solidFill>
                  <a:srgbClr val="003399"/>
                </a:solidFill>
                <a:latin typeface="微软雅黑" panose="020B0503020204020204" charset="-122"/>
                <a:ea typeface="微软雅黑" panose="020B0503020204020204" charset="-122"/>
              </a:rPr>
              <a:t>          </a:t>
            </a:r>
            <a:r>
              <a:rPr lang="zh-CN" altLang="en-US" sz="2800" b="1" spc="-150" dirty="0">
                <a:solidFill>
                  <a:srgbClr val="003399"/>
                </a:solidFill>
                <a:latin typeface="微软雅黑" panose="020B0503020204020204" charset="-122"/>
                <a:ea typeface="微软雅黑" panose="020B0503020204020204" charset="-122"/>
              </a:rPr>
              <a:t>改革清单：</a:t>
            </a:r>
            <a:r>
              <a:rPr lang="zh-CN" altLang="en-US" sz="2800" b="1" spc="-150" dirty="0">
                <a:solidFill>
                  <a:schemeClr val="tx1"/>
                </a:solidFill>
                <a:latin typeface="微软雅黑" panose="020B0503020204020204" charset="-122"/>
                <a:ea typeface="微软雅黑" panose="020B0503020204020204" charset="-122"/>
              </a:rPr>
              <a:t>通过多跨场景综合分析，梳理当前工作中的堵点痛点难点问题，找到最迫切、最重要的改革突破口，形成重大改革事项清单，推动改革可量化、易操作、能落地。</a:t>
            </a:r>
            <a:endParaRPr lang="zh-CN" altLang="en-US" sz="2800" b="1" spc="-150" dirty="0">
              <a:solidFill>
                <a:schemeClr val="tx1"/>
              </a:solidFill>
              <a:latin typeface="微软雅黑" panose="020B0503020204020204" charset="-122"/>
              <a:ea typeface="微软雅黑" panose="020B0503020204020204" charset="-122"/>
            </a:endParaRPr>
          </a:p>
        </p:txBody>
      </p:sp>
      <p:pic>
        <p:nvPicPr>
          <p:cNvPr id="75" name="图片 74"/>
          <p:cNvPicPr>
            <a:picLocks noChangeAspect="1"/>
          </p:cNvPicPr>
          <p:nvPr>
            <p:custDataLst>
              <p:tags r:id="rId8"/>
            </p:custDataLst>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911860" y="2637155"/>
            <a:ext cx="523875" cy="561975"/>
          </a:xfrm>
          <a:prstGeom prst="rect">
            <a:avLst/>
          </a:prstGeom>
        </p:spPr>
      </p:pic>
    </p:spTree>
    <p:custDataLst>
      <p:tags r:id="rId1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4.1 </a:t>
            </a:r>
            <a:r>
              <a:rPr lang="zh-CN" altLang="en-US" sz="2800" b="1" dirty="0">
                <a:solidFill>
                  <a:srgbClr val="0070C0"/>
                </a:solidFill>
                <a:latin typeface="微软雅黑" panose="020B0503020204020204" charset="-122"/>
                <a:ea typeface="微软雅黑" panose="020B0503020204020204" charset="-122"/>
                <a:sym typeface="+mn-ea"/>
              </a:rPr>
              <a:t>改革清单</a:t>
            </a:r>
            <a:r>
              <a:rPr lang="en-US" altLang="zh-CN" sz="2800" b="1" dirty="0">
                <a:solidFill>
                  <a:srgbClr val="0070C0"/>
                </a:solidFill>
                <a:latin typeface="微软雅黑" panose="020B0503020204020204" charset="-122"/>
                <a:ea typeface="微软雅黑" panose="020B0503020204020204" charset="-122"/>
                <a:sym typeface="+mn-ea"/>
              </a:rPr>
              <a:t> </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5"/>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grpSp>
        <p:nvGrpSpPr>
          <p:cNvPr id="9" name="组合 8"/>
          <p:cNvGrpSpPr/>
          <p:nvPr/>
        </p:nvGrpSpPr>
        <p:grpSpPr>
          <a:xfrm>
            <a:off x="1394460" y="2061210"/>
            <a:ext cx="8694420" cy="3671570"/>
            <a:chOff x="1518" y="3246"/>
            <a:chExt cx="13692" cy="5782"/>
          </a:xfrm>
        </p:grpSpPr>
        <p:sp>
          <p:nvSpPr>
            <p:cNvPr id="26" name="文本框 25"/>
            <p:cNvSpPr txBox="1"/>
            <p:nvPr>
              <p:custDataLst>
                <p:tags r:id="rId8"/>
              </p:custDataLst>
            </p:nvPr>
          </p:nvSpPr>
          <p:spPr>
            <a:xfrm>
              <a:off x="1550" y="3263"/>
              <a:ext cx="13660" cy="2518"/>
            </a:xfrm>
            <a:prstGeom prst="roundRect">
              <a:avLst>
                <a:gd name="adj" fmla="val 6043"/>
              </a:avLst>
            </a:prstGeom>
            <a:solidFill>
              <a:srgbClr val="FFFFFF"/>
            </a:solidFill>
            <a:ln w="6350">
              <a:solidFill>
                <a:srgbClr val="DDF0FF">
                  <a:lumMod val="50000"/>
                </a:srgbClr>
              </a:solidFill>
            </a:ln>
            <a:effectLst>
              <a:outerShdw blurRad="50800" dist="38100" dir="2700000" algn="tl" rotWithShape="0">
                <a:prstClr val="black">
                  <a:alpha val="15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1979930" tIns="46990" rIns="0" bIns="46990" numCol="1" spcCol="1270" anchor="ctr" anchorCtr="0">
              <a:noAutofit/>
            </a:bodyPr>
            <a:lstStyle>
              <a:defPPr>
                <a:defRPr lang="en-US"/>
              </a:defPPr>
              <a:lvl1pPr algn="ctr" defTabSz="644525">
                <a:spcBef>
                  <a:spcPct val="0"/>
                </a:spcBef>
                <a:defRPr sz="1050" b="1">
                  <a:solidFill>
                    <a:srgbClr val="12448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多跨场景中的堵点卡点、数据烟囱、政策障碍</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业务流程优化、整合、并联、省略取消环节</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协同业务、共享数据的最优路径</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法规制度的立改废释</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p:txBody>
        </p:sp>
        <p:sp>
          <p:nvSpPr>
            <p:cNvPr id="27" name="文本框 26"/>
            <p:cNvSpPr txBox="1"/>
            <p:nvPr>
              <p:custDataLst>
                <p:tags r:id="rId9"/>
              </p:custDataLst>
            </p:nvPr>
          </p:nvSpPr>
          <p:spPr>
            <a:xfrm>
              <a:off x="1550" y="3246"/>
              <a:ext cx="3035" cy="2494"/>
            </a:xfrm>
            <a:prstGeom prst="roundRect">
              <a:avLst>
                <a:gd name="adj" fmla="val 6043"/>
              </a:avLst>
            </a:prstGeom>
            <a:solidFill>
              <a:srgbClr val="124480">
                <a:lumMod val="40000"/>
                <a:lumOff val="60000"/>
              </a:srgbClr>
            </a:solidFill>
            <a:ln w="19050">
              <a:solidFill>
                <a:srgbClr val="FFFFFF"/>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0" tIns="0" rIns="0" bIns="0" numCol="1" spcCol="1270" anchor="ctr" anchorCtr="0">
              <a:noAutofit/>
            </a:bodyPr>
            <a:lstStyle>
              <a:defPPr>
                <a:defRPr lang="en-US"/>
              </a:defPPr>
              <a:lvl1pPr algn="ctr" defTabSz="644525">
                <a:spcBef>
                  <a:spcPct val="0"/>
                </a:spcBef>
                <a:defRPr sz="900" b="1">
                  <a:solidFill>
                    <a:srgbClr val="00000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Times New Roman" panose="02020603050405020304" pitchFamily="18" charset="0"/>
                </a:rPr>
                <a:t>列出</a:t>
              </a:r>
              <a:endPar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Times New Roman" panose="02020603050405020304" pitchFamily="18" charset="0"/>
                </a:rPr>
                <a:t>改革清单</a:t>
              </a:r>
              <a:endPar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p:txBody>
        </p:sp>
        <p:grpSp>
          <p:nvGrpSpPr>
            <p:cNvPr id="3" name="组合 2"/>
            <p:cNvGrpSpPr/>
            <p:nvPr/>
          </p:nvGrpSpPr>
          <p:grpSpPr>
            <a:xfrm>
              <a:off x="1518" y="6534"/>
              <a:ext cx="13693" cy="2494"/>
              <a:chOff x="6911" y="10145"/>
              <a:chExt cx="10474" cy="2144"/>
            </a:xfrm>
          </p:grpSpPr>
          <p:sp>
            <p:nvSpPr>
              <p:cNvPr id="4" name="文本框 3"/>
              <p:cNvSpPr txBox="1"/>
              <p:nvPr>
                <p:custDataLst>
                  <p:tags r:id="rId10"/>
                </p:custDataLst>
              </p:nvPr>
            </p:nvSpPr>
            <p:spPr>
              <a:xfrm>
                <a:off x="6911" y="10162"/>
                <a:ext cx="10474" cy="2127"/>
              </a:xfrm>
              <a:prstGeom prst="roundRect">
                <a:avLst>
                  <a:gd name="adj" fmla="val 6043"/>
                </a:avLst>
              </a:prstGeom>
              <a:solidFill>
                <a:srgbClr val="FFFFFF"/>
              </a:solidFill>
              <a:ln w="6350">
                <a:solidFill>
                  <a:srgbClr val="DDF0FF">
                    <a:lumMod val="50000"/>
                  </a:srgbClr>
                </a:solidFill>
              </a:ln>
              <a:effectLst>
                <a:outerShdw blurRad="50800" dist="38100" dir="2700000" algn="tl" rotWithShape="0">
                  <a:prstClr val="black">
                    <a:alpha val="15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1871980" tIns="46990" rIns="0" bIns="46990" numCol="1" spcCol="1270" anchor="ctr" anchorCtr="0">
                <a:noAutofit/>
              </a:bodyPr>
              <a:lstStyle>
                <a:defPPr>
                  <a:defRPr lang="en-US"/>
                </a:defPPr>
                <a:lvl1pPr algn="ctr" defTabSz="644525">
                  <a:spcBef>
                    <a:spcPct val="0"/>
                  </a:spcBef>
                  <a:defRPr sz="1050" b="1">
                    <a:solidFill>
                      <a:srgbClr val="12448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业务流程优化、模式重构、制度重塑</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解决部门间的协同难题、市与区县及乡镇贯通问题</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促进党政机关与社会、与企业之间的管理和服务供需匹配</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a:p>
                <a:pPr marL="0" indent="21590" algn="l">
                  <a:lnSpc>
                    <a:spcPct val="110000"/>
                  </a:lnSpc>
                  <a:buFont typeface="Wingdings" panose="05000000000000000000" charset="0"/>
                  <a:buChar char="l"/>
                </a:pPr>
                <a:r>
                  <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rPr>
                  <a:t>降低市场主体之间沟通成本和社会交易成本</a:t>
                </a:r>
                <a:endParaRPr lang="zh-CN" altLang="en-US" sz="2000" dirty="0">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p:txBody>
          </p:sp>
          <p:sp>
            <p:nvSpPr>
              <p:cNvPr id="8" name="文本框 7"/>
              <p:cNvSpPr txBox="1"/>
              <p:nvPr>
                <p:custDataLst>
                  <p:tags r:id="rId11"/>
                </p:custDataLst>
              </p:nvPr>
            </p:nvSpPr>
            <p:spPr>
              <a:xfrm>
                <a:off x="6911" y="10145"/>
                <a:ext cx="2193" cy="2127"/>
              </a:xfrm>
              <a:prstGeom prst="roundRect">
                <a:avLst>
                  <a:gd name="adj" fmla="val 6043"/>
                </a:avLst>
              </a:prstGeom>
              <a:solidFill>
                <a:srgbClr val="124480">
                  <a:lumMod val="40000"/>
                  <a:lumOff val="60000"/>
                </a:srgbClr>
              </a:solidFill>
              <a:ln w="19050">
                <a:solidFill>
                  <a:srgbClr val="FFFFFF"/>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0" tIns="0" rIns="0" bIns="0" numCol="1" spcCol="1270" anchor="ctr" anchorCtr="0">
                <a:noAutofit/>
              </a:bodyPr>
              <a:lstStyle>
                <a:defPPr>
                  <a:defRPr lang="en-US"/>
                </a:defPPr>
                <a:lvl1pPr algn="ctr" defTabSz="644525">
                  <a:spcBef>
                    <a:spcPct val="0"/>
                  </a:spcBef>
                  <a:defRPr sz="900" b="1">
                    <a:solidFill>
                      <a:srgbClr val="00000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Times New Roman" panose="02020603050405020304" pitchFamily="18" charset="0"/>
                  </a:rPr>
                  <a:t>实施一批重大改革</a:t>
                </a:r>
                <a:endPar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Times New Roman" panose="02020603050405020304" pitchFamily="18" charset="0"/>
                </a:endParaRPr>
              </a:p>
            </p:txBody>
          </p:sp>
        </p:grpSp>
      </p:grpSp>
    </p:spTree>
    <p:custDataLst>
      <p:tags r:id="rId1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4.2 外卖在线“三张清单”</a:t>
            </a:r>
            <a:r>
              <a:rPr lang="zh-CN" altLang="en-US" sz="2800" b="1" dirty="0">
                <a:solidFill>
                  <a:srgbClr val="0070C0"/>
                </a:solidFill>
                <a:latin typeface="微软雅黑" panose="020B0503020204020204" charset="-122"/>
                <a:ea typeface="微软雅黑" panose="020B0503020204020204" charset="-122"/>
                <a:sym typeface="+mn-ea"/>
              </a:rPr>
              <a:t>示例</a:t>
            </a:r>
            <a:r>
              <a:rPr lang="en-US" altLang="zh-CN" sz="2800" b="1" dirty="0">
                <a:solidFill>
                  <a:srgbClr val="0070C0"/>
                </a:solidFill>
                <a:latin typeface="微软雅黑" panose="020B0503020204020204" charset="-122"/>
                <a:ea typeface="微软雅黑" panose="020B0503020204020204" charset="-122"/>
                <a:sym typeface="+mn-ea"/>
              </a:rPr>
              <a:t> </a:t>
            </a:r>
            <a:endParaRPr lang="en-US" altLang="zh-CN" sz="2800" b="1" dirty="0">
              <a:solidFill>
                <a:srgbClr val="0070C0"/>
              </a:solidFill>
              <a:latin typeface="微软雅黑" panose="020B0503020204020204" charset="-122"/>
              <a:ea typeface="微软雅黑" panose="020B0503020204020204" charset="-122"/>
              <a:sym typeface="+mn-ea"/>
            </a:endParaRPr>
          </a:p>
        </p:txBody>
      </p:sp>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5"/>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sp>
        <p:nvSpPr>
          <p:cNvPr id="24" name="矩形 23"/>
          <p:cNvSpPr/>
          <p:nvPr>
            <p:custDataLst>
              <p:tags r:id="rId8"/>
            </p:custDataLst>
          </p:nvPr>
        </p:nvSpPr>
        <p:spPr>
          <a:xfrm>
            <a:off x="511810" y="1385570"/>
            <a:ext cx="5052695" cy="46609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zh-CN" altLang="en-US" b="1">
                <a:solidFill>
                  <a:schemeClr val="bg1"/>
                </a:solidFill>
                <a:uFillTx/>
                <a:latin typeface="微软雅黑" panose="020B0503020204020204" charset="-122"/>
                <a:ea typeface="微软雅黑" panose="020B0503020204020204" charset="-122"/>
              </a:rPr>
              <a:t>需求清单（</a:t>
            </a:r>
            <a:r>
              <a:rPr lang="en-US" altLang="zh-CN" b="1">
                <a:solidFill>
                  <a:schemeClr val="bg1"/>
                </a:solidFill>
                <a:uFillTx/>
                <a:latin typeface="微软雅黑" panose="020B0503020204020204" charset="-122"/>
                <a:ea typeface="微软雅黑" panose="020B0503020204020204" charset="-122"/>
              </a:rPr>
              <a:t>17</a:t>
            </a:r>
            <a:r>
              <a:rPr lang="zh-CN" altLang="en-US" b="1">
                <a:solidFill>
                  <a:schemeClr val="bg1"/>
                </a:solidFill>
                <a:uFillTx/>
                <a:latin typeface="微软雅黑" panose="020B0503020204020204" charset="-122"/>
                <a:ea typeface="微软雅黑" panose="020B0503020204020204" charset="-122"/>
              </a:rPr>
              <a:t>项）</a:t>
            </a:r>
            <a:endParaRPr lang="zh-CN" altLang="en-US" b="1">
              <a:solidFill>
                <a:schemeClr val="bg1"/>
              </a:solidFill>
              <a:uFillTx/>
              <a:latin typeface="微软雅黑" panose="020B0503020204020204" charset="-122"/>
              <a:ea typeface="微软雅黑" panose="020B0503020204020204" charset="-122"/>
            </a:endParaRPr>
          </a:p>
        </p:txBody>
      </p:sp>
      <p:sp>
        <p:nvSpPr>
          <p:cNvPr id="25" name="矩形 24"/>
          <p:cNvSpPr/>
          <p:nvPr>
            <p:custDataLst>
              <p:tags r:id="rId9"/>
            </p:custDataLst>
          </p:nvPr>
        </p:nvSpPr>
        <p:spPr>
          <a:xfrm>
            <a:off x="5634355" y="1385570"/>
            <a:ext cx="2414905" cy="46609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zh-CN" altLang="en-US" b="1">
                <a:solidFill>
                  <a:schemeClr val="bg1"/>
                </a:solidFill>
                <a:uFillTx/>
                <a:latin typeface="微软雅黑" panose="020B0503020204020204" charset="-122"/>
                <a:ea typeface="微软雅黑" panose="020B0503020204020204" charset="-122"/>
              </a:rPr>
              <a:t>场景清单（</a:t>
            </a:r>
            <a:r>
              <a:rPr lang="en-US" altLang="zh-CN" b="1">
                <a:solidFill>
                  <a:schemeClr val="bg1"/>
                </a:solidFill>
                <a:uFillTx/>
                <a:latin typeface="微软雅黑" panose="020B0503020204020204" charset="-122"/>
                <a:ea typeface="微软雅黑" panose="020B0503020204020204" charset="-122"/>
              </a:rPr>
              <a:t>30</a:t>
            </a:r>
            <a:r>
              <a:rPr lang="zh-CN" altLang="en-US" b="1">
                <a:solidFill>
                  <a:schemeClr val="bg1"/>
                </a:solidFill>
                <a:uFillTx/>
                <a:latin typeface="微软雅黑" panose="020B0503020204020204" charset="-122"/>
                <a:ea typeface="微软雅黑" panose="020B0503020204020204" charset="-122"/>
              </a:rPr>
              <a:t>项）</a:t>
            </a:r>
            <a:endParaRPr lang="zh-CN" altLang="en-US" b="1">
              <a:solidFill>
                <a:schemeClr val="bg1"/>
              </a:solidFill>
              <a:uFillTx/>
              <a:latin typeface="微软雅黑" panose="020B0503020204020204" charset="-122"/>
              <a:ea typeface="微软雅黑" panose="020B0503020204020204" charset="-122"/>
            </a:endParaRPr>
          </a:p>
        </p:txBody>
      </p:sp>
      <p:sp>
        <p:nvSpPr>
          <p:cNvPr id="2" name="矩形 1"/>
          <p:cNvSpPr/>
          <p:nvPr>
            <p:custDataLst>
              <p:tags r:id="rId10"/>
            </p:custDataLst>
          </p:nvPr>
        </p:nvSpPr>
        <p:spPr>
          <a:xfrm>
            <a:off x="8110855" y="1385570"/>
            <a:ext cx="3778885" cy="46609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zh-CN" altLang="en-US" b="1">
                <a:solidFill>
                  <a:schemeClr val="bg1"/>
                </a:solidFill>
                <a:uFillTx/>
                <a:latin typeface="微软雅黑" panose="020B0503020204020204" charset="-122"/>
                <a:ea typeface="微软雅黑" panose="020B0503020204020204" charset="-122"/>
              </a:rPr>
              <a:t>改革清单（</a:t>
            </a:r>
            <a:r>
              <a:rPr lang="en-US" altLang="zh-CN" b="1">
                <a:solidFill>
                  <a:schemeClr val="bg1"/>
                </a:solidFill>
                <a:uFillTx/>
                <a:latin typeface="微软雅黑" panose="020B0503020204020204" charset="-122"/>
                <a:ea typeface="微软雅黑" panose="020B0503020204020204" charset="-122"/>
              </a:rPr>
              <a:t>7</a:t>
            </a:r>
            <a:r>
              <a:rPr lang="zh-CN" altLang="en-US" b="1">
                <a:solidFill>
                  <a:schemeClr val="bg1"/>
                </a:solidFill>
                <a:uFillTx/>
                <a:latin typeface="微软雅黑" panose="020B0503020204020204" charset="-122"/>
                <a:ea typeface="微软雅黑" panose="020B0503020204020204" charset="-122"/>
              </a:rPr>
              <a:t>项）</a:t>
            </a:r>
            <a:endParaRPr lang="zh-CN" altLang="en-US" b="1">
              <a:solidFill>
                <a:schemeClr val="bg1"/>
              </a:solidFill>
              <a:uFillTx/>
              <a:latin typeface="微软雅黑" panose="020B0503020204020204" charset="-122"/>
              <a:ea typeface="微软雅黑" panose="020B0503020204020204" charset="-122"/>
            </a:endParaRPr>
          </a:p>
        </p:txBody>
      </p:sp>
      <p:sp>
        <p:nvSpPr>
          <p:cNvPr id="11" name="矩形 10"/>
          <p:cNvSpPr/>
          <p:nvPr>
            <p:custDataLst>
              <p:tags r:id="rId11"/>
            </p:custDataLst>
          </p:nvPr>
        </p:nvSpPr>
        <p:spPr>
          <a:xfrm>
            <a:off x="516890" y="1881505"/>
            <a:ext cx="1155065" cy="733425"/>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ctr"/>
            <a:r>
              <a:rPr lang="zh-CN" altLang="en-US" b="1">
                <a:solidFill>
                  <a:srgbClr val="0070C0"/>
                </a:solidFill>
                <a:uFillTx/>
                <a:latin typeface="微软雅黑" panose="020B0503020204020204" charset="-122"/>
                <a:ea typeface="微软雅黑" panose="020B0503020204020204" charset="-122"/>
              </a:rPr>
              <a:t>中央市委</a:t>
            </a:r>
            <a:endParaRPr lang="zh-CN" altLang="en-US" b="1">
              <a:solidFill>
                <a:srgbClr val="0070C0"/>
              </a:solidFill>
              <a:uFillTx/>
              <a:latin typeface="微软雅黑" panose="020B0503020204020204" charset="-122"/>
              <a:ea typeface="微软雅黑" panose="020B0503020204020204" charset="-122"/>
            </a:endParaRPr>
          </a:p>
          <a:p>
            <a:pPr algn="ctr"/>
            <a:r>
              <a:rPr lang="zh-CN" altLang="en-US" b="1">
                <a:solidFill>
                  <a:srgbClr val="0070C0"/>
                </a:solidFill>
                <a:uFillTx/>
                <a:latin typeface="微软雅黑" panose="020B0503020204020204" charset="-122"/>
                <a:ea typeface="微软雅黑" panose="020B0503020204020204" charset="-122"/>
              </a:rPr>
              <a:t>要求</a:t>
            </a:r>
            <a:endParaRPr lang="zh-CN" altLang="en-US" b="1">
              <a:solidFill>
                <a:srgbClr val="0070C0"/>
              </a:solidFill>
              <a:uFillTx/>
              <a:latin typeface="微软雅黑" panose="020B0503020204020204" charset="-122"/>
              <a:ea typeface="微软雅黑" panose="020B0503020204020204" charset="-122"/>
            </a:endParaRPr>
          </a:p>
        </p:txBody>
      </p:sp>
      <p:sp>
        <p:nvSpPr>
          <p:cNvPr id="28" name="矩形 27"/>
          <p:cNvSpPr/>
          <p:nvPr>
            <p:custDataLst>
              <p:tags r:id="rId12"/>
            </p:custDataLst>
          </p:nvPr>
        </p:nvSpPr>
        <p:spPr>
          <a:xfrm>
            <a:off x="1734820" y="1882140"/>
            <a:ext cx="3829050" cy="733425"/>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en-US" altLang="zh-CN" sz="1200">
                <a:solidFill>
                  <a:schemeClr val="tx1"/>
                </a:solidFill>
                <a:uFillTx/>
                <a:latin typeface="微软雅黑" panose="020B0503020204020204" charset="-122"/>
                <a:ea typeface="微软雅黑" panose="020B0503020204020204" charset="-122"/>
              </a:rPr>
              <a:t>1.</a:t>
            </a:r>
            <a:r>
              <a:rPr lang="zh-CN" altLang="en-US" sz="1200">
                <a:solidFill>
                  <a:schemeClr val="tx1"/>
                </a:solidFill>
                <a:uFillTx/>
                <a:latin typeface="微软雅黑" panose="020B0503020204020204" charset="-122"/>
                <a:ea typeface="微软雅黑" panose="020B0503020204020204" charset="-122"/>
              </a:rPr>
              <a:t>落实习近平总书记对食品安全</a:t>
            </a:r>
            <a:r>
              <a:rPr lang="en-US" altLang="zh-CN" sz="1200">
                <a:solidFill>
                  <a:schemeClr val="tx1"/>
                </a:solidFill>
                <a:uFillTx/>
                <a:latin typeface="微软雅黑" panose="020B0503020204020204" charset="-122"/>
                <a:ea typeface="微软雅黑" panose="020B0503020204020204" charset="-122"/>
              </a:rPr>
              <a:t>“</a:t>
            </a:r>
            <a:r>
              <a:rPr lang="zh-CN" altLang="en-US" sz="1200">
                <a:solidFill>
                  <a:schemeClr val="tx1"/>
                </a:solidFill>
                <a:uFillTx/>
                <a:latin typeface="微软雅黑" panose="020B0503020204020204" charset="-122"/>
                <a:ea typeface="微软雅黑" panose="020B0503020204020204" charset="-122"/>
              </a:rPr>
              <a:t>四个最严</a:t>
            </a:r>
            <a:r>
              <a:rPr lang="en-US" altLang="zh-CN" sz="1200">
                <a:solidFill>
                  <a:schemeClr val="tx1"/>
                </a:solidFill>
                <a:uFillTx/>
                <a:latin typeface="微软雅黑" panose="020B0503020204020204" charset="-122"/>
                <a:ea typeface="微软雅黑" panose="020B0503020204020204" charset="-122"/>
              </a:rPr>
              <a:t>”</a:t>
            </a:r>
            <a:r>
              <a:rPr lang="zh-CN" altLang="en-US" sz="1200">
                <a:solidFill>
                  <a:schemeClr val="tx1"/>
                </a:solidFill>
                <a:uFillTx/>
                <a:latin typeface="微软雅黑" panose="020B0503020204020204" charset="-122"/>
                <a:ea typeface="微软雅黑" panose="020B0503020204020204" charset="-122"/>
              </a:rPr>
              <a:t>要求。</a:t>
            </a:r>
            <a:endParaRPr lang="zh-CN" altLang="en-US"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2.</a:t>
            </a:r>
            <a:r>
              <a:rPr lang="zh-CN" altLang="en-US" sz="1200">
                <a:solidFill>
                  <a:schemeClr val="tx1"/>
                </a:solidFill>
                <a:uFillTx/>
                <a:latin typeface="微软雅黑" panose="020B0503020204020204" charset="-122"/>
                <a:ea typeface="微软雅黑" panose="020B0503020204020204" charset="-122"/>
              </a:rPr>
              <a:t>落实中共中央、国务院《关于深化改革加强食品安全工作的意见》和市委、市政府《</a:t>
            </a:r>
            <a:r>
              <a:rPr lang="zh-CN" altLang="en-US" sz="1200">
                <a:solidFill>
                  <a:schemeClr val="tx1"/>
                </a:solidFill>
                <a:uFillTx/>
                <a:latin typeface="微软雅黑" panose="020B0503020204020204" charset="-122"/>
                <a:ea typeface="微软雅黑" panose="020B0503020204020204" charset="-122"/>
                <a:sym typeface="+mn-ea"/>
              </a:rPr>
              <a:t>深化改革加强食品安全工作的若干措施》要求。</a:t>
            </a:r>
            <a:endParaRPr lang="zh-CN" altLang="en-US" sz="1200">
              <a:solidFill>
                <a:schemeClr val="tx1"/>
              </a:solidFill>
              <a:uFillTx/>
              <a:latin typeface="微软雅黑" panose="020B0503020204020204" charset="-122"/>
              <a:ea typeface="微软雅黑" panose="020B0503020204020204" charset="-122"/>
              <a:sym typeface="+mn-ea"/>
            </a:endParaRPr>
          </a:p>
        </p:txBody>
      </p:sp>
      <p:sp>
        <p:nvSpPr>
          <p:cNvPr id="29" name="矩形 28"/>
          <p:cNvSpPr/>
          <p:nvPr>
            <p:custDataLst>
              <p:tags r:id="rId13"/>
            </p:custDataLst>
          </p:nvPr>
        </p:nvSpPr>
        <p:spPr>
          <a:xfrm>
            <a:off x="517525" y="2648585"/>
            <a:ext cx="1155065" cy="1298575"/>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ctr"/>
            <a:r>
              <a:rPr lang="zh-CN" altLang="en-US" b="1">
                <a:solidFill>
                  <a:srgbClr val="0070C0"/>
                </a:solidFill>
                <a:uFillTx/>
                <a:latin typeface="微软雅黑" panose="020B0503020204020204" charset="-122"/>
                <a:ea typeface="微软雅黑" panose="020B0503020204020204" charset="-122"/>
              </a:rPr>
              <a:t>群众高频</a:t>
            </a:r>
            <a:endParaRPr lang="zh-CN" altLang="en-US" b="1">
              <a:solidFill>
                <a:srgbClr val="0070C0"/>
              </a:solidFill>
              <a:uFillTx/>
              <a:latin typeface="微软雅黑" panose="020B0503020204020204" charset="-122"/>
              <a:ea typeface="微软雅黑" panose="020B0503020204020204" charset="-122"/>
            </a:endParaRPr>
          </a:p>
          <a:p>
            <a:pPr algn="ctr"/>
            <a:r>
              <a:rPr lang="zh-CN" altLang="en-US" b="1">
                <a:solidFill>
                  <a:srgbClr val="0070C0"/>
                </a:solidFill>
                <a:uFillTx/>
                <a:latin typeface="微软雅黑" panose="020B0503020204020204" charset="-122"/>
                <a:ea typeface="微软雅黑" panose="020B0503020204020204" charset="-122"/>
              </a:rPr>
              <a:t>需求</a:t>
            </a:r>
            <a:endParaRPr lang="zh-CN" altLang="en-US" b="1">
              <a:solidFill>
                <a:srgbClr val="0070C0"/>
              </a:solidFill>
              <a:uFillTx/>
              <a:latin typeface="微软雅黑" panose="020B0503020204020204" charset="-122"/>
              <a:ea typeface="微软雅黑" panose="020B0503020204020204" charset="-122"/>
            </a:endParaRPr>
          </a:p>
        </p:txBody>
      </p:sp>
      <p:sp>
        <p:nvSpPr>
          <p:cNvPr id="30" name="矩形 29"/>
          <p:cNvSpPr/>
          <p:nvPr>
            <p:custDataLst>
              <p:tags r:id="rId14"/>
            </p:custDataLst>
          </p:nvPr>
        </p:nvSpPr>
        <p:spPr>
          <a:xfrm>
            <a:off x="1734820" y="2648585"/>
            <a:ext cx="3829050" cy="1298575"/>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en-US" altLang="zh-CN" sz="1200">
                <a:solidFill>
                  <a:schemeClr val="tx1"/>
                </a:solidFill>
                <a:latin typeface="微软雅黑" panose="020B0503020204020204" charset="-122"/>
                <a:ea typeface="微软雅黑" panose="020B0503020204020204" charset="-122"/>
              </a:rPr>
              <a:t>1.</a:t>
            </a:r>
            <a:r>
              <a:rPr lang="zh-CN" altLang="en-US" sz="1200">
                <a:solidFill>
                  <a:schemeClr val="tx1"/>
                </a:solidFill>
                <a:latin typeface="微软雅黑" panose="020B0503020204020204" charset="-122"/>
                <a:ea typeface="微软雅黑" panose="020B0503020204020204" charset="-122"/>
              </a:rPr>
              <a:t>网络餐饮存在证照、人员不规范等问题，需要全面加强商家管理。</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2.</a:t>
            </a:r>
            <a:r>
              <a:rPr lang="zh-CN" altLang="en-US" sz="1200">
                <a:solidFill>
                  <a:schemeClr val="tx1"/>
                </a:solidFill>
                <a:latin typeface="微软雅黑" panose="020B0503020204020204" charset="-122"/>
                <a:ea typeface="微软雅黑" panose="020B0503020204020204" charset="-122"/>
              </a:rPr>
              <a:t>网络餐饮后厨隐蔽，食品安全存在隐患。</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3.</a:t>
            </a:r>
            <a:r>
              <a:rPr lang="zh-CN" altLang="en-US" sz="1200">
                <a:solidFill>
                  <a:schemeClr val="tx1"/>
                </a:solidFill>
                <a:latin typeface="微软雅黑" panose="020B0503020204020204" charset="-122"/>
                <a:ea typeface="微软雅黑" panose="020B0503020204020204" charset="-122"/>
              </a:rPr>
              <a:t>网络餐饮食品在配送过程中存在二次污染，需要全面加强配送管理。</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4.</a:t>
            </a:r>
            <a:r>
              <a:rPr lang="zh-CN" altLang="en-US" sz="1200">
                <a:solidFill>
                  <a:schemeClr val="tx1"/>
                </a:solidFill>
                <a:latin typeface="微软雅黑" panose="020B0503020204020204" charset="-122"/>
                <a:ea typeface="微软雅黑" panose="020B0503020204020204" charset="-122"/>
              </a:rPr>
              <a:t>骑手用工、参保情况复杂，骑手权益得不到有效保障。</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5.</a:t>
            </a:r>
            <a:r>
              <a:rPr lang="zh-CN" altLang="en-US" sz="1200">
                <a:solidFill>
                  <a:schemeClr val="tx1"/>
                </a:solidFill>
                <a:latin typeface="微软雅黑" panose="020B0503020204020204" charset="-122"/>
                <a:ea typeface="微软雅黑" panose="020B0503020204020204" charset="-122"/>
              </a:rPr>
              <a:t>骑手边骑行边接单，交通隐患大，事故频发。</a:t>
            </a:r>
            <a:endParaRPr lang="zh-CN" altLang="en-US" sz="1200">
              <a:solidFill>
                <a:schemeClr val="tx1"/>
              </a:solidFill>
              <a:latin typeface="微软雅黑" panose="020B0503020204020204" charset="-122"/>
              <a:ea typeface="微软雅黑" panose="020B0503020204020204" charset="-122"/>
            </a:endParaRPr>
          </a:p>
        </p:txBody>
      </p:sp>
      <p:sp>
        <p:nvSpPr>
          <p:cNvPr id="31" name="矩形 30"/>
          <p:cNvSpPr/>
          <p:nvPr>
            <p:custDataLst>
              <p:tags r:id="rId15"/>
            </p:custDataLst>
          </p:nvPr>
        </p:nvSpPr>
        <p:spPr>
          <a:xfrm>
            <a:off x="516890" y="3987165"/>
            <a:ext cx="1155065" cy="64516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ctr"/>
            <a:r>
              <a:rPr lang="zh-CN" altLang="en-US" b="1">
                <a:solidFill>
                  <a:srgbClr val="0070C0"/>
                </a:solidFill>
                <a:uFillTx/>
                <a:latin typeface="微软雅黑" panose="020B0503020204020204" charset="-122"/>
                <a:ea typeface="微软雅黑" panose="020B0503020204020204" charset="-122"/>
              </a:rPr>
              <a:t>企业共性</a:t>
            </a:r>
            <a:endParaRPr lang="zh-CN" altLang="en-US" b="1">
              <a:solidFill>
                <a:srgbClr val="0070C0"/>
              </a:solidFill>
              <a:uFillTx/>
              <a:latin typeface="微软雅黑" panose="020B0503020204020204" charset="-122"/>
              <a:ea typeface="微软雅黑" panose="020B0503020204020204" charset="-122"/>
            </a:endParaRPr>
          </a:p>
          <a:p>
            <a:pPr algn="ctr"/>
            <a:r>
              <a:rPr lang="zh-CN" altLang="en-US" b="1">
                <a:solidFill>
                  <a:srgbClr val="0070C0"/>
                </a:solidFill>
                <a:uFillTx/>
                <a:latin typeface="微软雅黑" panose="020B0503020204020204" charset="-122"/>
                <a:ea typeface="微软雅黑" panose="020B0503020204020204" charset="-122"/>
              </a:rPr>
              <a:t>需求</a:t>
            </a:r>
            <a:endParaRPr lang="zh-CN" altLang="en-US" b="1">
              <a:solidFill>
                <a:srgbClr val="0070C0"/>
              </a:solidFill>
              <a:uFillTx/>
              <a:latin typeface="微软雅黑" panose="020B0503020204020204" charset="-122"/>
              <a:ea typeface="微软雅黑" panose="020B0503020204020204" charset="-122"/>
            </a:endParaRPr>
          </a:p>
        </p:txBody>
      </p:sp>
      <p:sp>
        <p:nvSpPr>
          <p:cNvPr id="32" name="矩形 31"/>
          <p:cNvSpPr/>
          <p:nvPr>
            <p:custDataLst>
              <p:tags r:id="rId16"/>
            </p:custDataLst>
          </p:nvPr>
        </p:nvSpPr>
        <p:spPr>
          <a:xfrm>
            <a:off x="1734820" y="3987165"/>
            <a:ext cx="3829050" cy="64516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en-US" altLang="zh-CN" sz="1200">
                <a:solidFill>
                  <a:schemeClr val="tx1"/>
                </a:solidFill>
                <a:latin typeface="微软雅黑" panose="020B0503020204020204" charset="-122"/>
                <a:ea typeface="微软雅黑" panose="020B0503020204020204" charset="-122"/>
              </a:rPr>
              <a:t>1.</a:t>
            </a:r>
            <a:r>
              <a:rPr lang="zh-CN" altLang="en-US" sz="1200">
                <a:solidFill>
                  <a:schemeClr val="tx1"/>
                </a:solidFill>
                <a:latin typeface="微软雅黑" panose="020B0503020204020204" charset="-122"/>
                <a:ea typeface="微软雅黑" panose="020B0503020204020204" charset="-122"/>
              </a:rPr>
              <a:t>平台对入网商户资质识别、校验的需求。</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2.</a:t>
            </a:r>
            <a:r>
              <a:rPr lang="zh-CN" altLang="en-US" sz="1200">
                <a:solidFill>
                  <a:schemeClr val="tx1"/>
                </a:solidFill>
                <a:latin typeface="微软雅黑" panose="020B0503020204020204" charset="-122"/>
                <a:ea typeface="微软雅黑" panose="020B0503020204020204" charset="-122"/>
              </a:rPr>
              <a:t>商家对提升食品安全自我管理能力的需要。</a:t>
            </a:r>
            <a:endParaRPr lang="zh-CN" altLang="en-US" sz="1200">
              <a:solidFill>
                <a:schemeClr val="tx1"/>
              </a:solidFill>
              <a:latin typeface="微软雅黑" panose="020B0503020204020204" charset="-122"/>
              <a:ea typeface="微软雅黑" panose="020B0503020204020204" charset="-122"/>
            </a:endParaRPr>
          </a:p>
        </p:txBody>
      </p:sp>
      <p:sp>
        <p:nvSpPr>
          <p:cNvPr id="33" name="矩形 32"/>
          <p:cNvSpPr/>
          <p:nvPr>
            <p:custDataLst>
              <p:tags r:id="rId17"/>
            </p:custDataLst>
          </p:nvPr>
        </p:nvSpPr>
        <p:spPr>
          <a:xfrm>
            <a:off x="520065" y="4678680"/>
            <a:ext cx="1155065" cy="74041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ctr"/>
            <a:r>
              <a:rPr lang="zh-CN" altLang="en-US" sz="1600" b="1">
                <a:solidFill>
                  <a:srgbClr val="0070C0"/>
                </a:solidFill>
                <a:uFillTx/>
                <a:latin typeface="微软雅黑" panose="020B0503020204020204" charset="-122"/>
                <a:ea typeface="微软雅黑" panose="020B0503020204020204" charset="-122"/>
              </a:rPr>
              <a:t>防范化解</a:t>
            </a:r>
            <a:endParaRPr lang="zh-CN" altLang="en-US" sz="1600" b="1">
              <a:solidFill>
                <a:srgbClr val="0070C0"/>
              </a:solidFill>
              <a:uFillTx/>
              <a:latin typeface="微软雅黑" panose="020B0503020204020204" charset="-122"/>
              <a:ea typeface="微软雅黑" panose="020B0503020204020204" charset="-122"/>
            </a:endParaRPr>
          </a:p>
          <a:p>
            <a:pPr algn="ctr"/>
            <a:r>
              <a:rPr lang="zh-CN" altLang="en-US" sz="1600" b="1">
                <a:solidFill>
                  <a:srgbClr val="0070C0"/>
                </a:solidFill>
                <a:uFillTx/>
                <a:latin typeface="微软雅黑" panose="020B0503020204020204" charset="-122"/>
                <a:ea typeface="微软雅黑" panose="020B0503020204020204" charset="-122"/>
              </a:rPr>
              <a:t>重大风险</a:t>
            </a:r>
            <a:endParaRPr lang="zh-CN" altLang="en-US" sz="1600" b="1">
              <a:solidFill>
                <a:srgbClr val="0070C0"/>
              </a:solidFill>
              <a:uFillTx/>
              <a:latin typeface="微软雅黑" panose="020B0503020204020204" charset="-122"/>
              <a:ea typeface="微软雅黑" panose="020B0503020204020204" charset="-122"/>
            </a:endParaRPr>
          </a:p>
        </p:txBody>
      </p:sp>
      <p:sp>
        <p:nvSpPr>
          <p:cNvPr id="34" name="矩形 33"/>
          <p:cNvSpPr/>
          <p:nvPr>
            <p:custDataLst>
              <p:tags r:id="rId18"/>
            </p:custDataLst>
          </p:nvPr>
        </p:nvSpPr>
        <p:spPr>
          <a:xfrm>
            <a:off x="1734820" y="4678680"/>
            <a:ext cx="3829050" cy="74041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en-US" altLang="zh-CN" sz="1200">
                <a:solidFill>
                  <a:schemeClr val="tx1"/>
                </a:solidFill>
                <a:latin typeface="微软雅黑" panose="020B0503020204020204" charset="-122"/>
                <a:ea typeface="微软雅黑" panose="020B0503020204020204" charset="-122"/>
              </a:rPr>
              <a:t>1.</a:t>
            </a:r>
            <a:r>
              <a:rPr lang="zh-CN" altLang="en-US" sz="1200">
                <a:solidFill>
                  <a:schemeClr val="tx1"/>
                </a:solidFill>
                <a:latin typeface="微软雅黑" panose="020B0503020204020204" charset="-122"/>
                <a:ea typeface="微软雅黑" panose="020B0503020204020204" charset="-122"/>
              </a:rPr>
              <a:t>防范化解网络订餐平台经济风险。</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2.</a:t>
            </a:r>
            <a:r>
              <a:rPr lang="zh-CN" altLang="en-US" sz="1200">
                <a:solidFill>
                  <a:schemeClr val="tx1"/>
                </a:solidFill>
                <a:latin typeface="微软雅黑" panose="020B0503020204020204" charset="-122"/>
                <a:ea typeface="微软雅黑" panose="020B0503020204020204" charset="-122"/>
              </a:rPr>
              <a:t>防范化解网络餐饮的食品安全风险。</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3.</a:t>
            </a:r>
            <a:r>
              <a:rPr lang="zh-CN" altLang="en-US" sz="1200">
                <a:solidFill>
                  <a:schemeClr val="tx1"/>
                </a:solidFill>
                <a:latin typeface="微软雅黑" panose="020B0503020204020204" charset="-122"/>
                <a:ea typeface="微软雅黑" panose="020B0503020204020204" charset="-122"/>
              </a:rPr>
              <a:t>防范化解骑手权益引发的社会风险。</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4.</a:t>
            </a:r>
            <a:r>
              <a:rPr lang="zh-CN" altLang="en-US" sz="1200">
                <a:solidFill>
                  <a:schemeClr val="tx1"/>
                </a:solidFill>
                <a:latin typeface="微软雅黑" panose="020B0503020204020204" charset="-122"/>
                <a:ea typeface="微软雅黑" panose="020B0503020204020204" charset="-122"/>
              </a:rPr>
              <a:t>防范化解交通事故引发的交通安全风险。</a:t>
            </a:r>
            <a:endParaRPr lang="zh-CN" altLang="en-US" sz="1200">
              <a:solidFill>
                <a:schemeClr val="tx1"/>
              </a:solidFill>
              <a:latin typeface="微软雅黑" panose="020B0503020204020204" charset="-122"/>
              <a:ea typeface="微软雅黑" panose="020B0503020204020204" charset="-122"/>
            </a:endParaRPr>
          </a:p>
        </p:txBody>
      </p:sp>
      <p:sp>
        <p:nvSpPr>
          <p:cNvPr id="35" name="矩形 34"/>
          <p:cNvSpPr/>
          <p:nvPr>
            <p:custDataLst>
              <p:tags r:id="rId19"/>
            </p:custDataLst>
          </p:nvPr>
        </p:nvSpPr>
        <p:spPr>
          <a:xfrm>
            <a:off x="519430" y="5461000"/>
            <a:ext cx="1155700" cy="61595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ctr"/>
            <a:r>
              <a:rPr lang="zh-CN" altLang="en-US" sz="1400" b="1">
                <a:solidFill>
                  <a:srgbClr val="0070C0"/>
                </a:solidFill>
                <a:uFillTx/>
                <a:latin typeface="微软雅黑" panose="020B0503020204020204" charset="-122"/>
                <a:ea typeface="微软雅黑" panose="020B0503020204020204" charset="-122"/>
              </a:rPr>
              <a:t>推动治理能力和治理体系现代化</a:t>
            </a:r>
            <a:endParaRPr lang="zh-CN" altLang="en-US" sz="1400" b="1">
              <a:solidFill>
                <a:srgbClr val="0070C0"/>
              </a:solidFill>
              <a:uFillTx/>
              <a:latin typeface="微软雅黑" panose="020B0503020204020204" charset="-122"/>
              <a:ea typeface="微软雅黑" panose="020B0503020204020204" charset="-122"/>
            </a:endParaRPr>
          </a:p>
        </p:txBody>
      </p:sp>
      <p:sp>
        <p:nvSpPr>
          <p:cNvPr id="36" name="矩形 35"/>
          <p:cNvSpPr/>
          <p:nvPr>
            <p:custDataLst>
              <p:tags r:id="rId20"/>
            </p:custDataLst>
          </p:nvPr>
        </p:nvSpPr>
        <p:spPr>
          <a:xfrm>
            <a:off x="1734820" y="5461000"/>
            <a:ext cx="3829050" cy="61595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en-US" sz="1200">
                <a:solidFill>
                  <a:schemeClr val="tx1"/>
                </a:solidFill>
                <a:latin typeface="微软雅黑" panose="020B0503020204020204" charset="-122"/>
                <a:ea typeface="微软雅黑" panose="020B0503020204020204" charset="-122"/>
              </a:rPr>
              <a:t>1.</a:t>
            </a:r>
            <a:r>
              <a:rPr lang="zh-CN" altLang="en-US" sz="1200">
                <a:solidFill>
                  <a:schemeClr val="tx1"/>
                </a:solidFill>
                <a:latin typeface="微软雅黑" panose="020B0503020204020204" charset="-122"/>
                <a:ea typeface="微软雅黑" panose="020B0503020204020204" charset="-122"/>
              </a:rPr>
              <a:t>线上线下一体化监管模式。</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2.</a:t>
            </a:r>
            <a:r>
              <a:rPr lang="zh-CN" altLang="en-US" sz="1200">
                <a:solidFill>
                  <a:schemeClr val="tx1"/>
                </a:solidFill>
                <a:latin typeface="微软雅黑" panose="020B0503020204020204" charset="-122"/>
                <a:ea typeface="微软雅黑" panose="020B0503020204020204" charset="-122"/>
              </a:rPr>
              <a:t>多业务、多部门集成的多跨协同治理模式</a:t>
            </a:r>
            <a:endParaRPr lang="zh-CN" altLang="en-US" sz="1200">
              <a:solidFill>
                <a:schemeClr val="tx1"/>
              </a:solidFill>
              <a:latin typeface="微软雅黑" panose="020B0503020204020204" charset="-122"/>
              <a:ea typeface="微软雅黑" panose="020B0503020204020204" charset="-122"/>
            </a:endParaRPr>
          </a:p>
          <a:p>
            <a:pPr algn="l"/>
            <a:r>
              <a:rPr lang="en-US" altLang="zh-CN" sz="1200">
                <a:solidFill>
                  <a:schemeClr val="tx1"/>
                </a:solidFill>
                <a:latin typeface="微软雅黑" panose="020B0503020204020204" charset="-122"/>
                <a:ea typeface="微软雅黑" panose="020B0503020204020204" charset="-122"/>
              </a:rPr>
              <a:t>3.</a:t>
            </a:r>
            <a:r>
              <a:rPr lang="zh-CN" altLang="en-US" sz="1200">
                <a:solidFill>
                  <a:schemeClr val="tx1"/>
                </a:solidFill>
                <a:latin typeface="微软雅黑" panose="020B0503020204020204" charset="-122"/>
                <a:ea typeface="微软雅黑" panose="020B0503020204020204" charset="-122"/>
              </a:rPr>
              <a:t>政企协同治理模式。</a:t>
            </a:r>
            <a:endParaRPr lang="zh-CN" altLang="en-US" sz="1200">
              <a:solidFill>
                <a:schemeClr val="tx1"/>
              </a:solidFill>
              <a:latin typeface="微软雅黑" panose="020B0503020204020204" charset="-122"/>
              <a:ea typeface="微软雅黑" panose="020B0503020204020204" charset="-122"/>
            </a:endParaRPr>
          </a:p>
        </p:txBody>
      </p:sp>
      <p:sp>
        <p:nvSpPr>
          <p:cNvPr id="37" name="矩形 36"/>
          <p:cNvSpPr/>
          <p:nvPr>
            <p:custDataLst>
              <p:tags r:id="rId21"/>
            </p:custDataLst>
          </p:nvPr>
        </p:nvSpPr>
        <p:spPr>
          <a:xfrm>
            <a:off x="5634990" y="1879600"/>
            <a:ext cx="1015365" cy="479171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zh-CN" altLang="en-US" sz="1600" b="1">
                <a:solidFill>
                  <a:schemeClr val="tx1"/>
                </a:solidFill>
                <a:latin typeface="微软雅黑" panose="020B0503020204020204" charset="-122"/>
                <a:ea typeface="微软雅黑" panose="020B0503020204020204" charset="-122"/>
              </a:rPr>
              <a:t>一级场景</a:t>
            </a:r>
            <a:endParaRPr lang="zh-CN" altLang="en-US" sz="1600" b="1">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1.“</a:t>
            </a:r>
            <a:r>
              <a:rPr lang="zh-CN" altLang="en-US" sz="1400">
                <a:solidFill>
                  <a:schemeClr val="tx1"/>
                </a:solidFill>
                <a:latin typeface="微软雅黑" panose="020B0503020204020204" charset="-122"/>
                <a:ea typeface="微软雅黑" panose="020B0503020204020204" charset="-122"/>
              </a:rPr>
              <a:t>平台管理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2.“</a:t>
            </a:r>
            <a:r>
              <a:rPr lang="zh-CN" altLang="en-US" sz="1400">
                <a:solidFill>
                  <a:schemeClr val="tx1"/>
                </a:solidFill>
                <a:latin typeface="微软雅黑" panose="020B0503020204020204" charset="-122"/>
                <a:ea typeface="微软雅黑" panose="020B0503020204020204" charset="-122"/>
              </a:rPr>
              <a:t>商家管理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3.“</a:t>
            </a:r>
            <a:r>
              <a:rPr lang="zh-CN" altLang="en-US" sz="1400">
                <a:solidFill>
                  <a:schemeClr val="tx1"/>
                </a:solidFill>
                <a:latin typeface="微软雅黑" panose="020B0503020204020204" charset="-122"/>
                <a:ea typeface="微软雅黑" panose="020B0503020204020204" charset="-122"/>
              </a:rPr>
              <a:t>厨房管理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4.“</a:t>
            </a:r>
            <a:r>
              <a:rPr lang="zh-CN" altLang="en-US" sz="1400">
                <a:solidFill>
                  <a:schemeClr val="tx1"/>
                </a:solidFill>
                <a:latin typeface="微软雅黑" panose="020B0503020204020204" charset="-122"/>
                <a:ea typeface="微软雅黑" panose="020B0503020204020204" charset="-122"/>
              </a:rPr>
              <a:t>配送管理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5.“</a:t>
            </a:r>
            <a:r>
              <a:rPr lang="zh-CN" altLang="en-US" sz="1400">
                <a:solidFill>
                  <a:schemeClr val="tx1"/>
                </a:solidFill>
                <a:latin typeface="微软雅黑" panose="020B0503020204020204" charset="-122"/>
                <a:ea typeface="微软雅黑" panose="020B0503020204020204" charset="-122"/>
              </a:rPr>
              <a:t>消费管理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6.“</a:t>
            </a:r>
            <a:r>
              <a:rPr lang="zh-CN" altLang="en-US" sz="1400">
                <a:solidFill>
                  <a:schemeClr val="tx1"/>
                </a:solidFill>
                <a:latin typeface="微软雅黑" panose="020B0503020204020204" charset="-122"/>
                <a:ea typeface="微软雅黑" panose="020B0503020204020204" charset="-122"/>
              </a:rPr>
              <a:t>骑手管理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a:p>
            <a:pPr algn="l"/>
            <a:r>
              <a:rPr lang="en-US" altLang="zh-CN" sz="1400">
                <a:solidFill>
                  <a:schemeClr val="tx1"/>
                </a:solidFill>
                <a:latin typeface="微软雅黑" panose="020B0503020204020204" charset="-122"/>
                <a:ea typeface="微软雅黑" panose="020B0503020204020204" charset="-122"/>
              </a:rPr>
              <a:t>7.“</a:t>
            </a:r>
            <a:r>
              <a:rPr lang="zh-CN" altLang="en-US" sz="1400">
                <a:solidFill>
                  <a:schemeClr val="tx1"/>
                </a:solidFill>
                <a:latin typeface="微软雅黑" panose="020B0503020204020204" charset="-122"/>
                <a:ea typeface="微软雅黑" panose="020B0503020204020204" charset="-122"/>
              </a:rPr>
              <a:t>办案管理</a:t>
            </a: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p:txBody>
      </p:sp>
      <p:sp>
        <p:nvSpPr>
          <p:cNvPr id="38" name="矩形 37"/>
          <p:cNvSpPr/>
          <p:nvPr>
            <p:custDataLst>
              <p:tags r:id="rId22"/>
            </p:custDataLst>
          </p:nvPr>
        </p:nvSpPr>
        <p:spPr>
          <a:xfrm>
            <a:off x="6702425" y="1879600"/>
            <a:ext cx="1348105" cy="479171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zh-CN" altLang="en-US" sz="1400" b="1">
                <a:solidFill>
                  <a:schemeClr val="tx1"/>
                </a:solidFill>
                <a:uFillTx/>
                <a:latin typeface="微软雅黑" panose="020B0503020204020204" charset="-122"/>
                <a:ea typeface="微软雅黑" panose="020B0503020204020204" charset="-122"/>
              </a:rPr>
              <a:t>二级场景</a:t>
            </a:r>
            <a:endParaRPr lang="zh-CN" altLang="en-US" sz="1400" b="1">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a:t>
            </a:r>
            <a:r>
              <a:rPr lang="zh-CN" altLang="en-US" sz="1200">
                <a:solidFill>
                  <a:schemeClr val="tx1"/>
                </a:solidFill>
                <a:uFillTx/>
                <a:latin typeface="微软雅黑" panose="020B0503020204020204" charset="-122"/>
                <a:ea typeface="微软雅黑" panose="020B0503020204020204" charset="-122"/>
              </a:rPr>
              <a:t>平台画像</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2.“</a:t>
            </a:r>
            <a:r>
              <a:rPr lang="zh-CN" altLang="en-US" sz="1200">
                <a:solidFill>
                  <a:schemeClr val="tx1"/>
                </a:solidFill>
                <a:uFillTx/>
                <a:latin typeface="微软雅黑" panose="020B0503020204020204" charset="-122"/>
                <a:ea typeface="微软雅黑" panose="020B0503020204020204" charset="-122"/>
              </a:rPr>
              <a:t>合规经营</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3.“</a:t>
            </a:r>
            <a:r>
              <a:rPr lang="zh-CN" altLang="en-US" sz="1200">
                <a:solidFill>
                  <a:schemeClr val="tx1"/>
                </a:solidFill>
                <a:uFillTx/>
                <a:latin typeface="微软雅黑" panose="020B0503020204020204" charset="-122"/>
                <a:ea typeface="微软雅黑" panose="020B0503020204020204" charset="-122"/>
              </a:rPr>
              <a:t>主体责任</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4.“</a:t>
            </a:r>
            <a:r>
              <a:rPr lang="zh-CN" altLang="en-US" sz="1200">
                <a:solidFill>
                  <a:schemeClr val="tx1"/>
                </a:solidFill>
                <a:uFillTx/>
                <a:latin typeface="微软雅黑" panose="020B0503020204020204" charset="-122"/>
                <a:ea typeface="微软雅黑" panose="020B0503020204020204" charset="-122"/>
              </a:rPr>
              <a:t>政企协同</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5.“</a:t>
            </a:r>
            <a:r>
              <a:rPr lang="zh-CN" altLang="en-US" sz="1200">
                <a:solidFill>
                  <a:schemeClr val="tx1"/>
                </a:solidFill>
                <a:uFillTx/>
                <a:latin typeface="微软雅黑" panose="020B0503020204020204" charset="-122"/>
                <a:ea typeface="微软雅黑" panose="020B0503020204020204" charset="-122"/>
              </a:rPr>
              <a:t>法人代表管理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6.“</a:t>
            </a:r>
            <a:r>
              <a:rPr lang="zh-CN" altLang="en-US" sz="1200">
                <a:solidFill>
                  <a:schemeClr val="tx1"/>
                </a:solidFill>
                <a:uFillTx/>
                <a:latin typeface="微软雅黑" panose="020B0503020204020204" charset="-122"/>
                <a:ea typeface="微软雅黑" panose="020B0503020204020204" charset="-122"/>
              </a:rPr>
              <a:t>从业人员管理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7.“</a:t>
            </a:r>
            <a:r>
              <a:rPr lang="zh-CN" altLang="en-US" sz="1200">
                <a:solidFill>
                  <a:schemeClr val="tx1"/>
                </a:solidFill>
                <a:uFillTx/>
                <a:latin typeface="微软雅黑" panose="020B0503020204020204" charset="-122"/>
                <a:ea typeface="微软雅黑" panose="020B0503020204020204" charset="-122"/>
              </a:rPr>
              <a:t>准入管理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8.“</a:t>
            </a:r>
            <a:r>
              <a:rPr lang="zh-CN" altLang="en-US" sz="1200">
                <a:solidFill>
                  <a:schemeClr val="tx1"/>
                </a:solidFill>
                <a:uFillTx/>
                <a:latin typeface="微软雅黑" panose="020B0503020204020204" charset="-122"/>
                <a:ea typeface="微软雅黑" panose="020B0503020204020204" charset="-122"/>
              </a:rPr>
              <a:t>信用管理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9.“</a:t>
            </a:r>
            <a:r>
              <a:rPr lang="zh-CN" altLang="en-US" sz="1200">
                <a:solidFill>
                  <a:schemeClr val="tx1"/>
                </a:solidFill>
                <a:uFillTx/>
                <a:latin typeface="微软雅黑" panose="020B0503020204020204" charset="-122"/>
                <a:ea typeface="微软雅黑" panose="020B0503020204020204" charset="-122"/>
              </a:rPr>
              <a:t>现场检查</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10.“</a:t>
            </a:r>
            <a:r>
              <a:rPr lang="zh-CN" altLang="en-US" sz="1200">
                <a:solidFill>
                  <a:schemeClr val="tx1"/>
                </a:solidFill>
                <a:uFillTx/>
                <a:latin typeface="微软雅黑" panose="020B0503020204020204" charset="-122"/>
                <a:ea typeface="微软雅黑" panose="020B0503020204020204" charset="-122"/>
              </a:rPr>
              <a:t>设施环境</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11.“</a:t>
            </a:r>
            <a:r>
              <a:rPr lang="zh-CN" altLang="en-US" sz="1200">
                <a:solidFill>
                  <a:schemeClr val="tx1"/>
                </a:solidFill>
                <a:uFillTx/>
                <a:latin typeface="微软雅黑" panose="020B0503020204020204" charset="-122"/>
                <a:ea typeface="微软雅黑" panose="020B0503020204020204" charset="-122"/>
              </a:rPr>
              <a:t>食材管理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12.“</a:t>
            </a:r>
            <a:r>
              <a:rPr lang="zh-CN" altLang="en-US" sz="1200">
                <a:solidFill>
                  <a:schemeClr val="tx1"/>
                </a:solidFill>
                <a:uFillTx/>
                <a:latin typeface="微软雅黑" panose="020B0503020204020204" charset="-122"/>
                <a:ea typeface="微软雅黑" panose="020B0503020204020204" charset="-122"/>
              </a:rPr>
              <a:t>后厨阳光</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13.“</a:t>
            </a:r>
            <a:r>
              <a:rPr lang="zh-CN" altLang="en-US" sz="1200">
                <a:solidFill>
                  <a:schemeClr val="tx1"/>
                </a:solidFill>
                <a:uFillTx/>
                <a:latin typeface="微软雅黑" panose="020B0503020204020204" charset="-122"/>
                <a:ea typeface="微软雅黑" panose="020B0503020204020204" charset="-122"/>
              </a:rPr>
              <a:t>餐具管理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14.“</a:t>
            </a:r>
            <a:r>
              <a:rPr lang="zh-CN" altLang="en-US" sz="1200">
                <a:solidFill>
                  <a:schemeClr val="tx1"/>
                </a:solidFill>
                <a:uFillTx/>
                <a:latin typeface="微软雅黑" panose="020B0503020204020204" charset="-122"/>
                <a:ea typeface="微软雅黑" panose="020B0503020204020204" charset="-122"/>
              </a:rPr>
              <a:t>封签管理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15.“</a:t>
            </a:r>
            <a:r>
              <a:rPr lang="zh-CN" altLang="en-US" sz="1200">
                <a:solidFill>
                  <a:schemeClr val="tx1"/>
                </a:solidFill>
                <a:uFillTx/>
                <a:latin typeface="微软雅黑" panose="020B0503020204020204" charset="-122"/>
                <a:ea typeface="微软雅黑" panose="020B0503020204020204" charset="-122"/>
              </a:rPr>
              <a:t>限塑管理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16.“</a:t>
            </a:r>
            <a:r>
              <a:rPr lang="zh-CN" altLang="en-US" sz="1200">
                <a:solidFill>
                  <a:schemeClr val="tx1"/>
                </a:solidFill>
                <a:uFillTx/>
                <a:latin typeface="微软雅黑" panose="020B0503020204020204" charset="-122"/>
                <a:ea typeface="微软雅黑" panose="020B0503020204020204" charset="-122"/>
              </a:rPr>
              <a:t>消费投诉</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17.“</a:t>
            </a:r>
            <a:r>
              <a:rPr lang="zh-CN" altLang="en-US" sz="1200">
                <a:solidFill>
                  <a:schemeClr val="tx1"/>
                </a:solidFill>
                <a:uFillTx/>
                <a:latin typeface="微软雅黑" panose="020B0503020204020204" charset="-122"/>
                <a:ea typeface="微软雅黑" panose="020B0503020204020204" charset="-122"/>
              </a:rPr>
              <a:t>节约消费</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18.“</a:t>
            </a:r>
            <a:r>
              <a:rPr lang="zh-CN" altLang="en-US" sz="1200">
                <a:solidFill>
                  <a:schemeClr val="tx1"/>
                </a:solidFill>
                <a:uFillTx/>
                <a:latin typeface="微软雅黑" panose="020B0503020204020204" charset="-122"/>
                <a:ea typeface="微软雅黑" panose="020B0503020204020204" charset="-122"/>
              </a:rPr>
              <a:t>放心消费</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19.“</a:t>
            </a:r>
            <a:r>
              <a:rPr lang="zh-CN" altLang="en-US" sz="1200">
                <a:solidFill>
                  <a:schemeClr val="tx1"/>
                </a:solidFill>
                <a:uFillTx/>
                <a:latin typeface="微软雅黑" panose="020B0503020204020204" charset="-122"/>
                <a:ea typeface="微软雅黑" panose="020B0503020204020204" charset="-122"/>
              </a:rPr>
              <a:t>消费警示</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20.“</a:t>
            </a:r>
            <a:r>
              <a:rPr lang="zh-CN" altLang="en-US" sz="1200">
                <a:solidFill>
                  <a:schemeClr val="tx1"/>
                </a:solidFill>
                <a:uFillTx/>
                <a:latin typeface="微软雅黑" panose="020B0503020204020204" charset="-122"/>
                <a:ea typeface="微软雅黑" panose="020B0503020204020204" charset="-122"/>
              </a:rPr>
              <a:t>人事管理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21.“</a:t>
            </a:r>
            <a:r>
              <a:rPr lang="zh-CN" altLang="en-US" sz="1200">
                <a:solidFill>
                  <a:schemeClr val="tx1"/>
                </a:solidFill>
                <a:uFillTx/>
                <a:latin typeface="微软雅黑" panose="020B0503020204020204" charset="-122"/>
                <a:ea typeface="微软雅黑" panose="020B0503020204020204" charset="-122"/>
              </a:rPr>
              <a:t>时间管理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22.“</a:t>
            </a:r>
            <a:r>
              <a:rPr lang="zh-CN" altLang="en-US" sz="1200">
                <a:solidFill>
                  <a:schemeClr val="tx1"/>
                </a:solidFill>
                <a:uFillTx/>
                <a:latin typeface="微软雅黑" panose="020B0503020204020204" charset="-122"/>
                <a:ea typeface="微软雅黑" panose="020B0503020204020204" charset="-122"/>
              </a:rPr>
              <a:t>交通管理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23.“</a:t>
            </a:r>
            <a:r>
              <a:rPr lang="zh-CN" altLang="en-US" sz="1200">
                <a:solidFill>
                  <a:schemeClr val="tx1"/>
                </a:solidFill>
                <a:uFillTx/>
                <a:latin typeface="微软雅黑" panose="020B0503020204020204" charset="-122"/>
                <a:ea typeface="微软雅黑" panose="020B0503020204020204" charset="-122"/>
              </a:rPr>
              <a:t>信用管理</a:t>
            </a:r>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a:p>
            <a:pPr algn="l"/>
            <a:r>
              <a:rPr lang="en-US" altLang="zh-CN" sz="1200">
                <a:solidFill>
                  <a:schemeClr val="tx1"/>
                </a:solidFill>
                <a:uFillTx/>
                <a:latin typeface="微软雅黑" panose="020B0503020204020204" charset="-122"/>
                <a:ea typeface="微软雅黑" panose="020B0503020204020204" charset="-122"/>
              </a:rPr>
              <a:t>……</a:t>
            </a:r>
            <a:endParaRPr lang="en-US" altLang="zh-CN" sz="1200">
              <a:solidFill>
                <a:schemeClr val="tx1"/>
              </a:solidFill>
              <a:uFillTx/>
              <a:latin typeface="微软雅黑" panose="020B0503020204020204" charset="-122"/>
              <a:ea typeface="微软雅黑" panose="020B0503020204020204" charset="-122"/>
            </a:endParaRPr>
          </a:p>
        </p:txBody>
      </p:sp>
      <p:sp>
        <p:nvSpPr>
          <p:cNvPr id="39" name="矩形 38"/>
          <p:cNvSpPr/>
          <p:nvPr>
            <p:custDataLst>
              <p:tags r:id="rId23"/>
            </p:custDataLst>
          </p:nvPr>
        </p:nvSpPr>
        <p:spPr>
          <a:xfrm>
            <a:off x="8109585" y="1879600"/>
            <a:ext cx="3780155" cy="4789170"/>
          </a:xfrm>
          <a:prstGeom prst="rect">
            <a:avLst/>
          </a:prstGeom>
          <a:solidFill>
            <a:schemeClr val="bg1">
              <a:lumMod val="85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just"/>
            <a:r>
              <a:rPr lang="en-US" altLang="zh-CN" sz="1200">
                <a:solidFill>
                  <a:schemeClr val="tx1"/>
                </a:solidFill>
                <a:latin typeface="微软雅黑" panose="020B0503020204020204" charset="-122"/>
                <a:ea typeface="微软雅黑" panose="020B0503020204020204" charset="-122"/>
              </a:rPr>
              <a:t>1.</a:t>
            </a:r>
            <a:r>
              <a:rPr lang="zh-CN" altLang="en-US" sz="1200">
                <a:solidFill>
                  <a:schemeClr val="tx1"/>
                </a:solidFill>
                <a:latin typeface="微软雅黑" panose="020B0503020204020204" charset="-122"/>
                <a:ea typeface="微软雅黑" panose="020B0503020204020204" charset="-122"/>
              </a:rPr>
              <a:t>创新</a:t>
            </a:r>
            <a:r>
              <a:rPr lang="zh-CN" altLang="en-US" sz="1200" b="1">
                <a:solidFill>
                  <a:srgbClr val="C00000"/>
                </a:solidFill>
                <a:latin typeface="微软雅黑" panose="020B0503020204020204" charset="-122"/>
                <a:ea typeface="微软雅黑" panose="020B0503020204020204" charset="-122"/>
              </a:rPr>
              <a:t>外卖平台协同治理机制</a:t>
            </a:r>
            <a:r>
              <a:rPr lang="zh-CN" altLang="en-US" sz="1200">
                <a:solidFill>
                  <a:schemeClr val="tx1"/>
                </a:solidFill>
                <a:latin typeface="微软雅黑" panose="020B0503020204020204" charset="-122"/>
                <a:ea typeface="微软雅黑" panose="020B0503020204020204" charset="-122"/>
              </a:rPr>
              <a:t>，健全入网餐饮服务提供者入驻和评价规则，将</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阳光厨房</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外卖封签</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纳入入驻平台的食品安全管理责任协议，强化对外卖商家的经营管理。</a:t>
            </a:r>
            <a:endParaRPr lang="zh-CN" altLang="en-US" sz="1200">
              <a:solidFill>
                <a:schemeClr val="tx1"/>
              </a:solidFill>
              <a:latin typeface="微软雅黑" panose="020B0503020204020204" charset="-122"/>
              <a:ea typeface="微软雅黑" panose="020B0503020204020204" charset="-122"/>
            </a:endParaRPr>
          </a:p>
          <a:p>
            <a:pPr algn="just"/>
            <a:r>
              <a:rPr lang="en-US" altLang="zh-CN" sz="1200">
                <a:solidFill>
                  <a:schemeClr val="tx1"/>
                </a:solidFill>
                <a:latin typeface="微软雅黑" panose="020B0503020204020204" charset="-122"/>
                <a:ea typeface="微软雅黑" panose="020B0503020204020204" charset="-122"/>
              </a:rPr>
              <a:t>2.</a:t>
            </a:r>
            <a:r>
              <a:rPr lang="zh-CN" altLang="en-US" sz="1200">
                <a:solidFill>
                  <a:schemeClr val="tx1"/>
                </a:solidFill>
                <a:latin typeface="微软雅黑" panose="020B0503020204020204" charset="-122"/>
                <a:ea typeface="微软雅黑" panose="020B0503020204020204" charset="-122"/>
              </a:rPr>
              <a:t>推进</a:t>
            </a:r>
            <a:r>
              <a:rPr lang="en-US" altLang="zh-CN" sz="1200" b="1">
                <a:solidFill>
                  <a:srgbClr val="C00000"/>
                </a:solidFill>
                <a:latin typeface="微软雅黑" panose="020B0503020204020204" charset="-122"/>
                <a:ea typeface="微软雅黑" panose="020B0503020204020204" charset="-122"/>
              </a:rPr>
              <a:t>“</a:t>
            </a:r>
            <a:r>
              <a:rPr lang="zh-CN" altLang="en-US" sz="1200" b="1">
                <a:solidFill>
                  <a:srgbClr val="C00000"/>
                </a:solidFill>
                <a:latin typeface="微软雅黑" panose="020B0503020204020204" charset="-122"/>
                <a:ea typeface="微软雅黑" panose="020B0503020204020204" charset="-122"/>
              </a:rPr>
              <a:t>后厨阳光化</a:t>
            </a:r>
            <a:r>
              <a:rPr lang="en-US" altLang="zh-CN" sz="1200" b="1">
                <a:solidFill>
                  <a:srgbClr val="C00000"/>
                </a:solidFill>
                <a:latin typeface="微软雅黑" panose="020B0503020204020204" charset="-122"/>
                <a:ea typeface="微软雅黑" panose="020B0503020204020204" charset="-122"/>
              </a:rPr>
              <a:t>”</a:t>
            </a:r>
            <a:r>
              <a:rPr lang="zh-CN" altLang="en-US" sz="1200" b="1">
                <a:solidFill>
                  <a:srgbClr val="C00000"/>
                </a:solidFill>
                <a:latin typeface="微软雅黑" panose="020B0503020204020204" charset="-122"/>
                <a:ea typeface="微软雅黑" panose="020B0503020204020204" charset="-122"/>
              </a:rPr>
              <a:t>机制</a:t>
            </a:r>
            <a:r>
              <a:rPr lang="zh-CN" altLang="en-US" sz="1200">
                <a:solidFill>
                  <a:schemeClr val="tx1"/>
                </a:solidFill>
                <a:latin typeface="微软雅黑" panose="020B0503020204020204" charset="-122"/>
                <a:ea typeface="微软雅黑" panose="020B0503020204020204" charset="-122"/>
              </a:rPr>
              <a:t>，引导外卖餐饮企业建设</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阳光厨房</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，并在外卖平台实时展示，实现后厨公开化，发挥市场导向作用形成</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后厨阳光</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示范效应，让消费者放心消费。</a:t>
            </a:r>
            <a:endParaRPr lang="zh-CN" altLang="en-US" sz="1200">
              <a:solidFill>
                <a:schemeClr val="tx1"/>
              </a:solidFill>
              <a:latin typeface="微软雅黑" panose="020B0503020204020204" charset="-122"/>
              <a:ea typeface="微软雅黑" panose="020B0503020204020204" charset="-122"/>
            </a:endParaRPr>
          </a:p>
          <a:p>
            <a:pPr algn="just"/>
            <a:r>
              <a:rPr lang="en-US" altLang="zh-CN" sz="1200">
                <a:solidFill>
                  <a:schemeClr val="tx1"/>
                </a:solidFill>
                <a:latin typeface="微软雅黑" panose="020B0503020204020204" charset="-122"/>
                <a:ea typeface="微软雅黑" panose="020B0503020204020204" charset="-122"/>
              </a:rPr>
              <a:t>3.</a:t>
            </a:r>
            <a:r>
              <a:rPr lang="zh-CN" altLang="en-US" sz="1200">
                <a:solidFill>
                  <a:schemeClr val="tx1"/>
                </a:solidFill>
                <a:latin typeface="微软雅黑" panose="020B0503020204020204" charset="-122"/>
                <a:ea typeface="微软雅黑" panose="020B0503020204020204" charset="-122"/>
              </a:rPr>
              <a:t>建立</a:t>
            </a:r>
            <a:r>
              <a:rPr lang="zh-CN" altLang="en-US" sz="1200" b="1">
                <a:solidFill>
                  <a:srgbClr val="C00000"/>
                </a:solidFill>
                <a:latin typeface="微软雅黑" panose="020B0503020204020204" charset="-122"/>
                <a:ea typeface="微软雅黑" panose="020B0503020204020204" charset="-122"/>
              </a:rPr>
              <a:t>外卖餐饮全链条管理机制</a:t>
            </a:r>
            <a:r>
              <a:rPr lang="zh-CN" altLang="en-US" sz="1200">
                <a:solidFill>
                  <a:schemeClr val="tx1"/>
                </a:solidFill>
                <a:latin typeface="微软雅黑" panose="020B0503020204020204" charset="-122"/>
                <a:ea typeface="微软雅黑" panose="020B0503020204020204" charset="-122"/>
              </a:rPr>
              <a:t>，打通从商家食材进货、包材限塑到消费者食用的</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监管链条</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，集成对平台、商家、骑手等</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组团管理</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，实现监管、执法、维权、保障等封闭管控。</a:t>
            </a:r>
            <a:endParaRPr lang="zh-CN" altLang="en-US" sz="1200">
              <a:solidFill>
                <a:schemeClr val="tx1"/>
              </a:solidFill>
              <a:latin typeface="微软雅黑" panose="020B0503020204020204" charset="-122"/>
              <a:ea typeface="微软雅黑" panose="020B0503020204020204" charset="-122"/>
            </a:endParaRPr>
          </a:p>
          <a:p>
            <a:pPr algn="just"/>
            <a:r>
              <a:rPr lang="en-US" altLang="zh-CN" sz="1200">
                <a:solidFill>
                  <a:schemeClr val="tx1"/>
                </a:solidFill>
                <a:latin typeface="微软雅黑" panose="020B0503020204020204" charset="-122"/>
                <a:ea typeface="微软雅黑" panose="020B0503020204020204" charset="-122"/>
              </a:rPr>
              <a:t>4.</a:t>
            </a:r>
            <a:r>
              <a:rPr lang="zh-CN" altLang="en-US" sz="1200">
                <a:solidFill>
                  <a:schemeClr val="tx1"/>
                </a:solidFill>
                <a:latin typeface="微软雅黑" panose="020B0503020204020204" charset="-122"/>
                <a:ea typeface="微软雅黑" panose="020B0503020204020204" charset="-122"/>
              </a:rPr>
              <a:t>建立</a:t>
            </a:r>
            <a:r>
              <a:rPr lang="zh-CN" altLang="en-US" sz="1200" b="1">
                <a:solidFill>
                  <a:srgbClr val="C00000"/>
                </a:solidFill>
                <a:latin typeface="微软雅黑" panose="020B0503020204020204" charset="-122"/>
                <a:ea typeface="微软雅黑" panose="020B0503020204020204" charset="-122"/>
              </a:rPr>
              <a:t>外卖餐饮配送管理机制</a:t>
            </a:r>
            <a:r>
              <a:rPr lang="zh-CN" altLang="en-US" sz="1200">
                <a:solidFill>
                  <a:schemeClr val="tx1"/>
                </a:solidFill>
                <a:latin typeface="微软雅黑" panose="020B0503020204020204" charset="-122"/>
                <a:ea typeface="微软雅黑" panose="020B0503020204020204" charset="-122"/>
              </a:rPr>
              <a:t>，从餐具管理、封签管理、限塑管理着手，形成配送缓解</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最后一公里</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保障机制。</a:t>
            </a:r>
            <a:endParaRPr lang="zh-CN" altLang="en-US" sz="1200">
              <a:solidFill>
                <a:schemeClr val="tx1"/>
              </a:solidFill>
              <a:latin typeface="微软雅黑" panose="020B0503020204020204" charset="-122"/>
              <a:ea typeface="微软雅黑" panose="020B0503020204020204" charset="-122"/>
            </a:endParaRPr>
          </a:p>
          <a:p>
            <a:pPr algn="just"/>
            <a:r>
              <a:rPr lang="en-US" altLang="zh-CN" sz="1200">
                <a:solidFill>
                  <a:schemeClr val="tx1"/>
                </a:solidFill>
                <a:latin typeface="微软雅黑" panose="020B0503020204020204" charset="-122"/>
                <a:ea typeface="微软雅黑" panose="020B0503020204020204" charset="-122"/>
              </a:rPr>
              <a:t>5.</a:t>
            </a:r>
            <a:r>
              <a:rPr lang="zh-CN" altLang="en-US" sz="1200">
                <a:solidFill>
                  <a:schemeClr val="tx1"/>
                </a:solidFill>
                <a:latin typeface="微软雅黑" panose="020B0503020204020204" charset="-122"/>
                <a:ea typeface="微软雅黑" panose="020B0503020204020204" charset="-122"/>
              </a:rPr>
              <a:t>建立</a:t>
            </a:r>
            <a:r>
              <a:rPr lang="zh-CN" altLang="en-US" sz="1200" b="1">
                <a:solidFill>
                  <a:srgbClr val="C00000"/>
                </a:solidFill>
                <a:latin typeface="微软雅黑" panose="020B0503020204020204" charset="-122"/>
                <a:ea typeface="微软雅黑" panose="020B0503020204020204" charset="-122"/>
              </a:rPr>
              <a:t>消费安全机制</a:t>
            </a:r>
            <a:r>
              <a:rPr lang="zh-CN" altLang="en-US" sz="1200">
                <a:solidFill>
                  <a:schemeClr val="tx1"/>
                </a:solidFill>
                <a:latin typeface="微软雅黑" panose="020B0503020204020204" charset="-122"/>
                <a:ea typeface="微软雅黑" panose="020B0503020204020204" charset="-122"/>
              </a:rPr>
              <a:t>，从消费评价、消费维权、放心消费、消费投诉、消费监督、消费警示等多维度综合集成，形成消费维权与保障综合体系。</a:t>
            </a:r>
            <a:endParaRPr lang="zh-CN" altLang="en-US" sz="1200">
              <a:solidFill>
                <a:schemeClr val="tx1"/>
              </a:solidFill>
              <a:latin typeface="微软雅黑" panose="020B0503020204020204" charset="-122"/>
              <a:ea typeface="微软雅黑" panose="020B0503020204020204" charset="-122"/>
            </a:endParaRPr>
          </a:p>
          <a:p>
            <a:pPr algn="just"/>
            <a:r>
              <a:rPr lang="en-US" altLang="zh-CN" sz="1200">
                <a:solidFill>
                  <a:schemeClr val="tx1"/>
                </a:solidFill>
                <a:latin typeface="微软雅黑" panose="020B0503020204020204" charset="-122"/>
                <a:ea typeface="微软雅黑" panose="020B0503020204020204" charset="-122"/>
              </a:rPr>
              <a:t>6.</a:t>
            </a:r>
            <a:r>
              <a:rPr lang="zh-CN" altLang="en-US" sz="1200">
                <a:solidFill>
                  <a:schemeClr val="tx1"/>
                </a:solidFill>
                <a:latin typeface="微软雅黑" panose="020B0503020204020204" charset="-122"/>
                <a:ea typeface="微软雅黑" panose="020B0503020204020204" charset="-122"/>
              </a:rPr>
              <a:t>建立</a:t>
            </a:r>
            <a:r>
              <a:rPr lang="zh-CN" altLang="en-US" sz="1200" b="1">
                <a:solidFill>
                  <a:srgbClr val="C00000"/>
                </a:solidFill>
                <a:latin typeface="微软雅黑" panose="020B0503020204020204" charset="-122"/>
                <a:ea typeface="微软雅黑" panose="020B0503020204020204" charset="-122"/>
              </a:rPr>
              <a:t>骑手交通安全管控机制</a:t>
            </a:r>
            <a:r>
              <a:rPr lang="zh-CN" altLang="en-US" sz="1200">
                <a:solidFill>
                  <a:schemeClr val="tx1"/>
                </a:solidFill>
                <a:latin typeface="微软雅黑" panose="020B0503020204020204" charset="-122"/>
                <a:ea typeface="微软雅黑" panose="020B0503020204020204" charset="-122"/>
              </a:rPr>
              <a:t>，推动网络餐饮平台优化外卖骑手考核制度，建立外卖骑手交通违法及事故信息研判机制，规范骑手交通行为。</a:t>
            </a:r>
            <a:endParaRPr lang="zh-CN" altLang="en-US" sz="1200">
              <a:solidFill>
                <a:schemeClr val="tx1"/>
              </a:solidFill>
              <a:latin typeface="微软雅黑" panose="020B0503020204020204" charset="-122"/>
              <a:ea typeface="微软雅黑" panose="020B0503020204020204" charset="-122"/>
            </a:endParaRPr>
          </a:p>
          <a:p>
            <a:pPr algn="just"/>
            <a:r>
              <a:rPr lang="en-US" altLang="zh-CN" sz="1200">
                <a:solidFill>
                  <a:schemeClr val="tx1"/>
                </a:solidFill>
                <a:latin typeface="微软雅黑" panose="020B0503020204020204" charset="-122"/>
                <a:ea typeface="微软雅黑" panose="020B0503020204020204" charset="-122"/>
              </a:rPr>
              <a:t>7.</a:t>
            </a:r>
            <a:r>
              <a:rPr lang="zh-CN" altLang="en-US" sz="1200">
                <a:solidFill>
                  <a:schemeClr val="tx1"/>
                </a:solidFill>
                <a:latin typeface="微软雅黑" panose="020B0503020204020204" charset="-122"/>
                <a:ea typeface="微软雅黑" panose="020B0503020204020204" charset="-122"/>
              </a:rPr>
              <a:t>建立</a:t>
            </a:r>
            <a:r>
              <a:rPr lang="zh-CN" altLang="en-US" sz="1200" b="1">
                <a:solidFill>
                  <a:srgbClr val="C00000"/>
                </a:solidFill>
                <a:latin typeface="微软雅黑" panose="020B0503020204020204" charset="-122"/>
                <a:ea typeface="微软雅黑" panose="020B0503020204020204" charset="-122"/>
              </a:rPr>
              <a:t>外卖骑手权益保障机制</a:t>
            </a:r>
            <a:r>
              <a:rPr lang="zh-CN" altLang="en-US" sz="1200">
                <a:solidFill>
                  <a:schemeClr val="tx1"/>
                </a:solidFill>
                <a:latin typeface="微软雅黑" panose="020B0503020204020204" charset="-122"/>
                <a:ea typeface="微软雅黑" panose="020B0503020204020204" charset="-122"/>
              </a:rPr>
              <a:t>，制定外卖骑手职业伤害保障机制及人身意外伤害保险等保险制度，建立网络餐饮平台企业用工违法行为多部门联合预警防控机制，建立外卖骑手线上线下工会维权体系，拓宽权益保护、诉求表达等渠道。</a:t>
            </a:r>
            <a:endParaRPr lang="zh-CN" altLang="en-US" sz="1200">
              <a:solidFill>
                <a:schemeClr val="tx1"/>
              </a:solidFill>
              <a:latin typeface="微软雅黑" panose="020B0503020204020204" charset="-122"/>
              <a:ea typeface="微软雅黑" panose="020B0503020204020204" charset="-122"/>
            </a:endParaRPr>
          </a:p>
        </p:txBody>
      </p:sp>
      <p:sp>
        <p:nvSpPr>
          <p:cNvPr id="44" name="矩形 43"/>
          <p:cNvSpPr/>
          <p:nvPr>
            <p:custDataLst>
              <p:tags r:id="rId24"/>
            </p:custDataLst>
          </p:nvPr>
        </p:nvSpPr>
        <p:spPr>
          <a:xfrm>
            <a:off x="528320" y="6124575"/>
            <a:ext cx="1155700" cy="54229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ctr"/>
            <a:r>
              <a:rPr lang="zh-CN" altLang="en-US" b="1">
                <a:solidFill>
                  <a:srgbClr val="0070C0"/>
                </a:solidFill>
                <a:uFillTx/>
                <a:latin typeface="微软雅黑" panose="020B0503020204020204" charset="-122"/>
                <a:ea typeface="微软雅黑" panose="020B0503020204020204" charset="-122"/>
              </a:rPr>
              <a:t>提升竞争力</a:t>
            </a:r>
            <a:endParaRPr lang="zh-CN" altLang="en-US" b="1">
              <a:solidFill>
                <a:srgbClr val="0070C0"/>
              </a:solidFill>
              <a:uFillTx/>
              <a:latin typeface="微软雅黑" panose="020B0503020204020204" charset="-122"/>
              <a:ea typeface="微软雅黑" panose="020B0503020204020204" charset="-122"/>
            </a:endParaRPr>
          </a:p>
        </p:txBody>
      </p:sp>
      <p:sp>
        <p:nvSpPr>
          <p:cNvPr id="45" name="矩形 44"/>
          <p:cNvSpPr/>
          <p:nvPr>
            <p:custDataLst>
              <p:tags r:id="rId25"/>
            </p:custDataLst>
          </p:nvPr>
        </p:nvSpPr>
        <p:spPr>
          <a:xfrm>
            <a:off x="1741805" y="6125845"/>
            <a:ext cx="3829050" cy="542290"/>
          </a:xfrm>
          <a:prstGeom prst="rect">
            <a:avLst/>
          </a:prstGeom>
          <a:solidFill>
            <a:schemeClr val="bg2">
              <a:lumMod val="40000"/>
              <a:lumOff val="6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p>
            <a:pPr algn="l"/>
            <a:r>
              <a:rPr lang="en-US" sz="1200">
                <a:solidFill>
                  <a:schemeClr val="tx1"/>
                </a:solidFill>
                <a:latin typeface="Times New Roman" panose="02020603050405020304" pitchFamily="18" charset="0"/>
                <a:ea typeface="方正黑体_GBK" panose="03000509000000000000" pitchFamily="65" charset="-122"/>
              </a:rPr>
              <a:t>1.</a:t>
            </a:r>
            <a:r>
              <a:rPr lang="zh-CN" altLang="en-US" sz="1200">
                <a:solidFill>
                  <a:schemeClr val="tx1"/>
                </a:solidFill>
                <a:latin typeface="Times New Roman" panose="02020603050405020304" pitchFamily="18" charset="0"/>
                <a:ea typeface="方正黑体_GBK" panose="03000509000000000000" pitchFamily="65" charset="-122"/>
              </a:rPr>
              <a:t>建成全国领先的多业务、多部门协同治理的外卖治理多跨平台。</a:t>
            </a:r>
            <a:endParaRPr lang="zh-CN" altLang="en-US" sz="1200">
              <a:solidFill>
                <a:schemeClr val="tx1"/>
              </a:solidFill>
              <a:latin typeface="Times New Roman" panose="02020603050405020304" pitchFamily="18" charset="0"/>
              <a:ea typeface="方正黑体_GBK" panose="03000509000000000000" pitchFamily="65" charset="-122"/>
            </a:endParaRPr>
          </a:p>
        </p:txBody>
      </p:sp>
    </p:spTree>
    <p:custDataLst>
      <p:tags r:id="rId26"/>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5“</a:t>
            </a:r>
            <a:r>
              <a:rPr lang="zh-CN" altLang="en-US" sz="2800" b="1" dirty="0">
                <a:solidFill>
                  <a:srgbClr val="0070C0"/>
                </a:solidFill>
                <a:latin typeface="微软雅黑" panose="020B0503020204020204" charset="-122"/>
                <a:ea typeface="微软雅黑" panose="020B0503020204020204" charset="-122"/>
                <a:sym typeface="+mn-ea"/>
              </a:rPr>
              <a:t>三张清单</a:t>
            </a:r>
            <a:r>
              <a:rPr lang="en-US" altLang="zh-CN" sz="2800" b="1" dirty="0">
                <a:solidFill>
                  <a:srgbClr val="0070C0"/>
                </a:solidFill>
                <a:latin typeface="微软雅黑" panose="020B0503020204020204" charset="-122"/>
                <a:ea typeface="微软雅黑" panose="020B0503020204020204" charset="-122"/>
                <a:sym typeface="+mn-ea"/>
              </a:rPr>
              <a:t>”</a:t>
            </a:r>
            <a:r>
              <a:rPr lang="zh-CN" altLang="en-US" sz="2800" b="1" dirty="0">
                <a:solidFill>
                  <a:srgbClr val="0070C0"/>
                </a:solidFill>
                <a:latin typeface="微软雅黑" panose="020B0503020204020204" charset="-122"/>
                <a:ea typeface="微软雅黑" panose="020B0503020204020204" charset="-122"/>
                <a:sym typeface="+mn-ea"/>
              </a:rPr>
              <a:t>论证审查</a:t>
            </a:r>
            <a:r>
              <a:rPr lang="en-US" altLang="zh-CN" sz="2800" b="1" dirty="0">
                <a:solidFill>
                  <a:srgbClr val="0070C0"/>
                </a:solidFill>
                <a:latin typeface="微软雅黑" panose="020B0503020204020204" charset="-122"/>
                <a:ea typeface="微软雅黑" panose="020B0503020204020204" charset="-122"/>
                <a:sym typeface="+mn-ea"/>
              </a:rPr>
              <a:t>     </a:t>
            </a:r>
            <a:endParaRPr lang="en-US" altLang="zh-CN" sz="2800" b="1" spc="10" dirty="0">
              <a:solidFill>
                <a:srgbClr val="0070C0"/>
              </a:solidFill>
              <a:uFillTx/>
              <a:latin typeface="微软雅黑" panose="020B0503020204020204" charset="-122"/>
              <a:ea typeface="微软雅黑" panose="020B0503020204020204" charset="-122"/>
              <a:sym typeface="+mn-ea"/>
            </a:endParaRPr>
          </a:p>
        </p:txBody>
      </p:sp>
      <p:grpSp>
        <p:nvGrpSpPr>
          <p:cNvPr id="10" name="组合 9"/>
          <p:cNvGrpSpPr/>
          <p:nvPr/>
        </p:nvGrpSpPr>
        <p:grpSpPr>
          <a:xfrm>
            <a:off x="263525" y="1412875"/>
            <a:ext cx="11683365" cy="4529455"/>
            <a:chOff x="415" y="2225"/>
            <a:chExt cx="18399" cy="7133"/>
          </a:xfrm>
        </p:grpSpPr>
        <p:sp>
          <p:nvSpPr>
            <p:cNvPr id="49" name="同侧圆角矩形 48"/>
            <p:cNvSpPr/>
            <p:nvPr>
              <p:custDataLst>
                <p:tags r:id="rId5"/>
              </p:custDataLst>
            </p:nvPr>
          </p:nvSpPr>
          <p:spPr>
            <a:xfrm>
              <a:off x="415" y="2225"/>
              <a:ext cx="18322" cy="7124"/>
            </a:xfrm>
            <a:prstGeom prst="round2SameRect">
              <a:avLst>
                <a:gd name="adj1" fmla="val 6000"/>
                <a:gd name="adj2" fmla="val 0"/>
              </a:avLst>
            </a:prstGeom>
            <a:solidFill>
              <a:schemeClr val="bg1"/>
            </a:solidFill>
            <a:ln>
              <a:noFill/>
            </a:ln>
            <a:effectLst>
              <a:outerShdw blurRad="139700" dist="38100" dir="13500000" sx="101000" sy="101000" algn="br" rotWithShape="0">
                <a:schemeClr val="accent5">
                  <a:lumMod val="40000"/>
                  <a:lumOff val="6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1800" kern="2200" dirty="0">
                  <a:effectLst/>
                  <a:latin typeface="微软雅黑" panose="020B0503020204020204" charset="-122"/>
                  <a:ea typeface="微软雅黑" panose="020B0503020204020204" charset="-122"/>
                </a:rPr>
                <a:t>贯通</a:t>
              </a:r>
              <a:r>
                <a:rPr lang="zh-CN" altLang="zh-CN" sz="1800" kern="100" dirty="0">
                  <a:effectLst/>
                  <a:latin typeface="微软雅黑" panose="020B0503020204020204" charset="-122"/>
                  <a:ea typeface="微软雅黑" panose="020B0503020204020204" charset="-122"/>
                  <a:cs typeface="微软雅黑" panose="020B0503020204020204" charset="-122"/>
                </a:rPr>
                <a:t>“市</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区（县）</a:t>
              </a:r>
              <a:r>
                <a:rPr lang="en-US"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100" dirty="0">
                  <a:effectLst/>
                  <a:latin typeface="微软雅黑" panose="020B0503020204020204" charset="-122"/>
                  <a:ea typeface="微软雅黑" panose="020B0503020204020204" charset="-122"/>
                  <a:cs typeface="微软雅黑" panose="020B0503020204020204" charset="-122"/>
                </a:rPr>
                <a:t>乡镇（街道）”三级、整体推进数字重庆建设的基础底座，</a:t>
              </a:r>
              <a:r>
                <a:rPr lang="zh-CN" altLang="zh-CN" sz="1800" kern="2200" dirty="0">
                  <a:effectLst/>
                  <a:latin typeface="微软雅黑" panose="020B0503020204020204" charset="-122"/>
                  <a:ea typeface="微软雅黑" panose="020B0503020204020204" charset="-122"/>
                </a:rPr>
                <a:t>包含“四横四纵”支撑保障体系、“两端”集成入口和“一体化数字资源系统</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en-US" altLang="zh-CN" sz="1800" kern="100" dirty="0">
                  <a:effectLst/>
                  <a:latin typeface="微软雅黑" panose="020B0503020204020204" charset="-122"/>
                  <a:ea typeface="微软雅黑" panose="020B0503020204020204" charset="-122"/>
                  <a:cs typeface="微软雅黑" panose="020B0503020204020204" charset="-122"/>
                </a:rPr>
                <a:t>IRS</a:t>
              </a:r>
              <a:r>
                <a:rPr lang="zh-CN" altLang="zh-CN" sz="1800" kern="100" dirty="0">
                  <a:effectLst/>
                  <a:latin typeface="微软雅黑" panose="020B0503020204020204" charset="-122"/>
                  <a:ea typeface="微软雅黑" panose="020B0503020204020204" charset="-122"/>
                  <a:cs typeface="微软雅黑" panose="020B0503020204020204" charset="-122"/>
                </a:rPr>
                <a:t>）</a:t>
              </a:r>
              <a:r>
                <a:rPr lang="zh-CN" altLang="zh-CN" sz="1800" kern="2200" dirty="0">
                  <a:effectLst/>
                  <a:latin typeface="微软雅黑" panose="020B0503020204020204" charset="-122"/>
                  <a:ea typeface="微软雅黑" panose="020B0503020204020204" charset="-122"/>
                </a:rPr>
                <a:t>”。</a:t>
              </a:r>
              <a:r>
                <a:rPr lang="zh-CN" altLang="zh-CN" dirty="0">
                  <a:effectLst/>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p:txBody>
        </p:sp>
        <p:pic>
          <p:nvPicPr>
            <p:cNvPr id="50" name="图片"/>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514" y="2452"/>
              <a:ext cx="18300" cy="6907"/>
            </a:xfrm>
            <a:prstGeom prst="rect">
              <a:avLst/>
            </a:prstGeom>
            <a:noFill/>
            <a:ln w="9525">
              <a:noFill/>
            </a:ln>
          </p:spPr>
        </p:pic>
      </p:grpSp>
      <p:sp>
        <p:nvSpPr>
          <p:cNvPr id="2" name="kGjBRnqUNkRE9Kh文本框 1"/>
          <p:cNvSpPr txBox="1"/>
          <p:nvPr/>
        </p:nvSpPr>
        <p:spPr>
          <a:xfrm>
            <a:off x="407670" y="2494915"/>
            <a:ext cx="11418570" cy="2215515"/>
          </a:xfrm>
          <a:prstGeom prst="rect">
            <a:avLst/>
          </a:prstGeom>
          <a:noFill/>
        </p:spPr>
        <p:txBody>
          <a:bodyPr wrap="square" rtlCol="0" anchor="t">
            <a:noAutofit/>
          </a:bodyPr>
          <a:p>
            <a:pPr marL="457200" indent="-457200" fontAlgn="auto">
              <a:lnSpc>
                <a:spcPct val="150000"/>
              </a:lnSpc>
              <a:buFont typeface="Wingdings" panose="05000000000000000000" charset="0"/>
              <a:buChar char="Ø"/>
            </a:pPr>
            <a:r>
              <a:rPr sz="2800" b="1" spc="-150" dirty="0">
                <a:latin typeface="微软雅黑" panose="020B0503020204020204" charset="-122"/>
                <a:ea typeface="微软雅黑" panose="020B0503020204020204" charset="-122"/>
                <a:sym typeface="+mn-ea"/>
              </a:rPr>
              <a:t>数字重庆建设</a:t>
            </a:r>
            <a:r>
              <a:rPr sz="2800" b="1" spc="-150" dirty="0">
                <a:solidFill>
                  <a:srgbClr val="FFC000"/>
                </a:solidFill>
                <a:latin typeface="微软雅黑" panose="020B0503020204020204" charset="-122"/>
                <a:ea typeface="微软雅黑" panose="020B0503020204020204" charset="-122"/>
                <a:sym typeface="+mn-ea"/>
              </a:rPr>
              <a:t>新开发的应用均应开展“三张清单”论证审查</a:t>
            </a:r>
            <a:r>
              <a:rPr lang="zh-CN" altLang="en-US" sz="2800" b="1" spc="-150" dirty="0">
                <a:solidFill>
                  <a:srgbClr val="FFC000"/>
                </a:solidFill>
                <a:latin typeface="微软雅黑" panose="020B0503020204020204" charset="-122"/>
                <a:ea typeface="微软雅黑" panose="020B0503020204020204" charset="-122"/>
                <a:sym typeface="+mn-ea"/>
              </a:rPr>
              <a:t>。</a:t>
            </a:r>
            <a:endParaRPr lang="zh-CN" altLang="en-US" sz="2800" b="1" spc="-150" dirty="0">
              <a:solidFill>
                <a:schemeClr val="tx1"/>
              </a:solidFill>
              <a:latin typeface="微软雅黑" panose="020B0503020204020204" charset="-122"/>
              <a:ea typeface="微软雅黑" panose="020B0503020204020204" charset="-122"/>
            </a:endParaRPr>
          </a:p>
          <a:p>
            <a:pPr marL="457200" indent="-457200" fontAlgn="auto">
              <a:lnSpc>
                <a:spcPct val="150000"/>
              </a:lnSpc>
              <a:buFont typeface="Wingdings" panose="05000000000000000000" charset="0"/>
              <a:buChar char="Ø"/>
            </a:pPr>
            <a:r>
              <a:rPr lang="zh-CN" altLang="en-US" sz="2800" b="1" spc="-150" dirty="0">
                <a:latin typeface="微软雅黑" panose="020B0503020204020204" charset="-122"/>
                <a:ea typeface="微软雅黑" panose="020B0503020204020204" charset="-122"/>
                <a:sym typeface="+mn-ea"/>
              </a:rPr>
              <a:t>各专题组提交的“三张清单”及生成的</a:t>
            </a:r>
            <a:r>
              <a:rPr lang="zh-CN" altLang="en-US" sz="2800" b="1" spc="-150" dirty="0">
                <a:solidFill>
                  <a:srgbClr val="FFC000"/>
                </a:solidFill>
                <a:latin typeface="微软雅黑" panose="020B0503020204020204" charset="-122"/>
                <a:ea typeface="微软雅黑" panose="020B0503020204020204" charset="-122"/>
                <a:sym typeface="+mn-ea"/>
              </a:rPr>
              <a:t>应用通过率</a:t>
            </a:r>
            <a:r>
              <a:rPr lang="zh-CN" altLang="en-US" sz="2800" b="1" spc="-150" dirty="0">
                <a:latin typeface="微软雅黑" panose="020B0503020204020204" charset="-122"/>
                <a:ea typeface="微软雅黑" panose="020B0503020204020204" charset="-122"/>
                <a:sym typeface="+mn-ea"/>
              </a:rPr>
              <a:t>（与数字重庆建设领导小组审定的“三张清单”及生成的应用相比），纳入数字重庆建设对专题组组长单位的</a:t>
            </a:r>
            <a:r>
              <a:rPr lang="zh-CN" altLang="en-US" sz="2800" b="1" spc="-150" dirty="0">
                <a:solidFill>
                  <a:srgbClr val="FFC000"/>
                </a:solidFill>
                <a:latin typeface="微软雅黑" panose="020B0503020204020204" charset="-122"/>
                <a:ea typeface="微软雅黑" panose="020B0503020204020204" charset="-122"/>
                <a:sym typeface="+mn-ea"/>
              </a:rPr>
              <a:t>年度考核内容</a:t>
            </a:r>
            <a:r>
              <a:rPr lang="zh-CN" altLang="en-US" sz="2800" b="1" spc="-150" dirty="0">
                <a:latin typeface="微软雅黑" panose="020B0503020204020204" charset="-122"/>
                <a:ea typeface="微软雅黑" panose="020B0503020204020204" charset="-122"/>
                <a:sym typeface="+mn-ea"/>
              </a:rPr>
              <a:t>。</a:t>
            </a:r>
            <a:endParaRPr lang="zh-CN" altLang="en-US" sz="2800" b="1" spc="-150" dirty="0">
              <a:solidFill>
                <a:schemeClr val="tx1"/>
              </a:solidFill>
              <a:latin typeface="微软雅黑" panose="020B0503020204020204" charset="-122"/>
              <a:ea typeface="微软雅黑" panose="020B0503020204020204" charset="-122"/>
            </a:endParaRPr>
          </a:p>
        </p:txBody>
      </p:sp>
    </p:spTree>
    <p:custDataLst>
      <p:tags r:id="rId8"/>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5.1</a:t>
            </a:r>
            <a:r>
              <a:rPr lang="zh-CN" altLang="en-US" sz="2800" b="1" dirty="0">
                <a:solidFill>
                  <a:srgbClr val="0070C0"/>
                </a:solidFill>
                <a:latin typeface="微软雅黑" panose="020B0503020204020204" charset="-122"/>
                <a:ea typeface="微软雅黑" panose="020B0503020204020204" charset="-122"/>
                <a:sym typeface="+mn-ea"/>
              </a:rPr>
              <a:t>应用全流程及分类</a:t>
            </a:r>
            <a:endParaRPr lang="zh-CN" altLang="en-US" sz="2800" b="1" spc="10" dirty="0">
              <a:solidFill>
                <a:srgbClr val="0070C0"/>
              </a:solidFill>
              <a:uFillTx/>
              <a:latin typeface="微软雅黑" panose="020B0503020204020204" charset="-122"/>
              <a:ea typeface="微软雅黑" panose="020B0503020204020204" charset="-122"/>
              <a:sym typeface="+mn-ea"/>
            </a:endParaRPr>
          </a:p>
        </p:txBody>
      </p:sp>
      <p:sp>
        <p:nvSpPr>
          <p:cNvPr id="17" name="矩形: 圆顶角 88"/>
          <p:cNvSpPr/>
          <p:nvPr/>
        </p:nvSpPr>
        <p:spPr>
          <a:xfrm flipV="1">
            <a:off x="1022350" y="2690495"/>
            <a:ext cx="10239375" cy="1762125"/>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dirty="0"/>
          </a:p>
        </p:txBody>
      </p:sp>
      <p:sp>
        <p:nvSpPr>
          <p:cNvPr id="18" name="矩形: 圆顶角 88"/>
          <p:cNvSpPr/>
          <p:nvPr/>
        </p:nvSpPr>
        <p:spPr>
          <a:xfrm flipV="1">
            <a:off x="1022350" y="4813300"/>
            <a:ext cx="10239375" cy="2472690"/>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dirty="0"/>
          </a:p>
        </p:txBody>
      </p:sp>
      <p:sp>
        <p:nvSpPr>
          <p:cNvPr id="2" name="文本框 1"/>
          <p:cNvSpPr txBox="1"/>
          <p:nvPr/>
        </p:nvSpPr>
        <p:spPr>
          <a:xfrm>
            <a:off x="3010112" y="2246542"/>
            <a:ext cx="6173047" cy="398780"/>
          </a:xfrm>
          <a:prstGeom prst="rect">
            <a:avLst/>
          </a:prstGeom>
        </p:spPr>
        <p:txBody>
          <a:bodyPr wrap="square">
            <a:spAutoFit/>
          </a:bodyPr>
          <a:p>
            <a:pPr algn="ctr"/>
            <a:r>
              <a:rPr lang="zh-CN" altLang="en-US" sz="2000" b="1" dirty="0">
                <a:solidFill>
                  <a:srgbClr val="C00000"/>
                </a:solidFill>
                <a:latin typeface="微软雅黑" panose="020B0503020204020204" charset="-122"/>
                <a:ea typeface="微软雅黑" panose="020B0503020204020204" charset="-122"/>
              </a:rPr>
              <a:t>应用分为涉密应用和非涉密应用</a:t>
            </a:r>
            <a:r>
              <a:rPr lang="en-US" altLang="zh-CN" sz="2000" b="1" dirty="0">
                <a:solidFill>
                  <a:srgbClr val="C00000"/>
                </a:solidFill>
                <a:latin typeface="微软雅黑" panose="020B0503020204020204" charset="-122"/>
                <a:ea typeface="微软雅黑" panose="020B0503020204020204" charset="-122"/>
              </a:rPr>
              <a:t>2</a:t>
            </a:r>
            <a:r>
              <a:rPr lang="zh-CN" altLang="en-US" sz="2000" b="1" dirty="0">
                <a:solidFill>
                  <a:srgbClr val="C00000"/>
                </a:solidFill>
                <a:latin typeface="微软雅黑" panose="020B0503020204020204" charset="-122"/>
                <a:ea typeface="微软雅黑" panose="020B0503020204020204" charset="-122"/>
              </a:rPr>
              <a:t>类</a:t>
            </a:r>
            <a:endParaRPr lang="zh-CN" altLang="en-US" sz="2000" b="1" dirty="0">
              <a:solidFill>
                <a:srgbClr val="C00000"/>
              </a:solidFill>
              <a:latin typeface="微软雅黑" panose="020B0503020204020204" charset="-122"/>
              <a:ea typeface="微软雅黑" panose="020B0503020204020204" charset="-122"/>
            </a:endParaRPr>
          </a:p>
        </p:txBody>
      </p:sp>
      <p:sp>
        <p:nvSpPr>
          <p:cNvPr id="32" name="文本框 31"/>
          <p:cNvSpPr txBox="1"/>
          <p:nvPr>
            <p:custDataLst>
              <p:tags r:id="rId5"/>
            </p:custDataLst>
          </p:nvPr>
        </p:nvSpPr>
        <p:spPr>
          <a:xfrm>
            <a:off x="972608" y="2708358"/>
            <a:ext cx="10198051" cy="1636104"/>
          </a:xfrm>
          <a:prstGeom prst="roundRect">
            <a:avLst>
              <a:gd name="adj" fmla="val 7059"/>
            </a:avLst>
          </a:prstGeom>
          <a:noFill/>
          <a:ln w="12700">
            <a:noFill/>
          </a:ln>
        </p:spPr>
        <p:txBody>
          <a:bodyPr wrap="square">
            <a:spAutoFit/>
          </a:bodyPr>
          <a:p>
            <a:pPr>
              <a:lnSpc>
                <a:spcPct val="100000"/>
              </a:lnSpc>
            </a:pPr>
            <a:r>
              <a:rPr lang="zh-CN" altLang="en-US" sz="1600" b="1" dirty="0">
                <a:solidFill>
                  <a:srgbClr val="C00000"/>
                </a:solidFill>
                <a:latin typeface="微软雅黑" panose="020B0503020204020204" charset="-122"/>
                <a:ea typeface="微软雅黑" panose="020B0503020204020204" charset="-122"/>
                <a:sym typeface="+mn-ea"/>
              </a:rPr>
              <a:t>非涉密应用</a:t>
            </a:r>
            <a:endParaRPr lang="zh-CN" altLang="en-US" sz="1600" dirty="0">
              <a:solidFill>
                <a:srgbClr val="C00000"/>
              </a:solidFill>
              <a:latin typeface="微软雅黑" panose="020B0503020204020204" charset="-122"/>
              <a:ea typeface="微软雅黑" panose="020B0503020204020204" charset="-122"/>
              <a:cs typeface="微软雅黑" panose="020B0503020204020204" charset="-122"/>
            </a:endParaRPr>
          </a:p>
          <a:p>
            <a:pPr>
              <a:lnSpc>
                <a:spcPct val="100000"/>
              </a:lnSpc>
            </a:pPr>
            <a:r>
              <a:rPr lang="zh-CN" altLang="en-US" sz="1600" b="1" dirty="0">
                <a:solidFill>
                  <a:srgbClr val="C00000"/>
                </a:solidFill>
                <a:latin typeface="微软雅黑" panose="020B0503020204020204" charset="-122"/>
                <a:ea typeface="微软雅黑" panose="020B0503020204020204" charset="-122"/>
                <a:cs typeface="微软雅黑" panose="020B0503020204020204" charset="-122"/>
              </a:rPr>
              <a:t>业务应用类：</a:t>
            </a:r>
            <a:r>
              <a:rPr lang="zh-CN" altLang="en-US" sz="1600" dirty="0">
                <a:solidFill>
                  <a:prstClr val="black"/>
                </a:solidFill>
                <a:latin typeface="微软雅黑" panose="020B0503020204020204" charset="-122"/>
                <a:ea typeface="微软雅黑" panose="020B0503020204020204" charset="-122"/>
                <a:cs typeface="微软雅黑" panose="020B0503020204020204" charset="-122"/>
              </a:rPr>
              <a:t>①</a:t>
            </a: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符合“三张清单”逻辑主线，符合多跨协同等一体化、集约化、协同化规范要求主要为全市性的多融跨场景应用。</a:t>
            </a:r>
            <a:endParaRPr lang="en-US" altLang="zh-CN" sz="1600" dirty="0">
              <a:solidFill>
                <a:prstClr val="black"/>
              </a:solidFill>
              <a:latin typeface="微软雅黑" panose="020B0503020204020204" charset="-122"/>
              <a:ea typeface="微软雅黑" panose="020B0503020204020204" charset="-122"/>
              <a:cs typeface="微软雅黑" panose="020B0503020204020204" charset="-122"/>
              <a:sym typeface="+mn-ea"/>
            </a:endParaRPr>
          </a:p>
          <a:p>
            <a:pPr>
              <a:lnSpc>
                <a:spcPct val="100000"/>
              </a:lnSpc>
            </a:pP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②依托“一体化平台”对党政机关内部或各条线分级分散开发的存量应用进一步整合迭代。</a:t>
            </a:r>
            <a:endParaRPr lang="zh-CN" altLang="en-US" sz="1600" dirty="0">
              <a:solidFill>
                <a:prstClr val="black"/>
              </a:solidFill>
              <a:latin typeface="微软雅黑" panose="020B0503020204020204" charset="-122"/>
              <a:ea typeface="微软雅黑" panose="020B0503020204020204" charset="-122"/>
              <a:cs typeface="微软雅黑" panose="020B0503020204020204" charset="-122"/>
            </a:endParaRPr>
          </a:p>
          <a:p>
            <a:pPr>
              <a:lnSpc>
                <a:spcPct val="100000"/>
              </a:lnSpc>
            </a:pPr>
            <a:r>
              <a:rPr lang="zh-CN" altLang="en-US" sz="1600" b="1" dirty="0">
                <a:solidFill>
                  <a:srgbClr val="C00000"/>
                </a:solidFill>
                <a:latin typeface="微软雅黑" panose="020B0503020204020204" charset="-122"/>
                <a:ea typeface="微软雅黑" panose="020B0503020204020204" charset="-122"/>
                <a:sym typeface="+mn-ea"/>
              </a:rPr>
              <a:t>基础设施类</a:t>
            </a:r>
            <a:r>
              <a:rPr lang="zh-CN" altLang="en-US" sz="1600" dirty="0">
                <a:solidFill>
                  <a:srgbClr val="C00000"/>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包括“一体化平台”、“三级治理中心”有关应用，为全市非涉密应用开发和运维提供所需的数字资源及三级一体部署的支撑能力。</a:t>
            </a:r>
            <a:endPar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endParaRPr>
          </a:p>
        </p:txBody>
      </p:sp>
      <p:sp>
        <p:nvSpPr>
          <p:cNvPr id="33" name="文本框 32"/>
          <p:cNvSpPr txBox="1"/>
          <p:nvPr>
            <p:custDataLst>
              <p:tags r:id="rId6"/>
            </p:custDataLst>
          </p:nvPr>
        </p:nvSpPr>
        <p:spPr>
          <a:xfrm>
            <a:off x="972820" y="4698365"/>
            <a:ext cx="10198100" cy="2150745"/>
          </a:xfrm>
          <a:prstGeom prst="roundRect">
            <a:avLst>
              <a:gd name="adj" fmla="val 13227"/>
            </a:avLst>
          </a:prstGeom>
          <a:noFill/>
          <a:ln w="12700">
            <a:noFill/>
          </a:ln>
        </p:spPr>
        <p:txBody>
          <a:bodyPr wrap="square">
            <a:noAutofit/>
          </a:bodyPr>
          <a:p>
            <a:pPr defTabSz="1219200" eaLnBrk="0" hangingPunct="0">
              <a:lnSpc>
                <a:spcPct val="100000"/>
              </a:lnSpc>
              <a:defRPr/>
            </a:pPr>
            <a:r>
              <a:rPr lang="zh-CN" altLang="en-US" sz="1600" b="1" dirty="0">
                <a:solidFill>
                  <a:srgbClr val="C00000"/>
                </a:solidFill>
                <a:latin typeface="微软雅黑" panose="020B0503020204020204" charset="-122"/>
                <a:ea typeface="微软雅黑" panose="020B0503020204020204" charset="-122"/>
              </a:rPr>
              <a:t>涉密应用</a:t>
            </a:r>
            <a:endParaRPr lang="zh-CN" altLang="en-US" sz="1600" b="1" dirty="0">
              <a:solidFill>
                <a:srgbClr val="C00000"/>
              </a:solidFill>
              <a:latin typeface="微软雅黑" panose="020B0503020204020204" charset="-122"/>
              <a:ea typeface="微软雅黑" panose="020B0503020204020204" charset="-122"/>
            </a:endParaRPr>
          </a:p>
          <a:p>
            <a:pPr defTabSz="1219200" eaLnBrk="0" hangingPunct="0">
              <a:lnSpc>
                <a:spcPct val="100000"/>
              </a:lnSpc>
              <a:defRPr/>
            </a:pP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①涉密应用不编目；</a:t>
            </a:r>
            <a:endPar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endParaRPr>
          </a:p>
          <a:p>
            <a:pPr defTabSz="1219200" eaLnBrk="0" hangingPunct="0">
              <a:lnSpc>
                <a:spcPct val="100000"/>
              </a:lnSpc>
              <a:defRPr/>
            </a:pP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②涉密应用在谋划阶段原则上不按照“</a:t>
            </a: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sym typeface="+mn-ea"/>
              </a:rPr>
              <a:t>三张清单”有关规定进行</a:t>
            </a: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；（单位内需要进行立项定密）</a:t>
            </a:r>
            <a:endPar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endParaRPr>
          </a:p>
          <a:p>
            <a:pPr defTabSz="1219200" eaLnBrk="0" hangingPunct="0">
              <a:lnSpc>
                <a:spcPct val="100000"/>
              </a:lnSpc>
              <a:defRPr/>
            </a:pP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③应遵循相关保密法律法规有关规定，采取切实有效手段，安全报送资料。需进行</a:t>
            </a:r>
            <a:r>
              <a:rPr lang="zh-CN" altLang="en-US" sz="1600" b="1" dirty="0">
                <a:solidFill>
                  <a:srgbClr val="C00000"/>
                </a:solidFill>
                <a:latin typeface="微软雅黑" panose="020B0503020204020204" charset="-122"/>
                <a:ea typeface="微软雅黑" panose="020B0503020204020204" charset="-122"/>
                <a:cs typeface="微软雅黑" panose="020B0503020204020204" charset="-122"/>
                <a:sym typeface="+mn-ea"/>
              </a:rPr>
              <a:t>线下应用开发方案的申报审批需要线下进行，流程同非涉密项目</a:t>
            </a:r>
            <a:endPar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endParaRPr>
          </a:p>
          <a:p>
            <a:pPr defTabSz="1219200" eaLnBrk="0" hangingPunct="0">
              <a:lnSpc>
                <a:spcPct val="100000"/>
              </a:lnSpc>
              <a:defRPr/>
            </a:pPr>
            <a:endPar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endParaRPr>
          </a:p>
          <a:p>
            <a:pPr>
              <a:lnSpc>
                <a:spcPct val="100000"/>
              </a:lnSpc>
            </a:pPr>
            <a:endParaRPr lang="zh-CN" altLang="en-US" sz="1600" b="1" dirty="0">
              <a:latin typeface="微软雅黑" panose="020B0503020204020204" charset="-122"/>
              <a:ea typeface="微软雅黑" panose="020B0503020204020204" charset="-122"/>
            </a:endParaRPr>
          </a:p>
        </p:txBody>
      </p:sp>
      <p:sp>
        <p:nvSpPr>
          <p:cNvPr id="38" name="文本框 37"/>
          <p:cNvSpPr txBox="1"/>
          <p:nvPr/>
        </p:nvSpPr>
        <p:spPr>
          <a:xfrm>
            <a:off x="1056005" y="6028055"/>
            <a:ext cx="10175875" cy="829945"/>
          </a:xfrm>
          <a:prstGeom prst="rect">
            <a:avLst/>
          </a:prstGeom>
          <a:noFill/>
        </p:spPr>
        <p:txBody>
          <a:bodyPr wrap="square" rtlCol="0" anchor="t">
            <a:spAutoFit/>
          </a:bodyPr>
          <a:p>
            <a:pPr algn="l" defTabSz="1219200">
              <a:lnSpc>
                <a:spcPct val="100000"/>
              </a:lnSpc>
              <a:defRPr/>
            </a:pPr>
            <a:r>
              <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rPr>
              <a:t>开展涉密项目提前咨询：</a:t>
            </a:r>
            <a:b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mn-ea"/>
              </a:rPr>
            </a:br>
            <a:r>
              <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rPr>
              <a:t>大数据局涉密项目管理联系人（数字城市处</a:t>
            </a:r>
            <a:r>
              <a:rPr lang="en-US" altLang="zh-CN" sz="1200" i="1" dirty="0">
                <a:solidFill>
                  <a:srgbClr val="C00000"/>
                </a:solidFill>
                <a:latin typeface="微软雅黑" panose="020B0503020204020204" charset="-122"/>
                <a:ea typeface="微软雅黑" panose="020B0503020204020204" charset="-122"/>
                <a:cs typeface="微软雅黑" panose="020B0503020204020204" charset="-122"/>
                <a:sym typeface="+mn-ea"/>
              </a:rPr>
              <a:t>-</a:t>
            </a:r>
            <a:r>
              <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rPr>
              <a:t>朱骐文）</a:t>
            </a:r>
            <a:endPar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algn="l" defTabSz="1219200">
              <a:lnSpc>
                <a:spcPct val="100000"/>
              </a:lnSpc>
              <a:defRPr/>
            </a:pPr>
            <a:r>
              <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rPr>
              <a:t>机要局管理涉密项目管理要求（如责任部门没有涉密环境可提供环境）</a:t>
            </a:r>
            <a:endPar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algn="l" defTabSz="1219200">
              <a:lnSpc>
                <a:spcPct val="100000"/>
              </a:lnSpc>
              <a:defRPr/>
            </a:pPr>
            <a:endParaRPr lang="zh-CN" altLang="en-US" sz="1200" i="1" dirty="0">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grpSp>
        <p:nvGrpSpPr>
          <p:cNvPr id="8" name="组合 7"/>
          <p:cNvGrpSpPr/>
          <p:nvPr/>
        </p:nvGrpSpPr>
        <p:grpSpPr>
          <a:xfrm>
            <a:off x="480060" y="1292860"/>
            <a:ext cx="11330940" cy="994410"/>
            <a:chOff x="361" y="1521"/>
            <a:chExt cx="17844" cy="1758"/>
          </a:xfrm>
        </p:grpSpPr>
        <p:sp>
          <p:nvSpPr>
            <p:cNvPr id="31" name="燕尾形 30"/>
            <p:cNvSpPr/>
            <p:nvPr>
              <p:custDataLst>
                <p:tags r:id="rId7"/>
              </p:custDataLst>
            </p:nvPr>
          </p:nvSpPr>
          <p:spPr>
            <a:xfrm>
              <a:off x="361" y="1521"/>
              <a:ext cx="17844" cy="1759"/>
            </a:xfrm>
            <a:prstGeom prst="chevron">
              <a:avLst/>
            </a:prstGeom>
            <a:gradFill>
              <a:gsLst>
                <a:gs pos="0">
                  <a:schemeClr val="accent1">
                    <a:lumMod val="20000"/>
                    <a:lumOff val="80000"/>
                    <a:alpha val="20000"/>
                  </a:schemeClr>
                </a:gs>
                <a:gs pos="100000">
                  <a:schemeClr val="accent1">
                    <a:lumMod val="40000"/>
                    <a:lumOff val="60000"/>
                    <a:alpha val="100000"/>
                  </a:schemeClr>
                </a:gs>
              </a:gsLst>
              <a:lin ang="0" scaled="0"/>
            </a:gradFill>
            <a:ln>
              <a:noFill/>
            </a:ln>
            <a:effectLst>
              <a:outerShdw blurRad="177800" dist="63500" dir="8100000" algn="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思源黑体 CN Regular" panose="020B0500000000000000" charset="-122"/>
              </a:endParaRPr>
            </a:p>
          </p:txBody>
        </p:sp>
        <p:sp>
          <p:nvSpPr>
            <p:cNvPr id="4" name="燕尾形 3"/>
            <p:cNvSpPr/>
            <p:nvPr>
              <p:custDataLst>
                <p:tags r:id="rId8"/>
              </p:custDataLst>
            </p:nvPr>
          </p:nvSpPr>
          <p:spPr>
            <a:xfrm>
              <a:off x="1201" y="1760"/>
              <a:ext cx="2949" cy="1196"/>
            </a:xfrm>
            <a:prstGeom prst="chevron">
              <a:avLst/>
            </a:prstGeom>
            <a:gradFill>
              <a:gsLst>
                <a:gs pos="0">
                  <a:schemeClr val="accent1">
                    <a:lumMod val="55000"/>
                    <a:lumOff val="45000"/>
                    <a:alpha val="100000"/>
                  </a:schemeClr>
                </a:gs>
                <a:gs pos="100000">
                  <a:schemeClr val="accent1">
                    <a:alpha val="100000"/>
                  </a:schemeClr>
                </a:gs>
              </a:gsLst>
              <a:lin ang="0" scaled="0"/>
            </a:gradFill>
            <a:ln>
              <a:noFill/>
            </a:ln>
            <a:effectLst>
              <a:outerShdw blurRad="152400" dist="88900" dir="8100000" algn="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zh-CN" altLang="en-US" sz="1400" b="1">
                  <a:sym typeface="+mn-ea"/>
                </a:rPr>
                <a:t>三张清单申报</a:t>
              </a:r>
              <a:endParaRPr lang="zh-CN" altLang="en-US" sz="1400" b="1" cap="all">
                <a:solidFill>
                  <a:srgbClr val="FFFFFF"/>
                </a:solidFill>
                <a:uFillTx/>
                <a:latin typeface="+mn-ea"/>
                <a:cs typeface="+mn-ea"/>
                <a:sym typeface="+mn-ea"/>
              </a:endParaRPr>
            </a:p>
          </p:txBody>
        </p:sp>
        <p:sp>
          <p:nvSpPr>
            <p:cNvPr id="34" name="燕尾形 33"/>
            <p:cNvSpPr/>
            <p:nvPr>
              <p:custDataLst>
                <p:tags r:id="rId9"/>
              </p:custDataLst>
            </p:nvPr>
          </p:nvSpPr>
          <p:spPr>
            <a:xfrm>
              <a:off x="3844" y="1760"/>
              <a:ext cx="2949" cy="1196"/>
            </a:xfrm>
            <a:prstGeom prst="chevron">
              <a:avLst/>
            </a:prstGeom>
            <a:gradFill>
              <a:gsLst>
                <a:gs pos="0">
                  <a:schemeClr val="accent2">
                    <a:lumMod val="70000"/>
                    <a:lumOff val="30000"/>
                    <a:alpha val="100000"/>
                  </a:schemeClr>
                </a:gs>
                <a:gs pos="100000">
                  <a:schemeClr val="accent2">
                    <a:lumMod val="95000"/>
                    <a:alpha val="100000"/>
                  </a:schemeClr>
                </a:gs>
              </a:gsLst>
              <a:lin ang="0" scaled="0"/>
            </a:gradFill>
            <a:ln>
              <a:noFill/>
            </a:ln>
            <a:effectLst>
              <a:outerShdw blurRad="152400" dist="88900" dir="8100000" algn="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zh-CN" altLang="en-US" sz="1400" b="1">
                  <a:sym typeface="+mn-ea"/>
                </a:rPr>
                <a:t>应用申报及审核</a:t>
              </a:r>
              <a:endParaRPr lang="zh-CN" altLang="en-US" sz="1400" b="1" cap="all">
                <a:solidFill>
                  <a:srgbClr val="FFFFFF"/>
                </a:solidFill>
                <a:uFillTx/>
                <a:latin typeface="+mn-ea"/>
                <a:cs typeface="+mn-ea"/>
                <a:sym typeface="+mn-ea"/>
              </a:endParaRPr>
            </a:p>
          </p:txBody>
        </p:sp>
        <p:sp>
          <p:nvSpPr>
            <p:cNvPr id="35" name="燕尾形 34"/>
            <p:cNvSpPr/>
            <p:nvPr>
              <p:custDataLst>
                <p:tags r:id="rId10"/>
              </p:custDataLst>
            </p:nvPr>
          </p:nvSpPr>
          <p:spPr>
            <a:xfrm>
              <a:off x="6487" y="1760"/>
              <a:ext cx="2949" cy="1196"/>
            </a:xfrm>
            <a:prstGeom prst="chevron">
              <a:avLst/>
            </a:prstGeom>
            <a:gradFill>
              <a:gsLst>
                <a:gs pos="0">
                  <a:schemeClr val="accent1">
                    <a:lumMod val="85000"/>
                    <a:lumOff val="15000"/>
                    <a:alpha val="100000"/>
                  </a:schemeClr>
                </a:gs>
                <a:gs pos="100000">
                  <a:schemeClr val="accent1">
                    <a:lumMod val="90000"/>
                    <a:alpha val="100000"/>
                  </a:schemeClr>
                </a:gs>
              </a:gsLst>
              <a:lin ang="0" scaled="0"/>
            </a:gradFill>
            <a:ln>
              <a:noFill/>
            </a:ln>
            <a:effectLst>
              <a:outerShdw blurRad="152400" dist="88900" dir="8100000" algn="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zh-CN" altLang="en-US" sz="1400" b="1">
                  <a:sym typeface="+mn-ea"/>
                </a:rPr>
                <a:t>组织采购</a:t>
              </a:r>
              <a:endParaRPr lang="zh-CN" altLang="en-US" sz="1400" b="1" cap="all">
                <a:solidFill>
                  <a:srgbClr val="FFFFFF"/>
                </a:solidFill>
                <a:uFillTx/>
                <a:latin typeface="+mn-ea"/>
                <a:cs typeface="+mn-ea"/>
                <a:sym typeface="+mn-ea"/>
              </a:endParaRPr>
            </a:p>
          </p:txBody>
        </p:sp>
        <p:sp>
          <p:nvSpPr>
            <p:cNvPr id="193" name="燕尾形 192"/>
            <p:cNvSpPr/>
            <p:nvPr>
              <p:custDataLst>
                <p:tags r:id="rId11"/>
              </p:custDataLst>
            </p:nvPr>
          </p:nvSpPr>
          <p:spPr>
            <a:xfrm>
              <a:off x="9130" y="1760"/>
              <a:ext cx="2949" cy="1196"/>
            </a:xfrm>
            <a:prstGeom prst="chevron">
              <a:avLst/>
            </a:prstGeom>
            <a:gradFill>
              <a:gsLst>
                <a:gs pos="0">
                  <a:schemeClr val="accent2">
                    <a:lumMod val="85000"/>
                    <a:lumOff val="15000"/>
                    <a:alpha val="100000"/>
                  </a:schemeClr>
                </a:gs>
                <a:gs pos="100000">
                  <a:schemeClr val="accent2">
                    <a:lumMod val="85000"/>
                    <a:alpha val="100000"/>
                  </a:schemeClr>
                </a:gs>
              </a:gsLst>
              <a:lin ang="0" scaled="0"/>
            </a:gradFill>
            <a:ln>
              <a:noFill/>
            </a:ln>
            <a:effectLst>
              <a:outerShdw blurRad="152400" dist="88900" dir="8100000" algn="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zh-CN" altLang="en-US" sz="1400" b="1">
                  <a:sym typeface="+mn-ea"/>
                </a:rPr>
                <a:t>组织实施</a:t>
              </a:r>
              <a:endParaRPr lang="zh-CN" altLang="en-US" sz="1400" b="1" cap="all">
                <a:solidFill>
                  <a:srgbClr val="FFFFFF"/>
                </a:solidFill>
                <a:uFillTx/>
                <a:latin typeface="+mn-ea"/>
                <a:cs typeface="+mn-ea"/>
                <a:sym typeface="+mn-ea"/>
              </a:endParaRPr>
            </a:p>
          </p:txBody>
        </p:sp>
        <p:sp>
          <p:nvSpPr>
            <p:cNvPr id="36" name="燕尾形 35"/>
            <p:cNvSpPr/>
            <p:nvPr>
              <p:custDataLst>
                <p:tags r:id="rId12"/>
              </p:custDataLst>
            </p:nvPr>
          </p:nvSpPr>
          <p:spPr>
            <a:xfrm>
              <a:off x="11773" y="1760"/>
              <a:ext cx="2949" cy="1196"/>
            </a:xfrm>
            <a:prstGeom prst="chevron">
              <a:avLst/>
            </a:prstGeom>
            <a:gradFill>
              <a:gsLst>
                <a:gs pos="0">
                  <a:schemeClr val="accent1">
                    <a:alpha val="100000"/>
                  </a:schemeClr>
                </a:gs>
                <a:gs pos="100000">
                  <a:schemeClr val="accent1">
                    <a:lumMod val="80000"/>
                    <a:alpha val="100000"/>
                  </a:schemeClr>
                </a:gs>
              </a:gsLst>
              <a:lin ang="0" scaled="0"/>
            </a:gradFill>
            <a:ln>
              <a:noFill/>
            </a:ln>
            <a:effectLst>
              <a:outerShdw blurRad="152400" dist="88900" dir="8100000" algn="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zh-CN" altLang="en-US" sz="1400" b="1">
                  <a:sym typeface="+mn-ea"/>
                </a:rPr>
                <a:t>组织</a:t>
              </a:r>
              <a:r>
                <a:rPr lang="zh-CN" altLang="en-US" sz="1400">
                  <a:sym typeface="+mn-ea"/>
                </a:rPr>
                <a:t>验收</a:t>
              </a:r>
              <a:endParaRPr lang="zh-CN" altLang="en-US" sz="1400" b="1" cap="all">
                <a:solidFill>
                  <a:srgbClr val="FFFFFF"/>
                </a:solidFill>
                <a:uFillTx/>
                <a:latin typeface="+mn-ea"/>
                <a:cs typeface="+mn-ea"/>
                <a:sym typeface="+mn-ea"/>
              </a:endParaRPr>
            </a:p>
          </p:txBody>
        </p:sp>
        <p:sp>
          <p:nvSpPr>
            <p:cNvPr id="37" name="燕尾形 36"/>
            <p:cNvSpPr/>
            <p:nvPr>
              <p:custDataLst>
                <p:tags r:id="rId13"/>
              </p:custDataLst>
            </p:nvPr>
          </p:nvSpPr>
          <p:spPr>
            <a:xfrm>
              <a:off x="14416" y="1760"/>
              <a:ext cx="2949" cy="1196"/>
            </a:xfrm>
            <a:prstGeom prst="chevron">
              <a:avLst/>
            </a:prstGeom>
            <a:gradFill>
              <a:gsLst>
                <a:gs pos="0">
                  <a:schemeClr val="accent2">
                    <a:alpha val="100000"/>
                  </a:schemeClr>
                </a:gs>
                <a:gs pos="100000">
                  <a:schemeClr val="accent2">
                    <a:lumMod val="75000"/>
                    <a:alpha val="100000"/>
                  </a:schemeClr>
                </a:gs>
              </a:gsLst>
              <a:lin ang="0" scaled="0"/>
            </a:gradFill>
            <a:ln>
              <a:noFill/>
            </a:ln>
            <a:effectLst>
              <a:outerShdw blurRad="152400" dist="88900" dir="8100000" algn="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zh-CN" altLang="en-US" sz="1400">
                  <a:sym typeface="+mn-ea"/>
                </a:rPr>
                <a:t>应用评价</a:t>
              </a:r>
              <a:endParaRPr lang="en-US" altLang="zh-CN" sz="1400" b="1" cap="all" dirty="0">
                <a:solidFill>
                  <a:srgbClr val="FFFFFF"/>
                </a:solidFill>
                <a:uFillTx/>
                <a:latin typeface="+mn-ea"/>
                <a:cs typeface="+mn-ea"/>
                <a:sym typeface="+mn-ea"/>
              </a:endParaRPr>
            </a:p>
          </p:txBody>
        </p:sp>
      </p:grpSp>
    </p:spTree>
    <p:custDataLst>
      <p:tags r:id="rId1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20220419加快制造业高端化数字化绿色化高质量发展建设全球先进制造业基地（省经信厅）222_19"/>
          <p:cNvPicPr>
            <a:picLocks noChangeAspect="1"/>
          </p:cNvPicPr>
          <p:nvPr/>
        </p:nvPicPr>
        <p:blipFill>
          <a:blip r:embed="rId1"/>
          <a:srcRect b="3538"/>
          <a:stretch>
            <a:fillRect/>
          </a:stretch>
        </p:blipFill>
        <p:spPr>
          <a:xfrm>
            <a:off x="335915" y="836930"/>
            <a:ext cx="10880725" cy="5904230"/>
          </a:xfrm>
          <a:prstGeom prst="rect">
            <a:avLst/>
          </a:prstGeom>
        </p:spPr>
      </p:pic>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2"/>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3"/>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4"/>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5"/>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5.2“</a:t>
            </a:r>
            <a:r>
              <a:rPr lang="zh-CN" altLang="en-US" sz="2800" b="1" dirty="0">
                <a:solidFill>
                  <a:srgbClr val="0070C0"/>
                </a:solidFill>
                <a:latin typeface="微软雅黑" panose="020B0503020204020204" charset="-122"/>
                <a:ea typeface="微软雅黑" panose="020B0503020204020204" charset="-122"/>
                <a:sym typeface="+mn-ea"/>
              </a:rPr>
              <a:t>三张清单</a:t>
            </a:r>
            <a:r>
              <a:rPr lang="en-US" altLang="zh-CN" sz="2800" b="1" dirty="0">
                <a:solidFill>
                  <a:srgbClr val="0070C0"/>
                </a:solidFill>
                <a:latin typeface="微软雅黑" panose="020B0503020204020204" charset="-122"/>
                <a:ea typeface="微软雅黑" panose="020B0503020204020204" charset="-122"/>
                <a:sym typeface="+mn-ea"/>
              </a:rPr>
              <a:t>”</a:t>
            </a:r>
            <a:r>
              <a:rPr lang="zh-CN" altLang="en-US" sz="2800" b="1" dirty="0">
                <a:solidFill>
                  <a:srgbClr val="0070C0"/>
                </a:solidFill>
                <a:latin typeface="微软雅黑" panose="020B0503020204020204" charset="-122"/>
                <a:ea typeface="微软雅黑" panose="020B0503020204020204" charset="-122"/>
                <a:sym typeface="+mn-ea"/>
              </a:rPr>
              <a:t>论证审查程序</a:t>
            </a:r>
            <a:r>
              <a:rPr lang="en-US" altLang="zh-CN" sz="2800" b="1" dirty="0">
                <a:solidFill>
                  <a:srgbClr val="0070C0"/>
                </a:solidFill>
                <a:latin typeface="微软雅黑" panose="020B0503020204020204" charset="-122"/>
                <a:ea typeface="微软雅黑" panose="020B0503020204020204" charset="-122"/>
                <a:sym typeface="+mn-ea"/>
              </a:rPr>
              <a:t>    </a:t>
            </a:r>
            <a:endParaRPr lang="en-US" altLang="zh-CN" sz="2800" b="1" spc="10" dirty="0">
              <a:solidFill>
                <a:srgbClr val="0070C0"/>
              </a:solidFill>
              <a:uFillTx/>
              <a:latin typeface="微软雅黑" panose="020B0503020204020204" charset="-122"/>
              <a:ea typeface="微软雅黑" panose="020B0503020204020204" charset="-122"/>
              <a:sym typeface="+mn-ea"/>
            </a:endParaRPr>
          </a:p>
        </p:txBody>
      </p:sp>
    </p:spTree>
    <p:custDataLst>
      <p:tags r:id="rId6"/>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5.2“</a:t>
            </a:r>
            <a:r>
              <a:rPr lang="zh-CN" altLang="en-US" sz="2800" b="1" dirty="0">
                <a:solidFill>
                  <a:srgbClr val="0070C0"/>
                </a:solidFill>
                <a:latin typeface="微软雅黑" panose="020B0503020204020204" charset="-122"/>
                <a:ea typeface="微软雅黑" panose="020B0503020204020204" charset="-122"/>
                <a:sym typeface="+mn-ea"/>
              </a:rPr>
              <a:t>三张清单</a:t>
            </a:r>
            <a:r>
              <a:rPr lang="en-US" altLang="zh-CN" sz="2800" b="1" dirty="0">
                <a:solidFill>
                  <a:srgbClr val="0070C0"/>
                </a:solidFill>
                <a:latin typeface="微软雅黑" panose="020B0503020204020204" charset="-122"/>
                <a:ea typeface="微软雅黑" panose="020B0503020204020204" charset="-122"/>
                <a:sym typeface="+mn-ea"/>
              </a:rPr>
              <a:t>”</a:t>
            </a:r>
            <a:r>
              <a:rPr lang="zh-CN" altLang="en-US" sz="2800" b="1" dirty="0">
                <a:solidFill>
                  <a:srgbClr val="0070C0"/>
                </a:solidFill>
                <a:latin typeface="微软雅黑" panose="020B0503020204020204" charset="-122"/>
                <a:ea typeface="微软雅黑" panose="020B0503020204020204" charset="-122"/>
                <a:sym typeface="+mn-ea"/>
              </a:rPr>
              <a:t>论证审查程序</a:t>
            </a:r>
            <a:r>
              <a:rPr lang="en-US" altLang="zh-CN" sz="2800" b="1" dirty="0">
                <a:solidFill>
                  <a:srgbClr val="0070C0"/>
                </a:solidFill>
                <a:latin typeface="微软雅黑" panose="020B0503020204020204" charset="-122"/>
                <a:ea typeface="微软雅黑" panose="020B0503020204020204" charset="-122"/>
                <a:sym typeface="+mn-ea"/>
              </a:rPr>
              <a:t>    </a:t>
            </a:r>
            <a:endParaRPr lang="en-US" altLang="zh-CN" sz="2800" b="1" spc="10" dirty="0">
              <a:solidFill>
                <a:srgbClr val="0070C0"/>
              </a:solidFill>
              <a:uFillTx/>
              <a:latin typeface="微软雅黑" panose="020B0503020204020204" charset="-122"/>
              <a:ea typeface="微软雅黑" panose="020B0503020204020204" charset="-122"/>
              <a:sym typeface="+mn-ea"/>
            </a:endParaRPr>
          </a:p>
        </p:txBody>
      </p:sp>
      <p:sp>
        <p:nvSpPr>
          <p:cNvPr id="2" name="文本框 1"/>
          <p:cNvSpPr txBox="1"/>
          <p:nvPr/>
        </p:nvSpPr>
        <p:spPr>
          <a:xfrm>
            <a:off x="508000" y="1086485"/>
            <a:ext cx="11225530" cy="5692775"/>
          </a:xfrm>
          <a:prstGeom prst="rect">
            <a:avLst/>
          </a:prstGeom>
          <a:noFill/>
        </p:spPr>
        <p:txBody>
          <a:bodyPr wrap="square" rtlCol="0" anchor="t">
            <a:spAutoFit/>
          </a:bodyPr>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（一）</a:t>
            </a:r>
            <a:r>
              <a:rPr lang="zh-CN" altLang="en-US" b="1">
                <a:solidFill>
                  <a:srgbClr val="0070C0"/>
                </a:solidFill>
                <a:latin typeface="微软雅黑" panose="020B0503020204020204" charset="-122"/>
                <a:ea typeface="微软雅黑" panose="020B0503020204020204" charset="-122"/>
                <a:cs typeface="微软雅黑" panose="020B0503020204020204" charset="-122"/>
              </a:rPr>
              <a:t>应用申报部门（单位）</a:t>
            </a:r>
            <a:r>
              <a:rPr lang="zh-CN" altLang="en-US">
                <a:latin typeface="微软雅黑" panose="020B0503020204020204" charset="-122"/>
                <a:ea typeface="微软雅黑" panose="020B0503020204020204" charset="-122"/>
                <a:cs typeface="微软雅黑" panose="020B0503020204020204" charset="-122"/>
              </a:rPr>
              <a:t>组织应用涉及的相关市级部门（单位），进行论证审查。论证认为“三张清单”需求分析清楚、场景切合实际、改革措施可行的，由</a:t>
            </a:r>
            <a:r>
              <a:rPr lang="zh-CN" altLang="en-US" b="1">
                <a:solidFill>
                  <a:srgbClr val="0070C0"/>
                </a:solidFill>
                <a:latin typeface="微软雅黑" panose="020B0503020204020204" charset="-122"/>
                <a:ea typeface="微软雅黑" panose="020B0503020204020204" charset="-122"/>
                <a:cs typeface="微软雅黑" panose="020B0503020204020204" charset="-122"/>
              </a:rPr>
              <a:t>应用申报部门（单位）形成书面意见函</a:t>
            </a:r>
            <a:r>
              <a:rPr lang="zh-CN" altLang="en-US">
                <a:latin typeface="微软雅黑" panose="020B0503020204020204" charset="-122"/>
                <a:ea typeface="微软雅黑" panose="020B0503020204020204" charset="-122"/>
                <a:cs typeface="微软雅黑" panose="020B0503020204020204" charset="-122"/>
              </a:rPr>
              <a:t>，正式报送对应的</a:t>
            </a:r>
            <a:r>
              <a:rPr lang="zh-CN" altLang="en-US" b="1">
                <a:solidFill>
                  <a:srgbClr val="0070C0"/>
                </a:solidFill>
                <a:latin typeface="微软雅黑" panose="020B0503020204020204" charset="-122"/>
                <a:ea typeface="微软雅黑" panose="020B0503020204020204" charset="-122"/>
                <a:cs typeface="微软雅黑" panose="020B0503020204020204" charset="-122"/>
              </a:rPr>
              <a:t>专题组</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（二）各</a:t>
            </a:r>
            <a:r>
              <a:rPr lang="zh-CN" altLang="en-US" b="1">
                <a:solidFill>
                  <a:srgbClr val="0070C0"/>
                </a:solidFill>
                <a:latin typeface="微软雅黑" panose="020B0503020204020204" charset="-122"/>
                <a:ea typeface="微软雅黑" panose="020B0503020204020204" charset="-122"/>
                <a:cs typeface="微软雅黑" panose="020B0503020204020204" charset="-122"/>
              </a:rPr>
              <a:t>专题组</a:t>
            </a:r>
            <a:r>
              <a:rPr lang="zh-CN" altLang="en-US">
                <a:latin typeface="微软雅黑" panose="020B0503020204020204" charset="-122"/>
                <a:ea typeface="微软雅黑" panose="020B0503020204020204" charset="-122"/>
                <a:cs typeface="微软雅黑" panose="020B0503020204020204" charset="-122"/>
              </a:rPr>
              <a:t>应当在收到应用申报部门（单位）书面意见函后 10 个工作日内，</a:t>
            </a:r>
            <a:r>
              <a:rPr lang="zh-CN" altLang="en-US" b="1">
                <a:solidFill>
                  <a:srgbClr val="0070C0"/>
                </a:solidFill>
                <a:latin typeface="微软雅黑" panose="020B0503020204020204" charset="-122"/>
                <a:ea typeface="微软雅黑" panose="020B0503020204020204" charset="-122"/>
                <a:cs typeface="微软雅黑" panose="020B0503020204020204" charset="-122"/>
              </a:rPr>
              <a:t>组织相关市级部门进行论证审查</a:t>
            </a:r>
            <a:r>
              <a:rPr lang="zh-CN" altLang="en-US">
                <a:latin typeface="微软雅黑" panose="020B0503020204020204" charset="-122"/>
                <a:ea typeface="微软雅黑" panose="020B0503020204020204" charset="-122"/>
                <a:cs typeface="微软雅黑" panose="020B0503020204020204" charset="-122"/>
              </a:rPr>
              <a:t>，并在 5 个工作日内完成。论证认为“三张清单”需求分析清楚、场景切合实际、改革措施可行、应当加快实施的，由</a:t>
            </a:r>
            <a:r>
              <a:rPr lang="zh-CN" altLang="en-US" b="1">
                <a:solidFill>
                  <a:srgbClr val="0070C0"/>
                </a:solidFill>
                <a:latin typeface="微软雅黑" panose="020B0503020204020204" charset="-122"/>
                <a:ea typeface="微软雅黑" panose="020B0503020204020204" charset="-122"/>
                <a:cs typeface="微软雅黑" panose="020B0503020204020204" charset="-122"/>
              </a:rPr>
              <a:t>专题组形成书面意见函</a:t>
            </a:r>
            <a:r>
              <a:rPr lang="zh-CN" altLang="en-US">
                <a:latin typeface="微软雅黑" panose="020B0503020204020204" charset="-122"/>
                <a:ea typeface="微软雅黑" panose="020B0503020204020204" charset="-122"/>
                <a:cs typeface="微软雅黑" panose="020B0503020204020204" charset="-122"/>
              </a:rPr>
              <a:t>，正式报送</a:t>
            </a:r>
            <a:r>
              <a:rPr lang="zh-CN" altLang="en-US" b="1">
                <a:solidFill>
                  <a:srgbClr val="0070C0"/>
                </a:solidFill>
                <a:latin typeface="微软雅黑" panose="020B0503020204020204" charset="-122"/>
                <a:ea typeface="微软雅黑" panose="020B0503020204020204" charset="-122"/>
                <a:cs typeface="微软雅黑" panose="020B0503020204020204" charset="-122"/>
              </a:rPr>
              <a:t>市大数据发展局</a:t>
            </a:r>
            <a:r>
              <a:rPr lang="zh-CN" altLang="en-US">
                <a:latin typeface="微软雅黑" panose="020B0503020204020204" charset="-122"/>
                <a:ea typeface="微软雅黑" panose="020B0503020204020204" charset="-122"/>
                <a:cs typeface="微软雅黑" panose="020B0503020204020204" charset="-122"/>
              </a:rPr>
              <a:t>论证审查；认为“三张清单”需求分析不清、场景有待完善、改革措施难以落地的，由专题组形成书面意见函，反馈</a:t>
            </a:r>
            <a:r>
              <a:rPr lang="zh-CN" altLang="en-US" b="1">
                <a:solidFill>
                  <a:srgbClr val="0070C0"/>
                </a:solidFill>
                <a:latin typeface="微软雅黑" panose="020B0503020204020204" charset="-122"/>
                <a:ea typeface="微软雅黑" panose="020B0503020204020204" charset="-122"/>
                <a:cs typeface="微软雅黑" panose="020B0503020204020204" charset="-122"/>
              </a:rPr>
              <a:t>应用申报部门（单位）</a:t>
            </a:r>
            <a:r>
              <a:rPr lang="zh-CN" altLang="en-US">
                <a:latin typeface="微软雅黑" panose="020B0503020204020204" charset="-122"/>
                <a:ea typeface="微软雅黑" panose="020B0503020204020204" charset="-122"/>
                <a:cs typeface="微软雅黑" panose="020B0503020204020204" charset="-122"/>
              </a:rPr>
              <a:t>重新论证完善。</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（三）</a:t>
            </a:r>
            <a:r>
              <a:rPr lang="zh-CN" altLang="en-US" b="1">
                <a:solidFill>
                  <a:srgbClr val="0070C0"/>
                </a:solidFill>
                <a:latin typeface="微软雅黑" panose="020B0503020204020204" charset="-122"/>
                <a:ea typeface="微软雅黑" panose="020B0503020204020204" charset="-122"/>
                <a:cs typeface="微软雅黑" panose="020B0503020204020204" charset="-122"/>
              </a:rPr>
              <a:t>市大数据发展局</a:t>
            </a:r>
            <a:r>
              <a:rPr lang="zh-CN" altLang="en-US">
                <a:latin typeface="微软雅黑" panose="020B0503020204020204" charset="-122"/>
                <a:ea typeface="微软雅黑" panose="020B0503020204020204" charset="-122"/>
                <a:cs typeface="微软雅黑" panose="020B0503020204020204" charset="-122"/>
              </a:rPr>
              <a:t>及时归集整理各专题组报送的应用，</a:t>
            </a:r>
            <a:r>
              <a:rPr lang="zh-CN" altLang="en-US" b="1">
                <a:solidFill>
                  <a:srgbClr val="0070C0"/>
                </a:solidFill>
                <a:latin typeface="微软雅黑" panose="020B0503020204020204" charset="-122"/>
                <a:ea typeface="微软雅黑" panose="020B0503020204020204" charset="-122"/>
                <a:cs typeface="微软雅黑" panose="020B0503020204020204" charset="-122"/>
              </a:rPr>
              <a:t>开展查重比对等审查</a:t>
            </a:r>
            <a:r>
              <a:rPr lang="zh-CN" altLang="en-US">
                <a:latin typeface="微软雅黑" panose="020B0503020204020204" charset="-122"/>
                <a:ea typeface="微软雅黑" panose="020B0503020204020204" charset="-122"/>
                <a:cs typeface="微软雅黑" panose="020B0503020204020204" charset="-122"/>
              </a:rPr>
              <a:t>。审查通过的应用，由市大数据发展局</a:t>
            </a:r>
            <a:r>
              <a:rPr lang="zh-CN" altLang="en-US" b="1">
                <a:solidFill>
                  <a:srgbClr val="0070C0"/>
                </a:solidFill>
                <a:latin typeface="微软雅黑" panose="020B0503020204020204" charset="-122"/>
                <a:ea typeface="微软雅黑" panose="020B0503020204020204" charset="-122"/>
                <a:cs typeface="微软雅黑" panose="020B0503020204020204" charset="-122"/>
              </a:rPr>
              <a:t>形成书面意见函</a:t>
            </a:r>
            <a:r>
              <a:rPr lang="zh-CN" altLang="en-US">
                <a:latin typeface="微软雅黑" panose="020B0503020204020204" charset="-122"/>
                <a:ea typeface="微软雅黑" panose="020B0503020204020204" charset="-122"/>
                <a:cs typeface="微软雅黑" panose="020B0503020204020204" charset="-122"/>
              </a:rPr>
              <a:t>，正式</a:t>
            </a:r>
            <a:r>
              <a:rPr lang="zh-CN" altLang="en-US" b="1">
                <a:solidFill>
                  <a:srgbClr val="0070C0"/>
                </a:solidFill>
                <a:latin typeface="微软雅黑" panose="020B0503020204020204" charset="-122"/>
                <a:ea typeface="微软雅黑" panose="020B0503020204020204" charset="-122"/>
                <a:cs typeface="微软雅黑" panose="020B0503020204020204" charset="-122"/>
              </a:rPr>
              <a:t>报送市委改革办</a:t>
            </a:r>
            <a:r>
              <a:rPr lang="zh-CN" altLang="en-US">
                <a:latin typeface="微软雅黑" panose="020B0503020204020204" charset="-122"/>
                <a:ea typeface="微软雅黑" panose="020B0503020204020204" charset="-122"/>
                <a:cs typeface="微软雅黑" panose="020B0503020204020204" charset="-122"/>
              </a:rPr>
              <a:t>；审查认为不可行的应用，由市大数据发展局形成书面意见函，反馈</a:t>
            </a:r>
            <a:r>
              <a:rPr lang="zh-CN" altLang="en-US" b="1">
                <a:solidFill>
                  <a:srgbClr val="0070C0"/>
                </a:solidFill>
                <a:latin typeface="微软雅黑" panose="020B0503020204020204" charset="-122"/>
                <a:ea typeface="微软雅黑" panose="020B0503020204020204" charset="-122"/>
                <a:cs typeface="微软雅黑" panose="020B0503020204020204" charset="-122"/>
              </a:rPr>
              <a:t>有关专题组和应用申报部门（单位）</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（四）</a:t>
            </a:r>
            <a:r>
              <a:rPr lang="zh-CN" altLang="en-US" b="1">
                <a:solidFill>
                  <a:srgbClr val="0070C0"/>
                </a:solidFill>
                <a:latin typeface="微软雅黑" panose="020B0503020204020204" charset="-122"/>
                <a:ea typeface="微软雅黑" panose="020B0503020204020204" charset="-122"/>
                <a:cs typeface="微软雅黑" panose="020B0503020204020204" charset="-122"/>
              </a:rPr>
              <a:t>市委改革办牵头</a:t>
            </a:r>
            <a:r>
              <a:rPr lang="zh-CN" altLang="en-US">
                <a:latin typeface="微软雅黑" panose="020B0503020204020204" charset="-122"/>
                <a:ea typeface="微软雅黑" panose="020B0503020204020204" charset="-122"/>
                <a:cs typeface="微软雅黑" panose="020B0503020204020204" charset="-122"/>
              </a:rPr>
              <a:t>负责数字重庆建设应用“三张清单”的</a:t>
            </a:r>
            <a:r>
              <a:rPr lang="zh-CN" altLang="en-US" b="1">
                <a:solidFill>
                  <a:srgbClr val="0070C0"/>
                </a:solidFill>
                <a:latin typeface="微软雅黑" panose="020B0503020204020204" charset="-122"/>
                <a:ea typeface="微软雅黑" panose="020B0503020204020204" charset="-122"/>
                <a:cs typeface="微软雅黑" panose="020B0503020204020204" charset="-122"/>
              </a:rPr>
              <a:t>联合论证审查</a:t>
            </a:r>
            <a:r>
              <a:rPr lang="zh-CN" altLang="en-US">
                <a:latin typeface="微软雅黑" panose="020B0503020204020204" charset="-122"/>
                <a:ea typeface="微软雅黑" panose="020B0503020204020204" charset="-122"/>
                <a:cs typeface="微软雅黑" panose="020B0503020204020204" charset="-122"/>
              </a:rPr>
              <a:t>，</a:t>
            </a:r>
            <a:r>
              <a:rPr lang="zh-CN" altLang="en-US" b="1">
                <a:solidFill>
                  <a:srgbClr val="0070C0"/>
                </a:solidFill>
                <a:latin typeface="微软雅黑" panose="020B0503020204020204" charset="-122"/>
                <a:ea typeface="微软雅黑" panose="020B0503020204020204" charset="-122"/>
                <a:cs typeface="微软雅黑" panose="020B0503020204020204" charset="-122"/>
              </a:rPr>
              <a:t>原则上每季度组织一次</a:t>
            </a:r>
            <a:r>
              <a:rPr lang="zh-CN" altLang="en-US">
                <a:latin typeface="微软雅黑" panose="020B0503020204020204" charset="-122"/>
                <a:ea typeface="微软雅黑" panose="020B0503020204020204" charset="-122"/>
                <a:cs typeface="微软雅黑" panose="020B0503020204020204" charset="-122"/>
              </a:rPr>
              <a:t>，根据领导要求和工作需要可适时组织。联合论证审查组由</a:t>
            </a:r>
            <a:r>
              <a:rPr lang="zh-CN" altLang="en-US" b="1">
                <a:solidFill>
                  <a:srgbClr val="0070C0"/>
                </a:solidFill>
                <a:latin typeface="微软雅黑" panose="020B0503020204020204" charset="-122"/>
                <a:ea typeface="微软雅黑" panose="020B0503020204020204" charset="-122"/>
                <a:cs typeface="微软雅黑" panose="020B0503020204020204" charset="-122"/>
              </a:rPr>
              <a:t>市委改革办、相关专题组组长单位、市大数据发展局、市财政局</a:t>
            </a:r>
            <a:r>
              <a:rPr lang="zh-CN" altLang="en-US">
                <a:latin typeface="微软雅黑" panose="020B0503020204020204" charset="-122"/>
                <a:ea typeface="微软雅黑" panose="020B0503020204020204" charset="-122"/>
                <a:cs typeface="微软雅黑" panose="020B0503020204020204" charset="-122"/>
              </a:rPr>
              <a:t>负责人和2 名专家组成，组长由 1 名专家担任。</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（五）市委改革办主持联合论证审查，按以下程序进行：</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1. 由应用申报部门（单位）报告“三张清单”情况。</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2. 由专题组有关负责人汇报前期审核情况。</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3. 联合论证审查组成员依次发言并记名投票。</a:t>
            </a:r>
            <a:endParaRPr lang="zh-CN" altLang="en-US">
              <a:latin typeface="微软雅黑" panose="020B0503020204020204" charset="-122"/>
              <a:ea typeface="微软雅黑" panose="020B0503020204020204" charset="-122"/>
              <a:cs typeface="微软雅黑" panose="020B0503020204020204" charset="-122"/>
            </a:endParaRPr>
          </a:p>
          <a:p>
            <a:pPr fontAlgn="auto">
              <a:spcBef>
                <a:spcPts val="300"/>
              </a:spcBef>
              <a:spcAft>
                <a:spcPts val="300"/>
              </a:spcAft>
            </a:pPr>
            <a:r>
              <a:rPr lang="zh-CN" altLang="en-US">
                <a:latin typeface="微软雅黑" panose="020B0503020204020204" charset="-122"/>
                <a:ea typeface="微软雅黑" panose="020B0503020204020204" charset="-122"/>
                <a:cs typeface="微软雅黑" panose="020B0503020204020204" charset="-122"/>
              </a:rPr>
              <a:t>4. 联合论证审查组根据投票结果和成员发言意见，得出论证审查结论，形成书面意见，并由各成员签字确认。</a:t>
            </a:r>
            <a:endParaRPr lang="zh-CN" altLang="en-US">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458211" y="265845"/>
            <a:ext cx="505934" cy="514803"/>
            <a:chOff x="3627907" y="1980747"/>
            <a:chExt cx="1105193" cy="762453"/>
          </a:xfrm>
          <a:solidFill>
            <a:srgbClr val="0070C0"/>
          </a:solidFill>
        </p:grpSpPr>
        <p:sp>
          <p:nvSpPr>
            <p:cNvPr id="6" name="燕尾形 19"/>
            <p:cNvSpPr/>
            <p:nvPr>
              <p:custDataLst>
                <p:tags r:id="rId1"/>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2"/>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6" name="矩形 15"/>
          <p:cNvSpPr/>
          <p:nvPr>
            <p:custDataLst>
              <p:tags r:id="rId3"/>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7" name="文本框 6"/>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5.3</a:t>
            </a:r>
            <a:r>
              <a:rPr lang="zh-CN" altLang="en-US" sz="2800" b="1" dirty="0">
                <a:solidFill>
                  <a:srgbClr val="0070C0"/>
                </a:solidFill>
                <a:latin typeface="微软雅黑" panose="020B0503020204020204" charset="-122"/>
                <a:ea typeface="微软雅黑" panose="020B0503020204020204" charset="-122"/>
                <a:sym typeface="+mn-ea"/>
              </a:rPr>
              <a:t>其他省市的数字化情况</a:t>
            </a:r>
            <a:r>
              <a:rPr lang="en-US" altLang="zh-CN" sz="2800" b="1" dirty="0">
                <a:solidFill>
                  <a:srgbClr val="0070C0"/>
                </a:solidFill>
                <a:latin typeface="微软雅黑" panose="020B0503020204020204" charset="-122"/>
                <a:ea typeface="微软雅黑" panose="020B0503020204020204" charset="-122"/>
                <a:sym typeface="+mn-ea"/>
              </a:rPr>
              <a:t>   </a:t>
            </a:r>
            <a:endParaRPr lang="en-US" altLang="zh-CN" sz="2800" b="1" spc="10" dirty="0">
              <a:solidFill>
                <a:srgbClr val="0070C0"/>
              </a:solidFill>
              <a:uFillTx/>
              <a:latin typeface="微软雅黑" panose="020B0503020204020204" charset="-122"/>
              <a:ea typeface="微软雅黑" panose="020B0503020204020204" charset="-122"/>
              <a:sym typeface="+mn-ea"/>
            </a:endParaRPr>
          </a:p>
        </p:txBody>
      </p:sp>
      <p:graphicFrame>
        <p:nvGraphicFramePr>
          <p:cNvPr id="3" name="表格 2"/>
          <p:cNvGraphicFramePr/>
          <p:nvPr/>
        </p:nvGraphicFramePr>
        <p:xfrm>
          <a:off x="104775" y="1412875"/>
          <a:ext cx="11971020" cy="4785360"/>
        </p:xfrm>
        <a:graphic>
          <a:graphicData uri="http://schemas.openxmlformats.org/drawingml/2006/table">
            <a:tbl>
              <a:tblPr firstRow="1" bandRow="1">
                <a:tableStyleId>{FABFCF23-3B69-468F-B69F-88F6DE6A72F2}</a:tableStyleId>
              </a:tblPr>
              <a:tblGrid>
                <a:gridCol w="2643505"/>
                <a:gridCol w="1272540"/>
                <a:gridCol w="6885940"/>
                <a:gridCol w="1169035"/>
              </a:tblGrid>
              <a:tr h="0">
                <a:tc>
                  <a:txBody>
                    <a:bodyPr/>
                    <a:p>
                      <a:pPr algn="ctr">
                        <a:buNone/>
                      </a:pPr>
                      <a:r>
                        <a:rPr lang="zh-CN" altLang="en-US" sz="1800"/>
                        <a:t>项目名称 </a:t>
                      </a:r>
                      <a:endParaRPr lang="zh-CN" altLang="en-US" sz="1800"/>
                    </a:p>
                  </a:txBody>
                  <a:tcPr/>
                </a:tc>
                <a:tc>
                  <a:txBody>
                    <a:bodyPr/>
                    <a:p>
                      <a:pPr algn="ctr">
                        <a:buNone/>
                      </a:pPr>
                      <a:r>
                        <a:rPr lang="zh-CN" altLang="en-US" sz="1800"/>
                        <a:t>项目时间 </a:t>
                      </a:r>
                      <a:endParaRPr lang="zh-CN" altLang="en-US" sz="1800"/>
                    </a:p>
                  </a:txBody>
                  <a:tcPr/>
                </a:tc>
                <a:tc>
                  <a:txBody>
                    <a:bodyPr/>
                    <a:p>
                      <a:pPr algn="ctr">
                        <a:buNone/>
                      </a:pPr>
                      <a:r>
                        <a:rPr lang="zh-CN" altLang="en-US" sz="1800"/>
                        <a:t>项目内容 </a:t>
                      </a:r>
                      <a:endParaRPr lang="zh-CN" altLang="en-US" sz="1800"/>
                    </a:p>
                  </a:txBody>
                  <a:tcPr/>
                </a:tc>
                <a:tc>
                  <a:txBody>
                    <a:bodyPr/>
                    <a:p>
                      <a:pPr algn="ctr">
                        <a:buNone/>
                      </a:pPr>
                      <a:r>
                        <a:rPr lang="zh-CN" altLang="en-US" sz="1800"/>
                        <a:t>项目省份</a:t>
                      </a:r>
                      <a:endParaRPr lang="zh-CN" altLang="en-US" sz="1800"/>
                    </a:p>
                  </a:txBody>
                  <a:tcPr/>
                </a:tc>
              </a:tr>
              <a:tr h="0">
                <a:tc>
                  <a:txBody>
                    <a:bodyPr/>
                    <a:p>
                      <a:pPr>
                        <a:buNone/>
                      </a:pPr>
                      <a:r>
                        <a:rPr lang="zh-CN" altLang="en-US" sz="1600"/>
                        <a:t> 粮食购销和储备数字化监管体系 </a:t>
                      </a:r>
                      <a:endParaRPr lang="zh-CN" altLang="en-US" sz="1600"/>
                    </a:p>
                  </a:txBody>
                  <a:tcPr>
                    <a:noFill/>
                  </a:tcPr>
                </a:tc>
                <a:tc>
                  <a:txBody>
                    <a:bodyPr/>
                    <a:p>
                      <a:pPr>
                        <a:buNone/>
                      </a:pPr>
                      <a:r>
                        <a:rPr lang="zh-CN" altLang="en-US" sz="1600"/>
                        <a:t>2022 2024年 </a:t>
                      </a:r>
                      <a:endParaRPr lang="zh-CN" altLang="en-US" sz="1600"/>
                    </a:p>
                  </a:txBody>
                  <a:tcPr>
                    <a:noFill/>
                  </a:tcPr>
                </a:tc>
                <a:tc>
                  <a:txBody>
                    <a:bodyPr/>
                    <a:p>
                      <a:pPr>
                        <a:buNone/>
                      </a:pPr>
                      <a:r>
                        <a:rPr lang="zh-CN" altLang="en-US" sz="1600"/>
                        <a:t>建成覆盖中央和地方政策性粮食的数字化监管系统，实现政策性粮食监管信息化全覆盖，达到粮食购销和储备全过程实时动态监管的预期目标 </a:t>
                      </a:r>
                      <a:endParaRPr lang="zh-CN" altLang="en-US" sz="1600"/>
                    </a:p>
                  </a:txBody>
                  <a:tcPr>
                    <a:noFill/>
                  </a:tcPr>
                </a:tc>
                <a:tc>
                  <a:txBody>
                    <a:bodyPr/>
                    <a:p>
                      <a:pPr>
                        <a:buNone/>
                      </a:pPr>
                      <a:r>
                        <a:rPr lang="zh-CN" altLang="en-US" sz="1600"/>
                        <a:t>全国</a:t>
                      </a:r>
                      <a:endParaRPr lang="zh-CN" altLang="en-US" sz="1600"/>
                    </a:p>
                  </a:txBody>
                  <a:tcPr>
                    <a:noFill/>
                  </a:tcPr>
                </a:tc>
              </a:tr>
              <a:tr h="0">
                <a:tc>
                  <a:txBody>
                    <a:bodyPr/>
                    <a:p>
                      <a:pPr>
                        <a:buNone/>
                      </a:pPr>
                      <a:r>
                        <a:rPr lang="zh-CN" altLang="en-US" sz="1600"/>
                        <a:t> “天府粮仓”数字化平台（一期） </a:t>
                      </a:r>
                      <a:endParaRPr lang="zh-CN" altLang="en-US" sz="1600"/>
                    </a:p>
                  </a:txBody>
                  <a:tcPr>
                    <a:noFill/>
                  </a:tcPr>
                </a:tc>
                <a:tc>
                  <a:txBody>
                    <a:bodyPr/>
                    <a:p>
                      <a:pPr>
                        <a:buNone/>
                      </a:pPr>
                      <a:r>
                        <a:rPr lang="zh-CN" altLang="en-US" sz="1600"/>
                        <a:t>2023 2024年 </a:t>
                      </a:r>
                      <a:endParaRPr lang="zh-CN" altLang="en-US" sz="1600"/>
                    </a:p>
                  </a:txBody>
                  <a:tcPr>
                    <a:noFill/>
                  </a:tcPr>
                </a:tc>
                <a:tc>
                  <a:txBody>
                    <a:bodyPr/>
                    <a:p>
                      <a:pPr>
                        <a:buNone/>
                      </a:pPr>
                      <a:r>
                        <a:rPr lang="zh-CN" altLang="en-US" sz="1600"/>
                        <a:t>四川省地方政府储备粮管理信息化提档升级建设项目，包括软件测评、安全风险评估、信息安全等级保护测评、密码应用安全性评估等服务 </a:t>
                      </a:r>
                      <a:endParaRPr lang="zh-CN" altLang="en-US" sz="1600"/>
                    </a:p>
                  </a:txBody>
                  <a:tcPr>
                    <a:noFill/>
                  </a:tcPr>
                </a:tc>
                <a:tc>
                  <a:txBody>
                    <a:bodyPr/>
                    <a:p>
                      <a:pPr>
                        <a:buNone/>
                      </a:pPr>
                      <a:r>
                        <a:rPr lang="zh-CN" altLang="en-US" sz="1600"/>
                        <a:t>四川省</a:t>
                      </a:r>
                      <a:endParaRPr lang="zh-CN" altLang="en-US" sz="1600"/>
                    </a:p>
                  </a:txBody>
                  <a:tcPr>
                    <a:noFill/>
                  </a:tcPr>
                </a:tc>
              </a:tr>
              <a:tr h="0">
                <a:tc>
                  <a:txBody>
                    <a:bodyPr/>
                    <a:p>
                      <a:pPr>
                        <a:buNone/>
                      </a:pPr>
                      <a:r>
                        <a:rPr lang="zh-CN" altLang="en-US" sz="1600"/>
                        <a:t> “数字龙粮监管服务平台” </a:t>
                      </a:r>
                      <a:endParaRPr lang="zh-CN" altLang="en-US" sz="1600"/>
                    </a:p>
                  </a:txBody>
                  <a:tcPr>
                    <a:noFill/>
                  </a:tcPr>
                </a:tc>
                <a:tc>
                  <a:txBody>
                    <a:bodyPr/>
                    <a:p>
                      <a:pPr>
                        <a:buNone/>
                      </a:pPr>
                      <a:r>
                        <a:rPr lang="zh-CN" altLang="en-US" sz="1600"/>
                        <a:t>2022年 </a:t>
                      </a:r>
                      <a:endParaRPr lang="zh-CN" altLang="en-US" sz="1600"/>
                    </a:p>
                  </a:txBody>
                  <a:tcPr>
                    <a:noFill/>
                  </a:tcPr>
                </a:tc>
                <a:tc>
                  <a:txBody>
                    <a:bodyPr/>
                    <a:p>
                      <a:pPr>
                        <a:buNone/>
                      </a:pPr>
                      <a:r>
                        <a:rPr lang="zh-CN" altLang="en-US" sz="1600"/>
                        <a:t>按照《国家粮食和物资储备局粮食购销领域监管信息化规范》建设的国内首个粮食信息化省级管理平台，实现对全省500余户国家政策性粮食（含政府储备粮）承储企业、8700余个现有储粮货位进行视频监控系统全覆盖 </a:t>
                      </a:r>
                      <a:endParaRPr lang="zh-CN" altLang="en-US" sz="1600"/>
                    </a:p>
                  </a:txBody>
                  <a:tcPr>
                    <a:noFill/>
                  </a:tcPr>
                </a:tc>
                <a:tc>
                  <a:txBody>
                    <a:bodyPr/>
                    <a:p>
                      <a:pPr>
                        <a:buNone/>
                      </a:pPr>
                      <a:r>
                        <a:rPr lang="zh-CN" altLang="en-US" sz="1600"/>
                        <a:t>黑龙江省</a:t>
                      </a:r>
                      <a:endParaRPr lang="zh-CN" altLang="en-US" sz="1600"/>
                    </a:p>
                  </a:txBody>
                  <a:tcPr>
                    <a:noFill/>
                  </a:tcPr>
                </a:tc>
              </a:tr>
              <a:tr h="0">
                <a:tc>
                  <a:txBody>
                    <a:bodyPr/>
                    <a:p>
                      <a:pPr>
                        <a:buNone/>
                      </a:pPr>
                      <a:r>
                        <a:rPr lang="zh-CN" altLang="en-US" sz="1600"/>
                        <a:t> “浙江粮仓”粮食安全数字化协同应用平台 </a:t>
                      </a:r>
                      <a:endParaRPr lang="zh-CN" altLang="en-US" sz="1600"/>
                    </a:p>
                  </a:txBody>
                  <a:tcPr>
                    <a:noFill/>
                  </a:tcPr>
                </a:tc>
                <a:tc>
                  <a:txBody>
                    <a:bodyPr/>
                    <a:p>
                      <a:pPr>
                        <a:buNone/>
                      </a:pPr>
                      <a:r>
                        <a:rPr lang="zh-CN" altLang="en-US" sz="1600"/>
                        <a:t>2023年 </a:t>
                      </a:r>
                      <a:endParaRPr lang="zh-CN" altLang="en-US" sz="1600"/>
                    </a:p>
                  </a:txBody>
                  <a:tcPr>
                    <a:noFill/>
                  </a:tcPr>
                </a:tc>
                <a:tc>
                  <a:txBody>
                    <a:bodyPr/>
                    <a:p>
                      <a:pPr>
                        <a:buNone/>
                      </a:pPr>
                      <a:r>
                        <a:rPr lang="zh-CN" altLang="en-US" sz="1600"/>
                        <a:t>以《关于加快推进粮食购销领域监管信息化建设的指导意见》和《粮食购销领域监管信息化规范》为指引，打造的粮食安全数字化协同应用平台，推动粮食储备工作体系重构、业务流程再造、体制机制重塑 </a:t>
                      </a:r>
                      <a:endParaRPr lang="zh-CN" altLang="en-US" sz="1600"/>
                    </a:p>
                  </a:txBody>
                  <a:tcPr>
                    <a:noFill/>
                  </a:tcPr>
                </a:tc>
                <a:tc>
                  <a:txBody>
                    <a:bodyPr/>
                    <a:p>
                      <a:pPr>
                        <a:buNone/>
                      </a:pPr>
                      <a:r>
                        <a:rPr lang="zh-CN" altLang="en-US" sz="1600"/>
                        <a:t>浙江省</a:t>
                      </a:r>
                      <a:endParaRPr lang="zh-CN" altLang="en-US" sz="1600"/>
                    </a:p>
                  </a:txBody>
                  <a:tcPr>
                    <a:noFill/>
                  </a:tcPr>
                </a:tc>
              </a:tr>
              <a:tr h="0">
                <a:tc>
                  <a:txBody>
                    <a:bodyPr/>
                    <a:p>
                      <a:pPr>
                        <a:buNone/>
                      </a:pPr>
                      <a:r>
                        <a:rPr lang="zh-CN" altLang="en-US" sz="1600"/>
                        <a:t> 云南省粮食购销领域监管信息化建设项目 </a:t>
                      </a:r>
                      <a:endParaRPr lang="zh-CN" altLang="en-US" sz="1600"/>
                    </a:p>
                  </a:txBody>
                  <a:tcPr>
                    <a:noFill/>
                  </a:tcPr>
                </a:tc>
                <a:tc>
                  <a:txBody>
                    <a:bodyPr/>
                    <a:p>
                      <a:pPr>
                        <a:buNone/>
                      </a:pPr>
                      <a:r>
                        <a:rPr lang="zh-CN" altLang="en-US" sz="1600"/>
                        <a:t>2023 2024年 </a:t>
                      </a:r>
                      <a:endParaRPr lang="zh-CN" altLang="en-US" sz="1600"/>
                    </a:p>
                  </a:txBody>
                  <a:tcPr>
                    <a:noFill/>
                  </a:tcPr>
                </a:tc>
                <a:tc>
                  <a:txBody>
                    <a:bodyPr/>
                    <a:p>
                      <a:pPr>
                        <a:buNone/>
                      </a:pPr>
                      <a:r>
                        <a:rPr lang="zh-CN" altLang="en-US" sz="1600"/>
                        <a:t>建立起以涉粮数据为支撑，“信息化”仓储业务为主干、“可视化”远程监管为重点的管理系统，包括省级平台优化升级、云南省智能粮库业务平台优化升级、采购示范库点机房的应用服务器、智能分析服务器、接入交换机6台硬件设备等内容 </a:t>
                      </a:r>
                      <a:endParaRPr lang="zh-CN" altLang="en-US" sz="1600"/>
                    </a:p>
                  </a:txBody>
                  <a:tcPr>
                    <a:noFill/>
                  </a:tcPr>
                </a:tc>
                <a:tc>
                  <a:txBody>
                    <a:bodyPr/>
                    <a:p>
                      <a:pPr>
                        <a:buNone/>
                      </a:pPr>
                      <a:r>
                        <a:rPr lang="zh-CN" altLang="en-US" sz="1600"/>
                        <a:t>云南省</a:t>
                      </a:r>
                      <a:endParaRPr lang="zh-CN" altLang="en-US" sz="1600"/>
                    </a:p>
                  </a:txBody>
                  <a:tcPr>
                    <a:noFill/>
                  </a:tcPr>
                </a:tc>
              </a:tr>
              <a:tr h="0">
                <a:tc>
                  <a:txBody>
                    <a:bodyPr/>
                    <a:p>
                      <a:pPr>
                        <a:buNone/>
                      </a:pPr>
                      <a:r>
                        <a:rPr lang="zh-CN" altLang="en-US" sz="1600"/>
                        <a:t> 江苏省粮食和物资储备局数字化转型工作 </a:t>
                      </a:r>
                      <a:endParaRPr lang="zh-CN" altLang="en-US" sz="1600"/>
                    </a:p>
                  </a:txBody>
                  <a:tcPr>
                    <a:noFill/>
                  </a:tcPr>
                </a:tc>
                <a:tc>
                  <a:txBody>
                    <a:bodyPr/>
                    <a:p>
                      <a:pPr>
                        <a:buNone/>
                      </a:pPr>
                      <a:r>
                        <a:rPr lang="zh-CN" altLang="en-US" sz="1600"/>
                        <a:t>2023年 </a:t>
                      </a:r>
                      <a:endParaRPr lang="zh-CN" altLang="en-US" sz="1600"/>
                    </a:p>
                  </a:txBody>
                  <a:tcPr>
                    <a:noFill/>
                  </a:tcPr>
                </a:tc>
                <a:tc>
                  <a:txBody>
                    <a:bodyPr/>
                    <a:p>
                      <a:pPr>
                        <a:buNone/>
                      </a:pPr>
                      <a:r>
                        <a:rPr lang="zh-CN" altLang="en-US" sz="1600"/>
                        <a:t>强化组织领导，做好顶层设计；推动数据汇聚，赋能转型升级；促进服务升级，提升治理效能，包括建设“一窗口、一体系、两平台”等内容 </a:t>
                      </a:r>
                      <a:endParaRPr lang="zh-CN" altLang="en-US" sz="1600"/>
                    </a:p>
                  </a:txBody>
                  <a:tcPr>
                    <a:noFill/>
                  </a:tcPr>
                </a:tc>
                <a:tc>
                  <a:txBody>
                    <a:bodyPr/>
                    <a:p>
                      <a:pPr>
                        <a:buNone/>
                      </a:pPr>
                      <a:r>
                        <a:rPr lang="zh-CN" altLang="en-US" sz="1600"/>
                        <a:t>江苏省</a:t>
                      </a:r>
                      <a:endParaRPr lang="zh-CN" altLang="en-US" sz="1600"/>
                    </a:p>
                  </a:txBody>
                  <a:tcPr>
                    <a:noFill/>
                  </a:tcPr>
                </a:tc>
              </a:tr>
            </a:tbl>
          </a:graphicData>
        </a:graphic>
      </p:graphicFrame>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552450" y="1052830"/>
            <a:ext cx="8885555" cy="368300"/>
          </a:xfrm>
          <a:prstGeom prst="rect">
            <a:avLst/>
          </a:prstGeom>
          <a:noFill/>
        </p:spPr>
        <p:txBody>
          <a:bodyPr wrap="square" rtlCol="0" anchor="t">
            <a:spAutoFit/>
          </a:bodyPr>
          <a:lstStyle/>
          <a:p>
            <a:r>
              <a:rPr lang="en-US" altLang="zh-CN" b="1" dirty="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1</a:t>
            </a:r>
            <a:r>
              <a:rPr lang="zh-CN" altLang="en-US" b="1" dirty="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、重大需求清单编制及存在的问题</a:t>
            </a:r>
            <a:endParaRPr lang="zh-CN" altLang="en-US" b="1" spc="10" dirty="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graphicFrame>
        <p:nvGraphicFramePr>
          <p:cNvPr id="4" name="表格 3"/>
          <p:cNvGraphicFramePr/>
          <p:nvPr>
            <p:custDataLst>
              <p:tags r:id="rId2"/>
            </p:custDataLst>
          </p:nvPr>
        </p:nvGraphicFramePr>
        <p:xfrm>
          <a:off x="250190" y="1530350"/>
          <a:ext cx="8016240" cy="5285105"/>
        </p:xfrm>
        <a:graphic>
          <a:graphicData uri="http://schemas.openxmlformats.org/drawingml/2006/table">
            <a:tbl>
              <a:tblPr firstRow="1" bandRow="1">
                <a:tableStyleId>{5940675A-B579-460E-94D1-54222C63F5DA}</a:tableStyleId>
              </a:tblPr>
              <a:tblGrid>
                <a:gridCol w="2014855"/>
                <a:gridCol w="6001385"/>
              </a:tblGrid>
              <a:tr h="942975">
                <a:tc rowSpan="2">
                  <a:txBody>
                    <a:bodyPr/>
                    <a:lstStyle/>
                    <a:p>
                      <a:pPr algn="l">
                        <a:lnSpc>
                          <a:spcPct val="120000"/>
                        </a:lnSpc>
                        <a:buNone/>
                      </a:pPr>
                      <a:r>
                        <a:rPr lang="en-US" sz="1800" b="1">
                          <a:solidFill>
                            <a:schemeClr val="accent5"/>
                          </a:solidFill>
                          <a:latin typeface="微软雅黑" panose="020B0503020204020204" charset="-122"/>
                          <a:ea typeface="微软雅黑" panose="020B0503020204020204" charset="-122"/>
                          <a:cs typeface="微软雅黑" panose="020B0503020204020204" charset="-122"/>
                        </a:rPr>
                        <a:t>1.</a:t>
                      </a:r>
                      <a:r>
                        <a:rPr lang="zh-CN" altLang="en-US" sz="1800" b="1">
                          <a:solidFill>
                            <a:schemeClr val="accent5"/>
                          </a:solidFill>
                          <a:latin typeface="微软雅黑" panose="020B0503020204020204" charset="-122"/>
                          <a:ea typeface="微软雅黑" panose="020B0503020204020204" charset="-122"/>
                          <a:cs typeface="微软雅黑" panose="020B0503020204020204" charset="-122"/>
                        </a:rPr>
                        <a:t>提升政治能力</a:t>
                      </a:r>
                      <a:endParaRPr lang="zh-CN" altLang="en-US" sz="1800" b="1">
                        <a:solidFill>
                          <a:schemeClr val="accent5"/>
                        </a:solidFill>
                        <a:latin typeface="微软雅黑" panose="020B0503020204020204" charset="-122"/>
                        <a:ea typeface="微软雅黑" panose="020B0503020204020204" charset="-122"/>
                        <a:cs typeface="微软雅黑" panose="020B0503020204020204"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00000"/>
                        </a:lnSpc>
                        <a:buNone/>
                      </a:pPr>
                      <a:r>
                        <a:rPr lang="en-US" sz="1800" b="1">
                          <a:solidFill>
                            <a:srgbClr val="0070C0"/>
                          </a:solidFill>
                          <a:latin typeface="微软雅黑" panose="020B0503020204020204" charset="-122"/>
                          <a:ea typeface="微软雅黑" panose="020B0503020204020204" charset="-122"/>
                          <a:cs typeface="Times New Roman" panose="02020603050405020304" pitchFamily="18" charset="0"/>
                        </a:rPr>
                        <a:t>落实习近平总书记对某项工作的具体重要指示批示精神。</a:t>
                      </a:r>
                      <a:r>
                        <a:rPr lang="en-US" sz="1800" b="1">
                          <a:solidFill>
                            <a:srgbClr val="0070C0"/>
                          </a:solidFill>
                          <a:latin typeface="微软雅黑" panose="020B0503020204020204" charset="-122"/>
                          <a:ea typeface="微软雅黑" panose="020B0503020204020204" charset="-122"/>
                          <a:cs typeface="Times New Roman" panose="02020603050405020304" pitchFamily="18" charset="0"/>
                          <a:sym typeface="+mn-ea"/>
                        </a:rPr>
                        <a:t>落实党中央国务院、国家部委有关文件对某项工作的相关规定要求</a:t>
                      </a:r>
                      <a:r>
                        <a:rPr lang="zh-CN" altLang="en-US" sz="1800" b="1">
                          <a:solidFill>
                            <a:srgbClr val="0070C0"/>
                          </a:solidFill>
                          <a:latin typeface="微软雅黑" panose="020B0503020204020204" charset="-122"/>
                          <a:ea typeface="微软雅黑" panose="020B0503020204020204" charset="-122"/>
                          <a:cs typeface="Times New Roman" panose="02020603050405020304" pitchFamily="18" charset="0"/>
                          <a:sym typeface="+mn-ea"/>
                        </a:rPr>
                        <a:t>。</a:t>
                      </a:r>
                      <a:endParaRPr lang="zh-CN" altLang="en-US" sz="1800" b="1">
                        <a:solidFill>
                          <a:srgbClr val="0070C0"/>
                        </a:solidFill>
                        <a:latin typeface="微软雅黑" panose="020B0503020204020204" charset="-122"/>
                        <a:ea typeface="微软雅黑" panose="020B0503020204020204" charset="-122"/>
                        <a:cs typeface="Times New Roman" panose="02020603050405020304" pitchFamily="18" charset="0"/>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7380">
                <a:tc vMerge="1">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00000"/>
                        </a:lnSpc>
                        <a:buNone/>
                      </a:pPr>
                      <a:r>
                        <a:rPr lang="en-US" sz="1800" b="1">
                          <a:solidFill>
                            <a:srgbClr val="0070C0"/>
                          </a:solidFill>
                          <a:latin typeface="微软雅黑" panose="020B0503020204020204" charset="-122"/>
                          <a:ea typeface="微软雅黑" panose="020B0503020204020204" charset="-122"/>
                          <a:cs typeface="Times New Roman" panose="02020603050405020304" pitchFamily="18" charset="0"/>
                        </a:rPr>
                        <a:t>落实</a:t>
                      </a:r>
                      <a:r>
                        <a:rPr lang="zh-CN" altLang="en-US" sz="1800" b="1">
                          <a:solidFill>
                            <a:srgbClr val="0070C0"/>
                          </a:solidFill>
                          <a:latin typeface="微软雅黑" panose="020B0503020204020204" charset="-122"/>
                          <a:ea typeface="微软雅黑" panose="020B0503020204020204" charset="-122"/>
                          <a:cs typeface="Times New Roman" panose="02020603050405020304" pitchFamily="18" charset="0"/>
                        </a:rPr>
                        <a:t>家军书记有关讲话精神、</a:t>
                      </a:r>
                      <a:r>
                        <a:rPr lang="en-US" sz="1800" b="1">
                          <a:solidFill>
                            <a:srgbClr val="0070C0"/>
                          </a:solidFill>
                          <a:latin typeface="微软雅黑" panose="020B0503020204020204" charset="-122"/>
                          <a:ea typeface="微软雅黑" panose="020B0503020204020204" charset="-122"/>
                          <a:cs typeface="微软雅黑" panose="020B0503020204020204" charset="-122"/>
                        </a:rPr>
                        <a:t>市委市政府有关文件对某项工作的相关规定要求。</a:t>
                      </a:r>
                      <a:endParaRPr lang="en-US" sz="1800" b="1">
                        <a:solidFill>
                          <a:srgbClr val="0070C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0400">
                <a:tc>
                  <a:txBody>
                    <a:bodyPr/>
                    <a:p>
                      <a:pPr algn="l">
                        <a:lnSpc>
                          <a:spcPct val="120000"/>
                        </a:lnSpc>
                        <a:buNone/>
                      </a:pPr>
                      <a:r>
                        <a:rPr lang="en-US" altLang="en-US" sz="1800" b="1">
                          <a:solidFill>
                            <a:schemeClr val="accent5"/>
                          </a:solidFill>
                          <a:latin typeface="微软雅黑" panose="020B0503020204020204" charset="-122"/>
                          <a:ea typeface="微软雅黑" panose="020B0503020204020204" charset="-122"/>
                          <a:cs typeface="微软雅黑" panose="020B0503020204020204" charset="-122"/>
                        </a:rPr>
                        <a:t>2.</a:t>
                      </a:r>
                      <a:r>
                        <a:rPr lang="zh-CN" altLang="en-US" sz="1800" b="1">
                          <a:solidFill>
                            <a:schemeClr val="accent5"/>
                          </a:solidFill>
                          <a:latin typeface="微软雅黑" panose="020B0503020204020204" charset="-122"/>
                          <a:ea typeface="微软雅黑" panose="020B0503020204020204" charset="-122"/>
                          <a:cs typeface="微软雅黑" panose="020B0503020204020204" charset="-122"/>
                        </a:rPr>
                        <a:t>推动治理能力和治理体系现代化</a:t>
                      </a:r>
                      <a:endParaRPr lang="zh-CN" altLang="en-US" sz="1800" b="1">
                        <a:solidFill>
                          <a:schemeClr val="accent5"/>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just">
                        <a:lnSpc>
                          <a:spcPct val="100000"/>
                        </a:lnSpc>
                        <a:buNone/>
                      </a:pPr>
                      <a:r>
                        <a:rPr lang="zh-CN" altLang="en-US" sz="1800" b="1">
                          <a:solidFill>
                            <a:srgbClr val="0070C0"/>
                          </a:solidFill>
                          <a:latin typeface="微软雅黑" panose="020B0503020204020204" charset="-122"/>
                          <a:ea typeface="微软雅黑" panose="020B0503020204020204" charset="-122"/>
                          <a:cs typeface="微软雅黑" panose="020B0503020204020204" charset="-122"/>
                        </a:rPr>
                        <a:t>梳理基层在城市管理、矛盾纠纷、综合执法、安全生产等社会治理领域存在的主要问题和不足。</a:t>
                      </a:r>
                      <a:endParaRPr lang="zh-CN" altLang="en-US" sz="1800" b="1">
                        <a:solidFill>
                          <a:srgbClr val="0070C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0400">
                <a:tc>
                  <a:txBody>
                    <a:bodyPr/>
                    <a:p>
                      <a:pPr algn="l">
                        <a:lnSpc>
                          <a:spcPct val="120000"/>
                        </a:lnSpc>
                        <a:buClrTx/>
                        <a:buSzTx/>
                        <a:buNone/>
                      </a:pPr>
                      <a:r>
                        <a:rPr lang="zh-CN" altLang="en-US" sz="1800" b="1">
                          <a:solidFill>
                            <a:schemeClr val="accent5"/>
                          </a:solidFill>
                          <a:latin typeface="微软雅黑" panose="020B0503020204020204" charset="-122"/>
                          <a:ea typeface="微软雅黑" panose="020B0503020204020204" charset="-122"/>
                          <a:cs typeface="微软雅黑" panose="020B0503020204020204" charset="-122"/>
                        </a:rPr>
                        <a:t>3. 防范化解重大风险</a:t>
                      </a:r>
                      <a:endParaRPr lang="zh-CN" altLang="en-US" sz="1800" b="1">
                        <a:solidFill>
                          <a:schemeClr val="accent5"/>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just">
                        <a:lnSpc>
                          <a:spcPct val="100000"/>
                        </a:lnSpc>
                        <a:buClrTx/>
                        <a:buSzTx/>
                        <a:buNone/>
                      </a:pPr>
                      <a:r>
                        <a:rPr lang="zh-CN" altLang="en-US" sz="1800" b="1">
                          <a:solidFill>
                            <a:srgbClr val="0070C0"/>
                          </a:solidFill>
                          <a:latin typeface="微软雅黑" panose="020B0503020204020204" charset="-122"/>
                          <a:ea typeface="微软雅黑" panose="020B0503020204020204" charset="-122"/>
                          <a:cs typeface="微软雅黑" panose="020B0503020204020204" charset="-122"/>
                        </a:rPr>
                        <a:t>梳理社会矛盾纠纷、安全生产、污染防治、政府隐性债务等领域的风险隐患。</a:t>
                      </a:r>
                      <a:endParaRPr lang="zh-CN" altLang="en-US" sz="1800" b="1">
                        <a:solidFill>
                          <a:srgbClr val="0070C0"/>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8015">
                <a:tc>
                  <a:txBody>
                    <a:bodyPr/>
                    <a:lstStyle/>
                    <a:p>
                      <a:pPr algn="l">
                        <a:lnSpc>
                          <a:spcPct val="120000"/>
                        </a:lnSpc>
                        <a:buNone/>
                      </a:pPr>
                      <a:r>
                        <a:rPr lang="en-US" sz="1800" b="1">
                          <a:solidFill>
                            <a:schemeClr val="accent5"/>
                          </a:solidFill>
                          <a:latin typeface="微软雅黑" panose="020B0503020204020204" charset="-122"/>
                          <a:ea typeface="微软雅黑" panose="020B0503020204020204" charset="-122"/>
                          <a:cs typeface="微软雅黑" panose="020B0503020204020204" charset="-122"/>
                        </a:rPr>
                        <a:t>4.企业群众需求</a:t>
                      </a:r>
                      <a:endParaRPr lang="en-US" altLang="en-US" sz="1800" b="1">
                        <a:solidFill>
                          <a:schemeClr val="accent5"/>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00000"/>
                        </a:lnSpc>
                        <a:buNone/>
                      </a:pPr>
                      <a:r>
                        <a:rPr lang="en-US" sz="1800" b="1">
                          <a:solidFill>
                            <a:srgbClr val="0070C0"/>
                          </a:solidFill>
                          <a:latin typeface="微软雅黑" panose="020B0503020204020204" charset="-122"/>
                          <a:ea typeface="微软雅黑" panose="020B0503020204020204" charset="-122"/>
                          <a:cs typeface="微软雅黑" panose="020B0503020204020204" charset="-122"/>
                        </a:rPr>
                        <a:t>梳理企业群众</a:t>
                      </a:r>
                      <a:r>
                        <a:rPr lang="en-US" sz="1800" b="1">
                          <a:solidFill>
                            <a:srgbClr val="0070C0"/>
                          </a:solidFill>
                          <a:latin typeface="微软雅黑" panose="020B0503020204020204" charset="-122"/>
                          <a:ea typeface="微软雅黑" panose="020B0503020204020204" charset="-122"/>
                          <a:cs typeface="Times New Roman" panose="02020603050405020304" pitchFamily="18" charset="0"/>
                        </a:rPr>
                        <a:t>反映</a:t>
                      </a:r>
                      <a:r>
                        <a:rPr lang="en-US" sz="1800" b="1">
                          <a:solidFill>
                            <a:srgbClr val="0070C0"/>
                          </a:solidFill>
                          <a:latin typeface="微软雅黑" panose="020B0503020204020204" charset="-122"/>
                          <a:ea typeface="微软雅黑" panose="020B0503020204020204" charset="-122"/>
                          <a:cs typeface="微软雅黑" panose="020B0503020204020204" charset="-122"/>
                        </a:rPr>
                        <a:t>的高频的、</a:t>
                      </a:r>
                      <a:r>
                        <a:rPr lang="en-US" sz="1800" b="1">
                          <a:solidFill>
                            <a:srgbClr val="0070C0"/>
                          </a:solidFill>
                          <a:latin typeface="微软雅黑" panose="020B0503020204020204" charset="-122"/>
                          <a:ea typeface="微软雅黑" panose="020B0503020204020204" charset="-122"/>
                          <a:cs typeface="Times New Roman" panose="02020603050405020304" pitchFamily="18" charset="0"/>
                        </a:rPr>
                        <a:t>需要从</a:t>
                      </a:r>
                      <a:r>
                        <a:rPr lang="en-US" sz="1800" b="1">
                          <a:solidFill>
                            <a:srgbClr val="0070C0"/>
                          </a:solidFill>
                          <a:latin typeface="微软雅黑" panose="020B0503020204020204" charset="-122"/>
                          <a:ea typeface="微软雅黑" panose="020B0503020204020204" charset="-122"/>
                          <a:cs typeface="微软雅黑" panose="020B0503020204020204" charset="-122"/>
                        </a:rPr>
                        <a:t>体制机制、流程环节、业务协同等</a:t>
                      </a:r>
                      <a:r>
                        <a:rPr lang="en-US" sz="1800" b="1">
                          <a:solidFill>
                            <a:srgbClr val="0070C0"/>
                          </a:solidFill>
                          <a:latin typeface="微软雅黑" panose="020B0503020204020204" charset="-122"/>
                          <a:ea typeface="微软雅黑" panose="020B0503020204020204" charset="-122"/>
                          <a:cs typeface="Times New Roman" panose="02020603050405020304" pitchFamily="18" charset="0"/>
                        </a:rPr>
                        <a:t>方面解决的</a:t>
                      </a:r>
                      <a:r>
                        <a:rPr lang="en-US" sz="1800" b="1">
                          <a:solidFill>
                            <a:srgbClr val="0070C0"/>
                          </a:solidFill>
                          <a:latin typeface="微软雅黑" panose="020B0503020204020204" charset="-122"/>
                          <a:ea typeface="微软雅黑" panose="020B0503020204020204" charset="-122"/>
                          <a:cs typeface="微软雅黑" panose="020B0503020204020204" charset="-122"/>
                        </a:rPr>
                        <a:t>问题。</a:t>
                      </a:r>
                      <a:endParaRPr lang="en-US" altLang="en-US" sz="1800" b="1">
                        <a:solidFill>
                          <a:srgbClr val="0070C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22960">
                <a:tc>
                  <a:txBody>
                    <a:bodyPr/>
                    <a:lstStyle/>
                    <a:p>
                      <a:pPr algn="l">
                        <a:lnSpc>
                          <a:spcPct val="120000"/>
                        </a:lnSpc>
                        <a:buNone/>
                      </a:pPr>
                      <a:r>
                        <a:rPr lang="en-US" sz="1800" b="1">
                          <a:solidFill>
                            <a:schemeClr val="accent5"/>
                          </a:solidFill>
                          <a:latin typeface="微软雅黑" panose="020B0503020204020204" charset="-122"/>
                          <a:ea typeface="微软雅黑" panose="020B0503020204020204" charset="-122"/>
                          <a:cs typeface="微软雅黑" panose="020B0503020204020204" charset="-122"/>
                        </a:rPr>
                        <a:t>5.</a:t>
                      </a:r>
                      <a:r>
                        <a:rPr lang="zh-CN" altLang="en-US" sz="1800" b="1">
                          <a:solidFill>
                            <a:schemeClr val="accent5"/>
                          </a:solidFill>
                          <a:latin typeface="微软雅黑" panose="020B0503020204020204" charset="-122"/>
                          <a:ea typeface="微软雅黑" panose="020B0503020204020204" charset="-122"/>
                          <a:cs typeface="微软雅黑" panose="020B0503020204020204" charset="-122"/>
                        </a:rPr>
                        <a:t>比学</a:t>
                      </a:r>
                      <a:r>
                        <a:rPr lang="en-US" sz="1800" b="1">
                          <a:solidFill>
                            <a:schemeClr val="accent5"/>
                          </a:solidFill>
                          <a:latin typeface="微软雅黑" panose="020B0503020204020204" charset="-122"/>
                          <a:ea typeface="微软雅黑" panose="020B0503020204020204" charset="-122"/>
                          <a:cs typeface="微软雅黑" panose="020B0503020204020204" charset="-122"/>
                        </a:rPr>
                        <a:t>先进</a:t>
                      </a:r>
                      <a:r>
                        <a:rPr lang="zh-CN" altLang="en-US" sz="1800" b="1">
                          <a:solidFill>
                            <a:schemeClr val="accent5"/>
                          </a:solidFill>
                          <a:latin typeface="微软雅黑" panose="020B0503020204020204" charset="-122"/>
                          <a:ea typeface="微软雅黑" panose="020B0503020204020204" charset="-122"/>
                          <a:cs typeface="微软雅黑" panose="020B0503020204020204" charset="-122"/>
                        </a:rPr>
                        <a:t>打造重庆辨识度</a:t>
                      </a:r>
                      <a:endParaRPr lang="zh-CN" altLang="en-US" sz="1800" b="1">
                        <a:solidFill>
                          <a:schemeClr val="accent5"/>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00000"/>
                        </a:lnSpc>
                        <a:buNone/>
                      </a:pPr>
                      <a:r>
                        <a:rPr lang="en-US" sz="1800" b="1">
                          <a:solidFill>
                            <a:srgbClr val="0070C0"/>
                          </a:solidFill>
                          <a:latin typeface="微软雅黑" panose="020B0503020204020204" charset="-122"/>
                          <a:ea typeface="微软雅黑" panose="020B0503020204020204" charset="-122"/>
                        </a:rPr>
                        <a:t>对比先进地区经验案例，梳理我市工作存在的短板弱项，列明当前本地区本领域存在的问题，明确我市相关建设的目标。</a:t>
                      </a:r>
                      <a:endParaRPr lang="en-US" sz="1800" b="1">
                        <a:solidFill>
                          <a:srgbClr val="0070C0"/>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42975">
                <a:tc>
                  <a:txBody>
                    <a:bodyPr/>
                    <a:p>
                      <a:pPr algn="l">
                        <a:lnSpc>
                          <a:spcPct val="120000"/>
                        </a:lnSpc>
                        <a:buNone/>
                      </a:pPr>
                      <a:r>
                        <a:rPr lang="en-US" altLang="zh-CN" sz="1800" b="1">
                          <a:solidFill>
                            <a:schemeClr val="accent5"/>
                          </a:solidFill>
                          <a:latin typeface="微软雅黑" panose="020B0503020204020204" charset="-122"/>
                          <a:ea typeface="微软雅黑" panose="020B0503020204020204" charset="-122"/>
                          <a:cs typeface="微软雅黑" panose="020B0503020204020204" charset="-122"/>
                        </a:rPr>
                        <a:t>6.多部门履职需求</a:t>
                      </a:r>
                      <a:endParaRPr lang="en-US" altLang="zh-CN" sz="1800" b="1">
                        <a:solidFill>
                          <a:schemeClr val="accent5"/>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just">
                        <a:lnSpc>
                          <a:spcPct val="100000"/>
                        </a:lnSpc>
                        <a:buNone/>
                      </a:pPr>
                      <a:r>
                        <a:rPr lang="en-US" altLang="en-US" sz="1800" b="1">
                          <a:solidFill>
                            <a:srgbClr val="0070C0"/>
                          </a:solidFill>
                          <a:latin typeface="微软雅黑" panose="020B0503020204020204" charset="-122"/>
                          <a:ea typeface="微软雅黑" panose="020B0503020204020204" charset="-122"/>
                        </a:rPr>
                        <a:t>就完成重大任务需要哪些部门共同参与，列出相关任务对部门职能职责的需求，从服务、执法、监管、治理、保障等角度梳理出任务对相关单位职责的需求。</a:t>
                      </a:r>
                      <a:endParaRPr lang="en-US" altLang="en-US" sz="1800" b="1">
                        <a:solidFill>
                          <a:srgbClr val="0070C0"/>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8877935" y="1530350"/>
            <a:ext cx="3096895" cy="5231765"/>
          </a:xfrm>
          <a:prstGeom prst="rect">
            <a:avLst/>
          </a:prstGeom>
          <a:ln w="2857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txBody>
          <a:bodyPr wrap="square" rtlCol="0">
            <a:noAutofit/>
          </a:bodyPr>
          <a:p>
            <a:pPr>
              <a:lnSpc>
                <a:spcPct val="100000"/>
              </a:lnSpc>
            </a:pPr>
            <a:r>
              <a:rPr lang="zh-CN" altLang="en-US" b="1">
                <a:solidFill>
                  <a:srgbClr val="FF0000"/>
                </a:solidFill>
                <a:latin typeface="微软雅黑" panose="020B0503020204020204" charset="-122"/>
                <a:ea typeface="微软雅黑" panose="020B0503020204020204" charset="-122"/>
                <a:cs typeface="Times New Roman" panose="02020603050405020304" pitchFamily="18" charset="0"/>
              </a:rPr>
              <a:t>常见问题</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a:t>
            </a:r>
            <a:endPar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1.</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找的需求太多，什么都往里装，清单太繁杂</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2.</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找的需求不新，几年前的都还在引用</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3.</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找的需求不是重大急需</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4.</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找的需求根本解决不了</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5.</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找的需求与自己没有太大的关系</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6.</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找的需求不需要开发数字化应用</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a:solidFill>
                  <a:schemeClr val="accent2"/>
                </a:solidFill>
                <a:latin typeface="微软雅黑" panose="020B0503020204020204" charset="-122"/>
                <a:ea typeface="微软雅黑" panose="020B0503020204020204" charset="-122"/>
                <a:cs typeface="Times New Roman" panose="02020603050405020304" pitchFamily="18" charset="0"/>
              </a:rPr>
              <a:t>7.</a:t>
            </a:r>
            <a:r>
              <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rPr>
              <a:t>找的需求已经有数字化应用解决了</a:t>
            </a:r>
            <a:endParaRPr lang="zh-CN" altLang="en-US" b="1">
              <a:solidFill>
                <a:schemeClr val="accent2"/>
              </a:solidFill>
              <a:latin typeface="微软雅黑" panose="020B0503020204020204" charset="-122"/>
              <a:ea typeface="微软雅黑" panose="020B0503020204020204" charset="-122"/>
              <a:cs typeface="Times New Roman" panose="02020603050405020304" pitchFamily="18" charset="0"/>
            </a:endParaRPr>
          </a:p>
        </p:txBody>
      </p:sp>
      <p:grpSp>
        <p:nvGrpSpPr>
          <p:cNvPr id="3" name="组合 2"/>
          <p:cNvGrpSpPr/>
          <p:nvPr/>
        </p:nvGrpSpPr>
        <p:grpSpPr>
          <a:xfrm>
            <a:off x="458211" y="265845"/>
            <a:ext cx="505934" cy="514803"/>
            <a:chOff x="3627907" y="1980747"/>
            <a:chExt cx="1105193" cy="762453"/>
          </a:xfrm>
          <a:solidFill>
            <a:srgbClr val="0070C0"/>
          </a:solidFill>
        </p:grpSpPr>
        <p:sp>
          <p:nvSpPr>
            <p:cNvPr id="6"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8" name="文本框 7"/>
          <p:cNvSpPr txBox="1"/>
          <p:nvPr>
            <p:custDataLst>
              <p:tags r:id="rId5"/>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6.</a:t>
            </a:r>
            <a:r>
              <a:rPr lang="zh-CN" sz="2800" b="1" dirty="0">
                <a:solidFill>
                  <a:srgbClr val="0070C0"/>
                </a:solidFill>
                <a:latin typeface="微软雅黑" panose="020B0503020204020204" charset="-122"/>
                <a:ea typeface="微软雅黑" panose="020B0503020204020204" charset="-122"/>
                <a:sym typeface="+mn-ea"/>
              </a:rPr>
              <a:t>三张清单编制要点及常见问题</a:t>
            </a:r>
            <a:endParaRPr lang="zh-CN" sz="2800" b="1" spc="10" dirty="0">
              <a:solidFill>
                <a:srgbClr val="0070C0"/>
              </a:solidFill>
              <a:uFillTx/>
              <a:latin typeface="微软雅黑" panose="020B0503020204020204" charset="-122"/>
              <a:ea typeface="微软雅黑" panose="020B0503020204020204" charset="-122"/>
              <a:sym typeface="+mn-ea"/>
            </a:endParaRPr>
          </a:p>
        </p:txBody>
      </p:sp>
      <p:sp>
        <p:nvSpPr>
          <p:cNvPr id="10" name="矩形 9"/>
          <p:cNvSpPr/>
          <p:nvPr>
            <p:custDataLst>
              <p:tags r:id="rId6"/>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Tree>
    <p:custDataLst>
      <p:tags r:id="rId7"/>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248285" y="1061720"/>
            <a:ext cx="8885555" cy="398780"/>
          </a:xfrm>
          <a:prstGeom prst="rect">
            <a:avLst/>
          </a:prstGeom>
          <a:noFill/>
        </p:spPr>
        <p:txBody>
          <a:bodyPr wrap="square" rtlCol="0" anchor="t">
            <a:spAutoFit/>
          </a:bodyPr>
          <a:p>
            <a:r>
              <a:rPr lang="en-US" altLang="zh-CN" sz="2000" b="1" dirty="0" smtClean="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2</a:t>
            </a:r>
            <a:r>
              <a:rPr lang="zh-CN" altLang="en-US" sz="2000" b="1" dirty="0" smtClean="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、多跨场景</a:t>
            </a:r>
            <a:r>
              <a:rPr lang="zh-CN" altLang="en-US" sz="2000" b="1" dirty="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清单主要构建逻辑</a:t>
            </a:r>
            <a:endParaRPr lang="zh-CN" altLang="en-US" sz="2000" b="1" spc="10" dirty="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9" name="文本框 8"/>
          <p:cNvSpPr txBox="1"/>
          <p:nvPr/>
        </p:nvSpPr>
        <p:spPr>
          <a:xfrm>
            <a:off x="3391535" y="1833245"/>
            <a:ext cx="2196465" cy="1753235"/>
          </a:xfrm>
          <a:prstGeom prst="rect">
            <a:avLst/>
          </a:prstGeom>
          <a:noFill/>
          <a:ln w="19050">
            <a:solidFill>
              <a:schemeClr val="tx1"/>
            </a:solidFill>
          </a:ln>
        </p:spPr>
        <p:txBody>
          <a:bodyPr wrap="square" rtlCol="0" anchor="t">
            <a:spAutoFit/>
          </a:bodyPr>
          <a:lstStyle/>
          <a:p>
            <a:pPr algn="r"/>
            <a:r>
              <a:rPr lang="zh-CN" altLang="en-US" b="1" spc="100" dirty="0">
                <a:solidFill>
                  <a:schemeClr val="accent5"/>
                </a:solidFill>
                <a:uFillTx/>
                <a:latin typeface="微软雅黑" panose="020B0503020204020204" charset="-122"/>
                <a:ea typeface="微软雅黑" panose="020B0503020204020204" charset="-122"/>
                <a:sym typeface="+mn-ea"/>
              </a:rPr>
              <a:t>按照事件发展</a:t>
            </a:r>
            <a:endParaRPr lang="zh-CN" altLang="en-US" b="1"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  </a:t>
            </a:r>
            <a:r>
              <a:rPr lang="zh-CN" altLang="en-US" b="1" dirty="0">
                <a:solidFill>
                  <a:schemeClr val="accent5"/>
                </a:solidFill>
                <a:uFillTx/>
                <a:latin typeface="微软雅黑" panose="020B0503020204020204" charset="-122"/>
                <a:ea typeface="微软雅黑" panose="020B0503020204020204" charset="-122"/>
                <a:sym typeface="+mn-ea"/>
              </a:rPr>
              <a:t>的闭环过程，</a:t>
            </a:r>
            <a:endParaRPr lang="zh-CN" altLang="en-US" b="1"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每一个环节作</a:t>
            </a:r>
            <a:endParaRPr lang="zh-CN" altLang="en-US" b="1" dirty="0">
              <a:solidFill>
                <a:schemeClr val="accent5"/>
              </a:solidFill>
              <a:uFillTx/>
              <a:latin typeface="微软雅黑" panose="020B0503020204020204" charset="-122"/>
              <a:ea typeface="微软雅黑" panose="020B0503020204020204" charset="-122"/>
              <a:sym typeface="+mn-ea"/>
            </a:endParaRPr>
          </a:p>
          <a:p>
            <a:pPr algn="r"/>
            <a:r>
              <a:rPr lang="zh-CN" altLang="en-US" b="1" dirty="0">
                <a:solidFill>
                  <a:schemeClr val="accent5"/>
                </a:solidFill>
                <a:uFillTx/>
                <a:latin typeface="微软雅黑" panose="020B0503020204020204" charset="-122"/>
                <a:ea typeface="微软雅黑" panose="020B0503020204020204" charset="-122"/>
                <a:sym typeface="+mn-ea"/>
              </a:rPr>
              <a:t>    </a:t>
            </a:r>
            <a:r>
              <a:rPr lang="zh-CN" altLang="en-US" b="1" spc="-100" dirty="0">
                <a:solidFill>
                  <a:schemeClr val="accent5"/>
                </a:solidFill>
                <a:uFillTx/>
                <a:latin typeface="微软雅黑" panose="020B0503020204020204" charset="-122"/>
                <a:ea typeface="微软雅黑" panose="020B0503020204020204" charset="-122"/>
                <a:sym typeface="+mn-ea"/>
              </a:rPr>
              <a:t>为一级场景，</a:t>
            </a:r>
            <a:endParaRPr lang="zh-CN" altLang="en-US" b="1"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每个场景加起</a:t>
            </a:r>
            <a:endParaRPr lang="zh-CN" altLang="en-US" b="1" dirty="0">
              <a:solidFill>
                <a:schemeClr val="accent5"/>
              </a:solidFill>
              <a:uFillTx/>
              <a:latin typeface="微软雅黑" panose="020B0503020204020204" charset="-122"/>
              <a:ea typeface="微软雅黑" panose="020B0503020204020204" charset="-122"/>
              <a:sym typeface="+mn-ea"/>
            </a:endParaRPr>
          </a:p>
          <a:p>
            <a:pPr algn="l"/>
            <a:r>
              <a:rPr lang="zh-CN" altLang="en-US" b="1" dirty="0">
                <a:solidFill>
                  <a:schemeClr val="accent5"/>
                </a:solidFill>
                <a:uFillTx/>
                <a:latin typeface="微软雅黑" panose="020B0503020204020204" charset="-122"/>
                <a:ea typeface="微软雅黑" panose="020B0503020204020204" charset="-122"/>
                <a:sym typeface="+mn-ea"/>
              </a:rPr>
              <a:t>       </a:t>
            </a:r>
            <a:r>
              <a:rPr lang="zh-CN" altLang="en-US" b="1" spc="100" dirty="0">
                <a:solidFill>
                  <a:schemeClr val="accent5"/>
                </a:solidFill>
                <a:uFillTx/>
                <a:latin typeface="微软雅黑" panose="020B0503020204020204" charset="-122"/>
                <a:ea typeface="微软雅黑" panose="020B0503020204020204" charset="-122"/>
                <a:sym typeface="+mn-ea"/>
              </a:rPr>
              <a:t>来</a:t>
            </a:r>
            <a:r>
              <a:rPr lang="zh-CN" altLang="en-US" b="1" dirty="0">
                <a:solidFill>
                  <a:schemeClr val="accent5"/>
                </a:solidFill>
                <a:uFillTx/>
                <a:latin typeface="微软雅黑" panose="020B0503020204020204" charset="-122"/>
                <a:ea typeface="微软雅黑" panose="020B0503020204020204" charset="-122"/>
                <a:sym typeface="+mn-ea"/>
              </a:rPr>
              <a:t>构成闭环。</a:t>
            </a:r>
            <a:endParaRPr lang="zh-CN" altLang="en-US" b="1" dirty="0">
              <a:solidFill>
                <a:schemeClr val="accent5"/>
              </a:solidFill>
              <a:uFillTx/>
              <a:latin typeface="微软雅黑" panose="020B0503020204020204" charset="-122"/>
              <a:ea typeface="微软雅黑" panose="020B0503020204020204" charset="-122"/>
              <a:sym typeface="+mn-ea"/>
            </a:endParaRPr>
          </a:p>
        </p:txBody>
      </p:sp>
      <p:sp>
        <p:nvSpPr>
          <p:cNvPr id="8" name="椭圆 7"/>
          <p:cNvSpPr/>
          <p:nvPr/>
        </p:nvSpPr>
        <p:spPr>
          <a:xfrm>
            <a:off x="2525395" y="1844675"/>
            <a:ext cx="1656080" cy="1569085"/>
          </a:xfrm>
          <a:prstGeom prst="ellipse">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800" b="1">
                <a:solidFill>
                  <a:schemeClr val="bg1"/>
                </a:solidFill>
                <a:latin typeface="微软雅黑" panose="020B0503020204020204" charset="-122"/>
                <a:ea typeface="微软雅黑" panose="020B0503020204020204" charset="-122"/>
                <a:cs typeface="方正黑体_GBK" panose="03000509000000000000" pitchFamily="65" charset="-122"/>
                <a:sym typeface="+mn-ea"/>
              </a:rPr>
              <a:t>链式</a:t>
            </a:r>
            <a:endParaRPr lang="zh-CN" altLang="en-US" sz="28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sp>
        <p:nvSpPr>
          <p:cNvPr id="15" name="文本框 14"/>
          <p:cNvSpPr txBox="1"/>
          <p:nvPr/>
        </p:nvSpPr>
        <p:spPr>
          <a:xfrm>
            <a:off x="3391535" y="4548505"/>
            <a:ext cx="2196465" cy="1753235"/>
          </a:xfrm>
          <a:prstGeom prst="rect">
            <a:avLst/>
          </a:prstGeom>
          <a:noFill/>
          <a:ln w="19050">
            <a:solidFill>
              <a:schemeClr val="tx1"/>
            </a:solidFill>
          </a:ln>
        </p:spPr>
        <p:txBody>
          <a:bodyPr wrap="square" rtlCol="0" anchor="t">
            <a:spAutoFit/>
          </a:bodyPr>
          <a:p>
            <a:pPr algn="r"/>
            <a:r>
              <a:rPr lang="zh-CN" altLang="en-US" b="1" spc="-100" dirty="0">
                <a:solidFill>
                  <a:schemeClr val="accent5"/>
                </a:solidFill>
                <a:uFillTx/>
                <a:latin typeface="微软雅黑" panose="020B0503020204020204" charset="-122"/>
                <a:ea typeface="微软雅黑" panose="020B0503020204020204" charset="-122"/>
                <a:sym typeface="+mn-ea"/>
              </a:rPr>
              <a:t>分领域构建一级</a:t>
            </a:r>
            <a:endParaRPr lang="zh-CN" altLang="en-US" b="1" spc="-100"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场景，列举出</a:t>
            </a:r>
            <a:endParaRPr lang="zh-CN" altLang="en-US" b="1" spc="-100"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业务所需各个</a:t>
            </a:r>
            <a:endParaRPr lang="zh-CN" altLang="en-US" b="1" spc="-100"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领域的重点任</a:t>
            </a:r>
            <a:endParaRPr lang="zh-CN" altLang="en-US" b="1" spc="-100"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务，各领域加</a:t>
            </a:r>
            <a:endParaRPr lang="zh-CN" altLang="en-US" b="1" spc="-100" dirty="0">
              <a:solidFill>
                <a:schemeClr val="accent5"/>
              </a:solidFill>
              <a:uFillTx/>
              <a:latin typeface="微软雅黑" panose="020B0503020204020204" charset="-122"/>
              <a:ea typeface="微软雅黑" panose="020B0503020204020204" charset="-122"/>
              <a:sym typeface="+mn-ea"/>
            </a:endParaRPr>
          </a:p>
          <a:p>
            <a:pPr algn="r"/>
            <a:r>
              <a:rPr lang="zh-CN" altLang="en-US" b="1" spc="-100" dirty="0">
                <a:solidFill>
                  <a:schemeClr val="accent5"/>
                </a:solidFill>
                <a:uFillTx/>
                <a:latin typeface="微软雅黑" panose="020B0503020204020204" charset="-122"/>
                <a:ea typeface="微软雅黑" panose="020B0503020204020204" charset="-122"/>
                <a:sym typeface="+mn-ea"/>
              </a:rPr>
              <a:t>起来构成闭环。</a:t>
            </a:r>
            <a:r>
              <a:rPr lang="zh-CN" altLang="en-US" b="1" dirty="0">
                <a:solidFill>
                  <a:srgbClr val="003399"/>
                </a:solidFill>
                <a:uFillTx/>
                <a:latin typeface="微软雅黑" panose="020B0503020204020204" charset="-122"/>
                <a:ea typeface="微软雅黑" panose="020B0503020204020204" charset="-122"/>
                <a:sym typeface="+mn-ea"/>
              </a:rPr>
              <a:t>    </a:t>
            </a:r>
            <a:endParaRPr lang="zh-CN" altLang="en-US" b="1" dirty="0">
              <a:solidFill>
                <a:srgbClr val="003399"/>
              </a:solidFill>
              <a:uFillTx/>
              <a:latin typeface="微软雅黑" panose="020B0503020204020204" charset="-122"/>
              <a:ea typeface="微软雅黑" panose="020B0503020204020204" charset="-122"/>
              <a:sym typeface="+mn-ea"/>
            </a:endParaRPr>
          </a:p>
        </p:txBody>
      </p:sp>
      <p:sp>
        <p:nvSpPr>
          <p:cNvPr id="17" name="椭圆 16"/>
          <p:cNvSpPr/>
          <p:nvPr/>
        </p:nvSpPr>
        <p:spPr>
          <a:xfrm>
            <a:off x="2525395" y="4559935"/>
            <a:ext cx="1656080" cy="1569085"/>
          </a:xfrm>
          <a:prstGeom prst="ellipse">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2800" b="1">
                <a:solidFill>
                  <a:schemeClr val="bg1"/>
                </a:solidFill>
                <a:latin typeface="微软雅黑" panose="020B0503020204020204" charset="-122"/>
                <a:ea typeface="微软雅黑" panose="020B0503020204020204" charset="-122"/>
                <a:cs typeface="方正黑体_GBK" panose="03000509000000000000" pitchFamily="65" charset="-122"/>
                <a:sym typeface="+mn-ea"/>
              </a:rPr>
              <a:t>团式</a:t>
            </a:r>
            <a:endParaRPr lang="zh-CN" altLang="en-US" sz="28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sp>
        <p:nvSpPr>
          <p:cNvPr id="23" name="右箭头 22"/>
          <p:cNvSpPr/>
          <p:nvPr/>
        </p:nvSpPr>
        <p:spPr>
          <a:xfrm>
            <a:off x="5589905" y="2432685"/>
            <a:ext cx="471805" cy="3924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nvSpPr>
        <p:spPr>
          <a:xfrm>
            <a:off x="5589905" y="5200650"/>
            <a:ext cx="406400" cy="3924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rot="0">
            <a:off x="7038975" y="1816100"/>
            <a:ext cx="2377440" cy="1489710"/>
            <a:chOff x="12215" y="2064"/>
            <a:chExt cx="3744" cy="2583"/>
          </a:xfrm>
        </p:grpSpPr>
        <p:sp>
          <p:nvSpPr>
            <p:cNvPr id="11" name="圆角矩形 10"/>
            <p:cNvSpPr/>
            <p:nvPr/>
          </p:nvSpPr>
          <p:spPr>
            <a:xfrm>
              <a:off x="12215" y="2064"/>
              <a:ext cx="3743"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200" b="1">
                  <a:solidFill>
                    <a:schemeClr val="bg1"/>
                  </a:solidFill>
                  <a:latin typeface="微软雅黑" panose="020B0503020204020204" charset="-122"/>
                  <a:ea typeface="微软雅黑" panose="020B0503020204020204" charset="-122"/>
                  <a:cs typeface="方正黑体_GBK" panose="03000509000000000000" pitchFamily="65" charset="-122"/>
                  <a:sym typeface="+mn-ea"/>
                </a:rPr>
                <a:t>事件感知</a:t>
              </a:r>
              <a:endParaRPr lang="zh-CN" altLang="en-US" sz="22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sp>
          <p:nvSpPr>
            <p:cNvPr id="12" name="圆角矩形 11"/>
            <p:cNvSpPr/>
            <p:nvPr/>
          </p:nvSpPr>
          <p:spPr>
            <a:xfrm>
              <a:off x="12240" y="3015"/>
              <a:ext cx="3717" cy="683"/>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solidFill>
                    <a:schemeClr val="bg1"/>
                  </a:solidFill>
                  <a:latin typeface="微软雅黑" panose="020B0503020204020204" charset="-122"/>
                  <a:ea typeface="微软雅黑" panose="020B0503020204020204" charset="-122"/>
                  <a:cs typeface="方正黑体_GBK" panose="03000509000000000000" pitchFamily="65" charset="-122"/>
                  <a:sym typeface="+mn-ea"/>
                </a:rPr>
                <a:t>调度处置</a:t>
              </a:r>
              <a:endParaRPr lang="zh-CN" altLang="en-US" sz="22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sp>
          <p:nvSpPr>
            <p:cNvPr id="13" name="圆角矩形 12"/>
            <p:cNvSpPr/>
            <p:nvPr/>
          </p:nvSpPr>
          <p:spPr>
            <a:xfrm>
              <a:off x="12215" y="3965"/>
              <a:ext cx="3744" cy="683"/>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rPr>
                <a:t>事件复盘</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18" name="圆角矩形 17"/>
          <p:cNvSpPr/>
          <p:nvPr/>
        </p:nvSpPr>
        <p:spPr>
          <a:xfrm>
            <a:off x="6129020" y="1779905"/>
            <a:ext cx="521335" cy="1639570"/>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sp>
        <p:nvSpPr>
          <p:cNvPr id="28" name="圆角矩形 27"/>
          <p:cNvSpPr/>
          <p:nvPr/>
        </p:nvSpPr>
        <p:spPr>
          <a:xfrm>
            <a:off x="6035675" y="4631055"/>
            <a:ext cx="521335" cy="1639570"/>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solidFill>
                  <a:schemeClr val="bg1"/>
                </a:solidFill>
                <a:latin typeface="微软雅黑" panose="020B0503020204020204" charset="-122"/>
                <a:ea typeface="微软雅黑" panose="020B0503020204020204" charset="-122"/>
                <a:cs typeface="方正黑体_GBK" panose="03000509000000000000" pitchFamily="65" charset="-122"/>
                <a:sym typeface="+mn-ea"/>
              </a:rPr>
              <a:t>警快办</a:t>
            </a:r>
            <a:endParaRPr lang="zh-CN" altLang="en-US" sz="22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grpSp>
        <p:nvGrpSpPr>
          <p:cNvPr id="7" name="组合 6"/>
          <p:cNvGrpSpPr/>
          <p:nvPr/>
        </p:nvGrpSpPr>
        <p:grpSpPr>
          <a:xfrm rot="0">
            <a:off x="7038340" y="3536315"/>
            <a:ext cx="2377440" cy="3027045"/>
            <a:chOff x="12214" y="5047"/>
            <a:chExt cx="3744" cy="5249"/>
          </a:xfrm>
        </p:grpSpPr>
        <p:sp>
          <p:nvSpPr>
            <p:cNvPr id="29" name="圆角矩形 28"/>
            <p:cNvSpPr/>
            <p:nvPr/>
          </p:nvSpPr>
          <p:spPr>
            <a:xfrm>
              <a:off x="12266" y="5960"/>
              <a:ext cx="3693"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latin typeface="微软雅黑" panose="020B0503020204020204" charset="-122"/>
                  <a:ea typeface="微软雅黑" panose="020B0503020204020204" charset="-122"/>
                  <a:cs typeface="微软雅黑" panose="020B0503020204020204" charset="-122"/>
                  <a:sym typeface="+mn-ea"/>
                </a:rPr>
                <a:t>户政</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0" name="圆角矩形 29"/>
            <p:cNvSpPr/>
            <p:nvPr/>
          </p:nvSpPr>
          <p:spPr>
            <a:xfrm>
              <a:off x="12240" y="6873"/>
              <a:ext cx="3718"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latin typeface="微软雅黑" panose="020B0503020204020204" charset="-122"/>
                  <a:ea typeface="微软雅黑" panose="020B0503020204020204" charset="-122"/>
                  <a:cs typeface="微软雅黑" panose="020B0503020204020204" charset="-122"/>
                  <a:sym typeface="+mn-ea"/>
                </a:rPr>
                <a:t>出入境</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1" name="圆角矩形 30"/>
            <p:cNvSpPr/>
            <p:nvPr/>
          </p:nvSpPr>
          <p:spPr>
            <a:xfrm>
              <a:off x="12240" y="7786"/>
              <a:ext cx="3718"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latin typeface="微软雅黑" panose="020B0503020204020204" charset="-122"/>
                  <a:ea typeface="微软雅黑" panose="020B0503020204020204" charset="-122"/>
                  <a:cs typeface="微软雅黑" panose="020B0503020204020204" charset="-122"/>
                  <a:sym typeface="+mn-ea"/>
                </a:rPr>
                <a:t>治安</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2" name="圆角矩形 31"/>
            <p:cNvSpPr/>
            <p:nvPr/>
          </p:nvSpPr>
          <p:spPr>
            <a:xfrm>
              <a:off x="12214" y="8699"/>
              <a:ext cx="3744"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latin typeface="微软雅黑" panose="020B0503020204020204" charset="-122"/>
                  <a:ea typeface="微软雅黑" panose="020B0503020204020204" charset="-122"/>
                  <a:cs typeface="微软雅黑" panose="020B0503020204020204" charset="-122"/>
                  <a:sym typeface="+mn-ea"/>
                </a:rPr>
                <a:t>公安电子证照</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3" name="圆角矩形 32"/>
            <p:cNvSpPr/>
            <p:nvPr/>
          </p:nvSpPr>
          <p:spPr>
            <a:xfrm>
              <a:off x="12214" y="9612"/>
              <a:ext cx="3744"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rPr>
                <a:t>互联网身份认证</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4" name="圆角矩形 33"/>
            <p:cNvSpPr/>
            <p:nvPr/>
          </p:nvSpPr>
          <p:spPr>
            <a:xfrm>
              <a:off x="12214" y="5047"/>
              <a:ext cx="3744" cy="684"/>
            </a:xfrm>
            <a:prstGeom prst="roundRect">
              <a:avLst>
                <a:gd name="adj" fmla="val 8378"/>
              </a:avLst>
            </a:prstGeom>
            <a:solidFill>
              <a:srgbClr val="08509C"/>
            </a:solidFill>
            <a:ln w="28575"/>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a:latin typeface="微软雅黑" panose="020B0503020204020204" charset="-122"/>
                  <a:ea typeface="微软雅黑" panose="020B0503020204020204" charset="-122"/>
                  <a:cs typeface="微软雅黑" panose="020B0503020204020204" charset="-122"/>
                  <a:sym typeface="+mn-ea"/>
                </a:rPr>
                <a:t>车驾</a:t>
              </a:r>
              <a:endParaRPr lang="zh-CN" altLang="en-US" sz="22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 name="组合 5"/>
          <p:cNvGrpSpPr/>
          <p:nvPr/>
        </p:nvGrpSpPr>
        <p:grpSpPr>
          <a:xfrm rot="0">
            <a:off x="6572250" y="2014220"/>
            <a:ext cx="480695" cy="4309745"/>
            <a:chOff x="10915" y="2407"/>
            <a:chExt cx="1351" cy="7473"/>
          </a:xfrm>
        </p:grpSpPr>
        <p:cxnSp>
          <p:nvCxnSpPr>
            <p:cNvPr id="24" name="直接箭头连接符 23"/>
            <p:cNvCxnSpPr/>
            <p:nvPr/>
          </p:nvCxnSpPr>
          <p:spPr>
            <a:xfrm flipV="1">
              <a:off x="11027" y="2407"/>
              <a:ext cx="1187" cy="953"/>
            </a:xfrm>
            <a:prstGeom prst="straightConnector1">
              <a:avLst/>
            </a:prstGeom>
            <a:ln w="19050">
              <a:solidFill>
                <a:srgbClr val="EB442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11038" y="3310"/>
              <a:ext cx="1202"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11049" y="3281"/>
              <a:ext cx="1158" cy="98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11027" y="5362"/>
              <a:ext cx="1170" cy="2420"/>
            </a:xfrm>
            <a:prstGeom prst="straightConnector1">
              <a:avLst/>
            </a:prstGeom>
            <a:ln w="19050">
              <a:solidFill>
                <a:srgbClr val="EB442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10915" y="7895"/>
              <a:ext cx="1351" cy="10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10915" y="6156"/>
              <a:ext cx="1337" cy="1739"/>
            </a:xfrm>
            <a:prstGeom prst="straightConnector1">
              <a:avLst/>
            </a:prstGeom>
            <a:ln w="19050">
              <a:solidFill>
                <a:srgbClr val="EB442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10915" y="7237"/>
              <a:ext cx="1282" cy="658"/>
            </a:xfrm>
            <a:prstGeom prst="straightConnector1">
              <a:avLst/>
            </a:prstGeom>
            <a:ln w="19050">
              <a:solidFill>
                <a:srgbClr val="EB4420"/>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11027" y="8009"/>
              <a:ext cx="1115" cy="187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endCxn id="32" idx="1"/>
            </p:cNvCxnSpPr>
            <p:nvPr/>
          </p:nvCxnSpPr>
          <p:spPr>
            <a:xfrm>
              <a:off x="10927" y="7914"/>
              <a:ext cx="1299" cy="112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37" name="文本框 36"/>
          <p:cNvSpPr txBox="1"/>
          <p:nvPr/>
        </p:nvSpPr>
        <p:spPr>
          <a:xfrm>
            <a:off x="6022975" y="1978660"/>
            <a:ext cx="717550" cy="1630045"/>
          </a:xfrm>
          <a:prstGeom prst="rect">
            <a:avLst/>
          </a:prstGeom>
          <a:noFill/>
        </p:spPr>
        <p:txBody>
          <a:bodyPr wrap="square" rtlCol="0">
            <a:spAutoFit/>
          </a:bodyPr>
          <a:p>
            <a:r>
              <a:rPr lang="zh-CN" altLang="en-US" sz="2000" b="1">
                <a:solidFill>
                  <a:schemeClr val="bg1"/>
                </a:solidFill>
                <a:latin typeface="微软雅黑" panose="020B0503020204020204" charset="-122"/>
                <a:ea typeface="微软雅黑" panose="020B0503020204020204" charset="-122"/>
                <a:cs typeface="方正黑体_GBK" panose="03000509000000000000" pitchFamily="65" charset="-122"/>
                <a:sym typeface="+mn-ea"/>
              </a:rPr>
              <a:t>突发事件直报快响</a:t>
            </a:r>
            <a:endParaRPr lang="zh-CN" altLang="en-US" sz="20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a:p>
            <a:endParaRPr lang="zh-CN" altLang="en-US" sz="2000" b="1">
              <a:solidFill>
                <a:schemeClr val="bg1"/>
              </a:solidFill>
              <a:latin typeface="微软雅黑" panose="020B0503020204020204" charset="-122"/>
              <a:ea typeface="微软雅黑" panose="020B0503020204020204" charset="-122"/>
              <a:cs typeface="方正黑体_GBK" panose="03000509000000000000" pitchFamily="65" charset="-122"/>
              <a:sym typeface="+mn-ea"/>
            </a:endParaRPr>
          </a:p>
        </p:txBody>
      </p:sp>
      <p:sp>
        <p:nvSpPr>
          <p:cNvPr id="39" name="kGjBRnqUNkRE9Kh文本框 1"/>
          <p:cNvSpPr txBox="1"/>
          <p:nvPr/>
        </p:nvSpPr>
        <p:spPr>
          <a:xfrm>
            <a:off x="248285" y="1669415"/>
            <a:ext cx="2065020" cy="5055870"/>
          </a:xfrm>
          <a:prstGeom prst="rect">
            <a:avLst/>
          </a:prstGeom>
          <a:solidFill>
            <a:schemeClr val="bg1"/>
          </a:solidFill>
          <a:ln w="38100">
            <a:solidFill>
              <a:schemeClr val="accent1">
                <a:alpha val="99000"/>
              </a:schemeClr>
            </a:solidFill>
          </a:ln>
        </p:spPr>
        <p:txBody>
          <a:bodyPr wrap="square" rtlCol="0" anchor="ctr" anchorCtr="0">
            <a:noAutofit/>
          </a:bodyPr>
          <a:p>
            <a:pPr indent="0" algn="just" fontAlgn="auto" hangingPunct="0">
              <a:lnSpc>
                <a:spcPct val="120000"/>
              </a:lnSpc>
              <a:buFont typeface="Wingdings" panose="05000000000000000000" charset="0"/>
              <a:buNone/>
            </a:pP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rPr>
              <a:t>总体上</a:t>
            </a: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sym typeface="+mn-ea"/>
              </a:rPr>
              <a:t>从重大需求出发，按照</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ea"/>
              </a:rPr>
              <a:t>“大场景、小切口”和急用先行、成熟先行</a:t>
            </a: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sym typeface="+mn-ea"/>
              </a:rPr>
              <a:t>的要求，以全局观念、系统思维通过跨行业、跨领域、跨部门、跨单一需求，谋划多跨场景</a:t>
            </a:r>
            <a:r>
              <a:rPr lang="zh-CN" altLang="en-US" sz="2000" b="1" dirty="0" smtClean="0">
                <a:latin typeface="微软雅黑" panose="020B0503020204020204" charset="-122"/>
                <a:ea typeface="微软雅黑" panose="020B0503020204020204" charset="-122"/>
                <a:cs typeface="微软雅黑" panose="020B0503020204020204" charset="-122"/>
                <a:sym typeface="+mn-ea"/>
              </a:rPr>
              <a:t>。</a:t>
            </a:r>
            <a:r>
              <a:rPr lang="zh-CN" altLang="en-US" sz="2000" b="1" dirty="0" smtClean="0">
                <a:latin typeface="微软雅黑" panose="020B0503020204020204" charset="-122"/>
                <a:ea typeface="微软雅黑" panose="020B0503020204020204" charset="-122"/>
                <a:sym typeface="+mn-ea"/>
              </a:rPr>
              <a:t>  </a:t>
            </a:r>
            <a:endParaRPr lang="zh-CN" altLang="en-US" sz="2000" b="1" dirty="0" smtClean="0">
              <a:latin typeface="微软雅黑" panose="020B0503020204020204" charset="-122"/>
              <a:ea typeface="微软雅黑" panose="020B0503020204020204" charset="-122"/>
              <a:sym typeface="+mn-ea"/>
            </a:endParaRPr>
          </a:p>
        </p:txBody>
      </p:sp>
      <p:sp>
        <p:nvSpPr>
          <p:cNvPr id="14" name="文本框 13"/>
          <p:cNvSpPr txBox="1"/>
          <p:nvPr/>
        </p:nvSpPr>
        <p:spPr>
          <a:xfrm>
            <a:off x="9573260" y="1669415"/>
            <a:ext cx="2406650" cy="5077460"/>
          </a:xfrm>
          <a:prstGeom prst="rect">
            <a:avLst/>
          </a:prstGeom>
          <a:ln w="2857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txBody>
          <a:bodyPr wrap="square" rtlCol="0">
            <a:spAutoFit/>
          </a:bodyPr>
          <a:p>
            <a:r>
              <a:rPr lang="zh-CN" altLang="en-US" b="1">
                <a:solidFill>
                  <a:srgbClr val="FF0000"/>
                </a:solidFill>
              </a:rPr>
              <a:t>常见问题</a:t>
            </a:r>
            <a:r>
              <a:rPr lang="zh-CN" altLang="en-US" b="1"/>
              <a:t>：</a:t>
            </a:r>
            <a:endParaRPr lang="zh-CN" altLang="en-US" b="1"/>
          </a:p>
          <a:p>
            <a:r>
              <a:rPr lang="en-US" altLang="zh-CN" b="1">
                <a:solidFill>
                  <a:schemeClr val="accent2"/>
                </a:solidFill>
              </a:rPr>
              <a:t>1.</a:t>
            </a:r>
            <a:r>
              <a:rPr lang="zh-CN" altLang="en-US" b="1">
                <a:solidFill>
                  <a:schemeClr val="accent2"/>
                </a:solidFill>
              </a:rPr>
              <a:t>一级场景不闭环，缺得最多的是事件复盘环节；</a:t>
            </a:r>
            <a:endParaRPr lang="zh-CN" altLang="en-US" b="1">
              <a:solidFill>
                <a:schemeClr val="accent2"/>
              </a:solidFill>
            </a:endParaRPr>
          </a:p>
          <a:p>
            <a:r>
              <a:rPr lang="en-US" altLang="zh-CN" b="1">
                <a:solidFill>
                  <a:schemeClr val="accent2"/>
                </a:solidFill>
              </a:rPr>
              <a:t>2.</a:t>
            </a:r>
            <a:r>
              <a:rPr lang="zh-CN" altLang="en-US" b="1">
                <a:solidFill>
                  <a:schemeClr val="accent2"/>
                </a:solidFill>
              </a:rPr>
              <a:t>二级场景比较乱，无逻辑；</a:t>
            </a:r>
            <a:endParaRPr lang="zh-CN" altLang="en-US" b="1">
              <a:solidFill>
                <a:schemeClr val="accent2"/>
              </a:solidFill>
            </a:endParaRPr>
          </a:p>
          <a:p>
            <a:r>
              <a:rPr lang="en-US" altLang="zh-CN" b="1">
                <a:solidFill>
                  <a:schemeClr val="accent2"/>
                </a:solidFill>
              </a:rPr>
              <a:t>3.</a:t>
            </a:r>
            <a:r>
              <a:rPr lang="zh-CN" altLang="en-US" b="1">
                <a:solidFill>
                  <a:schemeClr val="accent2"/>
                </a:solidFill>
              </a:rPr>
              <a:t>数据共享的点不精准，太宏观；</a:t>
            </a:r>
            <a:endParaRPr lang="zh-CN" altLang="en-US" b="1">
              <a:solidFill>
                <a:schemeClr val="accent2"/>
              </a:solidFill>
            </a:endParaRPr>
          </a:p>
          <a:p>
            <a:r>
              <a:rPr lang="en-US" altLang="zh-CN" b="1">
                <a:solidFill>
                  <a:schemeClr val="accent2"/>
                </a:solidFill>
              </a:rPr>
              <a:t>4.</a:t>
            </a:r>
            <a:r>
              <a:rPr lang="zh-CN" altLang="en-US" b="1">
                <a:solidFill>
                  <a:schemeClr val="accent2"/>
                </a:solidFill>
              </a:rPr>
              <a:t>业务协同的点也不精准，显得比较横；</a:t>
            </a:r>
            <a:endParaRPr lang="zh-CN" altLang="en-US" b="1">
              <a:solidFill>
                <a:schemeClr val="accent2"/>
              </a:solidFill>
            </a:endParaRPr>
          </a:p>
          <a:p>
            <a:r>
              <a:rPr lang="en-US" altLang="zh-CN" b="1">
                <a:solidFill>
                  <a:schemeClr val="accent2"/>
                </a:solidFill>
              </a:rPr>
              <a:t>5.</a:t>
            </a:r>
            <a:r>
              <a:rPr lang="zh-CN" altLang="en-US" b="1">
                <a:solidFill>
                  <a:schemeClr val="accent2"/>
                </a:solidFill>
              </a:rPr>
              <a:t>层级贯通的场景没有写出应用在各级怎么用，有什么功能，有的增加基层负担；</a:t>
            </a:r>
            <a:endParaRPr lang="zh-CN" altLang="en-US" b="1">
              <a:solidFill>
                <a:schemeClr val="accent2"/>
              </a:solidFill>
            </a:endParaRPr>
          </a:p>
          <a:p>
            <a:r>
              <a:rPr lang="en-US" altLang="zh-CN" b="1">
                <a:solidFill>
                  <a:schemeClr val="accent2"/>
                </a:solidFill>
              </a:rPr>
              <a:t>6.</a:t>
            </a:r>
            <a:r>
              <a:rPr lang="zh-CN" altLang="en-US" b="1">
                <a:solidFill>
                  <a:schemeClr val="accent2"/>
                </a:solidFill>
              </a:rPr>
              <a:t>场景清单没有回应用需求，解决问题；</a:t>
            </a:r>
            <a:endParaRPr lang="zh-CN" altLang="en-US" b="1">
              <a:solidFill>
                <a:schemeClr val="accent2"/>
              </a:solidFill>
            </a:endParaRPr>
          </a:p>
          <a:p>
            <a:r>
              <a:rPr lang="en-US" altLang="zh-CN" b="1">
                <a:solidFill>
                  <a:schemeClr val="accent2"/>
                </a:solidFill>
              </a:rPr>
              <a:t>7.</a:t>
            </a:r>
            <a:r>
              <a:rPr lang="zh-CN" altLang="en-US" b="1">
                <a:solidFill>
                  <a:schemeClr val="accent2"/>
                </a:solidFill>
              </a:rPr>
              <a:t>重复谋划场景没有注明复用</a:t>
            </a:r>
            <a:endParaRPr lang="zh-CN" altLang="en-US" b="1">
              <a:solidFill>
                <a:schemeClr val="accent2"/>
              </a:solidFill>
            </a:endParaRPr>
          </a:p>
        </p:txBody>
      </p:sp>
      <p:grpSp>
        <p:nvGrpSpPr>
          <p:cNvPr id="4" name="组合 3"/>
          <p:cNvGrpSpPr/>
          <p:nvPr/>
        </p:nvGrpSpPr>
        <p:grpSpPr>
          <a:xfrm>
            <a:off x="458211" y="265845"/>
            <a:ext cx="505934" cy="514803"/>
            <a:chOff x="3627907" y="1980747"/>
            <a:chExt cx="1105193" cy="762453"/>
          </a:xfrm>
          <a:solidFill>
            <a:srgbClr val="0070C0"/>
          </a:solidFill>
        </p:grpSpPr>
        <p:sp>
          <p:nvSpPr>
            <p:cNvPr id="5" name="燕尾形 19"/>
            <p:cNvSpPr/>
            <p:nvPr>
              <p:custDataLst>
                <p:tags r:id="rId2"/>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9" name="燕尾形 20"/>
            <p:cNvSpPr/>
            <p:nvPr>
              <p:custDataLst>
                <p:tags r:id="rId3"/>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20" name="文本框 19"/>
          <p:cNvSpPr txBox="1"/>
          <p:nvPr>
            <p:custDataLst>
              <p:tags r:id="rId4"/>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6.</a:t>
            </a:r>
            <a:r>
              <a:rPr lang="zh-CN" sz="2800" b="1" dirty="0">
                <a:solidFill>
                  <a:srgbClr val="0070C0"/>
                </a:solidFill>
                <a:latin typeface="微软雅黑" panose="020B0503020204020204" charset="-122"/>
                <a:ea typeface="微软雅黑" panose="020B0503020204020204" charset="-122"/>
                <a:sym typeface="+mn-ea"/>
              </a:rPr>
              <a:t>三张清单编制要点及常见问题</a:t>
            </a:r>
            <a:endParaRPr lang="zh-CN" sz="2800" b="1" spc="10" dirty="0">
              <a:solidFill>
                <a:srgbClr val="0070C0"/>
              </a:solidFill>
              <a:uFillTx/>
              <a:latin typeface="微软雅黑" panose="020B0503020204020204" charset="-122"/>
              <a:ea typeface="微软雅黑" panose="020B0503020204020204" charset="-122"/>
              <a:sym typeface="+mn-ea"/>
            </a:endParaRPr>
          </a:p>
        </p:txBody>
      </p:sp>
      <p:sp>
        <p:nvSpPr>
          <p:cNvPr id="21" name="矩形 20"/>
          <p:cNvSpPr/>
          <p:nvPr>
            <p:custDataLst>
              <p:tags r:id="rId5"/>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Tree>
    <p:custDataLst>
      <p:tags r:id="rId6"/>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335915" y="2276475"/>
          <a:ext cx="11619230" cy="3977005"/>
        </p:xfrm>
        <a:graphic>
          <a:graphicData uri="http://schemas.openxmlformats.org/drawingml/2006/table">
            <a:tbl>
              <a:tblPr firstRow="1" bandRow="1">
                <a:tableStyleId>{5940675A-B579-460E-94D1-54222C63F5DA}</a:tableStyleId>
              </a:tblPr>
              <a:tblGrid>
                <a:gridCol w="2559685"/>
                <a:gridCol w="2560320"/>
                <a:gridCol w="1988820"/>
                <a:gridCol w="2259965"/>
                <a:gridCol w="2250440"/>
              </a:tblGrid>
              <a:tr h="702945">
                <a:tc>
                  <a:txBody>
                    <a:bodyPr/>
                    <a:p>
                      <a:pPr indent="0" algn="ctr">
                        <a:buNone/>
                      </a:pPr>
                      <a:r>
                        <a:rPr lang="zh-CN" altLang="en-US" sz="2000" b="1" spc="-150" dirty="0">
                          <a:solidFill>
                            <a:srgbClr val="003399"/>
                          </a:solidFill>
                          <a:latin typeface="微软雅黑" panose="020B0503020204020204" charset="-122"/>
                          <a:ea typeface="微软雅黑" panose="020B0503020204020204" charset="-122"/>
                        </a:rPr>
                        <a:t>一级场景</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spc="-150" dirty="0">
                          <a:solidFill>
                            <a:srgbClr val="003399"/>
                          </a:solidFill>
                          <a:latin typeface="微软雅黑" panose="020B0503020204020204" charset="-122"/>
                          <a:ea typeface="微软雅黑" panose="020B0503020204020204" charset="-122"/>
                        </a:rPr>
                        <a:t>二级场景</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spc="-150" dirty="0">
                          <a:solidFill>
                            <a:srgbClr val="003399"/>
                          </a:solidFill>
                          <a:latin typeface="微软雅黑" panose="020B0503020204020204" charset="-122"/>
                          <a:ea typeface="微软雅黑" panose="020B0503020204020204" charset="-122"/>
                        </a:rPr>
                        <a:t>多跨数据共享</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spc="-150" dirty="0">
                          <a:solidFill>
                            <a:srgbClr val="003399"/>
                          </a:solidFill>
                          <a:latin typeface="微软雅黑" panose="020B0503020204020204" charset="-122"/>
                          <a:ea typeface="微软雅黑" panose="020B0503020204020204" charset="-122"/>
                        </a:rPr>
                        <a:t>多跨业务协同</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spc="-150" dirty="0">
                          <a:solidFill>
                            <a:srgbClr val="003399"/>
                          </a:solidFill>
                          <a:latin typeface="微软雅黑" panose="020B0503020204020204" charset="-122"/>
                          <a:ea typeface="微软雅黑" panose="020B0503020204020204" charset="-122"/>
                        </a:rPr>
                        <a:t>贯通层级及功能</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4060">
                <a:tc>
                  <a:txBody>
                    <a:bodyPr/>
                    <a:p>
                      <a:pPr indent="0" algn="just">
                        <a:buNone/>
                      </a:pPr>
                      <a:r>
                        <a:rPr lang="zh-CN" altLang="en-US" sz="2000" b="1" dirty="0">
                          <a:solidFill>
                            <a:srgbClr val="003399"/>
                          </a:solidFill>
                          <a:uFillTx/>
                          <a:latin typeface="微软雅黑" panose="020B0503020204020204" charset="-122"/>
                          <a:ea typeface="微软雅黑" panose="020B0503020204020204" charset="-122"/>
                        </a:rPr>
                        <a:t>利用</a:t>
                      </a:r>
                      <a:r>
                        <a:rPr lang="en-US" altLang="zh-CN" sz="2000" b="1" dirty="0">
                          <a:solidFill>
                            <a:srgbClr val="003399"/>
                          </a:solidFill>
                          <a:uFillTx/>
                          <a:latin typeface="微软雅黑" panose="020B0503020204020204" charset="-122"/>
                          <a:ea typeface="微软雅黑" panose="020B0503020204020204" charset="-122"/>
                        </a:rPr>
                        <a:t>V</a:t>
                      </a:r>
                      <a:r>
                        <a:rPr lang="zh-CN" altLang="en-US" sz="2000" b="1" dirty="0">
                          <a:solidFill>
                            <a:srgbClr val="003399"/>
                          </a:solidFill>
                          <a:uFillTx/>
                          <a:latin typeface="微软雅黑" panose="020B0503020204020204" charset="-122"/>
                          <a:ea typeface="微软雅黑" panose="020B0503020204020204" charset="-122"/>
                        </a:rPr>
                        <a:t>模型方法，重新梳理核心业务事项，按照</a:t>
                      </a:r>
                      <a:r>
                        <a:rPr lang="zh-CN" altLang="en-US" sz="2000" b="1" dirty="0">
                          <a:solidFill>
                            <a:srgbClr val="FF0000"/>
                          </a:solidFill>
                          <a:uFillTx/>
                          <a:latin typeface="微软雅黑" panose="020B0503020204020204" charset="-122"/>
                          <a:ea typeface="微软雅黑" panose="020B0503020204020204" charset="-122"/>
                        </a:rPr>
                        <a:t>链式闭环</a:t>
                      </a:r>
                      <a:r>
                        <a:rPr lang="zh-CN" altLang="en-US" sz="2000" b="1" dirty="0">
                          <a:solidFill>
                            <a:srgbClr val="003399"/>
                          </a:solidFill>
                          <a:uFillTx/>
                          <a:latin typeface="微软雅黑" panose="020B0503020204020204" charset="-122"/>
                          <a:ea typeface="微软雅黑" panose="020B0503020204020204" charset="-122"/>
                        </a:rPr>
                        <a:t>或</a:t>
                      </a:r>
                      <a:r>
                        <a:rPr lang="zh-CN" altLang="en-US" sz="2000" b="1" dirty="0">
                          <a:solidFill>
                            <a:srgbClr val="FF0000"/>
                          </a:solidFill>
                          <a:uFillTx/>
                          <a:latin typeface="微软雅黑" panose="020B0503020204020204" charset="-122"/>
                          <a:ea typeface="微软雅黑" panose="020B0503020204020204" charset="-122"/>
                        </a:rPr>
                        <a:t>团式闭环</a:t>
                      </a:r>
                      <a:r>
                        <a:rPr lang="zh-CN" altLang="en-US" sz="2000" b="1" dirty="0">
                          <a:solidFill>
                            <a:srgbClr val="003399"/>
                          </a:solidFill>
                          <a:uFillTx/>
                          <a:latin typeface="微软雅黑" panose="020B0503020204020204" charset="-122"/>
                          <a:ea typeface="微软雅黑" panose="020B0503020204020204" charset="-122"/>
                        </a:rPr>
                        <a:t>的逻辑，梳理列出重点环节或重点领域作为一级场景。</a:t>
                      </a:r>
                      <a:endParaRPr lang="zh-CN" altLang="en-US" sz="2000" b="1" dirty="0">
                        <a:solidFill>
                          <a:srgbClr val="003399"/>
                        </a:solidFill>
                        <a:uFillTx/>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just">
                        <a:buNone/>
                      </a:pPr>
                      <a:r>
                        <a:rPr lang="zh-CN" altLang="en-US" sz="2000" b="1" spc="-150" dirty="0">
                          <a:solidFill>
                            <a:srgbClr val="003399"/>
                          </a:solidFill>
                          <a:latin typeface="微软雅黑" panose="020B0503020204020204" charset="-122"/>
                          <a:ea typeface="微软雅黑" panose="020B0503020204020204" charset="-122"/>
                        </a:rPr>
                        <a:t>二级场景对应一级场景中某一个场景按照“</a:t>
                      </a:r>
                      <a:r>
                        <a:rPr lang="zh-CN" altLang="en-US" sz="2000" b="1" spc="-150" dirty="0">
                          <a:solidFill>
                            <a:srgbClr val="FF0000"/>
                          </a:solidFill>
                          <a:latin typeface="微软雅黑" panose="020B0503020204020204" charset="-122"/>
                          <a:ea typeface="微软雅黑" panose="020B0503020204020204" charset="-122"/>
                        </a:rPr>
                        <a:t>一件事</a:t>
                      </a:r>
                      <a:r>
                        <a:rPr lang="zh-CN" altLang="en-US" sz="2000" b="1" spc="-150" dirty="0">
                          <a:solidFill>
                            <a:srgbClr val="003399"/>
                          </a:solidFill>
                          <a:latin typeface="微软雅黑" panose="020B0503020204020204" charset="-122"/>
                          <a:ea typeface="微软雅黑" panose="020B0503020204020204" charset="-122"/>
                        </a:rPr>
                        <a:t>”思维进行拆解，每个二级场景构成一件完整的事。</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just">
                        <a:buNone/>
                      </a:pPr>
                      <a:r>
                        <a:rPr lang="zh-CN" altLang="en-US" sz="2000" b="1" spc="-150" dirty="0">
                          <a:solidFill>
                            <a:srgbClr val="003399"/>
                          </a:solidFill>
                          <a:latin typeface="微软雅黑" panose="020B0503020204020204" charset="-122"/>
                          <a:ea typeface="微软雅黑" panose="020B0503020204020204" charset="-122"/>
                        </a:rPr>
                        <a:t>多个部门之间的数据共享，不是</a:t>
                      </a:r>
                      <a:r>
                        <a:rPr lang="zh-CN" altLang="en-US" sz="2000" b="1" spc="-150" dirty="0">
                          <a:solidFill>
                            <a:srgbClr val="FF0000"/>
                          </a:solidFill>
                          <a:latin typeface="微软雅黑" panose="020B0503020204020204" charset="-122"/>
                          <a:ea typeface="微软雅黑" panose="020B0503020204020204" charset="-122"/>
                        </a:rPr>
                        <a:t>部门所有的数据</a:t>
                      </a:r>
                      <a:r>
                        <a:rPr lang="zh-CN" altLang="en-US" sz="2000" b="1" spc="-150" dirty="0">
                          <a:solidFill>
                            <a:srgbClr val="003399"/>
                          </a:solidFill>
                          <a:latin typeface="微软雅黑" panose="020B0503020204020204" charset="-122"/>
                          <a:ea typeface="微软雅黑" panose="020B0503020204020204" charset="-122"/>
                        </a:rPr>
                        <a:t>，而是跟核心业务相关的数据共享。</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just">
                        <a:buNone/>
                      </a:pPr>
                      <a:r>
                        <a:rPr lang="zh-CN" altLang="en-US" sz="2000" b="1" spc="-150" dirty="0" smtClean="0">
                          <a:solidFill>
                            <a:srgbClr val="003399"/>
                          </a:solidFill>
                          <a:latin typeface="微软雅黑" panose="020B0503020204020204" charset="-122"/>
                          <a:ea typeface="微软雅黑" panose="020B0503020204020204" charset="-122"/>
                        </a:rPr>
                        <a:t>为了</a:t>
                      </a:r>
                      <a:r>
                        <a:rPr lang="zh-CN" altLang="en-US" sz="2000" b="1" spc="-150" dirty="0">
                          <a:solidFill>
                            <a:srgbClr val="003399"/>
                          </a:solidFill>
                          <a:latin typeface="微软雅黑" panose="020B0503020204020204" charset="-122"/>
                          <a:ea typeface="微软雅黑" panose="020B0503020204020204" charset="-122"/>
                        </a:rPr>
                        <a:t>办成一件事，围绕核心业务对跨地域、跨层级、跨系统、跨部门、跨业务的工作进行协同。</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just">
                        <a:buNone/>
                      </a:pPr>
                      <a:r>
                        <a:rPr lang="zh-CN" altLang="en-US" sz="2000" b="1" spc="-150" dirty="0">
                          <a:solidFill>
                            <a:srgbClr val="003399"/>
                          </a:solidFill>
                          <a:latin typeface="微软雅黑" panose="020B0503020204020204" charset="-122"/>
                          <a:ea typeface="微软雅黑" panose="020B0503020204020204" charset="-122"/>
                        </a:rPr>
                        <a:t>贯通层级一般涉及市、区县、乡镇（街道）、最终的用户端。每个层级要明确不同的职能职责。</a:t>
                      </a:r>
                      <a:endParaRPr lang="zh-CN" altLang="en-US" sz="2000" b="1" spc="-150" dirty="0">
                        <a:solidFill>
                          <a:srgbClr val="003399"/>
                        </a:solidFill>
                        <a:latin typeface="微软雅黑" panose="020B0503020204020204" charset="-122"/>
                        <a:ea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2" name="文本框 21"/>
          <p:cNvSpPr txBox="1"/>
          <p:nvPr>
            <p:custDataLst>
              <p:tags r:id="rId2"/>
            </p:custDataLst>
          </p:nvPr>
        </p:nvSpPr>
        <p:spPr>
          <a:xfrm>
            <a:off x="697230" y="1484630"/>
            <a:ext cx="8885555" cy="521970"/>
          </a:xfrm>
          <a:prstGeom prst="rect">
            <a:avLst/>
          </a:prstGeom>
          <a:noFill/>
        </p:spPr>
        <p:txBody>
          <a:bodyPr wrap="square" rtlCol="0" anchor="t">
            <a:spAutoFit/>
          </a:bodyPr>
          <a:p>
            <a:r>
              <a:rPr lang="en-US" altLang="zh-CN" sz="2800" b="1" dirty="0" smtClean="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 </a:t>
            </a:r>
            <a:r>
              <a:rPr lang="zh-CN" altLang="en-US" sz="2800" b="1" dirty="0" smtClean="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多跨场景</a:t>
            </a:r>
            <a:r>
              <a:rPr lang="zh-CN" altLang="en-US" sz="2800" b="1" dirty="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清单构建的内容</a:t>
            </a:r>
            <a:endParaRPr lang="zh-CN" altLang="en-US" sz="2800" b="1" spc="10" dirty="0">
              <a:solidFill>
                <a:srgbClr val="0070C0"/>
              </a:solidFill>
              <a:latin typeface="微软雅黑" panose="020B0503020204020204" charset="-122"/>
              <a:ea typeface="微软雅黑" panose="020B0503020204020204" charset="-122"/>
              <a:sym typeface="+mn-ea"/>
            </a:endParaRPr>
          </a:p>
        </p:txBody>
      </p:sp>
      <p:grpSp>
        <p:nvGrpSpPr>
          <p:cNvPr id="4" name="组合 3"/>
          <p:cNvGrpSpPr/>
          <p:nvPr/>
        </p:nvGrpSpPr>
        <p:grpSpPr>
          <a:xfrm>
            <a:off x="458211" y="265845"/>
            <a:ext cx="505934" cy="514803"/>
            <a:chOff x="3627907" y="1980747"/>
            <a:chExt cx="1105193" cy="762453"/>
          </a:xfrm>
          <a:solidFill>
            <a:srgbClr val="0070C0"/>
          </a:solidFill>
        </p:grpSpPr>
        <p:sp>
          <p:nvSpPr>
            <p:cNvPr id="5" name="燕尾形 19"/>
            <p:cNvSpPr/>
            <p:nvPr>
              <p:custDataLst>
                <p:tags r:id="rId3"/>
              </p:custDataLst>
            </p:nvPr>
          </p:nvSpPr>
          <p:spPr>
            <a:xfrm>
              <a:off x="3627907" y="2000250"/>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 name="燕尾形 20"/>
            <p:cNvSpPr/>
            <p:nvPr>
              <p:custDataLst>
                <p:tags r:id="rId4"/>
              </p:custDataLst>
            </p:nvPr>
          </p:nvSpPr>
          <p:spPr>
            <a:xfrm>
              <a:off x="4131907" y="1980747"/>
              <a:ext cx="601193" cy="74295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9" name="文本框 8"/>
          <p:cNvSpPr txBox="1"/>
          <p:nvPr>
            <p:custDataLst>
              <p:tags r:id="rId5"/>
            </p:custDataLst>
          </p:nvPr>
        </p:nvSpPr>
        <p:spPr>
          <a:xfrm>
            <a:off x="1127760" y="278765"/>
            <a:ext cx="8885555" cy="521970"/>
          </a:xfrm>
          <a:prstGeom prst="rect">
            <a:avLst/>
          </a:prstGeom>
          <a:noFill/>
        </p:spPr>
        <p:txBody>
          <a:bodyPr wrap="square" rtlCol="0" anchor="t">
            <a:spAutoFit/>
          </a:bodyPr>
          <a:p>
            <a:pPr algn="just"/>
            <a:r>
              <a:rPr lang="en-US" altLang="zh-CN" sz="2800" b="1" dirty="0">
                <a:solidFill>
                  <a:srgbClr val="0070C0"/>
                </a:solidFill>
                <a:latin typeface="微软雅黑" panose="020B0503020204020204" charset="-122"/>
                <a:ea typeface="微软雅黑" panose="020B0503020204020204" charset="-122"/>
                <a:sym typeface="+mn-ea"/>
              </a:rPr>
              <a:t>6.</a:t>
            </a:r>
            <a:r>
              <a:rPr lang="zh-CN" sz="2800" b="1" dirty="0">
                <a:solidFill>
                  <a:srgbClr val="0070C0"/>
                </a:solidFill>
                <a:latin typeface="微软雅黑" panose="020B0503020204020204" charset="-122"/>
                <a:ea typeface="微软雅黑" panose="020B0503020204020204" charset="-122"/>
                <a:sym typeface="+mn-ea"/>
              </a:rPr>
              <a:t>三张清单编制要点及常见问题</a:t>
            </a:r>
            <a:endParaRPr lang="zh-CN" sz="2800" b="1" spc="10" dirty="0">
              <a:solidFill>
                <a:srgbClr val="0070C0"/>
              </a:solidFill>
              <a:uFillTx/>
              <a:latin typeface="微软雅黑" panose="020B0503020204020204" charset="-122"/>
              <a:ea typeface="微软雅黑" panose="020B0503020204020204" charset="-122"/>
              <a:sym typeface="+mn-ea"/>
            </a:endParaRPr>
          </a:p>
        </p:txBody>
      </p:sp>
      <p:sp>
        <p:nvSpPr>
          <p:cNvPr id="11" name="矩形 10"/>
          <p:cNvSpPr/>
          <p:nvPr>
            <p:custDataLst>
              <p:tags r:id="rId6"/>
            </p:custDataLst>
          </p:nvPr>
        </p:nvSpPr>
        <p:spPr>
          <a:xfrm>
            <a:off x="0" y="832168"/>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Tree>
    <p:custDataLst>
      <p:tags r:id="rId7"/>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192405" y="981075"/>
          <a:ext cx="7068185" cy="3943350"/>
        </p:xfrm>
        <a:graphic>
          <a:graphicData uri="http://schemas.openxmlformats.org/drawingml/2006/table">
            <a:tbl>
              <a:tblPr/>
              <a:tblGrid>
                <a:gridCol w="496570"/>
                <a:gridCol w="1229995"/>
                <a:gridCol w="1273810"/>
                <a:gridCol w="1221740"/>
                <a:gridCol w="1290320"/>
                <a:gridCol w="1555750"/>
              </a:tblGrid>
              <a:tr h="657225">
                <a:tc>
                  <a:txBody>
                    <a:bodyPr/>
                    <a:p>
                      <a:pPr marL="0" indent="0" algn="ctr" fontAlgn="ctr" hangingPunct="0">
                        <a:lnSpc>
                          <a:spcPts val="1600"/>
                        </a:lnSpc>
                        <a:spcBef>
                          <a:spcPct val="0"/>
                        </a:spcBef>
                        <a:spcAft>
                          <a:spcPct val="0"/>
                        </a:spcAft>
                      </a:pPr>
                      <a:r>
                        <a:rPr lang="zh-CN" sz="2000">
                          <a:solidFill>
                            <a:schemeClr val="bg1"/>
                          </a:solidFill>
                          <a:latin typeface="微软雅黑" panose="020B0503020204020204" charset="-122"/>
                          <a:ea typeface="微软雅黑" panose="020B0503020204020204" charset="-122"/>
                        </a:rPr>
                        <a:t>序号</a:t>
                      </a:r>
                      <a:endParaRPr lang="zh-CN" sz="2000">
                        <a:solidFill>
                          <a:schemeClr val="bg1"/>
                        </a:solidFill>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70C0"/>
                    </a:solidFill>
                  </a:tcPr>
                </a:tc>
                <a:tc>
                  <a:txBody>
                    <a:bodyPr/>
                    <a:p>
                      <a:pPr marL="0" indent="0" algn="ctr" fontAlgn="ctr" hangingPunct="0">
                        <a:lnSpc>
                          <a:spcPts val="1600"/>
                        </a:lnSpc>
                        <a:spcBef>
                          <a:spcPct val="0"/>
                        </a:spcBef>
                        <a:spcAft>
                          <a:spcPct val="0"/>
                        </a:spcAft>
                      </a:pPr>
                      <a:r>
                        <a:rPr lang="zh-CN" sz="2000">
                          <a:solidFill>
                            <a:schemeClr val="bg1"/>
                          </a:solidFill>
                          <a:latin typeface="微软雅黑" panose="020B0503020204020204" charset="-122"/>
                          <a:ea typeface="微软雅黑" panose="020B0503020204020204" charset="-122"/>
                        </a:rPr>
                        <a:t>改革事项</a:t>
                      </a:r>
                      <a:endParaRPr lang="zh-CN" sz="2000">
                        <a:solidFill>
                          <a:schemeClr val="bg1"/>
                        </a:solidFill>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70C0"/>
                    </a:solidFill>
                  </a:tcPr>
                </a:tc>
                <a:tc>
                  <a:txBody>
                    <a:bodyPr/>
                    <a:p>
                      <a:pPr marL="0" indent="0" algn="ctr" fontAlgn="ctr" hangingPunct="0">
                        <a:lnSpc>
                          <a:spcPts val="1600"/>
                        </a:lnSpc>
                        <a:spcBef>
                          <a:spcPct val="0"/>
                        </a:spcBef>
                        <a:spcAft>
                          <a:spcPct val="0"/>
                        </a:spcAft>
                      </a:pPr>
                      <a:r>
                        <a:rPr lang="zh-CN" sz="2000">
                          <a:solidFill>
                            <a:schemeClr val="bg1"/>
                          </a:solidFill>
                          <a:latin typeface="微软雅黑" panose="020B0503020204020204" charset="-122"/>
                          <a:ea typeface="微软雅黑" panose="020B0503020204020204" charset="-122"/>
                        </a:rPr>
                        <a:t>改革内容</a:t>
                      </a:r>
                      <a:endParaRPr lang="zh-CN" sz="2000">
                        <a:solidFill>
                          <a:schemeClr val="bg1"/>
                        </a:solidFill>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70C0"/>
                    </a:solidFill>
                  </a:tcPr>
                </a:tc>
                <a:tc>
                  <a:txBody>
                    <a:bodyPr/>
                    <a:p>
                      <a:pPr marL="0" indent="0" algn="ctr" fontAlgn="ctr" hangingPunct="0">
                        <a:lnSpc>
                          <a:spcPts val="1600"/>
                        </a:lnSpc>
                        <a:spcBef>
                          <a:spcPct val="0"/>
                        </a:spcBef>
                        <a:spcAft>
                          <a:spcPct val="0"/>
                        </a:spcAft>
                      </a:pPr>
                      <a:r>
                        <a:rPr lang="zh-CN" sz="2000">
                          <a:solidFill>
                            <a:schemeClr val="bg1"/>
                          </a:solidFill>
                          <a:latin typeface="微软雅黑" panose="020B0503020204020204" charset="-122"/>
                          <a:ea typeface="微软雅黑" panose="020B0503020204020204" charset="-122"/>
                        </a:rPr>
                        <a:t>牵头单位</a:t>
                      </a:r>
                      <a:endParaRPr lang="zh-CN" sz="2000">
                        <a:solidFill>
                          <a:schemeClr val="bg1"/>
                        </a:solidFill>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70C0"/>
                    </a:solidFill>
                  </a:tcPr>
                </a:tc>
                <a:tc>
                  <a:txBody>
                    <a:bodyPr/>
                    <a:p>
                      <a:pPr marL="0" indent="0" algn="ctr" fontAlgn="ctr" hangingPunct="0">
                        <a:lnSpc>
                          <a:spcPts val="1600"/>
                        </a:lnSpc>
                        <a:spcBef>
                          <a:spcPct val="0"/>
                        </a:spcBef>
                        <a:spcAft>
                          <a:spcPct val="0"/>
                        </a:spcAft>
                      </a:pPr>
                      <a:r>
                        <a:rPr lang="zh-CN" sz="2000">
                          <a:solidFill>
                            <a:schemeClr val="bg1"/>
                          </a:solidFill>
                          <a:latin typeface="微软雅黑" panose="020B0503020204020204" charset="-122"/>
                          <a:ea typeface="微软雅黑" panose="020B0503020204020204" charset="-122"/>
                        </a:rPr>
                        <a:t>协办单位</a:t>
                      </a:r>
                      <a:endParaRPr lang="zh-CN" sz="2000">
                        <a:solidFill>
                          <a:schemeClr val="bg1"/>
                        </a:solidFill>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70C0"/>
                    </a:solidFill>
                  </a:tcPr>
                </a:tc>
                <a:tc>
                  <a:txBody>
                    <a:bodyPr/>
                    <a:p>
                      <a:pPr marL="0" indent="0" algn="ctr" fontAlgn="ctr" hangingPunct="0">
                        <a:lnSpc>
                          <a:spcPts val="1600"/>
                        </a:lnSpc>
                        <a:spcBef>
                          <a:spcPct val="0"/>
                        </a:spcBef>
                        <a:spcAft>
                          <a:spcPct val="0"/>
                        </a:spcAft>
                      </a:pPr>
                      <a:r>
                        <a:rPr lang="zh-CN" sz="2000">
                          <a:solidFill>
                            <a:schemeClr val="bg1"/>
                          </a:solidFill>
                          <a:latin typeface="微软雅黑" panose="020B0503020204020204" charset="-122"/>
                          <a:ea typeface="微软雅黑" panose="020B0503020204020204" charset="-122"/>
                        </a:rPr>
                        <a:t>完成时限</a:t>
                      </a:r>
                      <a:endParaRPr lang="zh-CN" sz="2000">
                        <a:solidFill>
                          <a:schemeClr val="bg1"/>
                        </a:solidFill>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70C0"/>
                    </a:solidFill>
                  </a:tcPr>
                </a:tc>
              </a:tr>
              <a:tr h="657225">
                <a:tc>
                  <a:txBody>
                    <a:bodyPr/>
                    <a:p>
                      <a:pPr marL="0" indent="0" algn="ctr"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1</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57225">
                <a:tc>
                  <a:txBody>
                    <a:bodyPr/>
                    <a:p>
                      <a:pPr marL="0" indent="0" algn="ctr"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2</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57225">
                <a:tc>
                  <a:txBody>
                    <a:bodyPr/>
                    <a:p>
                      <a:pPr marL="0" indent="0" algn="ctr"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3</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57225">
                <a:tc>
                  <a:txBody>
                    <a:bodyPr/>
                    <a:p>
                      <a:pPr marL="0" indent="0" algn="ctr"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4</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657225">
                <a:tc>
                  <a:txBody>
                    <a:bodyPr/>
                    <a:p>
                      <a:pPr marL="0" indent="0" algn="ctr"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0" indent="0" algn="just" fontAlgn="ctr" hangingPunct="0">
                        <a:lnSpc>
                          <a:spcPts val="1600"/>
                        </a:lnSpc>
                        <a:spcBef>
                          <a:spcPct val="0"/>
                        </a:spcBef>
                        <a:spcAft>
                          <a:spcPct val="0"/>
                        </a:spcAft>
                      </a:pP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marL="91440" indent="0" fontAlgn="ctr" hangingPunct="0">
                        <a:lnSpc>
                          <a:spcPts val="1600"/>
                        </a:lnSpc>
                        <a:spcBef>
                          <a:spcPct val="0"/>
                        </a:spcBef>
                        <a:spcAft>
                          <a:spcPct val="0"/>
                        </a:spcAft>
                      </a:pPr>
                      <a:endParaRPr sz="1200">
                        <a:latin typeface="Times New Roman" panose="02020603050405020304"/>
                        <a:ea typeface="微软雅黑" panose="020B0503020204020204" charset="-122"/>
                      </a:endParaRPr>
                    </a:p>
                  </a:txBody>
                  <a:tcPr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
        <p:nvSpPr>
          <p:cNvPr id="21" name="矩形 20"/>
          <p:cNvSpPr/>
          <p:nvPr>
            <p:custDataLst>
              <p:tags r:id="rId2"/>
            </p:custDataLst>
          </p:nvPr>
        </p:nvSpPr>
        <p:spPr>
          <a:xfrm>
            <a:off x="0" y="616903"/>
            <a:ext cx="12192000" cy="193675"/>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marL="0" marR="0" lvl="0" indent="551180" algn="just" defTabSz="914400" rtl="0" eaLnBrk="1" fontAlgn="auto" latinLnBrk="0" hangingPunct="1">
              <a:lnSpc>
                <a:spcPct val="150000"/>
              </a:lnSpc>
              <a:spcBef>
                <a:spcPts val="600"/>
              </a:spcBef>
              <a:spcAft>
                <a:spcPts val="0"/>
              </a:spcAft>
              <a:buClrTx/>
              <a:buSzTx/>
              <a:buFont typeface="Wingdings" panose="05000000000000000000" charset="0"/>
              <a:buNone/>
              <a:defRPr/>
            </a:pPr>
            <a:endParaRPr kumimoji="0" lang="zh-CN" altLang="en-US" sz="2000" b="0" i="0" u="none" strike="noStrike" kern="1200" cap="none" spc="0" normalizeH="0" baseline="0" noProof="0" dirty="0">
              <a:ln>
                <a:noFill/>
              </a:ln>
              <a:solidFill>
                <a:srgbClr val="E7E6E6"/>
              </a:solidFill>
              <a:effectLst/>
              <a:uLnTx/>
              <a:uFillTx/>
              <a:latin typeface="微软雅黑" panose="020B0503020204020204" charset="-122"/>
              <a:ea typeface="微软雅黑" panose="020B0503020204020204" charset="-122"/>
              <a:cs typeface="+mn-cs"/>
              <a:sym typeface="+mn-ea"/>
            </a:endParaRPr>
          </a:p>
        </p:txBody>
      </p:sp>
      <p:sp>
        <p:nvSpPr>
          <p:cNvPr id="22" name="文本框 21"/>
          <p:cNvSpPr txBox="1"/>
          <p:nvPr>
            <p:custDataLst>
              <p:tags r:id="rId3"/>
            </p:custDataLst>
          </p:nvPr>
        </p:nvSpPr>
        <p:spPr>
          <a:xfrm>
            <a:off x="697230" y="63500"/>
            <a:ext cx="8885555" cy="521970"/>
          </a:xfrm>
          <a:prstGeom prst="rect">
            <a:avLst/>
          </a:prstGeom>
          <a:noFill/>
        </p:spPr>
        <p:txBody>
          <a:bodyPr wrap="square" rtlCol="0" anchor="t">
            <a:spAutoFit/>
          </a:bodyPr>
          <a:p>
            <a:r>
              <a:rPr lang="en-US" altLang="zh-CN" sz="2800" b="1" dirty="0" smtClean="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 </a:t>
            </a:r>
            <a:r>
              <a:rPr lang="zh-CN" altLang="en-US" sz="2800" b="1" dirty="0" smtClean="0">
                <a:solidFill>
                  <a:srgbClr val="2F5597"/>
                </a:solidFill>
                <a:latin typeface="微软雅黑" panose="020B0503020204020204" charset="-122"/>
                <a:ea typeface="微软雅黑" panose="020B0503020204020204" charset="-122"/>
                <a:cs typeface="微软雅黑" panose="020B0503020204020204" charset="-122"/>
                <a:sym typeface="等线" panose="02010600030101010101" charset="-122"/>
              </a:rPr>
              <a:t>改革清单</a:t>
            </a:r>
            <a:endParaRPr lang="zh-CN" altLang="en-US" sz="2800" b="1" spc="10" dirty="0">
              <a:solidFill>
                <a:srgbClr val="0070C0"/>
              </a:solidFill>
              <a:latin typeface="微软雅黑" panose="020B0503020204020204" charset="-122"/>
              <a:ea typeface="微软雅黑" panose="020B0503020204020204" charset="-122"/>
              <a:sym typeface="+mn-ea"/>
            </a:endParaRPr>
          </a:p>
        </p:txBody>
      </p:sp>
      <p:sp>
        <p:nvSpPr>
          <p:cNvPr id="6" name="文本框 5"/>
          <p:cNvSpPr txBox="1"/>
          <p:nvPr/>
        </p:nvSpPr>
        <p:spPr>
          <a:xfrm>
            <a:off x="233045" y="5013325"/>
            <a:ext cx="11769725" cy="1732915"/>
          </a:xfrm>
          <a:prstGeom prst="rect">
            <a:avLst/>
          </a:prstGeom>
          <a:ln w="2857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txBody>
          <a:bodyPr wrap="square" rtlCol="0">
            <a:noAutofit/>
          </a:bodyPr>
          <a:p>
            <a:r>
              <a:rPr lang="zh-CN" altLang="en-US" b="1">
                <a:solidFill>
                  <a:srgbClr val="FF0000"/>
                </a:solidFill>
                <a:latin typeface="微软雅黑" panose="020B0503020204020204" charset="-122"/>
                <a:ea typeface="微软雅黑" panose="020B0503020204020204" charset="-122"/>
              </a:rPr>
              <a:t>编制说明</a:t>
            </a:r>
            <a:r>
              <a:rPr lang="zh-CN" altLang="en-US" b="1">
                <a:solidFill>
                  <a:schemeClr val="accent2"/>
                </a:solidFill>
                <a:latin typeface="微软雅黑" panose="020B0503020204020204" charset="-122"/>
                <a:ea typeface="微软雅黑" panose="020B0503020204020204" charset="-122"/>
              </a:rPr>
              <a:t>：</a:t>
            </a:r>
            <a:endParaRPr lang="zh-CN" altLang="en-US" b="1">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cs typeface="方正黑体_GBK" panose="03000509000000000000" pitchFamily="65" charset="-122"/>
              </a:rPr>
              <a:t>1.牵头单位：是指改革任务的牵头单位，</a:t>
            </a:r>
            <a:r>
              <a:rPr lang="zh-CN" altLang="en-US">
                <a:solidFill>
                  <a:schemeClr val="accent2"/>
                </a:solidFill>
                <a:latin typeface="微软雅黑" panose="020B0503020204020204" charset="-122"/>
                <a:ea typeface="微软雅黑" panose="020B0503020204020204" charset="-122"/>
                <a:cs typeface="方正黑体_GBK" panose="03000509000000000000" pitchFamily="65" charset="-122"/>
              </a:rPr>
              <a:t>不一定是应用谋划建设的牵头单位</a:t>
            </a:r>
            <a:r>
              <a:rPr lang="zh-CN" altLang="en-US">
                <a:latin typeface="微软雅黑" panose="020B0503020204020204" charset="-122"/>
                <a:ea typeface="微软雅黑" panose="020B0503020204020204" charset="-122"/>
                <a:cs typeface="方正黑体_GBK" panose="03000509000000000000" pitchFamily="65" charset="-122"/>
              </a:rPr>
              <a:t>。应用谋划建设的牵头单位需要加强与改革牵头单位的沟通对接；</a:t>
            </a:r>
            <a:endParaRPr lang="zh-CN" altLang="en-US">
              <a:latin typeface="微软雅黑" panose="020B0503020204020204" charset="-122"/>
              <a:ea typeface="微软雅黑" panose="020B0503020204020204" charset="-122"/>
              <a:cs typeface="方正黑体_GBK" panose="03000509000000000000" pitchFamily="65" charset="-122"/>
            </a:endParaRPr>
          </a:p>
          <a:p>
            <a:r>
              <a:rPr lang="zh-CN" altLang="en-US">
                <a:latin typeface="微软雅黑" panose="020B0503020204020204" charset="-122"/>
                <a:ea typeface="微软雅黑" panose="020B0503020204020204" charset="-122"/>
                <a:cs typeface="方正黑体_GBK" panose="03000509000000000000" pitchFamily="65" charset="-122"/>
              </a:rPr>
              <a:t>2.协办单位：是指为本事项提供业务支持或数据支撑的单位，牵头单位要加强与协办单位的沟通对接；</a:t>
            </a:r>
            <a:endParaRPr lang="zh-CN" altLang="en-US">
              <a:latin typeface="微软雅黑" panose="020B0503020204020204" charset="-122"/>
              <a:ea typeface="微软雅黑" panose="020B0503020204020204" charset="-122"/>
              <a:cs typeface="方正黑体_GBK" panose="03000509000000000000" pitchFamily="65" charset="-122"/>
            </a:endParaRPr>
          </a:p>
          <a:p>
            <a:r>
              <a:rPr lang="zh-CN" altLang="en-US">
                <a:latin typeface="微软雅黑" panose="020B0503020204020204" charset="-122"/>
                <a:ea typeface="微软雅黑" panose="020B0503020204020204" charset="-122"/>
                <a:cs typeface="方正黑体_GBK" panose="03000509000000000000" pitchFamily="65" charset="-122"/>
              </a:rPr>
              <a:t>完成时限：是指落实改革措施的时间，牵头单位需与相关协办单位沟通确定。同时，要推动改革举措与全面深化改革中的“三个一批”重大改革项目对接，列入重大改革项目的，按照项目要求时序推进。</a:t>
            </a:r>
            <a:endParaRPr lang="zh-CN" altLang="en-US">
              <a:latin typeface="微软雅黑" panose="020B0503020204020204" charset="-122"/>
              <a:ea typeface="微软雅黑" panose="020B0503020204020204" charset="-122"/>
              <a:cs typeface="方正黑体_GBK" panose="03000509000000000000" pitchFamily="65" charset="-122"/>
            </a:endParaRPr>
          </a:p>
        </p:txBody>
      </p:sp>
      <p:sp>
        <p:nvSpPr>
          <p:cNvPr id="2" name="文本框 1"/>
          <p:cNvSpPr txBox="1"/>
          <p:nvPr/>
        </p:nvSpPr>
        <p:spPr>
          <a:xfrm>
            <a:off x="7481570" y="981075"/>
            <a:ext cx="4521200" cy="3943350"/>
          </a:xfrm>
          <a:prstGeom prst="rect">
            <a:avLst/>
          </a:prstGeom>
          <a:ln w="2857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txBody>
          <a:bodyPr wrap="square" rtlCol="0">
            <a:noAutofit/>
          </a:bodyPr>
          <a:p>
            <a:r>
              <a:rPr lang="zh-CN" altLang="en-US" sz="2000">
                <a:solidFill>
                  <a:srgbClr val="FF0000"/>
                </a:solidFill>
              </a:rPr>
              <a:t>常见问题：</a:t>
            </a:r>
            <a:endParaRPr lang="zh-CN" altLang="en-US" sz="2000">
              <a:solidFill>
                <a:srgbClr val="FF0000"/>
              </a:solidFill>
            </a:endParaRPr>
          </a:p>
          <a:p>
            <a:r>
              <a:rPr lang="en-US" altLang="zh-CN" sz="2000"/>
              <a:t>1.</a:t>
            </a:r>
            <a:r>
              <a:rPr lang="zh-CN" altLang="en-US" sz="2000"/>
              <a:t>把</a:t>
            </a:r>
            <a:r>
              <a:rPr lang="zh-CN" altLang="en-US" sz="2000">
                <a:solidFill>
                  <a:schemeClr val="accent2"/>
                </a:solidFill>
              </a:rPr>
              <a:t>工作当改革</a:t>
            </a:r>
            <a:r>
              <a:rPr lang="zh-CN" altLang="en-US" sz="2000"/>
              <a:t>，措施没有改革味；</a:t>
            </a:r>
            <a:endParaRPr lang="zh-CN" altLang="en-US" sz="2000"/>
          </a:p>
          <a:p>
            <a:r>
              <a:rPr lang="en-US" altLang="zh-CN" sz="2000"/>
              <a:t>2.</a:t>
            </a:r>
            <a:r>
              <a:rPr lang="zh-CN" altLang="en-US" sz="2000"/>
              <a:t>把</a:t>
            </a:r>
            <a:r>
              <a:rPr lang="zh-CN" altLang="en-US" sz="2000">
                <a:solidFill>
                  <a:schemeClr val="accent2"/>
                </a:solidFill>
              </a:rPr>
              <a:t>发文当改革</a:t>
            </a:r>
            <a:r>
              <a:rPr lang="zh-CN" altLang="en-US" sz="2000"/>
              <a:t>，看不出改了什么；</a:t>
            </a:r>
            <a:endParaRPr lang="zh-CN" altLang="en-US" sz="2000"/>
          </a:p>
          <a:p>
            <a:r>
              <a:rPr lang="en-US" altLang="zh-CN" sz="2000"/>
              <a:t>3.</a:t>
            </a:r>
            <a:r>
              <a:rPr lang="zh-CN" altLang="en-US" sz="2000"/>
              <a:t>改革举措</a:t>
            </a:r>
            <a:r>
              <a:rPr lang="zh-CN" altLang="en-US" sz="2000">
                <a:solidFill>
                  <a:schemeClr val="accent2"/>
                </a:solidFill>
              </a:rPr>
              <a:t>太笼统</a:t>
            </a:r>
            <a:r>
              <a:rPr lang="zh-CN" altLang="en-US" sz="2000"/>
              <a:t>，如建立统筹制度，怎统筹没有具体措施，相关部门根本不知道做什么；</a:t>
            </a:r>
            <a:endParaRPr lang="zh-CN" altLang="en-US" sz="2000"/>
          </a:p>
          <a:p>
            <a:r>
              <a:rPr lang="en-US" altLang="zh-CN" sz="2000"/>
              <a:t>4.</a:t>
            </a:r>
            <a:r>
              <a:rPr lang="zh-CN" altLang="en-US" sz="2000"/>
              <a:t>改革措施</a:t>
            </a:r>
            <a:r>
              <a:rPr lang="zh-CN" altLang="en-US" sz="2000">
                <a:solidFill>
                  <a:schemeClr val="accent2"/>
                </a:solidFill>
              </a:rPr>
              <a:t>与数字化和应用没有关系</a:t>
            </a:r>
            <a:r>
              <a:rPr lang="zh-CN" altLang="en-US" sz="2000"/>
              <a:t>，随便写改革措施；</a:t>
            </a:r>
            <a:endParaRPr lang="zh-CN" altLang="en-US" sz="2000"/>
          </a:p>
          <a:p>
            <a:r>
              <a:rPr lang="en-US" altLang="zh-CN" sz="2000"/>
              <a:t>5.</a:t>
            </a:r>
            <a:r>
              <a:rPr lang="zh-CN" altLang="en-US" sz="2000"/>
              <a:t>改革权限不在本级及下级，</a:t>
            </a:r>
            <a:r>
              <a:rPr lang="zh-CN" altLang="en-US" sz="2000">
                <a:solidFill>
                  <a:schemeClr val="accent2"/>
                </a:solidFill>
              </a:rPr>
              <a:t>根本实现不了</a:t>
            </a:r>
            <a:r>
              <a:rPr lang="zh-CN" altLang="en-US" sz="2000"/>
              <a:t>；</a:t>
            </a:r>
            <a:endParaRPr lang="zh-CN" altLang="en-US" sz="2000"/>
          </a:p>
          <a:p>
            <a:r>
              <a:rPr lang="en-US" altLang="zh-CN" sz="2000"/>
              <a:t>6.</a:t>
            </a:r>
            <a:r>
              <a:rPr lang="zh-CN" altLang="en-US" sz="2000">
                <a:solidFill>
                  <a:schemeClr val="accent2"/>
                </a:solidFill>
              </a:rPr>
              <a:t>改革措施根本不可行</a:t>
            </a:r>
            <a:r>
              <a:rPr lang="zh-CN" altLang="en-US" sz="2000"/>
              <a:t>，或者违背了法律法规限定的范围，把不该改的改了。</a:t>
            </a:r>
            <a:endParaRPr lang="zh-CN" altLang="en-US" sz="2000"/>
          </a:p>
        </p:txBody>
      </p:sp>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7025" y="2019724"/>
            <a:ext cx="11535410" cy="2849276"/>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5" dirty="0"/>
          </a:p>
        </p:txBody>
      </p:sp>
      <p:sp>
        <p:nvSpPr>
          <p:cNvPr id="3" name="文本框 2"/>
          <p:cNvSpPr txBox="1"/>
          <p:nvPr/>
        </p:nvSpPr>
        <p:spPr>
          <a:xfrm>
            <a:off x="729405" y="2970642"/>
            <a:ext cx="10730649" cy="1129665"/>
          </a:xfrm>
          <a:prstGeom prst="rect">
            <a:avLst/>
          </a:prstGeom>
          <a:noFill/>
          <a:scene3d>
            <a:camera prst="orthographicFront"/>
            <a:lightRig rig="threePt" dir="t"/>
          </a:scene3d>
          <a:sp3d>
            <a:bevelT prst="angle"/>
          </a:sp3d>
        </p:spPr>
        <p:txBody>
          <a:bodyPr wrap="square" rtlCol="0">
            <a:spAutoFit/>
          </a:bodyPr>
          <a:lstStyle/>
          <a:p>
            <a:pPr lvl="0" algn="ctr" fontAlgn="auto">
              <a:lnSpc>
                <a:spcPct val="125000"/>
              </a:lnSpc>
              <a:buClrTx/>
              <a:buSzTx/>
              <a:buFontTx/>
            </a:pPr>
            <a:r>
              <a:rPr lang="zh-CN" altLang="en-US" sz="5400" b="1" dirty="0">
                <a:ln w="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谢  谢 ！</a:t>
            </a:r>
            <a:endParaRPr lang="zh-CN" altLang="en-US" sz="5400" b="1" kern="100" dirty="0">
              <a:ln w="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方正小标宋简体" panose="02000000000000000000" pitchFamily="2" charset="-122"/>
              <a:sym typeface="+mn-ea"/>
            </a:endParaRPr>
          </a:p>
        </p:txBody>
      </p:sp>
    </p:spTree>
  </p:cSld>
  <p:clrMapOvr>
    <a:masterClrMapping/>
  </p:clrMapOvr>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 name="KSO_WM_DIAGRAM_VIRTUALLY_FRAME" val="{&quot;height&quot;:340.05,&quot;left&quot;:140.1,&quot;top&quot;:105.7,&quot;width&quot;:638.2}"/>
</p:tagLst>
</file>

<file path=ppt/tags/tag4.xml><?xml version="1.0" encoding="utf-8"?>
<p:tagLst xmlns:p="http://schemas.openxmlformats.org/presentationml/2006/main">
  <p:tag name="KSO_WM_BEAUTIFY_FLAG" val=""/>
  <p:tag name="KSO_WM_DIAGRAM_VIRTUALLY_FRAME" val="{&quot;height&quot;:340.05,&quot;left&quot;:140.1,&quot;top&quot;:105.7,&quot;width&quot;:638.2}"/>
</p:tagLst>
</file>

<file path=ppt/tags/tag5.xml><?xml version="1.0" encoding="utf-8"?>
<p:tagLst xmlns:p="http://schemas.openxmlformats.org/presentationml/2006/main">
  <p:tag name="KSO_WM_BEAUTIFY_FLAG" val=""/>
  <p:tag name="KSO_WM_DIAGRAM_VIRTUALLY_FRAME" val="{&quot;height&quot;:340.05,&quot;left&quot;:140.1,&quot;top&quot;:105.7,&quot;width&quot;:638.2}"/>
</p:tagLst>
</file>

<file path=ppt/tags/tag6.xml><?xml version="1.0" encoding="utf-8"?>
<p:tagLst xmlns:p="http://schemas.openxmlformats.org/presentationml/2006/main">
  <p:tag name="KSO_WM_BEAUTIFY_FLAG" val=""/>
  <p:tag name="KSO_WM_DIAGRAM_VIRTUALLY_FRAME" val="{&quot;height&quot;:340.05,&quot;left&quot;:140.1,&quot;top&quot;:105.7,&quot;width&quot;:638.2}"/>
</p:tagLst>
</file>

<file path=ppt/tags/tag7.xml><?xml version="1.0" encoding="utf-8"?>
<p:tagLst xmlns:p="http://schemas.openxmlformats.org/presentationml/2006/main">
  <p:tag name="KSO_WM_BEAUTIFY_FLAG" val=""/>
  <p:tag name="KSO_WM_DIAGRAM_VIRTUALLY_FRAME" val="{&quot;height&quot;:340.05,&quot;left&quot;:140.1,&quot;top&quot;:105.7,&quot;width&quot;:638.2}"/>
</p:tagLst>
</file>

<file path=ppt/tags/tag8.xml><?xml version="1.0" encoding="utf-8"?>
<p:tagLst xmlns:p="http://schemas.openxmlformats.org/presentationml/2006/main">
  <p:tag name="KSO_WM_BEAUTIFY_FLAG" val=""/>
  <p:tag name="KSO_WM_DIAGRAM_VIRTUALLY_FRAME" val="{&quot;height&quot;:340.05,&quot;left&quot;:140.1,&quot;top&quot;:105.7,&quot;width&quot;:638.2}"/>
</p:tagLst>
</file>

<file path=ppt/tags/tag9.xml><?xml version="1.0" encoding="utf-8"?>
<p:tagLst xmlns:p="http://schemas.openxmlformats.org/presentationml/2006/main">
  <p:tag name="KSO_WM_BEAUTIFY_FLAG" val=""/>
  <p:tag name="KSO_WM_DIAGRAM_VIRTUALLY_FRAME" val="{&quot;height&quot;:340.05,&quot;left&quot;:140.1,&quot;top&quot;:105.7,&quot;width&quot;:638.2}"/>
</p:tagLst>
</file>

<file path=ppt/tags/tag10.xml><?xml version="1.0" encoding="utf-8"?>
<p:tagLst xmlns:p="http://schemas.openxmlformats.org/presentationml/2006/main">
  <p:tag name="KSO_WM_BEAUTIFY_FLAG" val=""/>
  <p:tag name="KSO_WM_DIAGRAM_VIRTUALLY_FRAME" val="{&quot;height&quot;:340.05,&quot;left&quot;:140.1,&quot;top&quot;:105.7,&quot;width&quot;:638.2}"/>
</p:tagLst>
</file>

<file path=ppt/tags/tag11.xml><?xml version="1.0" encoding="utf-8"?>
<p:tagLst xmlns:p="http://schemas.openxmlformats.org/presentationml/2006/main">
  <p:tag name="KSO_WM_BEAUTIFY_FLAG" val=""/>
  <p:tag name="KSO_WM_DIAGRAM_VIRTUALLY_FRAME" val="{&quot;height&quot;:340.05,&quot;left&quot;:140.1,&quot;top&quot;:105.7,&quot;width&quot;:638.2}"/>
</p:tagLst>
</file>

<file path=ppt/tags/tag12.xml><?xml version="1.0" encoding="utf-8"?>
<p:tagLst xmlns:p="http://schemas.openxmlformats.org/presentationml/2006/main">
  <p:tag name="KSO_WM_BEAUTIFY_FLAG" val=""/>
  <p:tag name="KSO_WM_DIAGRAM_VIRTUALLY_FRAME" val="{&quot;height&quot;:340.05,&quot;left&quot;:140.1,&quot;top&quot;:105.7,&quot;width&quot;:638.2}"/>
</p:tagLst>
</file>

<file path=ppt/tags/tag13.xml><?xml version="1.0" encoding="utf-8"?>
<p:tagLst xmlns:p="http://schemas.openxmlformats.org/presentationml/2006/main">
  <p:tag name="KSO_WM_BEAUTIFY_FLAG" val=""/>
  <p:tag name="KSO_WM_DIAGRAM_VIRTUALLY_FRAME" val="{&quot;height&quot;:340.05,&quot;left&quot;:140.1,&quot;top&quot;:105.7,&quot;width&quot;:638.2}"/>
</p:tagLst>
</file>

<file path=ppt/tags/tag14.xml><?xml version="1.0" encoding="utf-8"?>
<p:tagLst xmlns:p="http://schemas.openxmlformats.org/presentationml/2006/main">
  <p:tag name="KSO_WM_BEAUTIFY_FLAG" val=""/>
  <p:tag name="KSO_WM_DIAGRAM_VIRTUALLY_FRAME" val="{&quot;height&quot;:340.05,&quot;left&quot;:140.1,&quot;top&quot;:105.7,&quot;width&quot;:638.2}"/>
</p:tagLst>
</file>

<file path=ppt/tags/tag15.xml><?xml version="1.0" encoding="utf-8"?>
<p:tagLst xmlns:p="http://schemas.openxmlformats.org/presentationml/2006/main">
  <p:tag name="KSO_WM_BEAUTIFY_FLAG" val=""/>
  <p:tag name="KSO_WM_DIAGRAM_VIRTUALLY_FRAME" val="{&quot;height&quot;:340.05,&quot;left&quot;:140.1,&quot;top&quot;:105.7,&quot;width&quot;:638.2}"/>
</p:tagLst>
</file>

<file path=ppt/tags/tag16.xml><?xml version="1.0" encoding="utf-8"?>
<p:tagLst xmlns:p="http://schemas.openxmlformats.org/presentationml/2006/main">
  <p:tag name="KSO_WM_BEAUTIFY_FLAG" val=""/>
  <p:tag name="KSO_WM_DIAGRAM_VIRTUALLY_FRAME" val="{&quot;height&quot;:340.05,&quot;left&quot;:140.1,&quot;top&quot;:105.7,&quot;width&quot;:638.2}"/>
</p:tagLst>
</file>

<file path=ppt/tags/tag17.xml><?xml version="1.0" encoding="utf-8"?>
<p:tagLst xmlns:p="http://schemas.openxmlformats.org/presentationml/2006/main">
  <p:tag name="KSO_WM_BEAUTIFY_FLAG" val=""/>
  <p:tag name="KSO_WM_DIAGRAM_VIRTUALLY_FRAME" val="{&quot;height&quot;:340.05,&quot;left&quot;:140.1,&quot;top&quot;:105.7,&quot;width&quot;:638.2}"/>
</p:tagLst>
</file>

<file path=ppt/tags/tag18.xml><?xml version="1.0" encoding="utf-8"?>
<p:tagLst xmlns:p="http://schemas.openxmlformats.org/presentationml/2006/main">
  <p:tag name="KSO_WM_BEAUTIFY_FLAG" val=""/>
  <p:tag name="KSO_WM_DIAGRAM_VIRTUALLY_FRAME" val="{&quot;height&quot;:340.05,&quot;left&quot;:140.1,&quot;top&quot;:105.7,&quot;width&quot;:638.2}"/>
</p:tagLst>
</file>

<file path=ppt/tags/tag19.xml><?xml version="1.0" encoding="utf-8"?>
<p:tagLst xmlns:p="http://schemas.openxmlformats.org/presentationml/2006/main">
  <p:tag name="KSO_WM_BEAUTIFY_FLAG" val=""/>
  <p:tag name="KSO_WM_DIAGRAM_VIRTUALLY_FRAME" val="{&quot;height&quot;:340.05,&quot;left&quot;:140.1,&quot;top&quot;:105.7,&quot;width&quot;:638.2}"/>
</p:tagLst>
</file>

<file path=ppt/tags/tag20.xml><?xml version="1.0" encoding="utf-8"?>
<p:tagLst xmlns:p="http://schemas.openxmlformats.org/presentationml/2006/main">
  <p:tag name="KSO_WM_BEAUTIFY_FLAG" val=""/>
  <p:tag name="KSO_WM_DIAGRAM_VIRTUALLY_FRAME" val="{&quot;height&quot;:340.05,&quot;left&quot;:140.1,&quot;top&quot;:105.7,&quot;width&quot;:638.2}"/>
</p:tagLst>
</file>

<file path=ppt/tags/tag21.xml><?xml version="1.0" encoding="utf-8"?>
<p:tagLst xmlns:p="http://schemas.openxmlformats.org/presentationml/2006/main">
  <p:tag name="KSO_WM_BEAUTIFY_FLAG" val=""/>
  <p:tag name="KSO_WM_DIAGRAM_VIRTUALLY_FRAME" val="{&quot;height&quot;:340.05,&quot;left&quot;:140.1,&quot;top&quot;:105.7,&quot;width&quot;:638.2}"/>
</p:tagLst>
</file>

<file path=ppt/tags/tag22.xml><?xml version="1.0" encoding="utf-8"?>
<p:tagLst xmlns:p="http://schemas.openxmlformats.org/presentationml/2006/main">
  <p:tag name="KSO_WM_BEAUTIFY_FLAG" val=""/>
  <p:tag name="KSO_WM_DIAGRAM_VIRTUALLY_FRAME" val="{&quot;height&quot;:340.05,&quot;left&quot;:140.1,&quot;top&quot;:105.7,&quot;width&quot;:638.2}"/>
</p:tagLst>
</file>

<file path=ppt/tags/tag23.xml><?xml version="1.0" encoding="utf-8"?>
<p:tagLst xmlns:p="http://schemas.openxmlformats.org/presentationml/2006/main">
  <p:tag name="KSO_WM_BEAUTIFY_FLAG" val=""/>
  <p:tag name="KSO_WM_DIAGRAM_VIRTUALLY_FRAME" val="{&quot;height&quot;:340.05,&quot;left&quot;:140.1,&quot;top&quot;:105.7,&quot;width&quot;:638.2}"/>
</p:tagLst>
</file>

<file path=ppt/tags/tag24.xml><?xml version="1.0" encoding="utf-8"?>
<p:tagLst xmlns:p="http://schemas.openxmlformats.org/presentationml/2006/main">
  <p:tag name="KSO_WM_BEAUTIFY_FLAG" val=""/>
  <p:tag name="KSO_WM_DIAGRAM_VIRTUALLY_FRAME" val="{&quot;height&quot;:340.05,&quot;left&quot;:140.1,&quot;top&quot;:105.7,&quot;width&quot;:638.2}"/>
</p:tagLst>
</file>

<file path=ppt/tags/tag25.xml><?xml version="1.0" encoding="utf-8"?>
<p:tagLst xmlns:p="http://schemas.openxmlformats.org/presentationml/2006/main">
  <p:tag name="KSO_WM_BEAUTIFY_FLAG" val=""/>
  <p:tag name="KSO_WM_DIAGRAM_VIRTUALLY_FRAME" val="{&quot;height&quot;:340.05,&quot;left&quot;:140.1,&quot;top&quot;:105.7,&quot;width&quot;:638.2}"/>
</p:tagLst>
</file>

<file path=ppt/tags/tag26.xml><?xml version="1.0" encoding="utf-8"?>
<p:tagLst xmlns:p="http://schemas.openxmlformats.org/presentationml/2006/main">
  <p:tag name="KSO_WM_BEAUTIFY_FLAG" val=""/>
  <p:tag name="KSO_WM_DIAGRAM_VIRTUALLY_FRAME" val="{&quot;height&quot;:340.05,&quot;left&quot;:140.1,&quot;top&quot;:105.7,&quot;width&quot;:638.2}"/>
</p:tagLst>
</file>

<file path=ppt/tags/tag27.xml><?xml version="1.0" encoding="utf-8"?>
<p:tagLst xmlns:p="http://schemas.openxmlformats.org/presentationml/2006/main">
  <p:tag name="KSO_WM_BEAUTIFY_FLAG" val=""/>
  <p:tag name="KSO_WM_DIAGRAM_VIRTUALLY_FRAME" val="{&quot;height&quot;:340.05,&quot;left&quot;:140.1,&quot;top&quot;:105.7,&quot;width&quot;:638.2}"/>
</p:tagLst>
</file>

<file path=ppt/tags/tag28.xml><?xml version="1.0" encoding="utf-8"?>
<p:tagLst xmlns:p="http://schemas.openxmlformats.org/presentationml/2006/main">
  <p:tag name="KSO_WM_BEAUTIFY_FLAG" val=""/>
  <p:tag name="KSO_WM_DIAGRAM_VIRTUALLY_FRAME" val="{&quot;height&quot;:340.05,&quot;left&quot;:140.1,&quot;top&quot;:105.7,&quot;width&quot;:638.2}"/>
</p:tagLst>
</file>

<file path=ppt/tags/tag29.xml><?xml version="1.0" encoding="utf-8"?>
<p:tagLst xmlns:p="http://schemas.openxmlformats.org/presentationml/2006/main">
  <p:tag name="KSO_WM_BEAUTIFY_FLAG" val=""/>
  <p:tag name="KSO_WM_DIAGRAM_VIRTUALLY_FRAME" val="{&quot;height&quot;:340.05,&quot;left&quot;:140.1,&quot;top&quot;:105.7,&quot;width&quot;:638.2}"/>
</p:tagLst>
</file>

<file path=ppt/tags/tag30.xml><?xml version="1.0" encoding="utf-8"?>
<p:tagLst xmlns:p="http://schemas.openxmlformats.org/presentationml/2006/main">
  <p:tag name="KSO_WM_BEAUTIFY_FLAG" val=""/>
  <p:tag name="KSO_WM_DIAGRAM_VIRTUALLY_FRAME" val="{&quot;height&quot;:340.05,&quot;left&quot;:140.1,&quot;top&quot;:105.7,&quot;width&quot;:638.2}"/>
</p:tagLst>
</file>

<file path=ppt/tags/tag31.xml><?xml version="1.0" encoding="utf-8"?>
<p:tagLst xmlns:p="http://schemas.openxmlformats.org/presentationml/2006/main">
  <p:tag name="KSO_WM_BEAUTIFY_FLAG" val=""/>
  <p:tag name="KSO_WM_DIAGRAM_VIRTUALLY_FRAME" val="{&quot;height&quot;:340.05,&quot;left&quot;:140.1,&quot;top&quot;:105.7,&quot;width&quot;:638.2}"/>
</p:tagLst>
</file>

<file path=ppt/tags/tag32.xml><?xml version="1.0" encoding="utf-8"?>
<p:tagLst xmlns:p="http://schemas.openxmlformats.org/presentationml/2006/main">
  <p:tag name="KSO_WM_BEAUTIFY_FLAG" val=""/>
  <p:tag name="KSO_WM_DIAGRAM_VIRTUALLY_FRAME" val="{&quot;height&quot;:340.05,&quot;left&quot;:140.1,&quot;top&quot;:105.7,&quot;width&quot;:638.2}"/>
</p:tagLst>
</file>

<file path=ppt/tags/tag33.xml><?xml version="1.0" encoding="utf-8"?>
<p:tagLst xmlns:p="http://schemas.openxmlformats.org/presentationml/2006/main">
  <p:tag name="KSO_WM_BEAUTIFY_FLAG" val="#wm#"/>
  <p:tag name="KSO_WM_TEMPLATE_CATEGORY" val="custom"/>
  <p:tag name="KSO_WM_TEMPLATE_INDEX" val="20229149"/>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wm#"/>
  <p:tag name="KSO_WM_TEMPLATE_CATEGORY" val="custom"/>
  <p:tag name="KSO_WM_TEMPLATE_INDEX" val="20229149"/>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wm#"/>
  <p:tag name="KSO_WM_TEMPLATE_CATEGORY" val="custom"/>
  <p:tag name="KSO_WM_TEMPLATE_INDEX" val="20229149"/>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wm#"/>
  <p:tag name="KSO_WM_TEMPLATE_CATEGORY" val="custom"/>
  <p:tag name="KSO_WM_TEMPLATE_INDEX" val="20229149"/>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wm#"/>
  <p:tag name="KSO_WM_TEMPLATE_CATEGORY" val="custom"/>
  <p:tag name="KSO_WM_TEMPLATE_INDEX" val="20229149"/>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UNIT_TABLE_BEAUTIFY" val="smartTable{5ce03b54-a9ac-451d-9be7-931c81e61e7e}"/>
  <p:tag name="TABLE_ENDDRAG_ORIGIN_RECT" val="806*406"/>
  <p:tag name="TABLE_ENDDRAG_RECT" val="93*108*806*406"/>
  <p:tag name="TABLE_RECT" val="196.45*108.901*567.1*388.8"/>
  <p:tag name="TABLE_ONEKEY_SKIN_IDX" val="0"/>
  <p:tag name="TABLE_SKINIDX" val="-1"/>
  <p:tag name="TABLE_COLORIDX" val="l"/>
  <p:tag name="TABLE_EMPHASIZE_COLOR" val="6579300"/>
</p:tagLst>
</file>

<file path=ppt/tags/tag67.xml><?xml version="1.0" encoding="utf-8"?>
<p:tagLst xmlns:p="http://schemas.openxmlformats.org/presentationml/2006/main">
  <p:tag name="KSO_WM_BEAUTIFY_FLAG" val="#wm#"/>
  <p:tag name="KSO_WM_TEMPLATE_CATEGORY" val="custom"/>
  <p:tag name="KSO_WM_TEMPLATE_INDEX" val="20229149"/>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UNIT_TABLE_BEAUTIFY" val="smartTable{5ce03b54-a9ac-451d-9be7-931c81e61e7e}"/>
  <p:tag name="TABLE_ENDDRAG_ORIGIN_RECT" val="886*426"/>
  <p:tag name="TABLE_ENDDRAG_RECT" val="47*88*886*426"/>
  <p:tag name="TABLE_RECT" val="196.45*108.901*567.1*388.8"/>
  <p:tag name="TABLE_ONEKEY_SKIN_IDX" val="0"/>
  <p:tag name="TABLE_SKINIDX" val="-1"/>
  <p:tag name="TABLE_COLORIDX" val="l"/>
  <p:tag name="TABLE_EMPHASIZE_COLOR" val="6579300"/>
</p:tagLst>
</file>

<file path=ppt/tags/tag74.xml><?xml version="1.0" encoding="utf-8"?>
<p:tagLst xmlns:p="http://schemas.openxmlformats.org/presentationml/2006/main">
  <p:tag name="KSO_WM_BEAUTIFY_FLAG" val="#wm#"/>
  <p:tag name="KSO_WM_TEMPLATE_CATEGORY" val="custom"/>
  <p:tag name="KSO_WM_TEMPLATE_INDEX" val="20229149"/>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UNIT_TABLE_BEAUTIFY" val="smartTable{5ce03b54-a9ac-451d-9be7-931c81e61e7e}"/>
  <p:tag name="TABLE_ENDDRAG_ORIGIN_RECT" val="806*317"/>
  <p:tag name="TABLE_ENDDRAG_RECT" val="75*88*806*317"/>
  <p:tag name="TABLE_RECT" val="196.45*108.901*567.1*388.8"/>
  <p:tag name="TABLE_ONEKEY_SKIN_IDX" val="0"/>
  <p:tag name="TABLE_SKINIDX" val="-1"/>
  <p:tag name="TABLE_COLORIDX" val="l"/>
  <p:tag name="TABLE_EMPHASIZE_COLOR" val="6579300"/>
</p:tagLst>
</file>

<file path=ppt/tags/tag81.xml><?xml version="1.0" encoding="utf-8"?>
<p:tagLst xmlns:p="http://schemas.openxmlformats.org/presentationml/2006/main">
  <p:tag name="KSO_WM_BEAUTIFY_FLAG" val="#wm#"/>
  <p:tag name="KSO_WM_TEMPLATE_CATEGORY" val="custom"/>
  <p:tag name="KSO_WM_TEMPLATE_INDEX" val="20229149"/>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wm#"/>
  <p:tag name="KSO_WM_TEMPLATE_CATEGORY" val="custom"/>
  <p:tag name="KSO_WM_TEMPLATE_INDEX" val="20229149"/>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TABLE_ENDDRAG_ORIGIN_RECT" val="888*343"/>
  <p:tag name="TABLE_ENDDRAG_RECT" val="19*127*888*343"/>
</p:tagLst>
</file>

<file path=ppt/tags/tag95.xml><?xml version="1.0" encoding="utf-8"?>
<p:tagLst xmlns:p="http://schemas.openxmlformats.org/presentationml/2006/main">
  <p:tag name="KSO_WM_BEAUTIFY_FLAG" val="#wm#"/>
  <p:tag name="KSO_WM_TEMPLATE_CATEGORY" val="custom"/>
  <p:tag name="KSO_WM_TEMPLATE_INDEX" val="20229149"/>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wm#"/>
  <p:tag name="KSO_WM_TEMPLATE_CATEGORY" val="custom"/>
  <p:tag name="KSO_WM_TEMPLATE_INDEX" val="20229149"/>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wm#"/>
  <p:tag name="KSO_WM_TEMPLATE_CATEGORY" val="custom"/>
  <p:tag name="KSO_WM_TEMPLATE_INDEX" val="20229149"/>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wm#"/>
  <p:tag name="KSO_WM_TEMPLATE_CATEGORY" val="custom"/>
  <p:tag name="KSO_WM_TEMPLATE_INDEX" val="20229149"/>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wm#"/>
  <p:tag name="KSO_WM_TEMPLATE_CATEGORY" val="custom"/>
  <p:tag name="KSO_WM_TEMPLATE_INDEX" val="20229149"/>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wm#"/>
  <p:tag name="KSO_WM_TEMPLATE_CATEGORY" val="custom"/>
  <p:tag name="KSO_WM_TEMPLATE_INDEX" val="20229149"/>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wm#"/>
  <p:tag name="KSO_WM_TEMPLATE_CATEGORY" val="custom"/>
  <p:tag name="KSO_WM_TEMPLATE_INDEX" val="20229149"/>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wm#"/>
  <p:tag name="KSO_WM_TEMPLATE_CATEGORY" val="custom"/>
  <p:tag name="KSO_WM_TEMPLATE_INDEX" val="20229149"/>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wm#"/>
  <p:tag name="KSO_WM_TEMPLATE_CATEGORY" val="custom"/>
  <p:tag name="KSO_WM_TEMPLATE_INDEX" val="20229149"/>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wm#"/>
  <p:tag name="KSO_WM_TEMPLATE_CATEGORY" val="custom"/>
  <p:tag name="KSO_WM_TEMPLATE_INDEX" val="20229149"/>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wm#"/>
  <p:tag name="KSO_WM_TEMPLATE_CATEGORY" val="custom"/>
  <p:tag name="KSO_WM_TEMPLATE_INDEX" val="20229149"/>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wm#"/>
  <p:tag name="KSO_WM_TEMPLATE_CATEGORY" val="custom"/>
  <p:tag name="KSO_WM_TEMPLATE_INDEX" val="20229149"/>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wm#"/>
  <p:tag name="KSO_WM_TEMPLATE_CATEGORY" val="custom"/>
  <p:tag name="KSO_WM_TEMPLATE_INDEX" val="20229149"/>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wm#"/>
  <p:tag name="KSO_WM_TEMPLATE_CATEGORY" val="custom"/>
  <p:tag name="KSO_WM_TEMPLATE_INDEX" val="20229149"/>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wm#"/>
  <p:tag name="KSO_WM_TEMPLATE_CATEGORY" val="custom"/>
  <p:tag name="KSO_WM_TEMPLATE_INDEX" val="20229149"/>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wm#"/>
  <p:tag name="KSO_WM_TEMPLATE_CATEGORY" val="custom"/>
  <p:tag name="KSO_WM_TEMPLATE_INDEX" val="20229149"/>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i*1_1"/>
  <p:tag name="KSO_WM_TEMPLATE_CATEGORY" val="diagram"/>
  <p:tag name="KSO_WM_TEMPLATE_INDEX" val="20230318"/>
  <p:tag name="KSO_WM_UNIT_LAYERLEVEL" val="1_1"/>
  <p:tag name="KSO_WM_TAG_VERSION" val="3.0"/>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800000011920929,&quot;colorType&quot;:1,&quot;foreColorIndex&quot;:5,&quot;pos&quot;:0,&quot;transparency&quot;:0.800000011920929},{&quot;brightness&quot;:0.6000000238418579,&quot;colorType&quot;:1,&quot;foreColorIndex&quot;:5,&quot;pos&quot;:1,&quot;transparency&quot;:0}],&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4"/>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6,5,6,5,6]}"/>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h_i*1_1_1"/>
  <p:tag name="KSO_WM_TEMPLATE_CATEGORY" val="diagram"/>
  <p:tag name="KSO_WM_TEMPLATE_INDEX" val="20230318"/>
  <p:tag name="KSO_WM_UNIT_LAYERLEVEL" val="1_1_1"/>
  <p:tag name="KSO_WM_TAG_VERSION" val="3.0"/>
  <p:tag name="KSO_WM_DIAGRAM_GROUP_CODE" val="m1-1"/>
  <p:tag name="KSO_WM_UNIT_TYPE" val="m_h_i"/>
  <p:tag name="KSO_WM_UNIT_INDEX" val="1_1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
  <p:tag name="KSO_WM_UNIT_SHADOW_SCHEMECOLOR_INDEX" val="5"/>
  <p:tag name="KSO_WM_UNIT_USESOURCEFORMAT_APPLY" val="1"/>
  <p:tag name="KSO_WM_DIAGRAM_USE_COLOR_VALUE" val="{&quot;color_scheme&quot;:1,&quot;color_type&quot;:1,&quot;theme_color_indexes&quot;:[5,6,5,6,5,6]}"/>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h_i*1_2_1"/>
  <p:tag name="KSO_WM_TEMPLATE_CATEGORY" val="diagram"/>
  <p:tag name="KSO_WM_TEMPLATE_INDEX" val="20230318"/>
  <p:tag name="KSO_WM_UNIT_LAYERLEVEL" val="1_1_1"/>
  <p:tag name="KSO_WM_TAG_VERSION" val="3.0"/>
  <p:tag name="KSO_WM_DIAGRAM_GROUP_CODE" val="m1-1"/>
  <p:tag name="KSO_WM_UNIT_TYPE" val="m_h_i"/>
  <p:tag name="KSO_WM_UNIT_INDEX" val="1_2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30000001192092896,&quot;colorType&quot;:1,&quot;foreColorIndex&quot;:5,&quot;pos&quot;:0,&quot;transparency&quot;:0},{&quot;brightness&quot;:-0.05000000074505806,&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
  <p:tag name="KSO_WM_UNIT_SHADOW_SCHEMECOLOR_INDEX" val="5"/>
  <p:tag name="KSO_WM_UNIT_USESOURCEFORMAT_APPLY" val="1"/>
  <p:tag name="KSO_WM_DIAGRAM_USE_COLOR_VALUE" val="{&quot;color_scheme&quot;:1,&quot;color_type&quot;:1,&quot;theme_color_indexes&quot;:[5,6,5,6,5,6]}"/>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h_i*1_3_1"/>
  <p:tag name="KSO_WM_TEMPLATE_CATEGORY" val="diagram"/>
  <p:tag name="KSO_WM_TEMPLATE_INDEX" val="20230318"/>
  <p:tag name="KSO_WM_UNIT_LAYERLEVEL" val="1_1_1"/>
  <p:tag name="KSO_WM_TAG_VERSION" val="3.0"/>
  <p:tag name="KSO_WM_DIAGRAM_GROUP_CODE" val="m1-1"/>
  <p:tag name="KSO_WM_UNIT_TYPE" val="m_h_i"/>
  <p:tag name="KSO_WM_UNIT_INDEX" val="1_3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6,5,6,5,6]}"/>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h_i*1_4_1"/>
  <p:tag name="KSO_WM_TEMPLATE_CATEGORY" val="diagram"/>
  <p:tag name="KSO_WM_TEMPLATE_INDEX" val="20230318"/>
  <p:tag name="KSO_WM_UNIT_LAYERLEVEL" val="1_1_1"/>
  <p:tag name="KSO_WM_TAG_VERSION" val="3.0"/>
  <p:tag name="KSO_WM_DIAGRAM_GROUP_CODE" val="m1-1"/>
  <p:tag name="KSO_WM_UNIT_TYPE" val="m_h_i"/>
  <p:tag name="KSO_WM_UNIT_INDEX" val="1_4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15000000596046448,&quot;colorType&quot;:1,&quot;foreColorIndex&quot;:5,&quot;pos&quot;:0,&quot;transparency&quot;:0},{&quot;brightness&quot;:-0.15000000596046448,&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6,5,6,5,6]}"/>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h_i*1_5_1"/>
  <p:tag name="KSO_WM_TEMPLATE_CATEGORY" val="diagram"/>
  <p:tag name="KSO_WM_TEMPLATE_INDEX" val="20230318"/>
  <p:tag name="KSO_WM_UNIT_LAYERLEVEL" val="1_1_1"/>
  <p:tag name="KSO_WM_TAG_VERSION" val="3.0"/>
  <p:tag name="KSO_WM_DIAGRAM_GROUP_CODE" val="m1-1"/>
  <p:tag name="KSO_WM_UNIT_TYPE" val="m_h_i"/>
  <p:tag name="KSO_WM_UNIT_INDEX" val="1_5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6,5,6,5,6]}"/>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8_5*m_h_i*1_6_1"/>
  <p:tag name="KSO_WM_TEMPLATE_CATEGORY" val="diagram"/>
  <p:tag name="KSO_WM_TEMPLATE_INDEX" val="20230318"/>
  <p:tag name="KSO_WM_UNIT_LAYERLEVEL" val="1_1_1"/>
  <p:tag name="KSO_WM_TAG_VERSION" val="3.0"/>
  <p:tag name="KSO_WM_DIAGRAM_GROUP_CODE" val="m1-1"/>
  <p:tag name="KSO_WM_UNIT_TYPE" val="m_h_i"/>
  <p:tag name="KSO_WM_UNIT_INDEX" val="1_6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105.46480314960627,&quot;left&quot;:-25.47503662109375,&quot;top&quot;:71.84259842519677,&quot;width&quot;:975.005666542353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6,5,6,5,6]}"/>
</p:tagLst>
</file>

<file path=ppt/tags/tag248.xml><?xml version="1.0" encoding="utf-8"?>
<p:tagLst xmlns:p="http://schemas.openxmlformats.org/presentationml/2006/main">
  <p:tag name="KSO_WM_BEAUTIFY_FLAG" val="#wm#"/>
  <p:tag name="KSO_WM_TEMPLATE_CATEGORY" val="custom"/>
  <p:tag name="KSO_WM_TEMPLATE_INDEX" val="20229149"/>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wm#"/>
  <p:tag name="KSO_WM_TEMPLATE_CATEGORY" val="custom"/>
  <p:tag name="KSO_WM_TEMPLATE_INDEX" val="20229149"/>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wm#"/>
  <p:tag name="KSO_WM_TEMPLATE_CATEGORY" val="custom"/>
  <p:tag name="KSO_WM_TEMPLATE_INDEX" val="20229149"/>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wm#"/>
  <p:tag name="KSO_WM_TEMPLATE_CATEGORY" val="custom"/>
  <p:tag name="KSO_WM_TEMPLATE_INDEX" val="20229149"/>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UNIT_TABLE_BEAUTIFY" val="smartTable{99404ead-7028-4847-a7e5-c06595001ebe}"/>
  <p:tag name="KSO_WM_BEAUTIFY_FLAG" val=""/>
  <p:tag name="TABLE_ENDDRAG_ORIGIN_RECT" val="645*402"/>
  <p:tag name="TABLE_ENDDRAG_RECT" val="307*125*645*402"/>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wm#"/>
  <p:tag name="KSO_WM_TEMPLATE_CATEGORY" val="custom"/>
  <p:tag name="KSO_WM_TEMPLATE_INDEX" val="20229149"/>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wm#"/>
  <p:tag name="KSO_WM_TEMPLATE_CATEGORY" val="custom"/>
  <p:tag name="KSO_WM_TEMPLATE_INDEX" val="20229149"/>
</p:tagLst>
</file>

<file path=ppt/tags/tag277.xml><?xml version="1.0" encoding="utf-8"?>
<p:tagLst xmlns:p="http://schemas.openxmlformats.org/presentationml/2006/main">
  <p:tag name="TABLE_ENDDRAG_ORIGIN_RECT" val="914*313"/>
  <p:tag name="TABLE_ENDDRAG_RECT" val="26*152*914*313"/>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wm#"/>
  <p:tag name="KSO_WM_TEMPLATE_CATEGORY" val="custom"/>
  <p:tag name="KSO_WM_TEMPLATE_INDEX" val="20229149"/>
</p:tagLst>
</file>

<file path=ppt/tags/tag284.xml><?xml version="1.0" encoding="utf-8"?>
<p:tagLst xmlns:p="http://schemas.openxmlformats.org/presentationml/2006/main">
  <p:tag name="TABLE_ENDDRAG_ORIGIN_RECT" val="924*310"/>
  <p:tag name="TABLE_ENDDRAG_RECT" val="15*77*924*310"/>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wm#"/>
  <p:tag name="KSO_WM_TEMPLATE_CATEGORY" val="custom"/>
  <p:tag name="KSO_WM_TEMPLATE_INDEX" val="20205081"/>
</p:tagLst>
</file>

<file path=ppt/tags/tag288.xml><?xml version="1.0" encoding="utf-8"?>
<p:tagLst xmlns:p="http://schemas.openxmlformats.org/presentationml/2006/main">
  <p:tag name="KSO_WPP_MARK_KEY" val="8b55a4ed-15f1-479c-8a43-079fa4503d9e"/>
  <p:tag name="COMMONDATA" val="eyJoZGlkIjoiMDgyMjY5Mzk2YWQwMmZjM2Y1ZDliNjA2ZDVjYzVhZjE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8929</Words>
  <Application>WPS 演示</Application>
  <PresentationFormat>自定义</PresentationFormat>
  <Paragraphs>730</Paragraphs>
  <Slides>35</Slides>
  <Notes>10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35</vt:i4>
      </vt:variant>
    </vt:vector>
  </HeadingPairs>
  <TitlesOfParts>
    <vt:vector size="52" baseType="lpstr">
      <vt:lpstr>Arial</vt:lpstr>
      <vt:lpstr>宋体</vt:lpstr>
      <vt:lpstr>Wingdings</vt:lpstr>
      <vt:lpstr>微软雅黑</vt:lpstr>
      <vt:lpstr>方正小标宋_GBK</vt:lpstr>
      <vt:lpstr>方正黑体_GBK</vt:lpstr>
      <vt:lpstr>Wingdings</vt:lpstr>
      <vt:lpstr>Arial Unicode MS</vt:lpstr>
      <vt:lpstr>Calibri</vt:lpstr>
      <vt:lpstr>Times New Roman</vt:lpstr>
      <vt:lpstr>思源黑体 CN Regular</vt:lpstr>
      <vt:lpstr>等线</vt:lpstr>
      <vt:lpstr>Times New Roman</vt:lpstr>
      <vt:lpstr>方正小标宋简体</vt:lpstr>
      <vt:lpstr>webwppDefTheme</vt:lpstr>
      <vt:lpstr>Office 主题</vt:lpstr>
      <vt:lpstr>PowerPoint.Show.12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zhh</dc:creator>
  <cp:lastModifiedBy>吴志川</cp:lastModifiedBy>
  <cp:revision>1048</cp:revision>
  <cp:lastPrinted>2022-02-24T09:12:00Z</cp:lastPrinted>
  <dcterms:created xsi:type="dcterms:W3CDTF">2022-02-24T09:12:00Z</dcterms:created>
  <dcterms:modified xsi:type="dcterms:W3CDTF">2025-03-14T06:19:48Z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53FD37EAEEBE40A2B5B36D519382AC3D_13</vt:lpwstr>
  </property>
</Properties>
</file>